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43"/>
  </p:notesMasterIdLst>
  <p:sldIdLst>
    <p:sldId id="1451" r:id="rId6"/>
    <p:sldId id="1428" r:id="rId7"/>
    <p:sldId id="1429" r:id="rId8"/>
    <p:sldId id="1430" r:id="rId9"/>
    <p:sldId id="1431" r:id="rId10"/>
    <p:sldId id="1432" r:id="rId11"/>
    <p:sldId id="1391" r:id="rId12"/>
    <p:sldId id="1433" r:id="rId13"/>
    <p:sldId id="1434" r:id="rId14"/>
    <p:sldId id="1435" r:id="rId15"/>
    <p:sldId id="1456" r:id="rId16"/>
    <p:sldId id="1436" r:id="rId17"/>
    <p:sldId id="1453" r:id="rId18"/>
    <p:sldId id="1438" r:id="rId19"/>
    <p:sldId id="1452" r:id="rId20"/>
    <p:sldId id="1440" r:id="rId21"/>
    <p:sldId id="1454" r:id="rId22"/>
    <p:sldId id="1455" r:id="rId23"/>
    <p:sldId id="1443" r:id="rId24"/>
    <p:sldId id="1444" r:id="rId25"/>
    <p:sldId id="1471" r:id="rId26"/>
    <p:sldId id="1446" r:id="rId27"/>
    <p:sldId id="1447" r:id="rId28"/>
    <p:sldId id="1448" r:id="rId29"/>
    <p:sldId id="1449" r:id="rId30"/>
    <p:sldId id="1450" r:id="rId31"/>
    <p:sldId id="442" r:id="rId32"/>
    <p:sldId id="258" r:id="rId33"/>
    <p:sldId id="1462" r:id="rId34"/>
    <p:sldId id="1464" r:id="rId35"/>
    <p:sldId id="1465" r:id="rId36"/>
    <p:sldId id="1466" r:id="rId37"/>
    <p:sldId id="1467" r:id="rId38"/>
    <p:sldId id="1468" r:id="rId39"/>
    <p:sldId id="1469" r:id="rId40"/>
    <p:sldId id="1470" r:id="rId41"/>
    <p:sldId id="1463"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1451"/>
            <p14:sldId id="1428"/>
            <p14:sldId id="1429"/>
            <p14:sldId id="1430"/>
            <p14:sldId id="1431"/>
            <p14:sldId id="1432"/>
            <p14:sldId id="1391"/>
            <p14:sldId id="1433"/>
            <p14:sldId id="1434"/>
            <p14:sldId id="1435"/>
            <p14:sldId id="1456"/>
            <p14:sldId id="1436"/>
            <p14:sldId id="1453"/>
            <p14:sldId id="1438"/>
            <p14:sldId id="1452"/>
            <p14:sldId id="1440"/>
            <p14:sldId id="1454"/>
            <p14:sldId id="1455"/>
            <p14:sldId id="1443"/>
            <p14:sldId id="1444"/>
            <p14:sldId id="1471"/>
            <p14:sldId id="1446"/>
            <p14:sldId id="1447"/>
            <p14:sldId id="1448"/>
            <p14:sldId id="1449"/>
            <p14:sldId id="1450"/>
            <p14:sldId id="442"/>
          </p14:sldIdLst>
        </p14:section>
        <p14:section name="Appendix: Image Descriptions for Unsighted Students" id="{9E859B0B-078E-463E-89A6-21C20DD280C4}">
          <p14:sldIdLst>
            <p14:sldId id="258"/>
            <p14:sldId id="1462"/>
            <p14:sldId id="1464"/>
            <p14:sldId id="1465"/>
            <p14:sldId id="1466"/>
            <p14:sldId id="1467"/>
            <p14:sldId id="1468"/>
            <p14:sldId id="1469"/>
            <p14:sldId id="1470"/>
            <p14:sldId id="1463"/>
          </p14:sldIdLst>
        </p14:section>
      </p14:sectionLst>
    </p:ext>
    <p:ext uri="{EFAFB233-063F-42B5-8137-9DF3F51BA10A}">
      <p15:sldGuideLst xmlns:p15="http://schemas.microsoft.com/office/powerpoint/2012/main">
        <p15:guide id="2" pos="2880" userDrawn="1">
          <p15:clr>
            <a:srgbClr val="A4A3A4"/>
          </p15:clr>
        </p15:guide>
        <p15:guide id="3" orient="horz" pos="2208" userDrawn="1">
          <p15:clr>
            <a:srgbClr val="A4A3A4"/>
          </p15:clr>
        </p15:guide>
        <p15:guide id="4" pos="5664" userDrawn="1">
          <p15:clr>
            <a:srgbClr val="A4A3A4"/>
          </p15:clr>
        </p15:guide>
        <p15:guide id="5" pos="456" userDrawn="1">
          <p15:clr>
            <a:srgbClr val="A4A3A4"/>
          </p15:clr>
        </p15:guide>
        <p15:guide id="6" orient="horz" pos="79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A9131A"/>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94431" autoAdjust="0"/>
  </p:normalViewPr>
  <p:slideViewPr>
    <p:cSldViewPr snapToGrid="0" showGuides="1">
      <p:cViewPr varScale="1">
        <p:scale>
          <a:sx n="101" d="100"/>
          <a:sy n="101" d="100"/>
        </p:scale>
        <p:origin x="1572" y="72"/>
      </p:cViewPr>
      <p:guideLst>
        <p:guide pos="2880"/>
        <p:guide orient="horz" pos="2208"/>
        <p:guide pos="5664"/>
        <p:guide pos="456"/>
        <p:guide orient="horz" pos="79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66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4"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5.wmf"/><Relationship Id="rId13" Type="http://schemas.openxmlformats.org/officeDocument/2006/relationships/image" Target="../media/image50.wmf"/><Relationship Id="rId3" Type="http://schemas.openxmlformats.org/officeDocument/2006/relationships/image" Target="../media/image40.wmf"/><Relationship Id="rId7" Type="http://schemas.openxmlformats.org/officeDocument/2006/relationships/image" Target="../media/image44.wmf"/><Relationship Id="rId12" Type="http://schemas.openxmlformats.org/officeDocument/2006/relationships/image" Target="../media/image49.wmf"/><Relationship Id="rId2" Type="http://schemas.openxmlformats.org/officeDocument/2006/relationships/image" Target="../media/image39.wmf"/><Relationship Id="rId1" Type="http://schemas.openxmlformats.org/officeDocument/2006/relationships/image" Target="../media/image38.wmf"/><Relationship Id="rId6" Type="http://schemas.openxmlformats.org/officeDocument/2006/relationships/image" Target="../media/image43.wmf"/><Relationship Id="rId11" Type="http://schemas.openxmlformats.org/officeDocument/2006/relationships/image" Target="../media/image48.wmf"/><Relationship Id="rId5" Type="http://schemas.openxmlformats.org/officeDocument/2006/relationships/image" Target="../media/image42.wmf"/><Relationship Id="rId10" Type="http://schemas.openxmlformats.org/officeDocument/2006/relationships/image" Target="../media/image47.wmf"/><Relationship Id="rId4" Type="http://schemas.openxmlformats.org/officeDocument/2006/relationships/image" Target="../media/image41.wmf"/><Relationship Id="rId9" Type="http://schemas.openxmlformats.org/officeDocument/2006/relationships/image" Target="../media/image46.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5" Type="http://schemas.openxmlformats.org/officeDocument/2006/relationships/image" Target="../media/image55.wmf"/><Relationship Id="rId4" Type="http://schemas.openxmlformats.org/officeDocument/2006/relationships/image" Target="../media/image54.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image" Target="../media/image69.wmf"/><Relationship Id="rId3" Type="http://schemas.openxmlformats.org/officeDocument/2006/relationships/image" Target="../media/image59.wmf"/><Relationship Id="rId7" Type="http://schemas.openxmlformats.org/officeDocument/2006/relationships/image" Target="../media/image63.wmf"/><Relationship Id="rId12" Type="http://schemas.openxmlformats.org/officeDocument/2006/relationships/image" Target="../media/image68.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11" Type="http://schemas.openxmlformats.org/officeDocument/2006/relationships/image" Target="../media/image67.wmf"/><Relationship Id="rId5" Type="http://schemas.openxmlformats.org/officeDocument/2006/relationships/image" Target="../media/image61.wmf"/><Relationship Id="rId10" Type="http://schemas.openxmlformats.org/officeDocument/2006/relationships/image" Target="../media/image66.wmf"/><Relationship Id="rId4" Type="http://schemas.openxmlformats.org/officeDocument/2006/relationships/image" Target="../media/image60.wmf"/><Relationship Id="rId9" Type="http://schemas.openxmlformats.org/officeDocument/2006/relationships/image" Target="../media/image6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12-May-23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27</a:t>
            </a:fld>
            <a:endParaRPr lang="en-US"/>
          </a:p>
        </p:txBody>
      </p:sp>
    </p:spTree>
    <p:extLst>
      <p:ext uri="{BB962C8B-B14F-4D97-AF65-F5344CB8AC3E}">
        <p14:creationId xmlns:p14="http://schemas.microsoft.com/office/powerpoint/2010/main" val="400574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a:extLst>
              <a:ext uri="{FF2B5EF4-FFF2-40B4-BE49-F238E27FC236}">
                <a16:creationId xmlns:a16="http://schemas.microsoft.com/office/drawing/2014/main" id="{AD0A4C56-ACD4-4660-A617-4BBE231BD276}"/>
              </a:ext>
            </a:extLst>
          </p:cNvPr>
          <p:cNvSpPr>
            <a:spLocks noGrp="1"/>
          </p:cNvSpPr>
          <p:nvPr>
            <p:ph type="body" sz="quarter" idx="11"/>
          </p:nvPr>
        </p:nvSpPr>
        <p:spPr>
          <a:xfrm>
            <a:off x="0" y="6524625"/>
            <a:ext cx="9144000" cy="2492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5525"/>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40524"/>
            <a:ext cx="2980826" cy="225425"/>
          </a:xfrm>
        </p:spPr>
        <p:txBody>
          <a:bodyPr anchor="ctr">
            <a:noAutofit/>
          </a:bodyPr>
          <a:lstStyle>
            <a:lvl1pPr algn="ctr">
              <a:defRPr sz="1200">
                <a:solidFill>
                  <a:srgbClr val="002060"/>
                </a:solidFill>
              </a:defRPr>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solidFill>
                  <a:srgbClr val="002060"/>
                </a:solidFill>
              </a:defRPr>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28439069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 id="2147483723" r:id="rId18"/>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slide" Target="slide3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slide" Target="slide32.xml"/><Relationship Id="rId2" Type="http://schemas.openxmlformats.org/officeDocument/2006/relationships/slideLayout" Target="../slideLayouts/slideLayout20.xml"/><Relationship Id="rId1" Type="http://schemas.openxmlformats.org/officeDocument/2006/relationships/vmlDrawing" Target="../drawings/vmlDrawing1.vml"/><Relationship Id="rId6" Type="http://schemas.openxmlformats.org/officeDocument/2006/relationships/image" Target="../media/image14.png"/><Relationship Id="rId5" Type="http://schemas.openxmlformats.org/officeDocument/2006/relationships/image" Target="../media/image12.w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slide" Target="slide33.xml"/><Relationship Id="rId2" Type="http://schemas.openxmlformats.org/officeDocument/2006/relationships/slideLayout" Target="../slideLayouts/slideLayout20.xml"/><Relationship Id="rId1" Type="http://schemas.openxmlformats.org/officeDocument/2006/relationships/vmlDrawing" Target="../drawings/vmlDrawing2.vml"/><Relationship Id="rId6" Type="http://schemas.openxmlformats.org/officeDocument/2006/relationships/image" Target="../media/image17.png"/><Relationship Id="rId5" Type="http://schemas.openxmlformats.org/officeDocument/2006/relationships/image" Target="../media/image15.w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oleObject" Target="../embeddings/oleObject3.bin"/><Relationship Id="rId7" Type="http://schemas.openxmlformats.org/officeDocument/2006/relationships/image" Target="../media/image19.wmf"/><Relationship Id="rId2" Type="http://schemas.openxmlformats.org/officeDocument/2006/relationships/slideLayout" Target="../slideLayouts/slideLayout20.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20.png"/><Relationship Id="rId4" Type="http://schemas.openxmlformats.org/officeDocument/2006/relationships/image" Target="../media/image18.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oleObject5.bin"/><Relationship Id="rId7" Type="http://schemas.openxmlformats.org/officeDocument/2006/relationships/image" Target="../media/image22.wmf"/><Relationship Id="rId12" Type="http://schemas.openxmlformats.org/officeDocument/2006/relationships/slide" Target="slide35.xml"/><Relationship Id="rId2" Type="http://schemas.openxmlformats.org/officeDocument/2006/relationships/slideLayout" Target="../slideLayouts/slideLayout21.xml"/><Relationship Id="rId1" Type="http://schemas.openxmlformats.org/officeDocument/2006/relationships/vmlDrawing" Target="../drawings/vmlDrawing4.vml"/><Relationship Id="rId6" Type="http://schemas.openxmlformats.org/officeDocument/2006/relationships/oleObject" Target="../embeddings/oleObject6.bin"/><Relationship Id="rId11" Type="http://schemas.openxmlformats.org/officeDocument/2006/relationships/image" Target="../media/image24.wmf"/><Relationship Id="rId5" Type="http://schemas.openxmlformats.org/officeDocument/2006/relationships/image" Target="../media/image25.png"/><Relationship Id="rId10" Type="http://schemas.openxmlformats.org/officeDocument/2006/relationships/oleObject" Target="../embeddings/oleObject8.bin"/><Relationship Id="rId4" Type="http://schemas.openxmlformats.org/officeDocument/2006/relationships/image" Target="../media/image21.wmf"/><Relationship Id="rId9" Type="http://schemas.openxmlformats.org/officeDocument/2006/relationships/image" Target="../media/image23.wmf"/></Relationships>
</file>

<file path=ppt/slides/_rels/slide18.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20.xml"/><Relationship Id="rId1" Type="http://schemas.openxmlformats.org/officeDocument/2006/relationships/vmlDrawing" Target="../drawings/vmlDrawing5.vml"/><Relationship Id="rId6" Type="http://schemas.openxmlformats.org/officeDocument/2006/relationships/image" Target="../media/image27.wmf"/><Relationship Id="rId5" Type="http://schemas.openxmlformats.org/officeDocument/2006/relationships/oleObject" Target="../embeddings/oleObject10.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12.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image" Target="../media/image32.png"/><Relationship Id="rId7" Type="http://schemas.openxmlformats.org/officeDocument/2006/relationships/image" Target="../media/image31.wmf"/><Relationship Id="rId2" Type="http://schemas.openxmlformats.org/officeDocument/2006/relationships/slideLayout" Target="../slideLayouts/slideLayout20.xml"/><Relationship Id="rId1" Type="http://schemas.openxmlformats.org/officeDocument/2006/relationships/vmlDrawing" Target="../drawings/vmlDrawing6.vml"/><Relationship Id="rId6" Type="http://schemas.openxmlformats.org/officeDocument/2006/relationships/oleObject" Target="../embeddings/oleObject14.bin"/><Relationship Id="rId5" Type="http://schemas.openxmlformats.org/officeDocument/2006/relationships/image" Target="../media/image30.wmf"/><Relationship Id="rId4" Type="http://schemas.openxmlformats.org/officeDocument/2006/relationships/oleObject" Target="../embeddings/oleObject13.bin"/></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 Id="rId4" Type="http://schemas.openxmlformats.org/officeDocument/2006/relationships/slide" Target="slide37.xml"/></Relationships>
</file>

<file path=ppt/slides/_rels/slide23.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15.xml"/><Relationship Id="rId1" Type="http://schemas.openxmlformats.org/officeDocument/2006/relationships/vmlDrawing" Target="../drawings/vmlDrawing7.vml"/><Relationship Id="rId6" Type="http://schemas.openxmlformats.org/officeDocument/2006/relationships/image" Target="../media/image35.wmf"/><Relationship Id="rId5" Type="http://schemas.openxmlformats.org/officeDocument/2006/relationships/oleObject" Target="../embeddings/oleObject16.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18.bin"/></Relationships>
</file>

<file path=ppt/slides/_rels/slide24.xml.rels><?xml version="1.0" encoding="UTF-8" standalone="yes"?>
<Relationships xmlns="http://schemas.openxmlformats.org/package/2006/relationships"><Relationship Id="rId8" Type="http://schemas.openxmlformats.org/officeDocument/2006/relationships/image" Target="../media/image40.wmf"/><Relationship Id="rId13" Type="http://schemas.openxmlformats.org/officeDocument/2006/relationships/oleObject" Target="../embeddings/oleObject24.bin"/><Relationship Id="rId18" Type="http://schemas.openxmlformats.org/officeDocument/2006/relationships/image" Target="../media/image45.wmf"/><Relationship Id="rId26" Type="http://schemas.openxmlformats.org/officeDocument/2006/relationships/image" Target="../media/image49.w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42.wmf"/><Relationship Id="rId17" Type="http://schemas.openxmlformats.org/officeDocument/2006/relationships/oleObject" Target="../embeddings/oleObject26.bin"/><Relationship Id="rId25" Type="http://schemas.openxmlformats.org/officeDocument/2006/relationships/oleObject" Target="../embeddings/oleObject30.bin"/><Relationship Id="rId2" Type="http://schemas.openxmlformats.org/officeDocument/2006/relationships/slideLayout" Target="../slideLayouts/slideLayout15.xml"/><Relationship Id="rId16" Type="http://schemas.openxmlformats.org/officeDocument/2006/relationships/image" Target="../media/image44.wmf"/><Relationship Id="rId20" Type="http://schemas.openxmlformats.org/officeDocument/2006/relationships/image" Target="../media/image46.emf"/><Relationship Id="rId1" Type="http://schemas.openxmlformats.org/officeDocument/2006/relationships/vmlDrawing" Target="../drawings/vmlDrawing8.vml"/><Relationship Id="rId6" Type="http://schemas.openxmlformats.org/officeDocument/2006/relationships/image" Target="../media/image39.wmf"/><Relationship Id="rId11" Type="http://schemas.openxmlformats.org/officeDocument/2006/relationships/oleObject" Target="../embeddings/oleObject23.bin"/><Relationship Id="rId24" Type="http://schemas.openxmlformats.org/officeDocument/2006/relationships/image" Target="../media/image48.wmf"/><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29.bin"/><Relationship Id="rId28" Type="http://schemas.openxmlformats.org/officeDocument/2006/relationships/image" Target="../media/image50.wmf"/><Relationship Id="rId10" Type="http://schemas.openxmlformats.org/officeDocument/2006/relationships/image" Target="../media/image41.wmf"/><Relationship Id="rId19" Type="http://schemas.openxmlformats.org/officeDocument/2006/relationships/oleObject" Target="../embeddings/oleObject27.bin"/><Relationship Id="rId4" Type="http://schemas.openxmlformats.org/officeDocument/2006/relationships/image" Target="../media/image38.wmf"/><Relationship Id="rId9" Type="http://schemas.openxmlformats.org/officeDocument/2006/relationships/oleObject" Target="../embeddings/oleObject22.bin"/><Relationship Id="rId14" Type="http://schemas.openxmlformats.org/officeDocument/2006/relationships/image" Target="../media/image43.wmf"/><Relationship Id="rId22" Type="http://schemas.openxmlformats.org/officeDocument/2006/relationships/image" Target="../media/image47.wmf"/><Relationship Id="rId27" Type="http://schemas.openxmlformats.org/officeDocument/2006/relationships/oleObject" Target="../embeddings/oleObject31.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55.wmf"/><Relationship Id="rId3" Type="http://schemas.openxmlformats.org/officeDocument/2006/relationships/oleObject" Target="../embeddings/oleObject32.bin"/><Relationship Id="rId7" Type="http://schemas.openxmlformats.org/officeDocument/2006/relationships/image" Target="../media/image52.wmf"/><Relationship Id="rId12" Type="http://schemas.openxmlformats.org/officeDocument/2006/relationships/oleObject" Target="../embeddings/oleObject36.bin"/><Relationship Id="rId2" Type="http://schemas.openxmlformats.org/officeDocument/2006/relationships/slideLayout" Target="../slideLayouts/slideLayout15.xml"/><Relationship Id="rId1" Type="http://schemas.openxmlformats.org/officeDocument/2006/relationships/vmlDrawing" Target="../drawings/vmlDrawing9.vml"/><Relationship Id="rId6" Type="http://schemas.openxmlformats.org/officeDocument/2006/relationships/oleObject" Target="../embeddings/oleObject33.bin"/><Relationship Id="rId11" Type="http://schemas.openxmlformats.org/officeDocument/2006/relationships/image" Target="../media/image54.wmf"/><Relationship Id="rId5" Type="http://schemas.openxmlformats.org/officeDocument/2006/relationships/image" Target="../media/image56.png"/><Relationship Id="rId10" Type="http://schemas.openxmlformats.org/officeDocument/2006/relationships/oleObject" Target="../embeddings/oleObject35.bin"/><Relationship Id="rId4" Type="http://schemas.openxmlformats.org/officeDocument/2006/relationships/image" Target="../media/image51.wmf"/><Relationship Id="rId9" Type="http://schemas.openxmlformats.org/officeDocument/2006/relationships/image" Target="../media/image53.wmf"/></Relationships>
</file>

<file path=ppt/slides/_rels/slide26.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42.bin"/><Relationship Id="rId18" Type="http://schemas.openxmlformats.org/officeDocument/2006/relationships/image" Target="../media/image64.wmf"/><Relationship Id="rId26" Type="http://schemas.openxmlformats.org/officeDocument/2006/relationships/image" Target="../media/image68.wmf"/><Relationship Id="rId3" Type="http://schemas.openxmlformats.org/officeDocument/2006/relationships/oleObject" Target="../embeddings/oleObject37.bin"/><Relationship Id="rId21" Type="http://schemas.openxmlformats.org/officeDocument/2006/relationships/oleObject" Target="../embeddings/oleObject46.bin"/><Relationship Id="rId7" Type="http://schemas.openxmlformats.org/officeDocument/2006/relationships/oleObject" Target="../embeddings/oleObject39.bin"/><Relationship Id="rId12" Type="http://schemas.openxmlformats.org/officeDocument/2006/relationships/image" Target="../media/image61.wmf"/><Relationship Id="rId17" Type="http://schemas.openxmlformats.org/officeDocument/2006/relationships/oleObject" Target="../embeddings/oleObject44.bin"/><Relationship Id="rId25" Type="http://schemas.openxmlformats.org/officeDocument/2006/relationships/oleObject" Target="../embeddings/oleObject48.bin"/><Relationship Id="rId2" Type="http://schemas.openxmlformats.org/officeDocument/2006/relationships/slideLayout" Target="../slideLayouts/slideLayout15.xml"/><Relationship Id="rId16" Type="http://schemas.openxmlformats.org/officeDocument/2006/relationships/image" Target="../media/image63.wmf"/><Relationship Id="rId20" Type="http://schemas.openxmlformats.org/officeDocument/2006/relationships/image" Target="../media/image65.wmf"/><Relationship Id="rId1" Type="http://schemas.openxmlformats.org/officeDocument/2006/relationships/vmlDrawing" Target="../drawings/vmlDrawing10.vml"/><Relationship Id="rId6" Type="http://schemas.openxmlformats.org/officeDocument/2006/relationships/image" Target="../media/image58.wmf"/><Relationship Id="rId11" Type="http://schemas.openxmlformats.org/officeDocument/2006/relationships/oleObject" Target="../embeddings/oleObject41.bin"/><Relationship Id="rId24" Type="http://schemas.openxmlformats.org/officeDocument/2006/relationships/image" Target="../media/image67.wmf"/><Relationship Id="rId5" Type="http://schemas.openxmlformats.org/officeDocument/2006/relationships/oleObject" Target="../embeddings/oleObject38.bin"/><Relationship Id="rId15" Type="http://schemas.openxmlformats.org/officeDocument/2006/relationships/oleObject" Target="../embeddings/oleObject43.bin"/><Relationship Id="rId23" Type="http://schemas.openxmlformats.org/officeDocument/2006/relationships/oleObject" Target="../embeddings/oleObject47.bin"/><Relationship Id="rId28" Type="http://schemas.openxmlformats.org/officeDocument/2006/relationships/image" Target="../media/image69.wmf"/><Relationship Id="rId10" Type="http://schemas.openxmlformats.org/officeDocument/2006/relationships/image" Target="../media/image60.wmf"/><Relationship Id="rId19" Type="http://schemas.openxmlformats.org/officeDocument/2006/relationships/oleObject" Target="../embeddings/oleObject45.bin"/><Relationship Id="rId4" Type="http://schemas.openxmlformats.org/officeDocument/2006/relationships/image" Target="../media/image57.wmf"/><Relationship Id="rId9" Type="http://schemas.openxmlformats.org/officeDocument/2006/relationships/oleObject" Target="../embeddings/oleObject40.bin"/><Relationship Id="rId14" Type="http://schemas.openxmlformats.org/officeDocument/2006/relationships/image" Target="../media/image62.wmf"/><Relationship Id="rId22" Type="http://schemas.openxmlformats.org/officeDocument/2006/relationships/image" Target="../media/image66.wmf"/><Relationship Id="rId27" Type="http://schemas.openxmlformats.org/officeDocument/2006/relationships/oleObject" Target="../embeddings/oleObject49.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4</a:t>
            </a:r>
          </a:p>
        </p:txBody>
      </p:sp>
      <p:sp>
        <p:nvSpPr>
          <p:cNvPr id="3" name="Subtitle 2"/>
          <p:cNvSpPr>
            <a:spLocks noGrp="1"/>
          </p:cNvSpPr>
          <p:nvPr>
            <p:ph type="subTitle" idx="1"/>
          </p:nvPr>
        </p:nvSpPr>
        <p:spPr/>
        <p:txBody>
          <a:bodyPr/>
          <a:lstStyle/>
          <a:p>
            <a:r>
              <a:rPr lang="en-US" dirty="0"/>
              <a:t>Solving for the Unknown</a:t>
            </a:r>
          </a:p>
        </p:txBody>
      </p:sp>
      <p:sp>
        <p:nvSpPr>
          <p:cNvPr id="4" name="Text Placeholder 3"/>
          <p:cNvSpPr>
            <a:spLocks noGrp="1"/>
          </p:cNvSpPr>
          <p:nvPr>
            <p:ph type="body" sz="quarter" idx="10"/>
          </p:nvPr>
        </p:nvSpPr>
        <p:spPr>
          <a:xfrm>
            <a:off x="777240" y="4718304"/>
            <a:ext cx="6280785" cy="576185"/>
          </a:xfrm>
        </p:spPr>
        <p:txBody>
          <a:bodyPr/>
          <a:lstStyle/>
          <a:p>
            <a:r>
              <a:rPr lang="en-US" dirty="0"/>
              <a:t>Math for Business and Finance: an Algebraic Approach, 3rd Edition Jeffrey Slater</a:t>
            </a:r>
          </a:p>
        </p:txBody>
      </p:sp>
      <p:sp>
        <p:nvSpPr>
          <p:cNvPr id="6" name="Text Placeholder 5">
            <a:extLst>
              <a:ext uri="{FF2B5EF4-FFF2-40B4-BE49-F238E27FC236}">
                <a16:creationId xmlns:a16="http://schemas.microsoft.com/office/drawing/2014/main" id="{444E638C-E66F-49EA-93BC-AFA89C9C03DB}"/>
              </a:ext>
            </a:extLst>
          </p:cNvPr>
          <p:cNvSpPr>
            <a:spLocks noGrp="1"/>
          </p:cNvSpPr>
          <p:nvPr>
            <p:ph type="body" sz="quarter" idx="11"/>
          </p:nvPr>
        </p:nvSpPr>
        <p:spPr/>
        <p:txBody>
          <a:bodyPr/>
          <a:lstStyle/>
          <a:p>
            <a:pPr algn="ctr"/>
            <a:r>
              <a:rPr lang="en-US" sz="1200" dirty="0">
                <a:solidFill>
                  <a:schemeClr val="tx1"/>
                </a:solidFill>
              </a:rPr>
              <a:t>© McGraw Hill LLC. All rights reserved. No reproduction or distribution without the prior written consent of McGraw Hill LLC.</a:t>
            </a:r>
          </a:p>
        </p:txBody>
      </p:sp>
    </p:spTree>
    <p:extLst>
      <p:ext uri="{BB962C8B-B14F-4D97-AF65-F5344CB8AC3E}">
        <p14:creationId xmlns:p14="http://schemas.microsoft.com/office/powerpoint/2010/main" val="314666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Learning Unit Objectives</a:t>
            </a:r>
          </a:p>
        </p:txBody>
      </p:sp>
      <p:sp>
        <p:nvSpPr>
          <p:cNvPr id="3" name="Content Placeholder 2"/>
          <p:cNvSpPr>
            <a:spLocks noGrp="1"/>
          </p:cNvSpPr>
          <p:nvPr>
            <p:ph sz="quarter" idx="11"/>
          </p:nvPr>
        </p:nvSpPr>
        <p:spPr>
          <a:xfrm>
            <a:off x="342900" y="1276708"/>
            <a:ext cx="8458200" cy="1881271"/>
          </a:xfrm>
        </p:spPr>
        <p:txBody>
          <a:bodyPr/>
          <a:lstStyle/>
          <a:p>
            <a:r>
              <a:rPr lang="en-US" sz="2000" b="1" dirty="0"/>
              <a:t>L</a:t>
            </a:r>
            <a:r>
              <a:rPr lang="en-US" sz="100" b="1" dirty="0"/>
              <a:t> </a:t>
            </a:r>
            <a:r>
              <a:rPr lang="en-US" sz="2000" b="1" dirty="0"/>
              <a:t>U 4-1: Solving Equations for the Unknown.</a:t>
            </a:r>
          </a:p>
          <a:p>
            <a:pPr marL="402336" indent="-402336">
              <a:buFont typeface="+mj-lt"/>
              <a:buAutoNum type="arabicPeriod"/>
            </a:pPr>
            <a:r>
              <a:rPr lang="en-US" sz="2000" dirty="0"/>
              <a:t>Explain the basic procedures used to solve equations for the unknown.</a:t>
            </a:r>
          </a:p>
          <a:p>
            <a:pPr marL="402336" indent="-402336">
              <a:buFont typeface="+mj-lt"/>
              <a:buAutoNum type="arabicPeriod"/>
            </a:pPr>
            <a:r>
              <a:rPr lang="en-US" sz="2000" dirty="0"/>
              <a:t>List the five rules and the mechanical steps used to solve for the unknown in seven situations; know how to check the answers.</a:t>
            </a:r>
          </a:p>
        </p:txBody>
      </p:sp>
      <p:sp>
        <p:nvSpPr>
          <p:cNvPr id="4" name="Content Placeholder 3"/>
          <p:cNvSpPr>
            <a:spLocks noGrp="1"/>
          </p:cNvSpPr>
          <p:nvPr>
            <p:ph sz="quarter" idx="14"/>
          </p:nvPr>
        </p:nvSpPr>
        <p:spPr>
          <a:xfrm>
            <a:off x="342900" y="3254125"/>
            <a:ext cx="8458200" cy="1390446"/>
          </a:xfrm>
        </p:spPr>
        <p:txBody>
          <a:bodyPr/>
          <a:lstStyle/>
          <a:p>
            <a:r>
              <a:rPr lang="en-US" sz="2000" b="1" dirty="0"/>
              <a:t>L</a:t>
            </a:r>
            <a:r>
              <a:rPr lang="en-US" sz="100" b="1" dirty="0"/>
              <a:t> </a:t>
            </a:r>
            <a:r>
              <a:rPr lang="en-US" sz="2000" b="1" dirty="0"/>
              <a:t>U 4-2: Solving Word Problems for the Unknown.</a:t>
            </a:r>
          </a:p>
          <a:p>
            <a:pPr marL="402336" indent="-402336">
              <a:buFont typeface="+mj-lt"/>
              <a:buAutoNum type="arabicPeriod"/>
            </a:pPr>
            <a:r>
              <a:rPr lang="en-US" sz="2000" dirty="0"/>
              <a:t>List the steps for solving word problems.</a:t>
            </a:r>
          </a:p>
          <a:p>
            <a:pPr marL="402336" indent="-402336">
              <a:buFont typeface="+mj-lt"/>
              <a:buAutoNum type="arabicPeriod"/>
            </a:pPr>
            <a:r>
              <a:rPr lang="en-US" sz="2000" dirty="0"/>
              <a:t>Complete blueprint aids to solve word problems; check the solutions.</a:t>
            </a:r>
          </a:p>
        </p:txBody>
      </p:sp>
      <p:sp>
        <p:nvSpPr>
          <p:cNvPr id="8" name="Content Placeholder 7"/>
          <p:cNvSpPr>
            <a:spLocks noGrp="1"/>
          </p:cNvSpPr>
          <p:nvPr>
            <p:ph sz="quarter" idx="15"/>
          </p:nvPr>
        </p:nvSpPr>
        <p:spPr>
          <a:xfrm>
            <a:off x="356750" y="4894389"/>
            <a:ext cx="8458200" cy="1331135"/>
          </a:xfrm>
        </p:spPr>
        <p:txBody>
          <a:bodyPr/>
          <a:lstStyle/>
          <a:p>
            <a:r>
              <a:rPr lang="en-US" sz="2000" b="1" dirty="0"/>
              <a:t>L</a:t>
            </a:r>
            <a:r>
              <a:rPr lang="en-US" sz="100" b="1" dirty="0"/>
              <a:t> </a:t>
            </a:r>
            <a:r>
              <a:rPr lang="en-US" sz="2000" b="1" dirty="0"/>
              <a:t>U 4-3: Ratios and Proportions.</a:t>
            </a:r>
          </a:p>
          <a:p>
            <a:r>
              <a:rPr lang="en-US" sz="2000" dirty="0"/>
              <a:t>Understand ratios and proportions and solve for the unknown.</a:t>
            </a:r>
          </a:p>
        </p:txBody>
      </p:sp>
      <p:sp>
        <p:nvSpPr>
          <p:cNvPr id="7" name="Slide Number Placeholder 6"/>
          <p:cNvSpPr>
            <a:spLocks noGrp="1"/>
          </p:cNvSpPr>
          <p:nvPr>
            <p:ph type="sldNum" sz="quarter" idx="10"/>
          </p:nvPr>
        </p:nvSpPr>
        <p:spPr/>
        <p:txBody>
          <a:bodyPr/>
          <a:lstStyle/>
          <a:p>
            <a:fld id="{68151E55-6873-49E2-B8D5-2F265E6F1973}" type="slidenum">
              <a:rPr lang="en-US" smtClean="0"/>
              <a:t>2</a:t>
            </a:fld>
            <a:endParaRPr lang="en-US"/>
          </a:p>
        </p:txBody>
      </p:sp>
    </p:spTree>
    <p:extLst>
      <p:ext uri="{BB962C8B-B14F-4D97-AF65-F5344CB8AC3E}">
        <p14:creationId xmlns:p14="http://schemas.microsoft.com/office/powerpoint/2010/main" val="2166421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Basic Equation-Solving Procedure Terminology</a:t>
            </a:r>
          </a:p>
        </p:txBody>
      </p:sp>
      <p:sp>
        <p:nvSpPr>
          <p:cNvPr id="3" name="Content Placeholder 2"/>
          <p:cNvSpPr>
            <a:spLocks noGrp="1"/>
          </p:cNvSpPr>
          <p:nvPr>
            <p:ph sz="quarter" idx="11"/>
          </p:nvPr>
        </p:nvSpPr>
        <p:spPr/>
        <p:txBody>
          <a:bodyPr/>
          <a:lstStyle/>
          <a:p>
            <a:pPr marL="292608" indent="-292608">
              <a:buFont typeface="Arial" panose="020B0604020202020204" pitchFamily="34" charset="0"/>
              <a:buChar char="•"/>
            </a:pPr>
            <a:r>
              <a:rPr lang="en-US" b="1" i="1" dirty="0">
                <a:solidFill>
                  <a:srgbClr val="A9131A"/>
                </a:solidFill>
              </a:rPr>
              <a:t>Expression</a:t>
            </a:r>
            <a:r>
              <a:rPr lang="en-US" dirty="0"/>
              <a:t> – A meaningful combination of numbers and letters called terms.</a:t>
            </a:r>
          </a:p>
          <a:p>
            <a:pPr marL="292608" indent="-292608">
              <a:buFont typeface="Arial" panose="020B0604020202020204" pitchFamily="34" charset="0"/>
              <a:buChar char="•"/>
            </a:pPr>
            <a:r>
              <a:rPr lang="en-US" b="1" i="1" dirty="0">
                <a:solidFill>
                  <a:srgbClr val="A9131A"/>
                </a:solidFill>
              </a:rPr>
              <a:t>Equation</a:t>
            </a:r>
            <a:r>
              <a:rPr lang="en-US" dirty="0"/>
              <a:t> – A mathematical statement with an equal sign showing that a mathematical expression on the left equals the mathematical expression on the right.</a:t>
            </a:r>
          </a:p>
          <a:p>
            <a:pPr marL="292608" indent="-292608">
              <a:buFont typeface="Arial" panose="020B0604020202020204" pitchFamily="34" charset="0"/>
              <a:buChar char="•"/>
            </a:pPr>
            <a:r>
              <a:rPr lang="en-US" b="1" i="1" dirty="0">
                <a:solidFill>
                  <a:srgbClr val="A9131A"/>
                </a:solidFill>
              </a:rPr>
              <a:t>Formula</a:t>
            </a:r>
            <a:r>
              <a:rPr lang="en-US" dirty="0"/>
              <a:t> – An equation that expresses in symbols a general fact, rule, or principle.</a:t>
            </a:r>
          </a:p>
          <a:p>
            <a:pPr marL="292608" indent="-292608">
              <a:buFont typeface="Arial" panose="020B0604020202020204" pitchFamily="34" charset="0"/>
              <a:buChar char="•"/>
            </a:pPr>
            <a:r>
              <a:rPr lang="en-US" b="1" i="1" dirty="0">
                <a:solidFill>
                  <a:srgbClr val="A9131A"/>
                </a:solidFill>
              </a:rPr>
              <a:t>Variables</a:t>
            </a:r>
            <a:r>
              <a:rPr lang="en-US" dirty="0"/>
              <a:t> – </a:t>
            </a:r>
            <a:r>
              <a:rPr lang="en-US" i="1" dirty="0"/>
              <a:t>Equations use letters as symbols that represent one or more numbers. These symbols, usually a letter of the alphabet , are a </a:t>
            </a:r>
            <a:r>
              <a:rPr lang="en-US" b="1" i="1" dirty="0"/>
              <a:t>variable</a:t>
            </a:r>
            <a:r>
              <a:rPr lang="en-US" i="1" dirty="0"/>
              <a:t> that stand for a number.</a:t>
            </a:r>
          </a:p>
          <a:p>
            <a:pPr marL="292608" indent="-292608">
              <a:buFont typeface="Arial" panose="020B0604020202020204" pitchFamily="34" charset="0"/>
              <a:buChar char="•"/>
            </a:pPr>
            <a:r>
              <a:rPr lang="en-US" b="1" i="1" dirty="0">
                <a:solidFill>
                  <a:srgbClr val="A9131A"/>
                </a:solidFill>
              </a:rPr>
              <a:t>Constants</a:t>
            </a:r>
            <a:r>
              <a:rPr lang="en-US" dirty="0"/>
              <a:t> – </a:t>
            </a:r>
            <a:r>
              <a:rPr lang="en-US" i="1" dirty="0"/>
              <a:t>A fixed number </a:t>
            </a:r>
            <a:r>
              <a:rPr lang="en-US" dirty="0"/>
              <a:t>such as a 3 or a -7.</a:t>
            </a:r>
          </a:p>
        </p:txBody>
      </p:sp>
      <p:sp>
        <p:nvSpPr>
          <p:cNvPr id="6" name="Slide Number Placeholder 5"/>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2379536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Variables and Constants Rules</a:t>
            </a:r>
          </a:p>
        </p:txBody>
      </p:sp>
      <p:sp>
        <p:nvSpPr>
          <p:cNvPr id="3" name="Content Placeholder 2"/>
          <p:cNvSpPr>
            <a:spLocks noGrp="1"/>
          </p:cNvSpPr>
          <p:nvPr>
            <p:ph sz="quarter" idx="11"/>
          </p:nvPr>
        </p:nvSpPr>
        <p:spPr/>
        <p:txBody>
          <a:bodyPr/>
          <a:lstStyle/>
          <a:p>
            <a:pPr marL="402336" indent="-402336">
              <a:buFont typeface="+mj-lt"/>
              <a:buAutoNum type="arabicPeriod"/>
            </a:pPr>
            <a:r>
              <a:rPr lang="en-US" dirty="0"/>
              <a:t>If no number is in front of a letter, it is a 1:</a:t>
            </a:r>
          </a:p>
          <a:p>
            <a:pPr indent="1309688"/>
            <a:r>
              <a:rPr lang="en-US" i="1" dirty="0"/>
              <a:t>B</a:t>
            </a:r>
            <a:r>
              <a:rPr lang="en-US" dirty="0"/>
              <a:t> = 1</a:t>
            </a:r>
            <a:r>
              <a:rPr lang="en-US" i="1" dirty="0"/>
              <a:t>B</a:t>
            </a:r>
            <a:r>
              <a:rPr lang="en-US" dirty="0"/>
              <a:t>; </a:t>
            </a:r>
            <a:r>
              <a:rPr lang="en-US" i="1" dirty="0"/>
              <a:t>C</a:t>
            </a:r>
            <a:r>
              <a:rPr lang="en-US" dirty="0"/>
              <a:t> = 1</a:t>
            </a:r>
            <a:r>
              <a:rPr lang="en-US" i="1" dirty="0"/>
              <a:t>C</a:t>
            </a:r>
          </a:p>
          <a:p>
            <a:pPr marL="402336" indent="-402336">
              <a:buFont typeface="+mj-lt"/>
              <a:buAutoNum type="arabicPeriod" startAt="2"/>
            </a:pPr>
            <a:r>
              <a:rPr lang="en-US" dirty="0"/>
              <a:t>If no sign is in front of a letter or number, it is a positive:</a:t>
            </a:r>
          </a:p>
          <a:p>
            <a:pPr indent="1309688"/>
            <a:r>
              <a:rPr lang="en-US" i="1" dirty="0"/>
              <a:t>C</a:t>
            </a:r>
            <a:r>
              <a:rPr lang="en-US" dirty="0"/>
              <a:t> = +</a:t>
            </a:r>
            <a:r>
              <a:rPr lang="en-US" i="1" dirty="0"/>
              <a:t>C</a:t>
            </a:r>
            <a:r>
              <a:rPr lang="en-US" dirty="0"/>
              <a:t>; 4 = +4</a:t>
            </a:r>
          </a:p>
        </p:txBody>
      </p:sp>
      <p:sp>
        <p:nvSpPr>
          <p:cNvPr id="6" name="Slide Number Placeholder 5"/>
          <p:cNvSpPr>
            <a:spLocks noGrp="1"/>
          </p:cNvSpPr>
          <p:nvPr>
            <p:ph type="sldNum" sz="quarter" idx="4"/>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962685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Solving Equations</a:t>
            </a:r>
          </a:p>
        </p:txBody>
      </p:sp>
      <p:sp>
        <p:nvSpPr>
          <p:cNvPr id="3" name="Content Placeholder 2"/>
          <p:cNvSpPr>
            <a:spLocks noGrp="1"/>
          </p:cNvSpPr>
          <p:nvPr>
            <p:ph sz="quarter" idx="11"/>
          </p:nvPr>
        </p:nvSpPr>
        <p:spPr/>
        <p:txBody>
          <a:bodyPr/>
          <a:lstStyle/>
          <a:p>
            <a:pPr marL="292608" indent="-292608">
              <a:buFont typeface="Arial" panose="020B0604020202020204" pitchFamily="34" charset="0"/>
              <a:buChar char="•"/>
            </a:pPr>
            <a:r>
              <a:rPr lang="en-US" dirty="0"/>
              <a:t>The meaning of the symbols +, −, </a:t>
            </a:r>
            <a:r>
              <a:rPr lang="en-US" i="1" dirty="0"/>
              <a:t>×</a:t>
            </a:r>
            <a:r>
              <a:rPr lang="en-US" dirty="0"/>
              <a:t> and ÷ has not changed, however, some variations occur.</a:t>
            </a:r>
          </a:p>
          <a:p>
            <a:pPr marL="292608" indent="-292608">
              <a:buFont typeface="Arial" panose="020B0604020202020204" pitchFamily="34" charset="0"/>
              <a:buChar char="•"/>
            </a:pPr>
            <a:r>
              <a:rPr lang="en-US" dirty="0"/>
              <a:t>You can write </a:t>
            </a:r>
            <a:r>
              <a:rPr lang="en-US" b="1" i="1" dirty="0"/>
              <a:t>A </a:t>
            </a:r>
            <a:r>
              <a:rPr lang="en-US" b="1" dirty="0"/>
              <a:t>times</a:t>
            </a:r>
            <a:r>
              <a:rPr lang="en-US" b="1" i="1" dirty="0"/>
              <a:t> B</a:t>
            </a:r>
            <a:r>
              <a:rPr lang="en-US" dirty="0"/>
              <a:t> as: </a:t>
            </a:r>
            <a:r>
              <a:rPr lang="en-US" i="1" dirty="0"/>
              <a:t>A×B, A  </a:t>
            </a:r>
            <a:r>
              <a:rPr lang="en-US" i="1" dirty="0">
                <a:solidFill>
                  <a:srgbClr val="A9131A"/>
                </a:solidFill>
              </a:rPr>
              <a:t>*</a:t>
            </a:r>
            <a:r>
              <a:rPr lang="en-US" i="1" dirty="0"/>
              <a:t>B </a:t>
            </a:r>
            <a:r>
              <a:rPr lang="en-US" dirty="0"/>
              <a:t>or </a:t>
            </a:r>
            <a:r>
              <a:rPr lang="en-US" i="1" dirty="0"/>
              <a:t>A</a:t>
            </a:r>
            <a:r>
              <a:rPr lang="en-US" sz="100" i="1" dirty="0"/>
              <a:t> </a:t>
            </a:r>
            <a:r>
              <a:rPr lang="en-US" i="1" dirty="0"/>
              <a:t>B</a:t>
            </a:r>
            <a:r>
              <a:rPr lang="en-US" dirty="0"/>
              <a:t>.</a:t>
            </a:r>
          </a:p>
          <a:p>
            <a:pPr marL="292608" indent="-292608">
              <a:buFont typeface="Arial" panose="020B0604020202020204" pitchFamily="34" charset="0"/>
              <a:buChar char="•"/>
            </a:pPr>
            <a:r>
              <a:rPr lang="en-US" dirty="0"/>
              <a:t>Key thing to remember is that to solve an equation, you must find a number that can replace the unknown in the equation and make it a true statement.</a:t>
            </a:r>
          </a:p>
        </p:txBody>
      </p:sp>
      <p:sp>
        <p:nvSpPr>
          <p:cNvPr id="6" name="Slide Number Placeholder 5"/>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3053967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Solving Equations for the Unknown </a:t>
            </a:r>
            <a:r>
              <a:rPr lang="en-US" sz="1000" b="0" dirty="0"/>
              <a:t>1</a:t>
            </a:r>
            <a:endParaRPr lang="en-IN" sz="1000" b="0" dirty="0"/>
          </a:p>
        </p:txBody>
      </p:sp>
      <p:pic>
        <p:nvPicPr>
          <p:cNvPr id="4" name="Picture 3" descr="A weighing scale demonstrating equality in equations."/>
          <p:cNvPicPr>
            <a:picLocks noChangeAspect="1"/>
          </p:cNvPicPr>
          <p:nvPr/>
        </p:nvPicPr>
        <p:blipFill>
          <a:blip r:embed="rId2"/>
          <a:stretch>
            <a:fillRect/>
          </a:stretch>
        </p:blipFill>
        <p:spPr>
          <a:xfrm>
            <a:off x="2557715" y="1276709"/>
            <a:ext cx="4273666" cy="3913971"/>
          </a:xfrm>
          <a:prstGeom prst="rect">
            <a:avLst/>
          </a:prstGeom>
        </p:spPr>
      </p:pic>
      <p:sp>
        <p:nvSpPr>
          <p:cNvPr id="3" name="Content Placeholder 2"/>
          <p:cNvSpPr>
            <a:spLocks noGrp="1"/>
          </p:cNvSpPr>
          <p:nvPr>
            <p:ph sz="quarter" idx="11"/>
          </p:nvPr>
        </p:nvSpPr>
        <p:spPr>
          <a:xfrm>
            <a:off x="342900" y="5269584"/>
            <a:ext cx="8458200" cy="933253"/>
          </a:xfrm>
        </p:spPr>
        <p:txBody>
          <a:bodyPr/>
          <a:lstStyle/>
          <a:p>
            <a:pPr algn="ctr"/>
            <a:r>
              <a:rPr lang="en-US" dirty="0"/>
              <a:t>Dick’s age in 8 years will equal 58.</a:t>
            </a:r>
          </a:p>
          <a:p>
            <a:pPr algn="ctr"/>
            <a:r>
              <a:rPr lang="en-US" dirty="0"/>
              <a:t>The variable “A” represents Dick’s current age.</a:t>
            </a:r>
          </a:p>
        </p:txBody>
      </p:sp>
      <p:sp>
        <p:nvSpPr>
          <p:cNvPr id="7" name="Text Placeholder 3"/>
          <p:cNvSpPr>
            <a:spLocks noGrp="1"/>
          </p:cNvSpPr>
          <p:nvPr>
            <p:ph type="body" sz="quarter" idx="12"/>
          </p:nvPr>
        </p:nvSpPr>
        <p:spPr>
          <a:xfrm>
            <a:off x="3047997" y="6299200"/>
            <a:ext cx="3074997" cy="215900"/>
          </a:xfrm>
        </p:spPr>
        <p:txBody>
          <a:bodyPr/>
          <a:lstStyle/>
          <a:p>
            <a:r>
              <a:rPr lang="en-US" sz="1200" dirty="0">
                <a:hlinkClick r:id="rId3" action="ppaction://hlinksldjump"/>
              </a:rPr>
              <a:t>Access the text alternative for slide images</a:t>
            </a:r>
            <a:endParaRPr lang="en-IN" sz="1200" dirty="0">
              <a:hlinkClick r:id="rId3" action="ppaction://hlinksldjump"/>
            </a:endParaRPr>
          </a:p>
        </p:txBody>
      </p:sp>
      <p:sp>
        <p:nvSpPr>
          <p:cNvPr id="6" name="Slide Number Placeholder 5"/>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422208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Solving Equations for the Unknown </a:t>
            </a:r>
            <a:r>
              <a:rPr lang="en-US" sz="1000" b="0" dirty="0"/>
              <a:t>2</a:t>
            </a:r>
          </a:p>
        </p:txBody>
      </p:sp>
      <p:graphicFrame>
        <p:nvGraphicFramePr>
          <p:cNvPr id="8" name="Table 7"/>
          <p:cNvGraphicFramePr>
            <a:graphicFrameLocks noGrp="1"/>
          </p:cNvGraphicFramePr>
          <p:nvPr>
            <p:extLst>
              <p:ext uri="{D42A27DB-BD31-4B8C-83A1-F6EECF244321}">
                <p14:modId xmlns:p14="http://schemas.microsoft.com/office/powerpoint/2010/main" val="3517773085"/>
              </p:ext>
            </p:extLst>
          </p:nvPr>
        </p:nvGraphicFramePr>
        <p:xfrm>
          <a:off x="1410879" y="2235985"/>
          <a:ext cx="6096000" cy="1854200"/>
        </p:xfrm>
        <a:graphic>
          <a:graphicData uri="http://schemas.openxmlformats.org/drawingml/2006/table">
            <a:tbl>
              <a:tblPr firstRow="1" bandRow="1">
                <a:tableStyleId>{5C22544A-7EE6-4342-B048-85BDC9FD1C3A}</a:tableStyleId>
              </a:tblPr>
              <a:tblGrid>
                <a:gridCol w="3689022">
                  <a:extLst>
                    <a:ext uri="{9D8B030D-6E8A-4147-A177-3AD203B41FA5}">
                      <a16:colId xmlns:a16="http://schemas.microsoft.com/office/drawing/2014/main" val="371295747"/>
                    </a:ext>
                  </a:extLst>
                </a:gridCol>
                <a:gridCol w="2406978">
                  <a:extLst>
                    <a:ext uri="{9D8B030D-6E8A-4147-A177-3AD203B41FA5}">
                      <a16:colId xmlns:a16="http://schemas.microsoft.com/office/drawing/2014/main" val="2569850808"/>
                    </a:ext>
                  </a:extLst>
                </a:gridCol>
              </a:tblGrid>
              <a:tr h="370840">
                <a:tc>
                  <a:txBody>
                    <a:bodyPr/>
                    <a:lstStyle/>
                    <a:p>
                      <a:r>
                        <a:rPr lang="en-US" dirty="0"/>
                        <a:t>Verbal statement</a:t>
                      </a:r>
                      <a:endParaRPr lang="en-IN" dirty="0"/>
                    </a:p>
                  </a:txBody>
                  <a:tcPr/>
                </a:tc>
                <a:tc>
                  <a:txBody>
                    <a:bodyPr/>
                    <a:lstStyle/>
                    <a:p>
                      <a:pPr algn="ctr"/>
                      <a:r>
                        <a:rPr lang="en-US" dirty="0"/>
                        <a:t>Variable A (age)</a:t>
                      </a:r>
                      <a:endParaRPr lang="en-IN" dirty="0"/>
                    </a:p>
                  </a:txBody>
                  <a:tcPr/>
                </a:tc>
                <a:extLst>
                  <a:ext uri="{0D108BD9-81ED-4DB2-BD59-A6C34878D82A}">
                    <a16:rowId xmlns:a16="http://schemas.microsoft.com/office/drawing/2014/main" val="1572400207"/>
                  </a:ext>
                </a:extLst>
              </a:tr>
              <a:tr h="370840">
                <a:tc>
                  <a:txBody>
                    <a:bodyPr/>
                    <a:lstStyle/>
                    <a:p>
                      <a:r>
                        <a:rPr lang="en-US" dirty="0"/>
                        <a:t>Dick’s age 8 years ago</a:t>
                      </a:r>
                      <a:endParaRPr lang="en-IN" dirty="0"/>
                    </a:p>
                  </a:txBody>
                  <a:tcPr/>
                </a:tc>
                <a:tc>
                  <a:txBody>
                    <a:bodyPr/>
                    <a:lstStyle/>
                    <a:p>
                      <a:pPr algn="ctr"/>
                      <a:r>
                        <a:rPr lang="en-US" i="1" dirty="0"/>
                        <a:t>A</a:t>
                      </a:r>
                      <a:r>
                        <a:rPr lang="en-US" dirty="0"/>
                        <a:t> − 8</a:t>
                      </a:r>
                      <a:endParaRPr lang="en-IN" dirty="0"/>
                    </a:p>
                  </a:txBody>
                  <a:tcPr/>
                </a:tc>
                <a:extLst>
                  <a:ext uri="{0D108BD9-81ED-4DB2-BD59-A6C34878D82A}">
                    <a16:rowId xmlns:a16="http://schemas.microsoft.com/office/drawing/2014/main" val="1910648820"/>
                  </a:ext>
                </a:extLst>
              </a:tr>
              <a:tr h="370840">
                <a:tc>
                  <a:txBody>
                    <a:bodyPr/>
                    <a:lstStyle/>
                    <a:p>
                      <a:r>
                        <a:rPr lang="en-US" dirty="0"/>
                        <a:t>Dick’s age 8 years from today</a:t>
                      </a:r>
                      <a:endParaRPr lang="en-IN" dirty="0"/>
                    </a:p>
                  </a:txBody>
                  <a:tcPr/>
                </a:tc>
                <a:tc>
                  <a:txBody>
                    <a:bodyPr/>
                    <a:lstStyle/>
                    <a:p>
                      <a:pPr algn="ctr"/>
                      <a:r>
                        <a:rPr lang="en-US" i="1" dirty="0"/>
                        <a:t>A</a:t>
                      </a:r>
                      <a:r>
                        <a:rPr lang="en-US" baseline="0" dirty="0"/>
                        <a:t> + 8</a:t>
                      </a:r>
                      <a:endParaRPr lang="en-IN" dirty="0"/>
                    </a:p>
                  </a:txBody>
                  <a:tcPr/>
                </a:tc>
                <a:extLst>
                  <a:ext uri="{0D108BD9-81ED-4DB2-BD59-A6C34878D82A}">
                    <a16:rowId xmlns:a16="http://schemas.microsoft.com/office/drawing/2014/main" val="4169463199"/>
                  </a:ext>
                </a:extLst>
              </a:tr>
              <a:tr h="370840">
                <a:tc>
                  <a:txBody>
                    <a:bodyPr/>
                    <a:lstStyle/>
                    <a:p>
                      <a:r>
                        <a:rPr lang="en-US" dirty="0"/>
                        <a:t>Four times Dick’s age</a:t>
                      </a:r>
                      <a:endParaRPr lang="en-IN" dirty="0"/>
                    </a:p>
                  </a:txBody>
                  <a:tcPr/>
                </a:tc>
                <a:tc>
                  <a:txBody>
                    <a:bodyPr/>
                    <a:lstStyle/>
                    <a:p>
                      <a:pPr algn="ctr"/>
                      <a:r>
                        <a:rPr lang="en-US" dirty="0"/>
                        <a:t>4</a:t>
                      </a:r>
                      <a:r>
                        <a:rPr lang="en-US" i="1" dirty="0"/>
                        <a:t>A</a:t>
                      </a:r>
                      <a:endParaRPr lang="en-IN" i="1" dirty="0"/>
                    </a:p>
                  </a:txBody>
                  <a:tcPr/>
                </a:tc>
                <a:extLst>
                  <a:ext uri="{0D108BD9-81ED-4DB2-BD59-A6C34878D82A}">
                    <a16:rowId xmlns:a16="http://schemas.microsoft.com/office/drawing/2014/main" val="3166496573"/>
                  </a:ext>
                </a:extLst>
              </a:tr>
              <a:tr h="370840">
                <a:tc>
                  <a:txBody>
                    <a:bodyPr/>
                    <a:lstStyle/>
                    <a:p>
                      <a:r>
                        <a:rPr lang="en-US" dirty="0"/>
                        <a:t>One-fifth Dick’s age</a:t>
                      </a:r>
                      <a:endParaRPr lang="en-IN" dirty="0"/>
                    </a:p>
                  </a:txBody>
                  <a:tcPr/>
                </a:tc>
                <a:tc>
                  <a:txBody>
                    <a:bodyPr/>
                    <a:lstStyle/>
                    <a:p>
                      <a:pPr algn="ctr"/>
                      <a:r>
                        <a:rPr lang="en-US" i="1" dirty="0"/>
                        <a:t>A</a:t>
                      </a:r>
                      <a:r>
                        <a:rPr lang="en-US" dirty="0"/>
                        <a:t>/5</a:t>
                      </a:r>
                      <a:endParaRPr lang="en-IN" dirty="0"/>
                    </a:p>
                  </a:txBody>
                  <a:tcPr/>
                </a:tc>
                <a:extLst>
                  <a:ext uri="{0D108BD9-81ED-4DB2-BD59-A6C34878D82A}">
                    <a16:rowId xmlns:a16="http://schemas.microsoft.com/office/drawing/2014/main" val="1144541379"/>
                  </a:ext>
                </a:extLst>
              </a:tr>
            </a:tbl>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2130039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Solving for the Unknown Rule</a:t>
            </a:r>
            <a:endParaRPr lang="en-IN" sz="1000" b="0" dirty="0"/>
          </a:p>
        </p:txBody>
      </p:sp>
      <p:sp>
        <p:nvSpPr>
          <p:cNvPr id="5" name="Content Placeholder 4"/>
          <p:cNvSpPr>
            <a:spLocks noGrp="1"/>
          </p:cNvSpPr>
          <p:nvPr>
            <p:ph sz="quarter" idx="11"/>
          </p:nvPr>
        </p:nvSpPr>
        <p:spPr>
          <a:xfrm>
            <a:off x="342900" y="1276709"/>
            <a:ext cx="8458200" cy="1466491"/>
          </a:xfrm>
        </p:spPr>
        <p:txBody>
          <a:bodyPr/>
          <a:lstStyle/>
          <a:p>
            <a:pPr marL="292608" indent="-292608">
              <a:buFont typeface="Arial" panose="020B0604020202020204" pitchFamily="34" charset="0"/>
              <a:buChar char="•"/>
            </a:pPr>
            <a:r>
              <a:rPr lang="en-US" sz="2000" dirty="0"/>
              <a:t>Whatever you do to one side of an equation, you must do to the other side.</a:t>
            </a:r>
          </a:p>
          <a:p>
            <a:pPr marL="292608" indent="-292608">
              <a:buFont typeface="Arial" panose="020B0604020202020204" pitchFamily="34" charset="0"/>
              <a:buChar char="•"/>
            </a:pPr>
            <a:r>
              <a:rPr lang="en-US" sz="2000" dirty="0"/>
              <a:t>Perform operations of addition, subtraction, multiplication or division to both sides of the equation to keep the equation balanced.</a:t>
            </a:r>
          </a:p>
        </p:txBody>
      </p:sp>
      <p:pic>
        <p:nvPicPr>
          <p:cNvPr id="8" name="Picture 7" descr="A weighing scale representing an equation."/>
          <p:cNvPicPr>
            <a:picLocks noChangeAspect="1"/>
          </p:cNvPicPr>
          <p:nvPr/>
        </p:nvPicPr>
        <p:blipFill>
          <a:blip r:embed="rId2"/>
          <a:stretch>
            <a:fillRect/>
          </a:stretch>
        </p:blipFill>
        <p:spPr>
          <a:xfrm>
            <a:off x="2632196" y="2900324"/>
            <a:ext cx="3879609" cy="3142484"/>
          </a:xfrm>
          <a:prstGeom prst="rect">
            <a:avLst/>
          </a:prstGeom>
        </p:spPr>
      </p:pic>
      <p:sp>
        <p:nvSpPr>
          <p:cNvPr id="7" name="Text Placeholder 3"/>
          <p:cNvSpPr>
            <a:spLocks noGrp="1"/>
          </p:cNvSpPr>
          <p:nvPr>
            <p:ph type="body" sz="quarter" idx="12"/>
          </p:nvPr>
        </p:nvSpPr>
        <p:spPr>
          <a:xfrm>
            <a:off x="3047997" y="6299200"/>
            <a:ext cx="3074997" cy="215900"/>
          </a:xfrm>
        </p:spPr>
        <p:txBody>
          <a:bodyPr/>
          <a:lstStyle/>
          <a:p>
            <a:r>
              <a:rPr lang="en-US" sz="1200" dirty="0">
                <a:hlinkClick r:id="rId3" action="ppaction://hlinksldjump"/>
              </a:rPr>
              <a:t>Access the text alternative for slide images</a:t>
            </a:r>
            <a:endParaRPr lang="en-IN" sz="1200" dirty="0">
              <a:hlinkClick r:id="rId3" action="ppaction://hlinksldjump"/>
            </a:endParaRPr>
          </a:p>
        </p:txBody>
      </p:sp>
      <p:sp>
        <p:nvSpPr>
          <p:cNvPr id="6" name="Slide Number Placeholder 5"/>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151343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Opposite Process Rule </a:t>
            </a:r>
            <a:r>
              <a:rPr lang="en-IN" sz="1000" b="0" dirty="0"/>
              <a:t>1</a:t>
            </a:r>
          </a:p>
        </p:txBody>
      </p:sp>
      <p:sp>
        <p:nvSpPr>
          <p:cNvPr id="3" name="Content Placeholder 2"/>
          <p:cNvSpPr>
            <a:spLocks noGrp="1"/>
          </p:cNvSpPr>
          <p:nvPr>
            <p:ph sz="quarter" idx="11"/>
          </p:nvPr>
        </p:nvSpPr>
        <p:spPr>
          <a:xfrm>
            <a:off x="342900" y="1276709"/>
            <a:ext cx="8458200" cy="2550573"/>
          </a:xfrm>
        </p:spPr>
        <p:txBody>
          <a:bodyPr/>
          <a:lstStyle/>
          <a:p>
            <a:r>
              <a:rPr lang="en-US" dirty="0"/>
              <a:t>If an equation indicates a process such as addition, subtraction, multiplication, or division, solve for the unknown or variable by using the opposite process.</a:t>
            </a:r>
          </a:p>
          <a:p>
            <a:r>
              <a:rPr lang="en-US" dirty="0"/>
              <a:t>For example:</a:t>
            </a:r>
          </a:p>
          <a:p>
            <a:pPr marL="292608" indent="-292608">
              <a:buFont typeface="Arial" panose="020B0604020202020204" pitchFamily="34" charset="0"/>
              <a:buChar char="•"/>
            </a:pPr>
            <a:r>
              <a:rPr lang="en-US" dirty="0"/>
              <a:t>If the equation process is </a:t>
            </a:r>
            <a:r>
              <a:rPr lang="en-US" b="1" dirty="0"/>
              <a:t>addition</a:t>
            </a:r>
            <a:r>
              <a:rPr lang="en-US" dirty="0"/>
              <a:t>, solve for the unknown using </a:t>
            </a:r>
            <a:r>
              <a:rPr lang="en-US" b="1" dirty="0"/>
              <a:t>subtraction</a:t>
            </a:r>
            <a:r>
              <a:rPr lang="en-US" dirty="0"/>
              <a:t>.</a:t>
            </a:r>
          </a:p>
        </p:txBody>
      </p:sp>
      <p:sp>
        <p:nvSpPr>
          <p:cNvPr id="4" name="Content Placeholder 3"/>
          <p:cNvSpPr>
            <a:spLocks noGrp="1"/>
          </p:cNvSpPr>
          <p:nvPr>
            <p:ph sz="quarter" idx="14"/>
          </p:nvPr>
        </p:nvSpPr>
        <p:spPr>
          <a:xfrm>
            <a:off x="3761294" y="4008270"/>
            <a:ext cx="1781667" cy="1949470"/>
          </a:xfrm>
        </p:spPr>
        <p:txBody>
          <a:bodyPr/>
          <a:lstStyle/>
          <a:p>
            <a:r>
              <a:rPr lang="en-US" dirty="0"/>
              <a:t>If + then −</a:t>
            </a:r>
          </a:p>
          <a:p>
            <a:r>
              <a:rPr lang="en-US" dirty="0"/>
              <a:t>If − than +</a:t>
            </a:r>
          </a:p>
          <a:p>
            <a:r>
              <a:rPr lang="en-US" dirty="0"/>
              <a:t>If × then ÷</a:t>
            </a:r>
          </a:p>
          <a:p>
            <a:r>
              <a:rPr lang="en-US" dirty="0"/>
              <a:t>If ÷ then ×</a:t>
            </a:r>
          </a:p>
        </p:txBody>
      </p:sp>
      <p:sp>
        <p:nvSpPr>
          <p:cNvPr id="7" name="Slide Number Placeholder 6"/>
          <p:cNvSpPr>
            <a:spLocks noGrp="1"/>
          </p:cNvSpPr>
          <p:nvPr>
            <p:ph type="sldNum" sz="quarter" idx="10"/>
          </p:nvPr>
        </p:nvSpPr>
        <p:spPr/>
        <p:txBody>
          <a:bodyPr/>
          <a:lstStyle/>
          <a:p>
            <a:fld id="{68151E55-6873-49E2-B8D5-2F265E6F1973}" type="slidenum">
              <a:rPr lang="en-US" smtClean="0"/>
              <a:t>9</a:t>
            </a:fld>
            <a:endParaRPr lang="en-US"/>
          </a:p>
        </p:txBody>
      </p:sp>
    </p:spTree>
    <p:extLst>
      <p:ext uri="{BB962C8B-B14F-4D97-AF65-F5344CB8AC3E}">
        <p14:creationId xmlns:p14="http://schemas.microsoft.com/office/powerpoint/2010/main" val="2668377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Opposite Process Rule </a:t>
            </a:r>
            <a:r>
              <a:rPr lang="en-IN" sz="1000" b="0" dirty="0"/>
              <a:t>2</a:t>
            </a:r>
          </a:p>
        </p:txBody>
      </p:sp>
      <p:pic>
        <p:nvPicPr>
          <p:cNvPr id="8" name="Picture 7" descr="An example for the opposite process rule."/>
          <p:cNvPicPr>
            <a:picLocks noChangeAspect="1"/>
          </p:cNvPicPr>
          <p:nvPr/>
        </p:nvPicPr>
        <p:blipFill>
          <a:blip r:embed="rId2"/>
          <a:stretch>
            <a:fillRect/>
          </a:stretch>
        </p:blipFill>
        <p:spPr>
          <a:xfrm>
            <a:off x="685463" y="1750840"/>
            <a:ext cx="7773074" cy="2133785"/>
          </a:xfrm>
          <a:prstGeom prst="rect">
            <a:avLst/>
          </a:prstGeom>
        </p:spPr>
      </p:pic>
      <p:pic>
        <p:nvPicPr>
          <p:cNvPr id="9" name="Picture 8" descr="Another example for the opposite process rule."/>
          <p:cNvPicPr>
            <a:picLocks noChangeAspect="1"/>
          </p:cNvPicPr>
          <p:nvPr/>
        </p:nvPicPr>
        <p:blipFill>
          <a:blip r:embed="rId3"/>
          <a:stretch>
            <a:fillRect/>
          </a:stretch>
        </p:blipFill>
        <p:spPr>
          <a:xfrm>
            <a:off x="685463" y="4110188"/>
            <a:ext cx="7773074" cy="1993565"/>
          </a:xfrm>
          <a:prstGeom prst="rect">
            <a:avLst/>
          </a:prstGeom>
        </p:spPr>
      </p:pic>
      <p:sp>
        <p:nvSpPr>
          <p:cNvPr id="10" name="Text Placeholder 3"/>
          <p:cNvSpPr>
            <a:spLocks noGrp="1"/>
          </p:cNvSpPr>
          <p:nvPr>
            <p:ph type="body" sz="quarter" idx="12"/>
          </p:nvPr>
        </p:nvSpPr>
        <p:spPr>
          <a:xfrm>
            <a:off x="3047997" y="6299200"/>
            <a:ext cx="3074997" cy="215900"/>
          </a:xfrm>
        </p:spPr>
        <p:txBody>
          <a:bodyPr/>
          <a:lstStyle/>
          <a:p>
            <a:r>
              <a:rPr lang="en-US" sz="1200" dirty="0">
                <a:hlinkClick r:id="rId4" action="ppaction://hlinksldjump"/>
              </a:rPr>
              <a:t>Access the text alternative for slide images</a:t>
            </a:r>
            <a:endParaRPr lang="en-IN" sz="1200" dirty="0">
              <a:hlinkClick r:id="rId4" action="ppaction://hlinksldjump"/>
            </a:endParaRPr>
          </a:p>
        </p:txBody>
      </p:sp>
      <p:sp>
        <p:nvSpPr>
          <p:cNvPr id="7" name="Slide Number Placeholder 6"/>
          <p:cNvSpPr>
            <a:spLocks noGrp="1"/>
          </p:cNvSpPr>
          <p:nvPr>
            <p:ph type="sldNum" sz="quarter" idx="10"/>
          </p:nvPr>
        </p:nvSpPr>
        <p:spPr/>
        <p:txBody>
          <a:bodyPr/>
          <a:lstStyle/>
          <a:p>
            <a:fld id="{68151E55-6873-49E2-B8D5-2F265E6F1973}" type="slidenum">
              <a:rPr lang="en-US" smtClean="0"/>
              <a:t>10</a:t>
            </a:fld>
            <a:endParaRPr lang="en-US"/>
          </a:p>
        </p:txBody>
      </p:sp>
    </p:spTree>
    <p:extLst>
      <p:ext uri="{BB962C8B-B14F-4D97-AF65-F5344CB8AC3E}">
        <p14:creationId xmlns:p14="http://schemas.microsoft.com/office/powerpoint/2010/main" val="2486525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Opposite Process Rule </a:t>
            </a:r>
            <a:r>
              <a:rPr lang="en-IN" sz="1000" b="0" dirty="0"/>
              <a:t>3</a:t>
            </a:r>
            <a:endParaRPr lang="en-US" sz="1000" dirty="0"/>
          </a:p>
        </p:txBody>
      </p:sp>
      <p:sp>
        <p:nvSpPr>
          <p:cNvPr id="3" name="Content Placeholder 2"/>
          <p:cNvSpPr>
            <a:spLocks noGrp="1"/>
          </p:cNvSpPr>
          <p:nvPr>
            <p:ph sz="quarter" idx="11"/>
          </p:nvPr>
        </p:nvSpPr>
        <p:spPr>
          <a:xfrm>
            <a:off x="342901" y="1276710"/>
            <a:ext cx="2763156" cy="1655176"/>
          </a:xfrm>
        </p:spPr>
        <p:txBody>
          <a:bodyPr/>
          <a:lstStyle/>
          <a:p>
            <a:r>
              <a:rPr lang="en-US" sz="2000" b="1" dirty="0">
                <a:solidFill>
                  <a:srgbClr val="A9131A"/>
                </a:solidFill>
              </a:rPr>
              <a:t>Example</a:t>
            </a:r>
          </a:p>
          <a:p>
            <a:r>
              <a:rPr lang="en-US" sz="2000" dirty="0">
                <a:solidFill>
                  <a:schemeClr val="tx1"/>
                </a:solidFill>
              </a:rPr>
              <a:t>A + 8 = 58</a:t>
            </a:r>
          </a:p>
          <a:p>
            <a:r>
              <a:rPr lang="en-US" sz="2000" dirty="0">
                <a:solidFill>
                  <a:schemeClr val="tx1"/>
                </a:solidFill>
              </a:rPr>
              <a:t>Dick’s age </a:t>
            </a:r>
            <a:r>
              <a:rPr lang="en-US" sz="2000" i="1" dirty="0">
                <a:solidFill>
                  <a:schemeClr val="tx1"/>
                </a:solidFill>
              </a:rPr>
              <a:t>A</a:t>
            </a:r>
            <a:r>
              <a:rPr lang="en-US" sz="2000" dirty="0">
                <a:solidFill>
                  <a:schemeClr val="tx1"/>
                </a:solidFill>
              </a:rPr>
              <a:t> plus 8 equals 58.</a:t>
            </a:r>
          </a:p>
        </p:txBody>
      </p:sp>
      <p:pic>
        <p:nvPicPr>
          <p:cNvPr id="7" name="Picture 6" descr="An example for the opposite process rule."/>
          <p:cNvPicPr>
            <a:picLocks noChangeAspect="1"/>
          </p:cNvPicPr>
          <p:nvPr/>
        </p:nvPicPr>
        <p:blipFill>
          <a:blip r:embed="rId3"/>
          <a:stretch>
            <a:fillRect/>
          </a:stretch>
        </p:blipFill>
        <p:spPr>
          <a:xfrm>
            <a:off x="3323932" y="1280393"/>
            <a:ext cx="5398986" cy="2294242"/>
          </a:xfrm>
          <a:prstGeom prst="rect">
            <a:avLst/>
          </a:prstGeom>
        </p:spPr>
      </p:pic>
      <p:sp>
        <p:nvSpPr>
          <p:cNvPr id="4" name="Content Placeholder 3"/>
          <p:cNvSpPr>
            <a:spLocks noGrp="1"/>
          </p:cNvSpPr>
          <p:nvPr>
            <p:ph sz="quarter" idx="14"/>
          </p:nvPr>
        </p:nvSpPr>
        <p:spPr>
          <a:xfrm>
            <a:off x="342900" y="3521924"/>
            <a:ext cx="1369786" cy="411447"/>
          </a:xfrm>
        </p:spPr>
        <p:txBody>
          <a:bodyPr/>
          <a:lstStyle/>
          <a:p>
            <a:r>
              <a:rPr lang="en-US" sz="2000" b="1" dirty="0">
                <a:solidFill>
                  <a:srgbClr val="A9131A"/>
                </a:solidFill>
              </a:rPr>
              <a:t>Example</a:t>
            </a:r>
          </a:p>
        </p:txBody>
      </p:sp>
      <p:graphicFrame>
        <p:nvGraphicFramePr>
          <p:cNvPr id="12" name="Object 11"/>
          <p:cNvGraphicFramePr>
            <a:graphicFrameLocks noChangeAspect="1"/>
          </p:cNvGraphicFramePr>
          <p:nvPr>
            <p:extLst>
              <p:ext uri="{D42A27DB-BD31-4B8C-83A1-F6EECF244321}">
                <p14:modId xmlns:p14="http://schemas.microsoft.com/office/powerpoint/2010/main" val="122369418"/>
              </p:ext>
            </p:extLst>
          </p:nvPr>
        </p:nvGraphicFramePr>
        <p:xfrm>
          <a:off x="415019" y="4040869"/>
          <a:ext cx="1295400" cy="254000"/>
        </p:xfrm>
        <a:graphic>
          <a:graphicData uri="http://schemas.openxmlformats.org/presentationml/2006/ole">
            <mc:AlternateContent xmlns:mc="http://schemas.openxmlformats.org/markup-compatibility/2006">
              <mc:Choice xmlns:v="urn:schemas-microsoft-com:vml" Requires="v">
                <p:oleObj spid="_x0000_s1042" name="Equation" r:id="rId4" imgW="1295280" imgH="253800" progId="Equation.DSMT4">
                  <p:embed/>
                </p:oleObj>
              </mc:Choice>
              <mc:Fallback>
                <p:oleObj name="Equation" r:id="rId4" imgW="1295280" imgH="253800" progId="Equation.DSMT4">
                  <p:embed/>
                  <p:pic>
                    <p:nvPicPr>
                      <p:cNvPr id="12" name="Object 11"/>
                      <p:cNvPicPr/>
                      <p:nvPr/>
                    </p:nvPicPr>
                    <p:blipFill>
                      <a:blip r:embed="rId5"/>
                      <a:stretch>
                        <a:fillRect/>
                      </a:stretch>
                    </p:blipFill>
                    <p:spPr>
                      <a:xfrm>
                        <a:off x="415019" y="4040869"/>
                        <a:ext cx="1295400" cy="254000"/>
                      </a:xfrm>
                      <a:prstGeom prst="rect">
                        <a:avLst/>
                      </a:prstGeom>
                    </p:spPr>
                  </p:pic>
                </p:oleObj>
              </mc:Fallback>
            </mc:AlternateContent>
          </a:graphicData>
        </a:graphic>
      </p:graphicFrame>
      <p:sp>
        <p:nvSpPr>
          <p:cNvPr id="5" name="Content Placeholder 4"/>
          <p:cNvSpPr>
            <a:spLocks noGrp="1"/>
          </p:cNvSpPr>
          <p:nvPr>
            <p:ph sz="quarter" idx="15"/>
          </p:nvPr>
        </p:nvSpPr>
        <p:spPr>
          <a:xfrm>
            <a:off x="342900" y="4513943"/>
            <a:ext cx="2269671" cy="1407884"/>
          </a:xfrm>
        </p:spPr>
        <p:txBody>
          <a:bodyPr/>
          <a:lstStyle/>
          <a:p>
            <a:r>
              <a:rPr lang="en-US" sz="2000" dirty="0"/>
              <a:t>Some number </a:t>
            </a:r>
            <a:r>
              <a:rPr lang="en-US" sz="2000" i="1" dirty="0"/>
              <a:t>B</a:t>
            </a:r>
            <a:r>
              <a:rPr lang="en-US" sz="2000" dirty="0"/>
              <a:t> less 50 equals 80.</a:t>
            </a:r>
          </a:p>
        </p:txBody>
      </p:sp>
      <p:pic>
        <p:nvPicPr>
          <p:cNvPr id="10" name="Picture 9" descr="Another example for the opposite process rule."/>
          <p:cNvPicPr>
            <a:picLocks noChangeAspect="1"/>
          </p:cNvPicPr>
          <p:nvPr/>
        </p:nvPicPr>
        <p:blipFill>
          <a:blip r:embed="rId6"/>
          <a:stretch>
            <a:fillRect/>
          </a:stretch>
        </p:blipFill>
        <p:spPr>
          <a:xfrm>
            <a:off x="3257514" y="3681109"/>
            <a:ext cx="5444741" cy="2137372"/>
          </a:xfrm>
          <a:prstGeom prst="rect">
            <a:avLst/>
          </a:prstGeom>
        </p:spPr>
      </p:pic>
      <p:sp>
        <p:nvSpPr>
          <p:cNvPr id="9" name="Text Placeholder 8"/>
          <p:cNvSpPr>
            <a:spLocks noGrp="1"/>
          </p:cNvSpPr>
          <p:nvPr>
            <p:ph type="body" sz="quarter" idx="12"/>
          </p:nvPr>
        </p:nvSpPr>
        <p:spPr>
          <a:xfrm>
            <a:off x="3004459" y="6313714"/>
            <a:ext cx="3161865" cy="215900"/>
          </a:xfrm>
        </p:spPr>
        <p:txBody>
          <a:bodyPr/>
          <a:lstStyle/>
          <a:p>
            <a:r>
              <a:rPr lang="en-US" sz="1200" dirty="0">
                <a:hlinkClick r:id="rId7" action="ppaction://hlinksldjump"/>
              </a:rPr>
              <a:t>Access the text alternative for slide images</a:t>
            </a:r>
          </a:p>
        </p:txBody>
      </p:sp>
      <p:sp>
        <p:nvSpPr>
          <p:cNvPr id="11" name="Slide Number Placeholder 10"/>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507580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Equation Equality Rule </a:t>
            </a:r>
            <a:r>
              <a:rPr lang="en-IN" sz="1000" b="0" dirty="0"/>
              <a:t>1</a:t>
            </a:r>
          </a:p>
        </p:txBody>
      </p:sp>
      <p:sp>
        <p:nvSpPr>
          <p:cNvPr id="3" name="Content Placeholder 2"/>
          <p:cNvSpPr>
            <a:spLocks noGrp="1"/>
          </p:cNvSpPr>
          <p:nvPr>
            <p:ph sz="quarter" idx="11"/>
          </p:nvPr>
        </p:nvSpPr>
        <p:spPr>
          <a:xfrm>
            <a:off x="342900" y="1276709"/>
            <a:ext cx="8458200" cy="4973262"/>
          </a:xfrm>
        </p:spPr>
        <p:txBody>
          <a:bodyPr/>
          <a:lstStyle/>
          <a:p>
            <a:r>
              <a:rPr lang="en-US" dirty="0"/>
              <a:t>You can </a:t>
            </a:r>
            <a:r>
              <a:rPr lang="en-US" b="1" dirty="0"/>
              <a:t>add or subtract, multiply or divide </a:t>
            </a:r>
            <a:r>
              <a:rPr lang="en-US" dirty="0"/>
              <a:t>(except zero) the same quantity or number to both sides of the equation without affecting the equality of the equation.</a:t>
            </a:r>
          </a:p>
          <a:p>
            <a:r>
              <a:rPr lang="en-US" dirty="0"/>
              <a:t>For example:</a:t>
            </a:r>
          </a:p>
          <a:p>
            <a:pPr marL="292608" indent="-292608">
              <a:buFont typeface="Arial" panose="020B0604020202020204" pitchFamily="34" charset="0"/>
              <a:buChar char="•"/>
            </a:pPr>
            <a:r>
              <a:rPr lang="en-US" dirty="0"/>
              <a:t>If the equation process is </a:t>
            </a:r>
            <a:r>
              <a:rPr lang="en-US" b="1" dirty="0"/>
              <a:t>multiplication</a:t>
            </a:r>
            <a:r>
              <a:rPr lang="en-US" dirty="0"/>
              <a:t>, solve for the unknown using </a:t>
            </a:r>
            <a:r>
              <a:rPr lang="en-US" b="1" dirty="0"/>
              <a:t>division.</a:t>
            </a:r>
          </a:p>
          <a:p>
            <a:pPr marL="292608" indent="-292608">
              <a:buFont typeface="Arial" panose="020B0604020202020204" pitchFamily="34" charset="0"/>
              <a:buChar char="•"/>
            </a:pPr>
            <a:r>
              <a:rPr lang="en-US" dirty="0"/>
              <a:t>Dividing both sides by 7 does not change the equality of the equation.</a:t>
            </a:r>
          </a:p>
        </p:txBody>
      </p:sp>
      <p:sp>
        <p:nvSpPr>
          <p:cNvPr id="7" name="Slide Number Placeholder 6"/>
          <p:cNvSpPr>
            <a:spLocks noGrp="1"/>
          </p:cNvSpPr>
          <p:nvPr>
            <p:ph type="sldNum" sz="quarter" idx="10"/>
          </p:nvPr>
        </p:nvSpPr>
        <p:spPr/>
        <p:txBody>
          <a:bodyPr/>
          <a:lstStyle/>
          <a:p>
            <a:fld id="{68151E55-6873-49E2-B8D5-2F265E6F1973}" type="slidenum">
              <a:rPr lang="en-US" smtClean="0"/>
              <a:t>12</a:t>
            </a:fld>
            <a:endParaRPr lang="en-US"/>
          </a:p>
        </p:txBody>
      </p:sp>
    </p:spTree>
    <p:extLst>
      <p:ext uri="{BB962C8B-B14F-4D97-AF65-F5344CB8AC3E}">
        <p14:creationId xmlns:p14="http://schemas.microsoft.com/office/powerpoint/2010/main" val="1788024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Equation Equality Rule </a:t>
            </a:r>
            <a:r>
              <a:rPr lang="en-IN" sz="1000" b="0" dirty="0"/>
              <a:t>2</a:t>
            </a:r>
            <a:endParaRPr lang="en-US" sz="1000" dirty="0"/>
          </a:p>
        </p:txBody>
      </p:sp>
      <p:sp>
        <p:nvSpPr>
          <p:cNvPr id="3" name="Content Placeholder 2"/>
          <p:cNvSpPr>
            <a:spLocks noGrp="1"/>
          </p:cNvSpPr>
          <p:nvPr>
            <p:ph sz="quarter" idx="11"/>
          </p:nvPr>
        </p:nvSpPr>
        <p:spPr>
          <a:xfrm>
            <a:off x="342901" y="1276710"/>
            <a:ext cx="2763156" cy="1655176"/>
          </a:xfrm>
        </p:spPr>
        <p:txBody>
          <a:bodyPr/>
          <a:lstStyle/>
          <a:p>
            <a:r>
              <a:rPr lang="en-US" sz="2000" b="1" dirty="0">
                <a:solidFill>
                  <a:srgbClr val="A9131A"/>
                </a:solidFill>
              </a:rPr>
              <a:t>Example</a:t>
            </a:r>
          </a:p>
          <a:p>
            <a:r>
              <a:rPr lang="en-US" sz="2000" dirty="0">
                <a:solidFill>
                  <a:schemeClr val="tx1"/>
                </a:solidFill>
              </a:rPr>
              <a:t>7</a:t>
            </a:r>
            <a:r>
              <a:rPr lang="en-US" sz="2000" i="1" dirty="0">
                <a:solidFill>
                  <a:schemeClr val="tx1"/>
                </a:solidFill>
              </a:rPr>
              <a:t>G</a:t>
            </a:r>
            <a:r>
              <a:rPr lang="en-US" sz="2000" dirty="0">
                <a:solidFill>
                  <a:schemeClr val="tx1"/>
                </a:solidFill>
              </a:rPr>
              <a:t> = 35</a:t>
            </a:r>
          </a:p>
          <a:p>
            <a:r>
              <a:rPr lang="en-US" sz="2000" dirty="0">
                <a:solidFill>
                  <a:schemeClr val="tx1"/>
                </a:solidFill>
              </a:rPr>
              <a:t>Some number </a:t>
            </a:r>
            <a:r>
              <a:rPr lang="en-US" sz="2000" i="1" dirty="0">
                <a:solidFill>
                  <a:schemeClr val="tx1"/>
                </a:solidFill>
              </a:rPr>
              <a:t>G</a:t>
            </a:r>
            <a:r>
              <a:rPr lang="en-US" sz="2000" dirty="0">
                <a:solidFill>
                  <a:schemeClr val="tx1"/>
                </a:solidFill>
              </a:rPr>
              <a:t> times 7 equals 35.</a:t>
            </a:r>
          </a:p>
        </p:txBody>
      </p:sp>
      <p:pic>
        <p:nvPicPr>
          <p:cNvPr id="15" name="Picture 14" descr="An example for the equation equality rule."/>
          <p:cNvPicPr>
            <a:picLocks noChangeAspect="1"/>
          </p:cNvPicPr>
          <p:nvPr/>
        </p:nvPicPr>
        <p:blipFill>
          <a:blip r:embed="rId3"/>
          <a:stretch>
            <a:fillRect/>
          </a:stretch>
        </p:blipFill>
        <p:spPr>
          <a:xfrm>
            <a:off x="3738735" y="1273513"/>
            <a:ext cx="4482294" cy="2133842"/>
          </a:xfrm>
          <a:prstGeom prst="rect">
            <a:avLst/>
          </a:prstGeom>
        </p:spPr>
      </p:pic>
      <p:sp>
        <p:nvSpPr>
          <p:cNvPr id="4" name="Content Placeholder 3"/>
          <p:cNvSpPr>
            <a:spLocks noGrp="1"/>
          </p:cNvSpPr>
          <p:nvPr>
            <p:ph sz="quarter" idx="14"/>
          </p:nvPr>
        </p:nvSpPr>
        <p:spPr>
          <a:xfrm>
            <a:off x="342900" y="3521924"/>
            <a:ext cx="1369786" cy="411447"/>
          </a:xfrm>
        </p:spPr>
        <p:txBody>
          <a:bodyPr/>
          <a:lstStyle/>
          <a:p>
            <a:r>
              <a:rPr lang="en-US" sz="2000" b="1" dirty="0">
                <a:solidFill>
                  <a:srgbClr val="A9131A"/>
                </a:solidFill>
              </a:rPr>
              <a:t>Example</a:t>
            </a:r>
          </a:p>
        </p:txBody>
      </p:sp>
      <p:graphicFrame>
        <p:nvGraphicFramePr>
          <p:cNvPr id="12" name="Object 11"/>
          <p:cNvGraphicFramePr>
            <a:graphicFrameLocks noChangeAspect="1"/>
          </p:cNvGraphicFramePr>
          <p:nvPr>
            <p:extLst>
              <p:ext uri="{D42A27DB-BD31-4B8C-83A1-F6EECF244321}">
                <p14:modId xmlns:p14="http://schemas.microsoft.com/office/powerpoint/2010/main" val="902197727"/>
              </p:ext>
            </p:extLst>
          </p:nvPr>
        </p:nvGraphicFramePr>
        <p:xfrm>
          <a:off x="429074" y="4111625"/>
          <a:ext cx="774700" cy="635000"/>
        </p:xfrm>
        <a:graphic>
          <a:graphicData uri="http://schemas.openxmlformats.org/presentationml/2006/ole">
            <mc:AlternateContent xmlns:mc="http://schemas.openxmlformats.org/markup-compatibility/2006">
              <mc:Choice xmlns:v="urn:schemas-microsoft-com:vml" Requires="v">
                <p:oleObj spid="_x0000_s2066" name="Equation" r:id="rId4" imgW="774360" imgH="634680" progId="Equation.DSMT4">
                  <p:embed/>
                </p:oleObj>
              </mc:Choice>
              <mc:Fallback>
                <p:oleObj name="Equation" r:id="rId4" imgW="774360" imgH="634680" progId="Equation.DSMT4">
                  <p:embed/>
                  <p:pic>
                    <p:nvPicPr>
                      <p:cNvPr id="0" name=""/>
                      <p:cNvPicPr/>
                      <p:nvPr/>
                    </p:nvPicPr>
                    <p:blipFill>
                      <a:blip r:embed="rId5"/>
                      <a:stretch>
                        <a:fillRect/>
                      </a:stretch>
                    </p:blipFill>
                    <p:spPr>
                      <a:xfrm>
                        <a:off x="429074" y="4111625"/>
                        <a:ext cx="774700" cy="635000"/>
                      </a:xfrm>
                      <a:prstGeom prst="rect">
                        <a:avLst/>
                      </a:prstGeom>
                    </p:spPr>
                  </p:pic>
                </p:oleObj>
              </mc:Fallback>
            </mc:AlternateContent>
          </a:graphicData>
        </a:graphic>
      </p:graphicFrame>
      <p:sp>
        <p:nvSpPr>
          <p:cNvPr id="5" name="Content Placeholder 4"/>
          <p:cNvSpPr>
            <a:spLocks noGrp="1"/>
          </p:cNvSpPr>
          <p:nvPr>
            <p:ph sz="quarter" idx="15"/>
          </p:nvPr>
        </p:nvSpPr>
        <p:spPr>
          <a:xfrm>
            <a:off x="342900" y="4865913"/>
            <a:ext cx="2269671" cy="1055914"/>
          </a:xfrm>
        </p:spPr>
        <p:txBody>
          <a:bodyPr/>
          <a:lstStyle/>
          <a:p>
            <a:r>
              <a:rPr lang="en-US" sz="2000" dirty="0"/>
              <a:t>Some number </a:t>
            </a:r>
            <a:r>
              <a:rPr lang="en-US" sz="2000" i="1" dirty="0"/>
              <a:t>V</a:t>
            </a:r>
            <a:r>
              <a:rPr lang="en-US" sz="2000" dirty="0"/>
              <a:t> divided by 5 equals 70.</a:t>
            </a:r>
          </a:p>
        </p:txBody>
      </p:sp>
      <p:pic>
        <p:nvPicPr>
          <p:cNvPr id="16" name="Picture 15" descr="Another example for the equation equality rule."/>
          <p:cNvPicPr>
            <a:picLocks noChangeAspect="1"/>
          </p:cNvPicPr>
          <p:nvPr/>
        </p:nvPicPr>
        <p:blipFill>
          <a:blip r:embed="rId6"/>
          <a:stretch>
            <a:fillRect/>
          </a:stretch>
        </p:blipFill>
        <p:spPr>
          <a:xfrm>
            <a:off x="3765149" y="3586899"/>
            <a:ext cx="4313352" cy="2616088"/>
          </a:xfrm>
          <a:prstGeom prst="rect">
            <a:avLst/>
          </a:prstGeom>
        </p:spPr>
      </p:pic>
      <p:sp>
        <p:nvSpPr>
          <p:cNvPr id="9" name="Text Placeholder 8"/>
          <p:cNvSpPr>
            <a:spLocks noGrp="1"/>
          </p:cNvSpPr>
          <p:nvPr>
            <p:ph type="body" sz="quarter" idx="12"/>
          </p:nvPr>
        </p:nvSpPr>
        <p:spPr>
          <a:xfrm>
            <a:off x="3004459" y="6313714"/>
            <a:ext cx="3161865" cy="215900"/>
          </a:xfrm>
        </p:spPr>
        <p:txBody>
          <a:bodyPr/>
          <a:lstStyle/>
          <a:p>
            <a:r>
              <a:rPr lang="en-US" sz="1200" dirty="0">
                <a:hlinkClick r:id="rId7" action="ppaction://hlinksldjump"/>
              </a:rPr>
              <a:t>Access the text alternative for slide images</a:t>
            </a:r>
          </a:p>
        </p:txBody>
      </p:sp>
      <p:sp>
        <p:nvSpPr>
          <p:cNvPr id="11" name="Slide Number Placeholder 10"/>
          <p:cNvSpPr>
            <a:spLocks noGrp="1"/>
          </p:cNvSpPr>
          <p:nvPr>
            <p:ph type="sldNum" sz="quarter" idx="10"/>
          </p:nvPr>
        </p:nvSpPr>
        <p:spPr/>
        <p:txBody>
          <a:bodyPr/>
          <a:lstStyle/>
          <a:p>
            <a:fld id="{68151E55-6873-49E2-B8D5-2F265E6F1973}" type="slidenum">
              <a:rPr lang="en-US" smtClean="0"/>
              <a:t>13</a:t>
            </a:fld>
            <a:endParaRPr lang="en-US" dirty="0"/>
          </a:p>
        </p:txBody>
      </p:sp>
    </p:spTree>
    <p:extLst>
      <p:ext uri="{BB962C8B-B14F-4D97-AF65-F5344CB8AC3E}">
        <p14:creationId xmlns:p14="http://schemas.microsoft.com/office/powerpoint/2010/main" val="1167805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Multiple Processes Rule </a:t>
            </a:r>
            <a:r>
              <a:rPr lang="en-IN" sz="1000" b="0" dirty="0"/>
              <a:t>1</a:t>
            </a:r>
          </a:p>
        </p:txBody>
      </p:sp>
      <p:sp>
        <p:nvSpPr>
          <p:cNvPr id="3" name="Content Placeholder 2"/>
          <p:cNvSpPr>
            <a:spLocks noGrp="1"/>
          </p:cNvSpPr>
          <p:nvPr>
            <p:ph sz="quarter" idx="11"/>
          </p:nvPr>
        </p:nvSpPr>
        <p:spPr>
          <a:xfrm>
            <a:off x="342900" y="1276709"/>
            <a:ext cx="8458200" cy="4973262"/>
          </a:xfrm>
        </p:spPr>
        <p:txBody>
          <a:bodyPr/>
          <a:lstStyle/>
          <a:p>
            <a:r>
              <a:rPr lang="en-US" dirty="0"/>
              <a:t>When solving for an unknown that involves more than one process, do the </a:t>
            </a:r>
            <a:r>
              <a:rPr lang="en-US" b="1" dirty="0"/>
              <a:t>addition and subtraction before </a:t>
            </a:r>
            <a:r>
              <a:rPr lang="en-US" dirty="0"/>
              <a:t>the </a:t>
            </a:r>
            <a:r>
              <a:rPr lang="en-US" b="1" dirty="0"/>
              <a:t>multiplication and division.</a:t>
            </a:r>
          </a:p>
        </p:txBody>
      </p:sp>
      <p:sp>
        <p:nvSpPr>
          <p:cNvPr id="7" name="Slide Number Placeholder 6"/>
          <p:cNvSpPr>
            <a:spLocks noGrp="1"/>
          </p:cNvSpPr>
          <p:nvPr>
            <p:ph type="sldNum" sz="quarter" idx="10"/>
          </p:nvPr>
        </p:nvSpPr>
        <p:spPr/>
        <p:txBody>
          <a:bodyPr/>
          <a:lstStyle/>
          <a:p>
            <a:fld id="{68151E55-6873-49E2-B8D5-2F265E6F1973}" type="slidenum">
              <a:rPr lang="en-US" smtClean="0"/>
              <a:t>14</a:t>
            </a:fld>
            <a:endParaRPr lang="en-US"/>
          </a:p>
        </p:txBody>
      </p:sp>
    </p:spTree>
    <p:extLst>
      <p:ext uri="{BB962C8B-B14F-4D97-AF65-F5344CB8AC3E}">
        <p14:creationId xmlns:p14="http://schemas.microsoft.com/office/powerpoint/2010/main" val="3258087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Multiple Processes Rule </a:t>
            </a:r>
            <a:r>
              <a:rPr lang="en-IN" sz="1000" b="0" dirty="0"/>
              <a:t>2</a:t>
            </a:r>
            <a:endParaRPr lang="en-US" sz="1000" dirty="0"/>
          </a:p>
        </p:txBody>
      </p:sp>
      <p:sp>
        <p:nvSpPr>
          <p:cNvPr id="3" name="Content Placeholder 2"/>
          <p:cNvSpPr>
            <a:spLocks noGrp="1"/>
          </p:cNvSpPr>
          <p:nvPr>
            <p:ph sz="quarter" idx="11"/>
          </p:nvPr>
        </p:nvSpPr>
        <p:spPr>
          <a:xfrm>
            <a:off x="342900" y="1276710"/>
            <a:ext cx="1369786" cy="465004"/>
          </a:xfrm>
        </p:spPr>
        <p:txBody>
          <a:bodyPr/>
          <a:lstStyle/>
          <a:p>
            <a:r>
              <a:rPr lang="en-US" sz="2000" b="1" dirty="0">
                <a:solidFill>
                  <a:srgbClr val="A9131A"/>
                </a:solidFill>
              </a:rPr>
              <a:t>Example</a:t>
            </a:r>
          </a:p>
        </p:txBody>
      </p:sp>
      <p:graphicFrame>
        <p:nvGraphicFramePr>
          <p:cNvPr id="12" name="Object 11"/>
          <p:cNvGraphicFramePr>
            <a:graphicFrameLocks noChangeAspect="1"/>
          </p:cNvGraphicFramePr>
          <p:nvPr>
            <p:extLst>
              <p:ext uri="{D42A27DB-BD31-4B8C-83A1-F6EECF244321}">
                <p14:modId xmlns:p14="http://schemas.microsoft.com/office/powerpoint/2010/main" val="3360943065"/>
              </p:ext>
            </p:extLst>
          </p:nvPr>
        </p:nvGraphicFramePr>
        <p:xfrm>
          <a:off x="421821" y="1789338"/>
          <a:ext cx="1079500" cy="622300"/>
        </p:xfrm>
        <a:graphic>
          <a:graphicData uri="http://schemas.openxmlformats.org/presentationml/2006/ole">
            <mc:AlternateContent xmlns:mc="http://schemas.openxmlformats.org/markup-compatibility/2006">
              <mc:Choice xmlns:v="urn:schemas-microsoft-com:vml" Requires="v">
                <p:oleObj spid="_x0000_s3106" name="Equation" r:id="rId3" imgW="1079280" imgH="622080" progId="Equation.DSMT4">
                  <p:embed/>
                </p:oleObj>
              </mc:Choice>
              <mc:Fallback>
                <p:oleObj name="Equation" r:id="rId3" imgW="1079280" imgH="622080" progId="Equation.DSMT4">
                  <p:embed/>
                  <p:pic>
                    <p:nvPicPr>
                      <p:cNvPr id="0" name=""/>
                      <p:cNvPicPr/>
                      <p:nvPr/>
                    </p:nvPicPr>
                    <p:blipFill>
                      <a:blip r:embed="rId4"/>
                      <a:stretch>
                        <a:fillRect/>
                      </a:stretch>
                    </p:blipFill>
                    <p:spPr>
                      <a:xfrm>
                        <a:off x="421821" y="1789338"/>
                        <a:ext cx="1079500" cy="622300"/>
                      </a:xfrm>
                      <a:prstGeom prst="rect">
                        <a:avLst/>
                      </a:prstGeom>
                    </p:spPr>
                  </p:pic>
                </p:oleObj>
              </mc:Fallback>
            </mc:AlternateContent>
          </a:graphicData>
        </a:graphic>
      </p:graphicFrame>
      <p:sp>
        <p:nvSpPr>
          <p:cNvPr id="4" name="Content Placeholder 3"/>
          <p:cNvSpPr>
            <a:spLocks noGrp="1"/>
          </p:cNvSpPr>
          <p:nvPr>
            <p:ph sz="quarter" idx="14"/>
          </p:nvPr>
        </p:nvSpPr>
        <p:spPr>
          <a:xfrm>
            <a:off x="342900" y="2593011"/>
            <a:ext cx="2530929" cy="1340361"/>
          </a:xfrm>
        </p:spPr>
        <p:txBody>
          <a:bodyPr/>
          <a:lstStyle/>
          <a:p>
            <a:r>
              <a:rPr lang="en-US" sz="2000" dirty="0"/>
              <a:t>When we divide unknown </a:t>
            </a:r>
            <a:r>
              <a:rPr lang="en-US" sz="2000" i="1" dirty="0"/>
              <a:t>H</a:t>
            </a:r>
            <a:r>
              <a:rPr lang="en-US" sz="2000" dirty="0"/>
              <a:t> by 4 and add the result to 2. the answer is 5.</a:t>
            </a:r>
          </a:p>
        </p:txBody>
      </p:sp>
      <p:pic>
        <p:nvPicPr>
          <p:cNvPr id="15" name="Picture 14" descr="An example for the multiple processes rule."/>
          <p:cNvPicPr>
            <a:picLocks noChangeAspect="1"/>
          </p:cNvPicPr>
          <p:nvPr/>
        </p:nvPicPr>
        <p:blipFill>
          <a:blip r:embed="rId5"/>
          <a:stretch>
            <a:fillRect/>
          </a:stretch>
        </p:blipFill>
        <p:spPr>
          <a:xfrm>
            <a:off x="3873128" y="1284831"/>
            <a:ext cx="4184475" cy="2894983"/>
          </a:xfrm>
          <a:prstGeom prst="rect">
            <a:avLst/>
          </a:prstGeom>
        </p:spPr>
      </p:pic>
      <p:sp>
        <p:nvSpPr>
          <p:cNvPr id="5" name="Content Placeholder 4"/>
          <p:cNvSpPr>
            <a:spLocks noGrp="1"/>
          </p:cNvSpPr>
          <p:nvPr>
            <p:ph sz="quarter" idx="15"/>
          </p:nvPr>
        </p:nvSpPr>
        <p:spPr>
          <a:xfrm>
            <a:off x="3768273" y="4250776"/>
            <a:ext cx="1158421" cy="379284"/>
          </a:xfrm>
        </p:spPr>
        <p:txBody>
          <a:bodyPr/>
          <a:lstStyle/>
          <a:p>
            <a:r>
              <a:rPr lang="en-US" sz="2000" b="1" dirty="0"/>
              <a:t>Check</a:t>
            </a:r>
          </a:p>
        </p:txBody>
      </p:sp>
      <p:graphicFrame>
        <p:nvGraphicFramePr>
          <p:cNvPr id="14" name="Object 13"/>
          <p:cNvGraphicFramePr>
            <a:graphicFrameLocks noChangeAspect="1"/>
          </p:cNvGraphicFramePr>
          <p:nvPr>
            <p:extLst>
              <p:ext uri="{D42A27DB-BD31-4B8C-83A1-F6EECF244321}">
                <p14:modId xmlns:p14="http://schemas.microsoft.com/office/powerpoint/2010/main" val="2419578271"/>
              </p:ext>
            </p:extLst>
          </p:nvPr>
        </p:nvGraphicFramePr>
        <p:xfrm>
          <a:off x="3938588" y="4713288"/>
          <a:ext cx="1130300" cy="622300"/>
        </p:xfrm>
        <a:graphic>
          <a:graphicData uri="http://schemas.openxmlformats.org/presentationml/2006/ole">
            <mc:AlternateContent xmlns:mc="http://schemas.openxmlformats.org/markup-compatibility/2006">
              <mc:Choice xmlns:v="urn:schemas-microsoft-com:vml" Requires="v">
                <p:oleObj spid="_x0000_s3107" name="Equation" r:id="rId6" imgW="1130040" imgH="622080" progId="Equation.DSMT4">
                  <p:embed/>
                </p:oleObj>
              </mc:Choice>
              <mc:Fallback>
                <p:oleObj name="Equation" r:id="rId6" imgW="1130040" imgH="622080" progId="Equation.DSMT4">
                  <p:embed/>
                  <p:pic>
                    <p:nvPicPr>
                      <p:cNvPr id="0" name=""/>
                      <p:cNvPicPr/>
                      <p:nvPr/>
                    </p:nvPicPr>
                    <p:blipFill>
                      <a:blip r:embed="rId7"/>
                      <a:stretch>
                        <a:fillRect/>
                      </a:stretch>
                    </p:blipFill>
                    <p:spPr>
                      <a:xfrm>
                        <a:off x="3938588" y="4713288"/>
                        <a:ext cx="1130300" cy="622300"/>
                      </a:xfrm>
                      <a:prstGeom prst="rect">
                        <a:avLst/>
                      </a:prstGeom>
                    </p:spPr>
                  </p:pic>
                </p:oleObj>
              </mc:Fallback>
            </mc:AlternateContent>
          </a:graphicData>
        </a:graphic>
      </p:graphicFrame>
      <p:sp>
        <p:nvSpPr>
          <p:cNvPr id="6" name="Content Placeholder 5"/>
          <p:cNvSpPr>
            <a:spLocks noGrp="1"/>
          </p:cNvSpPr>
          <p:nvPr>
            <p:ph sz="quarter" idx="16"/>
          </p:nvPr>
        </p:nvSpPr>
        <p:spPr>
          <a:xfrm>
            <a:off x="4029535" y="5395470"/>
            <a:ext cx="1297214" cy="366701"/>
          </a:xfrm>
        </p:spPr>
        <p:txBody>
          <a:bodyPr/>
          <a:lstStyle/>
          <a:p>
            <a:r>
              <a:rPr lang="en-US" sz="2000" dirty="0"/>
              <a:t>3 + 2 = 5</a:t>
            </a:r>
          </a:p>
        </p:txBody>
      </p:sp>
      <p:sp>
        <p:nvSpPr>
          <p:cNvPr id="7" name="Content Placeholder 6"/>
          <p:cNvSpPr>
            <a:spLocks noGrp="1"/>
          </p:cNvSpPr>
          <p:nvPr>
            <p:ph sz="quarter" idx="17"/>
          </p:nvPr>
        </p:nvSpPr>
        <p:spPr>
          <a:xfrm>
            <a:off x="4464961" y="5854363"/>
            <a:ext cx="861786" cy="372265"/>
          </a:xfrm>
        </p:spPr>
        <p:txBody>
          <a:bodyPr/>
          <a:lstStyle/>
          <a:p>
            <a:r>
              <a:rPr lang="en-US" sz="2000" dirty="0"/>
              <a:t>5 = 5</a:t>
            </a:r>
          </a:p>
        </p:txBody>
      </p:sp>
      <p:sp>
        <p:nvSpPr>
          <p:cNvPr id="9" name="Text Placeholder 8"/>
          <p:cNvSpPr>
            <a:spLocks noGrp="1"/>
          </p:cNvSpPr>
          <p:nvPr>
            <p:ph type="body" sz="quarter" idx="12"/>
          </p:nvPr>
        </p:nvSpPr>
        <p:spPr>
          <a:xfrm>
            <a:off x="2960914" y="6284685"/>
            <a:ext cx="3234436" cy="259443"/>
          </a:xfrm>
        </p:spPr>
        <p:txBody>
          <a:bodyPr/>
          <a:lstStyle/>
          <a:p>
            <a:r>
              <a:rPr lang="en-US" sz="1200" dirty="0">
                <a:hlinkClick r:id="rId8" action="ppaction://hlinksldjump"/>
              </a:rPr>
              <a:t>Access the text alternative for slide images</a:t>
            </a:r>
          </a:p>
        </p:txBody>
      </p:sp>
      <p:sp>
        <p:nvSpPr>
          <p:cNvPr id="11" name="Slide Number Placeholder 10"/>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2311585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Distributive Rule </a:t>
            </a:r>
            <a:r>
              <a:rPr lang="en-IN" sz="1000" b="0" dirty="0"/>
              <a:t>1</a:t>
            </a:r>
          </a:p>
        </p:txBody>
      </p:sp>
      <p:sp>
        <p:nvSpPr>
          <p:cNvPr id="3" name="Content Placeholder 2"/>
          <p:cNvSpPr>
            <a:spLocks noGrp="1"/>
          </p:cNvSpPr>
          <p:nvPr>
            <p:ph sz="quarter" idx="11"/>
          </p:nvPr>
        </p:nvSpPr>
        <p:spPr>
          <a:xfrm>
            <a:off x="342900" y="1276709"/>
            <a:ext cx="8458200" cy="4973262"/>
          </a:xfrm>
        </p:spPr>
        <p:txBody>
          <a:bodyPr/>
          <a:lstStyle/>
          <a:p>
            <a:r>
              <a:rPr lang="en-US" dirty="0"/>
              <a:t>When equations contain parentheses (which indicates grouping together):</a:t>
            </a:r>
          </a:p>
          <a:p>
            <a:pPr marL="292608" indent="-292608">
              <a:buFont typeface="+mj-lt"/>
              <a:buAutoNum type="arabicPeriod"/>
            </a:pPr>
            <a:r>
              <a:rPr lang="en-US" dirty="0"/>
              <a:t>Solve for the unknown by multiplying each item inside the parentheses by the number or letter just outside the parentheses. </a:t>
            </a:r>
            <a:r>
              <a:rPr lang="en-US" dirty="0">
                <a:solidFill>
                  <a:srgbClr val="C00000"/>
                </a:solidFill>
              </a:rPr>
              <a:t>This is known as the distributive rule.</a:t>
            </a:r>
          </a:p>
          <a:p>
            <a:pPr marL="292608" indent="-292608">
              <a:buFont typeface="+mj-lt"/>
              <a:buAutoNum type="arabicPeriod"/>
            </a:pPr>
            <a:r>
              <a:rPr lang="en-US" dirty="0"/>
              <a:t>Then continue to solve for the unknown with the opposite process used in the equation. Do the addition and subtraction first; then do the multiplication and division.</a:t>
            </a:r>
          </a:p>
        </p:txBody>
      </p:sp>
      <p:sp>
        <p:nvSpPr>
          <p:cNvPr id="7" name="Slide Number Placeholder 6"/>
          <p:cNvSpPr>
            <a:spLocks noGrp="1"/>
          </p:cNvSpPr>
          <p:nvPr>
            <p:ph type="sldNum" sz="quarter" idx="10"/>
          </p:nvPr>
        </p:nvSpPr>
        <p:spPr/>
        <p:txBody>
          <a:bodyPr/>
          <a:lstStyle/>
          <a:p>
            <a:fld id="{68151E55-6873-49E2-B8D5-2F265E6F1973}" type="slidenum">
              <a:rPr lang="en-US" smtClean="0"/>
              <a:t>16</a:t>
            </a:fld>
            <a:endParaRPr lang="en-US"/>
          </a:p>
        </p:txBody>
      </p:sp>
    </p:spTree>
    <p:extLst>
      <p:ext uri="{BB962C8B-B14F-4D97-AF65-F5344CB8AC3E}">
        <p14:creationId xmlns:p14="http://schemas.microsoft.com/office/powerpoint/2010/main" val="1886195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Distributive Rule </a:t>
            </a:r>
            <a:r>
              <a:rPr lang="en-US" sz="1000" b="0" dirty="0"/>
              <a:t>2</a:t>
            </a:r>
          </a:p>
        </p:txBody>
      </p:sp>
      <p:sp>
        <p:nvSpPr>
          <p:cNvPr id="3" name="Content Placeholder 2"/>
          <p:cNvSpPr>
            <a:spLocks noGrp="1"/>
          </p:cNvSpPr>
          <p:nvPr>
            <p:ph sz="quarter" idx="11"/>
          </p:nvPr>
        </p:nvSpPr>
        <p:spPr>
          <a:xfrm>
            <a:off x="342901" y="1276710"/>
            <a:ext cx="1219200" cy="348890"/>
          </a:xfrm>
        </p:spPr>
        <p:txBody>
          <a:bodyPr/>
          <a:lstStyle/>
          <a:p>
            <a:r>
              <a:rPr lang="en-US" sz="1800" b="1" dirty="0">
                <a:solidFill>
                  <a:srgbClr val="A9131A"/>
                </a:solidFill>
              </a:rPr>
              <a:t>Example</a:t>
            </a:r>
          </a:p>
        </p:txBody>
      </p:sp>
      <p:graphicFrame>
        <p:nvGraphicFramePr>
          <p:cNvPr id="18" name="Object 17"/>
          <p:cNvGraphicFramePr>
            <a:graphicFrameLocks noChangeAspect="1"/>
          </p:cNvGraphicFramePr>
          <p:nvPr>
            <p:extLst>
              <p:ext uri="{D42A27DB-BD31-4B8C-83A1-F6EECF244321}">
                <p14:modId xmlns:p14="http://schemas.microsoft.com/office/powerpoint/2010/main" val="2738370569"/>
              </p:ext>
            </p:extLst>
          </p:nvPr>
        </p:nvGraphicFramePr>
        <p:xfrm>
          <a:off x="414562" y="1717676"/>
          <a:ext cx="1384300" cy="342900"/>
        </p:xfrm>
        <a:graphic>
          <a:graphicData uri="http://schemas.openxmlformats.org/presentationml/2006/ole">
            <mc:AlternateContent xmlns:mc="http://schemas.openxmlformats.org/markup-compatibility/2006">
              <mc:Choice xmlns:v="urn:schemas-microsoft-com:vml" Requires="v">
                <p:oleObj spid="_x0000_s4153" name="Equation" r:id="rId3" imgW="1384200" imgH="342720" progId="Equation.DSMT4">
                  <p:embed/>
                </p:oleObj>
              </mc:Choice>
              <mc:Fallback>
                <p:oleObj name="Equation" r:id="rId3" imgW="1384200" imgH="342720" progId="Equation.DSMT4">
                  <p:embed/>
                  <p:pic>
                    <p:nvPicPr>
                      <p:cNvPr id="0" name=""/>
                      <p:cNvPicPr/>
                      <p:nvPr/>
                    </p:nvPicPr>
                    <p:blipFill>
                      <a:blip r:embed="rId4"/>
                      <a:stretch>
                        <a:fillRect/>
                      </a:stretch>
                    </p:blipFill>
                    <p:spPr>
                      <a:xfrm>
                        <a:off x="414562" y="1717676"/>
                        <a:ext cx="1384300" cy="342900"/>
                      </a:xfrm>
                      <a:prstGeom prst="rect">
                        <a:avLst/>
                      </a:prstGeom>
                    </p:spPr>
                  </p:pic>
                </p:oleObj>
              </mc:Fallback>
            </mc:AlternateContent>
          </a:graphicData>
        </a:graphic>
      </p:graphicFrame>
      <p:sp>
        <p:nvSpPr>
          <p:cNvPr id="4" name="Content Placeholder 3"/>
          <p:cNvSpPr>
            <a:spLocks noGrp="1"/>
          </p:cNvSpPr>
          <p:nvPr>
            <p:ph sz="quarter" idx="14"/>
          </p:nvPr>
        </p:nvSpPr>
        <p:spPr>
          <a:xfrm>
            <a:off x="342900" y="2119088"/>
            <a:ext cx="1921329" cy="943428"/>
          </a:xfrm>
        </p:spPr>
        <p:txBody>
          <a:bodyPr/>
          <a:lstStyle/>
          <a:p>
            <a:r>
              <a:rPr lang="en-US" sz="1800" dirty="0"/>
              <a:t>The unknown </a:t>
            </a:r>
            <a:r>
              <a:rPr lang="en-US" sz="1800" i="1" dirty="0"/>
              <a:t>P</a:t>
            </a:r>
            <a:r>
              <a:rPr lang="en-US" sz="1800" dirty="0"/>
              <a:t> less 4. multiplied by 5 equals 20.</a:t>
            </a:r>
          </a:p>
        </p:txBody>
      </p:sp>
      <p:sp>
        <p:nvSpPr>
          <p:cNvPr id="5" name="Content Placeholder 4"/>
          <p:cNvSpPr>
            <a:spLocks noGrp="1"/>
          </p:cNvSpPr>
          <p:nvPr>
            <p:ph sz="quarter" idx="15"/>
          </p:nvPr>
        </p:nvSpPr>
        <p:spPr>
          <a:xfrm>
            <a:off x="2815771" y="1274580"/>
            <a:ext cx="2162629" cy="394563"/>
          </a:xfrm>
        </p:spPr>
        <p:txBody>
          <a:bodyPr/>
          <a:lstStyle/>
          <a:p>
            <a:r>
              <a:rPr lang="en-US" sz="1800" b="1" dirty="0"/>
              <a:t>Mechanical steps</a:t>
            </a:r>
          </a:p>
        </p:txBody>
      </p:sp>
      <p:pic>
        <p:nvPicPr>
          <p:cNvPr id="19" name="Picture 18" descr="Mechanical steps for the distributive rule."/>
          <p:cNvPicPr>
            <a:picLocks noChangeAspect="1"/>
          </p:cNvPicPr>
          <p:nvPr/>
        </p:nvPicPr>
        <p:blipFill>
          <a:blip r:embed="rId5"/>
          <a:stretch>
            <a:fillRect/>
          </a:stretch>
        </p:blipFill>
        <p:spPr>
          <a:xfrm>
            <a:off x="2830066" y="1756422"/>
            <a:ext cx="2264677" cy="2213041"/>
          </a:xfrm>
          <a:prstGeom prst="rect">
            <a:avLst/>
          </a:prstGeom>
        </p:spPr>
      </p:pic>
      <p:sp>
        <p:nvSpPr>
          <p:cNvPr id="6" name="Content Placeholder 5"/>
          <p:cNvSpPr>
            <a:spLocks noGrp="1"/>
          </p:cNvSpPr>
          <p:nvPr>
            <p:ph sz="quarter" idx="16"/>
          </p:nvPr>
        </p:nvSpPr>
        <p:spPr>
          <a:xfrm>
            <a:off x="5268687" y="1274580"/>
            <a:ext cx="3357726" cy="3020329"/>
          </a:xfrm>
        </p:spPr>
        <p:txBody>
          <a:bodyPr/>
          <a:lstStyle/>
          <a:p>
            <a:r>
              <a:rPr lang="en-US" sz="1800" b="1" dirty="0"/>
              <a:t>Explanation</a:t>
            </a:r>
          </a:p>
          <a:p>
            <a:pPr marL="402336" indent="-402336">
              <a:buFont typeface="+mj-lt"/>
              <a:buAutoNum type="arabicPeriod"/>
            </a:pPr>
            <a:r>
              <a:rPr lang="en-US" sz="1600" dirty="0"/>
              <a:t>Parentheses tell us that everything inside parentheses is multiplied by </a:t>
            </a:r>
            <a:r>
              <a:rPr lang="en-US" sz="1600" dirty="0">
                <a:solidFill>
                  <a:srgbClr val="002060"/>
                </a:solidFill>
              </a:rPr>
              <a:t>5</a:t>
            </a:r>
            <a:r>
              <a:rPr lang="en-US" sz="1600" dirty="0"/>
              <a:t>. Multiply 5 by </a:t>
            </a:r>
            <a:r>
              <a:rPr lang="en-US" sz="1600" i="1" dirty="0"/>
              <a:t>P</a:t>
            </a:r>
            <a:r>
              <a:rPr lang="en-US" sz="1600" dirty="0"/>
              <a:t> and 5 by −4.</a:t>
            </a:r>
          </a:p>
          <a:p>
            <a:pPr marL="402336" indent="-402336">
              <a:buFont typeface="+mj-lt"/>
              <a:buAutoNum type="arabicPeriod"/>
            </a:pPr>
            <a:r>
              <a:rPr lang="en-US" sz="1600" dirty="0"/>
              <a:t>Add </a:t>
            </a:r>
            <a:r>
              <a:rPr lang="en-US" sz="1600" dirty="0">
                <a:solidFill>
                  <a:srgbClr val="002060"/>
                </a:solidFill>
              </a:rPr>
              <a:t>20</a:t>
            </a:r>
            <a:r>
              <a:rPr lang="en-US" sz="1600" dirty="0"/>
              <a:t> to both sides to isolate 5</a:t>
            </a:r>
            <a:r>
              <a:rPr lang="en-US" sz="1600" i="1" dirty="0"/>
              <a:t>P</a:t>
            </a:r>
            <a:r>
              <a:rPr lang="en-US" sz="1600" dirty="0"/>
              <a:t> on left.</a:t>
            </a:r>
          </a:p>
          <a:p>
            <a:pPr marL="402336" indent="-402336">
              <a:buFont typeface="+mj-lt"/>
              <a:buAutoNum type="arabicPeriod"/>
            </a:pPr>
            <a:r>
              <a:rPr lang="en-US" sz="1600" dirty="0"/>
              <a:t>To remove 5 in from of </a:t>
            </a:r>
            <a:r>
              <a:rPr lang="en-US" sz="1600" i="1" dirty="0"/>
              <a:t>P</a:t>
            </a:r>
            <a:r>
              <a:rPr lang="en-US" sz="1600" dirty="0"/>
              <a:t>, divide both sides by </a:t>
            </a:r>
            <a:r>
              <a:rPr lang="en-US" sz="1600" dirty="0">
                <a:solidFill>
                  <a:srgbClr val="002060"/>
                </a:solidFill>
              </a:rPr>
              <a:t>5</a:t>
            </a:r>
            <a:r>
              <a:rPr lang="en-US" sz="1600" dirty="0"/>
              <a:t> to result in </a:t>
            </a:r>
            <a:r>
              <a:rPr lang="en-US" sz="1600" i="1" dirty="0"/>
              <a:t>P</a:t>
            </a:r>
            <a:r>
              <a:rPr lang="en-US" sz="1600" dirty="0"/>
              <a:t> equals 8.</a:t>
            </a:r>
          </a:p>
        </p:txBody>
      </p:sp>
      <p:sp>
        <p:nvSpPr>
          <p:cNvPr id="7" name="Content Placeholder 6"/>
          <p:cNvSpPr>
            <a:spLocks noGrp="1"/>
          </p:cNvSpPr>
          <p:nvPr>
            <p:ph sz="quarter" idx="17"/>
          </p:nvPr>
        </p:nvSpPr>
        <p:spPr>
          <a:xfrm>
            <a:off x="3129643" y="4392549"/>
            <a:ext cx="1451430" cy="391886"/>
          </a:xfrm>
        </p:spPr>
        <p:txBody>
          <a:bodyPr/>
          <a:lstStyle/>
          <a:p>
            <a:r>
              <a:rPr lang="en-US" sz="2000" b="1" dirty="0"/>
              <a:t>Check</a:t>
            </a:r>
          </a:p>
        </p:txBody>
      </p:sp>
      <p:graphicFrame>
        <p:nvGraphicFramePr>
          <p:cNvPr id="9" name="Object 8">
            <a:extLst>
              <a:ext uri="{FF2B5EF4-FFF2-40B4-BE49-F238E27FC236}">
                <a16:creationId xmlns:a16="http://schemas.microsoft.com/office/drawing/2014/main" id="{1612B678-3704-46EE-A09B-B752C3CD047D}"/>
              </a:ext>
            </a:extLst>
          </p:cNvPr>
          <p:cNvGraphicFramePr>
            <a:graphicFrameLocks noChangeAspect="1"/>
          </p:cNvGraphicFramePr>
          <p:nvPr>
            <p:extLst>
              <p:ext uri="{D42A27DB-BD31-4B8C-83A1-F6EECF244321}">
                <p14:modId xmlns:p14="http://schemas.microsoft.com/office/powerpoint/2010/main" val="1245297046"/>
              </p:ext>
            </p:extLst>
          </p:nvPr>
        </p:nvGraphicFramePr>
        <p:xfrm>
          <a:off x="3211710" y="4854157"/>
          <a:ext cx="1044181" cy="273886"/>
        </p:xfrm>
        <a:graphic>
          <a:graphicData uri="http://schemas.openxmlformats.org/presentationml/2006/ole">
            <mc:AlternateContent xmlns:mc="http://schemas.openxmlformats.org/markup-compatibility/2006">
              <mc:Choice xmlns:v="urn:schemas-microsoft-com:vml" Requires="v">
                <p:oleObj spid="_x0000_s4154" name="Equation" r:id="rId6" imgW="774360" imgH="203040" progId="Equation.DSMT4">
                  <p:embed/>
                </p:oleObj>
              </mc:Choice>
              <mc:Fallback>
                <p:oleObj name="Equation" r:id="rId6" imgW="774360" imgH="203040" progId="Equation.DSMT4">
                  <p:embed/>
                  <p:pic>
                    <p:nvPicPr>
                      <p:cNvPr id="0" name=""/>
                      <p:cNvPicPr/>
                      <p:nvPr/>
                    </p:nvPicPr>
                    <p:blipFill>
                      <a:blip r:embed="rId7"/>
                      <a:stretch>
                        <a:fillRect/>
                      </a:stretch>
                    </p:blipFill>
                    <p:spPr>
                      <a:xfrm>
                        <a:off x="3211710" y="4854157"/>
                        <a:ext cx="1044181" cy="273886"/>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1E612C66-D66C-49A5-B005-00EADA2E8DED}"/>
              </a:ext>
            </a:extLst>
          </p:cNvPr>
          <p:cNvGraphicFramePr>
            <a:graphicFrameLocks noChangeAspect="1"/>
          </p:cNvGraphicFramePr>
          <p:nvPr>
            <p:extLst>
              <p:ext uri="{D42A27DB-BD31-4B8C-83A1-F6EECF244321}">
                <p14:modId xmlns:p14="http://schemas.microsoft.com/office/powerpoint/2010/main" val="3866609824"/>
              </p:ext>
            </p:extLst>
          </p:nvPr>
        </p:nvGraphicFramePr>
        <p:xfrm>
          <a:off x="3200400" y="5148263"/>
          <a:ext cx="742950" cy="257175"/>
        </p:xfrm>
        <a:graphic>
          <a:graphicData uri="http://schemas.openxmlformats.org/presentationml/2006/ole">
            <mc:AlternateContent xmlns:mc="http://schemas.openxmlformats.org/markup-compatibility/2006">
              <mc:Choice xmlns:v="urn:schemas-microsoft-com:vml" Requires="v">
                <p:oleObj spid="_x0000_s4155" name="Equation" r:id="rId8" imgW="583920" imgH="203040" progId="Equation.DSMT4">
                  <p:embed/>
                </p:oleObj>
              </mc:Choice>
              <mc:Fallback>
                <p:oleObj name="Equation" r:id="rId8" imgW="583920" imgH="203040" progId="Equation.DSMT4">
                  <p:embed/>
                  <p:pic>
                    <p:nvPicPr>
                      <p:cNvPr id="0" name=""/>
                      <p:cNvPicPr/>
                      <p:nvPr/>
                    </p:nvPicPr>
                    <p:blipFill>
                      <a:blip r:embed="rId9"/>
                      <a:stretch>
                        <a:fillRect/>
                      </a:stretch>
                    </p:blipFill>
                    <p:spPr>
                      <a:xfrm>
                        <a:off x="3200400" y="5148263"/>
                        <a:ext cx="742950" cy="25717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3FB37DD4-66C2-446A-9338-4A25E3A2080B}"/>
              </a:ext>
            </a:extLst>
          </p:cNvPr>
          <p:cNvGraphicFramePr>
            <a:graphicFrameLocks noChangeAspect="1"/>
          </p:cNvGraphicFramePr>
          <p:nvPr>
            <p:extLst>
              <p:ext uri="{D42A27DB-BD31-4B8C-83A1-F6EECF244321}">
                <p14:modId xmlns:p14="http://schemas.microsoft.com/office/powerpoint/2010/main" val="4180448491"/>
              </p:ext>
            </p:extLst>
          </p:nvPr>
        </p:nvGraphicFramePr>
        <p:xfrm>
          <a:off x="3210405" y="5429414"/>
          <a:ext cx="608640" cy="263199"/>
        </p:xfrm>
        <a:graphic>
          <a:graphicData uri="http://schemas.openxmlformats.org/presentationml/2006/ole">
            <mc:AlternateContent xmlns:mc="http://schemas.openxmlformats.org/markup-compatibility/2006">
              <mc:Choice xmlns:v="urn:schemas-microsoft-com:vml" Requires="v">
                <p:oleObj spid="_x0000_s4156" name="Equation" r:id="rId10" imgW="469800" imgH="203040" progId="Equation.DSMT4">
                  <p:embed/>
                </p:oleObj>
              </mc:Choice>
              <mc:Fallback>
                <p:oleObj name="Equation" r:id="rId10" imgW="469800" imgH="203040" progId="Equation.DSMT4">
                  <p:embed/>
                  <p:pic>
                    <p:nvPicPr>
                      <p:cNvPr id="0" name=""/>
                      <p:cNvPicPr/>
                      <p:nvPr/>
                    </p:nvPicPr>
                    <p:blipFill>
                      <a:blip r:embed="rId11"/>
                      <a:stretch>
                        <a:fillRect/>
                      </a:stretch>
                    </p:blipFill>
                    <p:spPr>
                      <a:xfrm>
                        <a:off x="3210405" y="5429414"/>
                        <a:ext cx="608640" cy="263199"/>
                      </a:xfrm>
                      <a:prstGeom prst="rect">
                        <a:avLst/>
                      </a:prstGeom>
                    </p:spPr>
                  </p:pic>
                </p:oleObj>
              </mc:Fallback>
            </mc:AlternateContent>
          </a:graphicData>
        </a:graphic>
      </p:graphicFrame>
      <p:sp>
        <p:nvSpPr>
          <p:cNvPr id="15" name="Text Placeholder 14"/>
          <p:cNvSpPr>
            <a:spLocks noGrp="1"/>
          </p:cNvSpPr>
          <p:nvPr>
            <p:ph type="body" sz="quarter" idx="12"/>
          </p:nvPr>
        </p:nvSpPr>
        <p:spPr>
          <a:xfrm>
            <a:off x="3048000" y="6299200"/>
            <a:ext cx="3074779" cy="215900"/>
          </a:xfrm>
        </p:spPr>
        <p:txBody>
          <a:bodyPr/>
          <a:lstStyle/>
          <a:p>
            <a:r>
              <a:rPr lang="en-US" sz="1200" dirty="0">
                <a:hlinkClick r:id="rId12" action="ppaction://hlinksldjump"/>
              </a:rPr>
              <a:t>Access the text alternative for slide images</a:t>
            </a:r>
          </a:p>
        </p:txBody>
      </p:sp>
      <p:sp>
        <p:nvSpPr>
          <p:cNvPr id="17" name="Slide Number Placeholder 16"/>
          <p:cNvSpPr>
            <a:spLocks noGrp="1"/>
          </p:cNvSpPr>
          <p:nvPr>
            <p:ph type="sldNum" sz="quarter" idx="10"/>
          </p:nvPr>
        </p:nvSpPr>
        <p:spPr/>
        <p:txBody>
          <a:bodyPr/>
          <a:lstStyle/>
          <a:p>
            <a:fld id="{68151E55-6873-49E2-B8D5-2F265E6F1973}" type="slidenum">
              <a:rPr lang="en-US" smtClean="0"/>
              <a:t>17</a:t>
            </a:fld>
            <a:endParaRPr lang="en-US"/>
          </a:p>
        </p:txBody>
      </p:sp>
    </p:spTree>
    <p:extLst>
      <p:ext uri="{BB962C8B-B14F-4D97-AF65-F5344CB8AC3E}">
        <p14:creationId xmlns:p14="http://schemas.microsoft.com/office/powerpoint/2010/main" val="566576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Like Unknowns Rule</a:t>
            </a:r>
            <a:endParaRPr lang="en-US" sz="3600" dirty="0"/>
          </a:p>
        </p:txBody>
      </p:sp>
      <p:sp>
        <p:nvSpPr>
          <p:cNvPr id="3" name="Content Placeholder 2"/>
          <p:cNvSpPr>
            <a:spLocks noGrp="1"/>
          </p:cNvSpPr>
          <p:nvPr>
            <p:ph sz="quarter" idx="11"/>
          </p:nvPr>
        </p:nvSpPr>
        <p:spPr>
          <a:xfrm>
            <a:off x="342900" y="1276711"/>
            <a:ext cx="8458200" cy="1277804"/>
          </a:xfrm>
        </p:spPr>
        <p:txBody>
          <a:bodyPr/>
          <a:lstStyle/>
          <a:p>
            <a:r>
              <a:rPr lang="en-US" sz="2000" dirty="0"/>
              <a:t>To solve equations with like unknowns:</a:t>
            </a:r>
          </a:p>
          <a:p>
            <a:pPr marL="402336" indent="-402336">
              <a:buFont typeface="+mj-lt"/>
              <a:buAutoNum type="arabicPeriod"/>
            </a:pPr>
            <a:r>
              <a:rPr lang="en-US" sz="2000" dirty="0"/>
              <a:t>Combine the unknowns.</a:t>
            </a:r>
          </a:p>
          <a:p>
            <a:pPr marL="402336" indent="-402336">
              <a:buFont typeface="+mj-lt"/>
              <a:buAutoNum type="arabicPeriod"/>
            </a:pPr>
            <a:r>
              <a:rPr lang="en-US" sz="2000" dirty="0"/>
              <a:t>Then solve with the opposite process used in the equation.</a:t>
            </a:r>
          </a:p>
        </p:txBody>
      </p:sp>
      <p:sp>
        <p:nvSpPr>
          <p:cNvPr id="4" name="Content Placeholder 3"/>
          <p:cNvSpPr>
            <a:spLocks noGrp="1"/>
          </p:cNvSpPr>
          <p:nvPr>
            <p:ph sz="quarter" idx="14"/>
          </p:nvPr>
        </p:nvSpPr>
        <p:spPr>
          <a:xfrm>
            <a:off x="342901" y="2690293"/>
            <a:ext cx="1602014" cy="865707"/>
          </a:xfrm>
        </p:spPr>
        <p:txBody>
          <a:bodyPr/>
          <a:lstStyle/>
          <a:p>
            <a:r>
              <a:rPr lang="en-US" sz="2000" b="1" dirty="0">
                <a:solidFill>
                  <a:srgbClr val="A9131A"/>
                </a:solidFill>
              </a:rPr>
              <a:t>Example</a:t>
            </a:r>
          </a:p>
          <a:p>
            <a:r>
              <a:rPr lang="en-US" sz="2000" dirty="0">
                <a:solidFill>
                  <a:schemeClr val="tx1"/>
                </a:solidFill>
              </a:rPr>
              <a:t>4</a:t>
            </a:r>
            <a:r>
              <a:rPr lang="en-US" sz="2000" i="1" dirty="0">
                <a:solidFill>
                  <a:schemeClr val="tx1"/>
                </a:solidFill>
              </a:rPr>
              <a:t>A</a:t>
            </a:r>
            <a:r>
              <a:rPr lang="en-US" sz="2000" dirty="0">
                <a:solidFill>
                  <a:schemeClr val="tx1"/>
                </a:solidFill>
              </a:rPr>
              <a:t> + </a:t>
            </a:r>
            <a:r>
              <a:rPr lang="en-US" sz="2000" i="1" dirty="0">
                <a:solidFill>
                  <a:schemeClr val="tx1"/>
                </a:solidFill>
              </a:rPr>
              <a:t>A</a:t>
            </a:r>
            <a:r>
              <a:rPr lang="en-US" sz="2000" dirty="0">
                <a:solidFill>
                  <a:schemeClr val="tx1"/>
                </a:solidFill>
              </a:rPr>
              <a:t> = 20</a:t>
            </a:r>
          </a:p>
        </p:txBody>
      </p:sp>
      <p:sp>
        <p:nvSpPr>
          <p:cNvPr id="5" name="Content Placeholder 4"/>
          <p:cNvSpPr>
            <a:spLocks noGrp="1"/>
          </p:cNvSpPr>
          <p:nvPr>
            <p:ph sz="quarter" idx="15"/>
          </p:nvPr>
        </p:nvSpPr>
        <p:spPr>
          <a:xfrm>
            <a:off x="2496456" y="2690294"/>
            <a:ext cx="2336801" cy="807649"/>
          </a:xfrm>
        </p:spPr>
        <p:txBody>
          <a:bodyPr/>
          <a:lstStyle/>
          <a:p>
            <a:r>
              <a:rPr lang="en-US" sz="2000" b="1" dirty="0"/>
              <a:t>Mechanical steps</a:t>
            </a:r>
          </a:p>
          <a:p>
            <a:r>
              <a:rPr lang="en-US" sz="2000" dirty="0"/>
              <a:t>4</a:t>
            </a:r>
            <a:r>
              <a:rPr lang="en-US" sz="2000" i="1" dirty="0"/>
              <a:t>A</a:t>
            </a:r>
            <a:r>
              <a:rPr lang="en-US" sz="2000" dirty="0"/>
              <a:t> + </a:t>
            </a:r>
            <a:r>
              <a:rPr lang="en-US" sz="2000" i="1" dirty="0"/>
              <a:t>A</a:t>
            </a:r>
            <a:r>
              <a:rPr lang="en-US" sz="2000" dirty="0"/>
              <a:t> = 20</a:t>
            </a:r>
          </a:p>
        </p:txBody>
      </p:sp>
      <p:graphicFrame>
        <p:nvGraphicFramePr>
          <p:cNvPr id="12" name="Object 11"/>
          <p:cNvGraphicFramePr>
            <a:graphicFrameLocks noChangeAspect="1"/>
          </p:cNvGraphicFramePr>
          <p:nvPr>
            <p:extLst>
              <p:ext uri="{D42A27DB-BD31-4B8C-83A1-F6EECF244321}">
                <p14:modId xmlns:p14="http://schemas.microsoft.com/office/powerpoint/2010/main" val="2142957759"/>
              </p:ext>
            </p:extLst>
          </p:nvPr>
        </p:nvGraphicFramePr>
        <p:xfrm>
          <a:off x="2916238" y="3567113"/>
          <a:ext cx="1054100" cy="723900"/>
        </p:xfrm>
        <a:graphic>
          <a:graphicData uri="http://schemas.openxmlformats.org/presentationml/2006/ole">
            <mc:AlternateContent xmlns:mc="http://schemas.openxmlformats.org/markup-compatibility/2006">
              <mc:Choice xmlns:v="urn:schemas-microsoft-com:vml" Requires="v">
                <p:oleObj spid="_x0000_s5182" name="Equation" r:id="rId3" imgW="1054080" imgH="723600" progId="Equation.DSMT4">
                  <p:embed/>
                </p:oleObj>
              </mc:Choice>
              <mc:Fallback>
                <p:oleObj name="Equation" r:id="rId3" imgW="1054080" imgH="723600" progId="Equation.DSMT4">
                  <p:embed/>
                  <p:pic>
                    <p:nvPicPr>
                      <p:cNvPr id="0" name=""/>
                      <p:cNvPicPr/>
                      <p:nvPr/>
                    </p:nvPicPr>
                    <p:blipFill>
                      <a:blip r:embed="rId4"/>
                      <a:stretch>
                        <a:fillRect/>
                      </a:stretch>
                    </p:blipFill>
                    <p:spPr>
                      <a:xfrm>
                        <a:off x="2916238" y="3567113"/>
                        <a:ext cx="1054100" cy="7239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3636297727"/>
              </p:ext>
            </p:extLst>
          </p:nvPr>
        </p:nvGraphicFramePr>
        <p:xfrm>
          <a:off x="3163209" y="4379460"/>
          <a:ext cx="647700" cy="241300"/>
        </p:xfrm>
        <a:graphic>
          <a:graphicData uri="http://schemas.openxmlformats.org/presentationml/2006/ole">
            <mc:AlternateContent xmlns:mc="http://schemas.openxmlformats.org/markup-compatibility/2006">
              <mc:Choice xmlns:v="urn:schemas-microsoft-com:vml" Requires="v">
                <p:oleObj spid="_x0000_s5183" name="Equation" r:id="rId5" imgW="647640" imgH="241200" progId="Equation.DSMT4">
                  <p:embed/>
                </p:oleObj>
              </mc:Choice>
              <mc:Fallback>
                <p:oleObj name="Equation" r:id="rId5" imgW="647640" imgH="241200" progId="Equation.DSMT4">
                  <p:embed/>
                  <p:pic>
                    <p:nvPicPr>
                      <p:cNvPr id="0" name=""/>
                      <p:cNvPicPr/>
                      <p:nvPr/>
                    </p:nvPicPr>
                    <p:blipFill>
                      <a:blip r:embed="rId6"/>
                      <a:stretch>
                        <a:fillRect/>
                      </a:stretch>
                    </p:blipFill>
                    <p:spPr>
                      <a:xfrm>
                        <a:off x="3163209" y="4379460"/>
                        <a:ext cx="647700" cy="241300"/>
                      </a:xfrm>
                      <a:prstGeom prst="rect">
                        <a:avLst/>
                      </a:prstGeom>
                    </p:spPr>
                  </p:pic>
                </p:oleObj>
              </mc:Fallback>
            </mc:AlternateContent>
          </a:graphicData>
        </a:graphic>
      </p:graphicFrame>
      <p:sp>
        <p:nvSpPr>
          <p:cNvPr id="8" name="Content Placeholder 7"/>
          <p:cNvSpPr>
            <a:spLocks noGrp="1"/>
          </p:cNvSpPr>
          <p:nvPr>
            <p:ph sz="quarter" idx="18"/>
          </p:nvPr>
        </p:nvSpPr>
        <p:spPr>
          <a:xfrm>
            <a:off x="5225143" y="2690294"/>
            <a:ext cx="3575956" cy="1930466"/>
          </a:xfrm>
        </p:spPr>
        <p:txBody>
          <a:bodyPr/>
          <a:lstStyle/>
          <a:p>
            <a:r>
              <a:rPr lang="en-US" sz="2000" b="1" dirty="0"/>
              <a:t>Explanation</a:t>
            </a:r>
          </a:p>
          <a:p>
            <a:r>
              <a:rPr lang="en-US" sz="2000" dirty="0"/>
              <a:t>To solve this equation: 4</a:t>
            </a:r>
            <a:r>
              <a:rPr lang="en-US" sz="2000" i="1" dirty="0"/>
              <a:t>A</a:t>
            </a:r>
            <a:r>
              <a:rPr lang="en-US" sz="2000" dirty="0"/>
              <a:t> + 1</a:t>
            </a:r>
            <a:r>
              <a:rPr lang="en-US" sz="2000" i="1" dirty="0"/>
              <a:t>A</a:t>
            </a:r>
            <a:r>
              <a:rPr lang="en-US" sz="2000" dirty="0"/>
              <a:t> = 5</a:t>
            </a:r>
            <a:r>
              <a:rPr lang="en-US" sz="2000" i="1" dirty="0"/>
              <a:t>A</a:t>
            </a:r>
            <a:r>
              <a:rPr lang="en-US" sz="2000" dirty="0"/>
              <a:t>.Thus.5</a:t>
            </a:r>
            <a:r>
              <a:rPr lang="en-US" sz="2000" i="1" dirty="0"/>
              <a:t>A</a:t>
            </a:r>
            <a:r>
              <a:rPr lang="en-US" sz="2000" dirty="0"/>
              <a:t> = 20. To solve for </a:t>
            </a:r>
            <a:r>
              <a:rPr lang="en-US" sz="2000" i="1" dirty="0"/>
              <a:t>A</a:t>
            </a:r>
            <a:r>
              <a:rPr lang="en-US" sz="2000" dirty="0"/>
              <a:t>, divide both sides by </a:t>
            </a:r>
            <a:r>
              <a:rPr lang="en-US" sz="2000" dirty="0">
                <a:solidFill>
                  <a:srgbClr val="002060"/>
                </a:solidFill>
              </a:rPr>
              <a:t>5</a:t>
            </a:r>
            <a:r>
              <a:rPr lang="en-US" sz="2000" dirty="0"/>
              <a:t>, leaving </a:t>
            </a:r>
            <a:r>
              <a:rPr lang="en-US" sz="2000" i="1" dirty="0"/>
              <a:t>A </a:t>
            </a:r>
            <a:r>
              <a:rPr lang="en-US" sz="2000" dirty="0"/>
              <a:t>equals 4.</a:t>
            </a:r>
          </a:p>
        </p:txBody>
      </p:sp>
      <p:sp>
        <p:nvSpPr>
          <p:cNvPr id="6" name="Content Placeholder 5"/>
          <p:cNvSpPr>
            <a:spLocks noGrp="1"/>
          </p:cNvSpPr>
          <p:nvPr>
            <p:ph sz="quarter" idx="16"/>
          </p:nvPr>
        </p:nvSpPr>
        <p:spPr>
          <a:xfrm>
            <a:off x="2409372" y="4810580"/>
            <a:ext cx="1059544" cy="414563"/>
          </a:xfrm>
        </p:spPr>
        <p:txBody>
          <a:bodyPr/>
          <a:lstStyle/>
          <a:p>
            <a:r>
              <a:rPr lang="en-US" sz="2000" b="1" dirty="0"/>
              <a:t>Check</a:t>
            </a:r>
          </a:p>
        </p:txBody>
      </p:sp>
      <p:graphicFrame>
        <p:nvGraphicFramePr>
          <p:cNvPr id="14" name="Object 13"/>
          <p:cNvGraphicFramePr>
            <a:graphicFrameLocks noChangeAspect="1"/>
          </p:cNvGraphicFramePr>
          <p:nvPr>
            <p:extLst>
              <p:ext uri="{D42A27DB-BD31-4B8C-83A1-F6EECF244321}">
                <p14:modId xmlns:p14="http://schemas.microsoft.com/office/powerpoint/2010/main" val="572642167"/>
              </p:ext>
            </p:extLst>
          </p:nvPr>
        </p:nvGraphicFramePr>
        <p:xfrm>
          <a:off x="2614613" y="5267325"/>
          <a:ext cx="1308100" cy="384175"/>
        </p:xfrm>
        <a:graphic>
          <a:graphicData uri="http://schemas.openxmlformats.org/presentationml/2006/ole">
            <mc:AlternateContent xmlns:mc="http://schemas.openxmlformats.org/markup-compatibility/2006">
              <mc:Choice xmlns:v="urn:schemas-microsoft-com:vml" Requires="v">
                <p:oleObj spid="_x0000_s5184" name="Equation" r:id="rId7" imgW="1295280" imgH="380880" progId="Equation.DSMT4">
                  <p:embed/>
                </p:oleObj>
              </mc:Choice>
              <mc:Fallback>
                <p:oleObj name="Equation" r:id="rId7" imgW="1295280" imgH="380880" progId="Equation.DSMT4">
                  <p:embed/>
                  <p:pic>
                    <p:nvPicPr>
                      <p:cNvPr id="0" name=""/>
                      <p:cNvPicPr/>
                      <p:nvPr/>
                    </p:nvPicPr>
                    <p:blipFill>
                      <a:blip r:embed="rId8"/>
                      <a:stretch>
                        <a:fillRect/>
                      </a:stretch>
                    </p:blipFill>
                    <p:spPr>
                      <a:xfrm>
                        <a:off x="2614613" y="5267325"/>
                        <a:ext cx="1308100" cy="384175"/>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25F38ED1-65BA-4F78-BD7D-0A35829EDBDB}"/>
              </a:ext>
            </a:extLst>
          </p:cNvPr>
          <p:cNvGraphicFramePr>
            <a:graphicFrameLocks noChangeAspect="1"/>
          </p:cNvGraphicFramePr>
          <p:nvPr>
            <p:extLst>
              <p:ext uri="{D42A27DB-BD31-4B8C-83A1-F6EECF244321}">
                <p14:modId xmlns:p14="http://schemas.microsoft.com/office/powerpoint/2010/main" val="1679576234"/>
              </p:ext>
            </p:extLst>
          </p:nvPr>
        </p:nvGraphicFramePr>
        <p:xfrm>
          <a:off x="2592593" y="5681235"/>
          <a:ext cx="853664" cy="369157"/>
        </p:xfrm>
        <a:graphic>
          <a:graphicData uri="http://schemas.openxmlformats.org/presentationml/2006/ole">
            <mc:AlternateContent xmlns:mc="http://schemas.openxmlformats.org/markup-compatibility/2006">
              <mc:Choice xmlns:v="urn:schemas-microsoft-com:vml" Requires="v">
                <p:oleObj spid="_x0000_s5185" name="Equation" r:id="rId9" imgW="469800" imgH="203040" progId="Equation.DSMT4">
                  <p:embed/>
                </p:oleObj>
              </mc:Choice>
              <mc:Fallback>
                <p:oleObj name="Equation" r:id="rId9" imgW="469800" imgH="203040" progId="Equation.DSMT4">
                  <p:embed/>
                  <p:pic>
                    <p:nvPicPr>
                      <p:cNvPr id="11" name="Object 10">
                        <a:extLst>
                          <a:ext uri="{FF2B5EF4-FFF2-40B4-BE49-F238E27FC236}">
                            <a16:creationId xmlns:a16="http://schemas.microsoft.com/office/drawing/2014/main" id="{3FB37DD4-66C2-446A-9338-4A25E3A2080B}"/>
                          </a:ext>
                        </a:extLst>
                      </p:cNvPr>
                      <p:cNvPicPr/>
                      <p:nvPr/>
                    </p:nvPicPr>
                    <p:blipFill>
                      <a:blip r:embed="rId10"/>
                      <a:stretch>
                        <a:fillRect/>
                      </a:stretch>
                    </p:blipFill>
                    <p:spPr>
                      <a:xfrm>
                        <a:off x="2592593" y="5681235"/>
                        <a:ext cx="853664" cy="369157"/>
                      </a:xfrm>
                      <a:prstGeom prst="rect">
                        <a:avLst/>
                      </a:prstGeom>
                    </p:spPr>
                  </p:pic>
                </p:oleObj>
              </mc:Fallback>
            </mc:AlternateContent>
          </a:graphicData>
        </a:graphic>
      </p:graphicFrame>
      <p:sp>
        <p:nvSpPr>
          <p:cNvPr id="11" name="Slide Number Placeholder 10"/>
          <p:cNvSpPr>
            <a:spLocks noGrp="1"/>
          </p:cNvSpPr>
          <p:nvPr>
            <p:ph type="sldNum" sz="quarter" idx="10"/>
          </p:nvPr>
        </p:nvSpPr>
        <p:spPr/>
        <p:txBody>
          <a:bodyPr/>
          <a:lstStyle/>
          <a:p>
            <a:fld id="{68151E55-6873-49E2-B8D5-2F265E6F1973}" type="slidenum">
              <a:rPr lang="en-US" smtClean="0"/>
              <a:t>18</a:t>
            </a:fld>
            <a:endParaRPr lang="en-US" dirty="0"/>
          </a:p>
        </p:txBody>
      </p:sp>
    </p:spTree>
    <p:extLst>
      <p:ext uri="{BB962C8B-B14F-4D97-AF65-F5344CB8AC3E}">
        <p14:creationId xmlns:p14="http://schemas.microsoft.com/office/powerpoint/2010/main" val="3304372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Solving Word Problems for the Unknown </a:t>
            </a:r>
            <a:r>
              <a:rPr lang="en-US" sz="1000" b="0" dirty="0"/>
              <a:t>1</a:t>
            </a:r>
            <a:endParaRPr lang="en-IN" sz="1000" b="0" dirty="0"/>
          </a:p>
        </p:txBody>
      </p:sp>
      <p:sp>
        <p:nvSpPr>
          <p:cNvPr id="3" name="Content Placeholder 2"/>
          <p:cNvSpPr>
            <a:spLocks noGrp="1"/>
          </p:cNvSpPr>
          <p:nvPr>
            <p:ph sz="quarter" idx="11"/>
          </p:nvPr>
        </p:nvSpPr>
        <p:spPr>
          <a:xfrm>
            <a:off x="342900" y="1276709"/>
            <a:ext cx="8458200" cy="410689"/>
          </a:xfrm>
        </p:spPr>
        <p:txBody>
          <a:bodyPr/>
          <a:lstStyle/>
          <a:p>
            <a:r>
              <a:rPr lang="en-IN" sz="2000" b="1" i="1" dirty="0"/>
              <a:t>5 Steps</a:t>
            </a:r>
          </a:p>
        </p:txBody>
      </p:sp>
      <p:sp>
        <p:nvSpPr>
          <p:cNvPr id="4" name="Content Placeholder 3"/>
          <p:cNvSpPr>
            <a:spLocks noGrp="1"/>
          </p:cNvSpPr>
          <p:nvPr>
            <p:ph sz="quarter" idx="14"/>
          </p:nvPr>
        </p:nvSpPr>
        <p:spPr>
          <a:xfrm>
            <a:off x="342900" y="1772239"/>
            <a:ext cx="8458200" cy="4476161"/>
          </a:xfrm>
        </p:spPr>
        <p:txBody>
          <a:bodyPr/>
          <a:lstStyle/>
          <a:p>
            <a:pPr marL="402336" indent="-402336">
              <a:buFont typeface="+mj-lt"/>
              <a:buAutoNum type="arabicPeriod"/>
            </a:pPr>
            <a:r>
              <a:rPr lang="en-US" sz="2000" dirty="0"/>
              <a:t>Carefully read the entire problem. You may have to read it several times.</a:t>
            </a:r>
          </a:p>
          <a:p>
            <a:pPr marL="402336" indent="-402336">
              <a:buFont typeface="+mj-lt"/>
              <a:buAutoNum type="arabicPeriod"/>
            </a:pPr>
            <a:r>
              <a:rPr lang="en-US" sz="2000" dirty="0"/>
              <a:t>Ask yourself: “What is the problem looking for?”</a:t>
            </a:r>
          </a:p>
          <a:p>
            <a:pPr marL="402336" indent="-402336">
              <a:buFont typeface="+mj-lt"/>
              <a:buAutoNum type="arabicPeriod"/>
            </a:pPr>
            <a:r>
              <a:rPr lang="en-US" sz="2000" dirty="0"/>
              <a:t>When you are sure what the problem is asking, let a variable represent the unknown. If the problem has more than one unknown, represent the second unknown in terms of the same variable. For example, if the problem has two unknowns, Y is one unknown. Assuming the second unknown is 4 times the first unknown, it would be represented by 4Y.</a:t>
            </a:r>
          </a:p>
          <a:p>
            <a:pPr marL="402336" indent="-402336">
              <a:buFont typeface="+mj-lt"/>
              <a:buAutoNum type="arabicPeriod"/>
            </a:pPr>
            <a:r>
              <a:rPr lang="en-US" sz="2000" dirty="0"/>
              <a:t>Visualize the relationship between the unknowns and variables. Then set up an equation to solve for the unknown(s).</a:t>
            </a:r>
          </a:p>
          <a:p>
            <a:pPr marL="402336" indent="-402336">
              <a:buFont typeface="+mj-lt"/>
              <a:buAutoNum type="arabicPeriod"/>
            </a:pPr>
            <a:r>
              <a:rPr lang="en-US" sz="2000" dirty="0"/>
              <a:t>Check your results to ensure accuracy.</a:t>
            </a:r>
          </a:p>
        </p:txBody>
      </p:sp>
      <p:sp>
        <p:nvSpPr>
          <p:cNvPr id="7" name="Slide Number Placeholder 6"/>
          <p:cNvSpPr>
            <a:spLocks noGrp="1"/>
          </p:cNvSpPr>
          <p:nvPr>
            <p:ph type="sldNum" sz="quarter" idx="10"/>
          </p:nvPr>
        </p:nvSpPr>
        <p:spPr/>
        <p:txBody>
          <a:bodyPr/>
          <a:lstStyle/>
          <a:p>
            <a:fld id="{68151E55-6873-49E2-B8D5-2F265E6F1973}" type="slidenum">
              <a:rPr lang="en-US" smtClean="0"/>
              <a:t>19</a:t>
            </a:fld>
            <a:endParaRPr lang="en-US"/>
          </a:p>
        </p:txBody>
      </p:sp>
    </p:spTree>
    <p:extLst>
      <p:ext uri="{BB962C8B-B14F-4D97-AF65-F5344CB8AC3E}">
        <p14:creationId xmlns:p14="http://schemas.microsoft.com/office/powerpoint/2010/main" val="169364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Solving Word Problems for the Unknown </a:t>
            </a:r>
            <a:r>
              <a:rPr lang="en-US" sz="1000" b="0" dirty="0"/>
              <a:t>2</a:t>
            </a:r>
            <a:endParaRPr lang="en-IN" sz="1000" b="0" dirty="0"/>
          </a:p>
        </p:txBody>
      </p:sp>
      <p:sp>
        <p:nvSpPr>
          <p:cNvPr id="3" name="Content Placeholder 2"/>
          <p:cNvSpPr>
            <a:spLocks noGrp="1"/>
          </p:cNvSpPr>
          <p:nvPr>
            <p:ph sz="quarter" idx="11"/>
          </p:nvPr>
        </p:nvSpPr>
        <p:spPr>
          <a:xfrm>
            <a:off x="342900" y="1276709"/>
            <a:ext cx="8458200" cy="1164833"/>
          </a:xfrm>
        </p:spPr>
        <p:txBody>
          <a:bodyPr/>
          <a:lstStyle/>
          <a:p>
            <a:pPr algn="ctr"/>
            <a:r>
              <a:rPr lang="en-US" sz="2000" b="1" dirty="0"/>
              <a:t>Blueprint aid</a:t>
            </a:r>
          </a:p>
          <a:p>
            <a:pPr algn="ctr"/>
            <a:r>
              <a:rPr lang="en-US" sz="2000" dirty="0"/>
              <a:t>Helps organize unknown and given information and develop equation to solve word problems.</a:t>
            </a:r>
          </a:p>
        </p:txBody>
      </p:sp>
      <p:graphicFrame>
        <p:nvGraphicFramePr>
          <p:cNvPr id="6" name="Table 5"/>
          <p:cNvGraphicFramePr>
            <a:graphicFrameLocks noGrp="1"/>
          </p:cNvGraphicFramePr>
          <p:nvPr>
            <p:extLst>
              <p:ext uri="{D42A27DB-BD31-4B8C-83A1-F6EECF244321}">
                <p14:modId xmlns:p14="http://schemas.microsoft.com/office/powerpoint/2010/main" val="1410174391"/>
              </p:ext>
            </p:extLst>
          </p:nvPr>
        </p:nvGraphicFramePr>
        <p:xfrm>
          <a:off x="701119" y="2979426"/>
          <a:ext cx="7543800" cy="1826370"/>
        </p:xfrm>
        <a:graphic>
          <a:graphicData uri="http://schemas.openxmlformats.org/drawingml/2006/table">
            <a:tbl>
              <a:tblPr firstRow="1" bandRow="1">
                <a:tableStyleId>{2D5ABB26-0587-4C30-8999-92F81FD0307C}</a:tableStyleId>
              </a:tblPr>
              <a:tblGrid>
                <a:gridCol w="2514600">
                  <a:extLst>
                    <a:ext uri="{9D8B030D-6E8A-4147-A177-3AD203B41FA5}">
                      <a16:colId xmlns:a16="http://schemas.microsoft.com/office/drawing/2014/main" val="4009471976"/>
                    </a:ext>
                  </a:extLst>
                </a:gridCol>
                <a:gridCol w="2514600">
                  <a:extLst>
                    <a:ext uri="{9D8B030D-6E8A-4147-A177-3AD203B41FA5}">
                      <a16:colId xmlns:a16="http://schemas.microsoft.com/office/drawing/2014/main" val="2931553215"/>
                    </a:ext>
                  </a:extLst>
                </a:gridCol>
                <a:gridCol w="2514600">
                  <a:extLst>
                    <a:ext uri="{9D8B030D-6E8A-4147-A177-3AD203B41FA5}">
                      <a16:colId xmlns:a16="http://schemas.microsoft.com/office/drawing/2014/main" val="3468398191"/>
                    </a:ext>
                  </a:extLst>
                </a:gridCol>
              </a:tblGrid>
              <a:tr h="253968">
                <a:tc>
                  <a:txBody>
                    <a:bodyPr/>
                    <a:lstStyle/>
                    <a:p>
                      <a:pPr algn="ctr"/>
                      <a:r>
                        <a:rPr lang="en-US" sz="1800" b="1" baseline="0" dirty="0">
                          <a:solidFill>
                            <a:srgbClr val="000000"/>
                          </a:solidFill>
                          <a:latin typeface="+mn-lt"/>
                          <a:ea typeface="Verdana" panose="020B0604030504040204" pitchFamily="34" charset="0"/>
                          <a:cs typeface="Verdana" panose="020B0604030504040204" pitchFamily="34" charset="0"/>
                        </a:rPr>
                        <a:t>Unknown(s)</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800" b="1" baseline="0" dirty="0">
                          <a:solidFill>
                            <a:srgbClr val="000000"/>
                          </a:solidFill>
                          <a:latin typeface="+mn-lt"/>
                          <a:ea typeface="Verdana" panose="020B0604030504040204" pitchFamily="34" charset="0"/>
                          <a:cs typeface="Verdana" panose="020B0604030504040204" pitchFamily="34" charset="0"/>
                        </a:rPr>
                        <a:t>Variable(s)</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800" b="1" baseline="0" dirty="0">
                          <a:solidFill>
                            <a:srgbClr val="000000"/>
                          </a:solidFill>
                          <a:latin typeface="+mn-lt"/>
                          <a:ea typeface="Verdana" panose="020B0604030504040204" pitchFamily="34" charset="0"/>
                          <a:cs typeface="Verdana" panose="020B0604030504040204" pitchFamily="34" charset="0"/>
                        </a:rPr>
                        <a:t>Relationship</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9216422"/>
                  </a:ext>
                </a:extLst>
              </a:tr>
              <a:tr h="1460610">
                <a:tc>
                  <a:txBody>
                    <a:bodyPr/>
                    <a:lstStyle/>
                    <a:p>
                      <a:endParaRPr lang="en-US" sz="1800" dirty="0">
                        <a:solidFill>
                          <a:srgbClr val="000000"/>
                        </a:solidFill>
                        <a:latin typeface="+mn-lt"/>
                        <a:ea typeface="Verdana" pitchFamily="34" charset="0"/>
                        <a:cs typeface="Verdana"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800" dirty="0">
                        <a:solidFill>
                          <a:srgbClr val="000000"/>
                        </a:solidFill>
                        <a:latin typeface="+mn-lt"/>
                        <a:ea typeface="Verdana" pitchFamily="34" charset="0"/>
                        <a:cs typeface="Verdana"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800" dirty="0">
                        <a:solidFill>
                          <a:srgbClr val="000000"/>
                        </a:solidFill>
                        <a:latin typeface="+mn-lt"/>
                        <a:ea typeface="Verdana" pitchFamily="34" charset="0"/>
                        <a:cs typeface="Verdana"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8543535"/>
                  </a:ext>
                </a:extLst>
              </a:tr>
            </a:tbl>
          </a:graphicData>
        </a:graphic>
      </p:graphicFrame>
      <p:sp>
        <p:nvSpPr>
          <p:cNvPr id="7" name="Slide Number Placeholder 6"/>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1481351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639352" cy="903231"/>
          </a:xfrm>
        </p:spPr>
        <p:txBody>
          <a:bodyPr>
            <a:noAutofit/>
          </a:bodyPr>
          <a:lstStyle/>
          <a:p>
            <a:r>
              <a:rPr lang="en-US" sz="3200" dirty="0"/>
              <a:t>Solving Word Problems for the Unknowns </a:t>
            </a:r>
            <a:r>
              <a:rPr lang="en-US" sz="1000" b="0" dirty="0"/>
              <a:t>3</a:t>
            </a:r>
            <a:endParaRPr lang="en-IN" sz="1000" b="0" dirty="0"/>
          </a:p>
        </p:txBody>
      </p:sp>
      <p:sp>
        <p:nvSpPr>
          <p:cNvPr id="3" name="Content Placeholder 2"/>
          <p:cNvSpPr>
            <a:spLocks noGrp="1"/>
          </p:cNvSpPr>
          <p:nvPr>
            <p:ph sz="quarter" idx="11"/>
          </p:nvPr>
        </p:nvSpPr>
        <p:spPr>
          <a:xfrm>
            <a:off x="342900" y="1276709"/>
            <a:ext cx="8458200" cy="1638647"/>
          </a:xfrm>
        </p:spPr>
        <p:txBody>
          <a:bodyPr/>
          <a:lstStyle/>
          <a:p>
            <a:r>
              <a:rPr lang="en-US" b="1" dirty="0"/>
              <a:t>Example:</a:t>
            </a:r>
          </a:p>
          <a:p>
            <a:r>
              <a:rPr lang="en-US" dirty="0"/>
              <a:t>I</a:t>
            </a:r>
            <a:r>
              <a:rPr lang="en-US" sz="100" dirty="0"/>
              <a:t> </a:t>
            </a:r>
            <a:r>
              <a:rPr lang="en-US" dirty="0"/>
              <a:t>C</a:t>
            </a:r>
            <a:r>
              <a:rPr lang="en-US" sz="100" dirty="0"/>
              <a:t> </a:t>
            </a:r>
            <a:r>
              <a:rPr lang="en-US" dirty="0"/>
              <a:t>M Company sold 4 times as many computers as Ring Company. The difference in their sales is 27. How many computers of each company were sold?</a:t>
            </a:r>
          </a:p>
        </p:txBody>
      </p:sp>
      <p:sp>
        <p:nvSpPr>
          <p:cNvPr id="4" name="Content Placeholder 3"/>
          <p:cNvSpPr>
            <a:spLocks noGrp="1"/>
          </p:cNvSpPr>
          <p:nvPr>
            <p:ph sz="quarter" idx="14"/>
          </p:nvPr>
        </p:nvSpPr>
        <p:spPr>
          <a:xfrm>
            <a:off x="342900" y="2915356"/>
            <a:ext cx="1753755" cy="523654"/>
          </a:xfrm>
        </p:spPr>
        <p:txBody>
          <a:bodyPr/>
          <a:lstStyle/>
          <a:p>
            <a:r>
              <a:rPr lang="en-IN" b="1" dirty="0"/>
              <a:t>Solution:</a:t>
            </a:r>
          </a:p>
        </p:txBody>
      </p:sp>
      <p:pic>
        <p:nvPicPr>
          <p:cNvPr id="12" name="Picture 11" descr="A table with details for an example problem."/>
          <p:cNvPicPr>
            <a:picLocks noChangeAspect="1"/>
          </p:cNvPicPr>
          <p:nvPr/>
        </p:nvPicPr>
        <p:blipFill>
          <a:blip r:embed="rId3"/>
          <a:stretch>
            <a:fillRect/>
          </a:stretch>
        </p:blipFill>
        <p:spPr>
          <a:xfrm>
            <a:off x="421881" y="3358761"/>
            <a:ext cx="5213080" cy="1964520"/>
          </a:xfrm>
          <a:prstGeom prst="rect">
            <a:avLst/>
          </a:prstGeom>
        </p:spPr>
      </p:pic>
      <p:sp>
        <p:nvSpPr>
          <p:cNvPr id="5" name="Content Placeholder 4"/>
          <p:cNvSpPr>
            <a:spLocks noGrp="1"/>
          </p:cNvSpPr>
          <p:nvPr>
            <p:ph sz="quarter" idx="15"/>
          </p:nvPr>
        </p:nvSpPr>
        <p:spPr>
          <a:xfrm>
            <a:off x="5883564" y="3123434"/>
            <a:ext cx="2917536" cy="400859"/>
          </a:xfrm>
        </p:spPr>
        <p:txBody>
          <a:bodyPr/>
          <a:lstStyle/>
          <a:p>
            <a:r>
              <a:rPr lang="en-US" b="1" dirty="0"/>
              <a:t>Mechanical steps</a:t>
            </a:r>
            <a:endParaRPr lang="en-IN" b="1" dirty="0"/>
          </a:p>
        </p:txBody>
      </p:sp>
      <p:graphicFrame>
        <p:nvGraphicFramePr>
          <p:cNvPr id="14" name="Object 13"/>
          <p:cNvGraphicFramePr>
            <a:graphicFrameLocks noChangeAspect="1"/>
          </p:cNvGraphicFramePr>
          <p:nvPr>
            <p:extLst>
              <p:ext uri="{D42A27DB-BD31-4B8C-83A1-F6EECF244321}">
                <p14:modId xmlns:p14="http://schemas.microsoft.com/office/powerpoint/2010/main" val="262264063"/>
              </p:ext>
            </p:extLst>
          </p:nvPr>
        </p:nvGraphicFramePr>
        <p:xfrm>
          <a:off x="6348178" y="3618848"/>
          <a:ext cx="1341202" cy="247954"/>
        </p:xfrm>
        <a:graphic>
          <a:graphicData uri="http://schemas.openxmlformats.org/presentationml/2006/ole">
            <mc:AlternateContent xmlns:mc="http://schemas.openxmlformats.org/markup-compatibility/2006">
              <mc:Choice xmlns:v="urn:schemas-microsoft-com:vml" Requires="v">
                <p:oleObj spid="_x0000_s6178" name="Equation" r:id="rId4" imgW="1511280" imgH="279360" progId="Equation.DSMT4">
                  <p:embed/>
                </p:oleObj>
              </mc:Choice>
              <mc:Fallback>
                <p:oleObj name="Equation" r:id="rId4" imgW="1511280" imgH="279360" progId="Equation.DSMT4">
                  <p:embed/>
                  <p:pic>
                    <p:nvPicPr>
                      <p:cNvPr id="14" name="Object 13"/>
                      <p:cNvPicPr/>
                      <p:nvPr/>
                    </p:nvPicPr>
                    <p:blipFill>
                      <a:blip r:embed="rId5"/>
                      <a:stretch>
                        <a:fillRect/>
                      </a:stretch>
                    </p:blipFill>
                    <p:spPr>
                      <a:xfrm>
                        <a:off x="6348178" y="3618848"/>
                        <a:ext cx="1341202" cy="247954"/>
                      </a:xfrm>
                      <a:prstGeom prst="rect">
                        <a:avLst/>
                      </a:prstGeom>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463397857"/>
              </p:ext>
            </p:extLst>
          </p:nvPr>
        </p:nvGraphicFramePr>
        <p:xfrm>
          <a:off x="6778461" y="3976077"/>
          <a:ext cx="980542" cy="653697"/>
        </p:xfrm>
        <a:graphic>
          <a:graphicData uri="http://schemas.openxmlformats.org/presentationml/2006/ole">
            <mc:AlternateContent xmlns:mc="http://schemas.openxmlformats.org/markup-compatibility/2006">
              <mc:Choice xmlns:v="urn:schemas-microsoft-com:vml" Requires="v">
                <p:oleObj spid="_x0000_s6179" name="Equation" r:id="rId6" imgW="1104840" imgH="736560" progId="Equation.DSMT4">
                  <p:embed/>
                </p:oleObj>
              </mc:Choice>
              <mc:Fallback>
                <p:oleObj name="Equation" r:id="rId6" imgW="1104840" imgH="736560" progId="Equation.DSMT4">
                  <p:embed/>
                  <p:pic>
                    <p:nvPicPr>
                      <p:cNvPr id="15" name="Object 14"/>
                      <p:cNvPicPr/>
                      <p:nvPr/>
                    </p:nvPicPr>
                    <p:blipFill>
                      <a:blip r:embed="rId7"/>
                      <a:stretch>
                        <a:fillRect/>
                      </a:stretch>
                    </p:blipFill>
                    <p:spPr>
                      <a:xfrm>
                        <a:off x="6778461" y="3976077"/>
                        <a:ext cx="980542" cy="653697"/>
                      </a:xfrm>
                      <a:prstGeom prst="rect">
                        <a:avLst/>
                      </a:prstGeom>
                    </p:spPr>
                  </p:pic>
                </p:oleObj>
              </mc:Fallback>
            </mc:AlternateContent>
          </a:graphicData>
        </a:graphic>
      </p:graphicFrame>
      <p:sp>
        <p:nvSpPr>
          <p:cNvPr id="6" name="Content Placeholder 5"/>
          <p:cNvSpPr>
            <a:spLocks noGrp="1"/>
          </p:cNvSpPr>
          <p:nvPr>
            <p:ph sz="quarter" idx="16"/>
          </p:nvPr>
        </p:nvSpPr>
        <p:spPr>
          <a:xfrm>
            <a:off x="6873008" y="4653812"/>
            <a:ext cx="1104900" cy="435906"/>
          </a:xfrm>
        </p:spPr>
        <p:txBody>
          <a:bodyPr/>
          <a:lstStyle/>
          <a:p>
            <a:r>
              <a:rPr lang="en-US" sz="2000" i="1" dirty="0"/>
              <a:t>C = </a:t>
            </a:r>
            <a:r>
              <a:rPr lang="en-US" sz="2000" b="1" i="1" dirty="0"/>
              <a:t>9</a:t>
            </a:r>
            <a:endParaRPr lang="en-IN" sz="2000" b="1" i="1" dirty="0"/>
          </a:p>
        </p:txBody>
      </p:sp>
      <p:sp>
        <p:nvSpPr>
          <p:cNvPr id="7" name="Content Placeholder 6"/>
          <p:cNvSpPr>
            <a:spLocks noGrp="1"/>
          </p:cNvSpPr>
          <p:nvPr>
            <p:ph sz="quarter" idx="17"/>
          </p:nvPr>
        </p:nvSpPr>
        <p:spPr>
          <a:xfrm>
            <a:off x="6348178" y="5078506"/>
            <a:ext cx="2634073" cy="1239170"/>
          </a:xfrm>
        </p:spPr>
        <p:txBody>
          <a:bodyPr/>
          <a:lstStyle/>
          <a:p>
            <a:r>
              <a:rPr lang="en-US" sz="2000" dirty="0"/>
              <a:t>Ring = </a:t>
            </a:r>
            <a:r>
              <a:rPr lang="en-US" sz="2000" b="1" dirty="0"/>
              <a:t>9</a:t>
            </a:r>
            <a:r>
              <a:rPr lang="en-US" sz="2000" dirty="0"/>
              <a:t> computers</a:t>
            </a:r>
          </a:p>
          <a:p>
            <a:r>
              <a:rPr lang="en-US" sz="2000" dirty="0"/>
              <a:t>I</a:t>
            </a:r>
            <a:r>
              <a:rPr lang="en-US" sz="100" dirty="0"/>
              <a:t> </a:t>
            </a:r>
            <a:r>
              <a:rPr lang="en-US" sz="2000" dirty="0"/>
              <a:t>C</a:t>
            </a:r>
            <a:r>
              <a:rPr lang="en-US" sz="100" dirty="0"/>
              <a:t> </a:t>
            </a:r>
            <a:r>
              <a:rPr lang="en-US" sz="2000" dirty="0"/>
              <a:t>M = 4(9)</a:t>
            </a:r>
          </a:p>
          <a:p>
            <a:pPr indent="687388"/>
            <a:r>
              <a:rPr lang="en-US" sz="2000" dirty="0"/>
              <a:t>= </a:t>
            </a:r>
            <a:r>
              <a:rPr lang="en-US" sz="2000" b="1" dirty="0"/>
              <a:t>36</a:t>
            </a:r>
            <a:r>
              <a:rPr lang="en-US" sz="2000" dirty="0"/>
              <a:t> computers</a:t>
            </a:r>
            <a:endParaRPr lang="en-IN" sz="2000" dirty="0"/>
          </a:p>
        </p:txBody>
      </p:sp>
      <p:sp>
        <p:nvSpPr>
          <p:cNvPr id="8" name="Text Placeholder 7">
            <a:extLst>
              <a:ext uri="{FF2B5EF4-FFF2-40B4-BE49-F238E27FC236}">
                <a16:creationId xmlns:a16="http://schemas.microsoft.com/office/drawing/2014/main" id="{224FD376-18B4-7323-C1C0-9452868232C1}"/>
              </a:ext>
            </a:extLst>
          </p:cNvPr>
          <p:cNvSpPr>
            <a:spLocks noGrp="1"/>
          </p:cNvSpPr>
          <p:nvPr>
            <p:ph type="body" sz="quarter" idx="12"/>
          </p:nvPr>
        </p:nvSpPr>
        <p:spPr>
          <a:xfrm>
            <a:off x="3019437" y="6259080"/>
            <a:ext cx="3105127" cy="256020"/>
          </a:xfrm>
        </p:spPr>
        <p:txBody>
          <a:bodyPr/>
          <a:lstStyle/>
          <a:p>
            <a:r>
              <a:rPr lang="en-US" sz="1200" dirty="0">
                <a:hlinkClick r:id="rId8" action="ppaction://hlinksldjump"/>
              </a:rPr>
              <a:t>Access the text alternative for slide images</a:t>
            </a:r>
            <a:endParaRPr lang="en-IN" sz="1200" dirty="0">
              <a:hlinkClick r:id="rId8" action="ppaction://hlinksldjump"/>
            </a:endParaRPr>
          </a:p>
        </p:txBody>
      </p:sp>
      <p:sp>
        <p:nvSpPr>
          <p:cNvPr id="11" name="Slide Number Placeholder 10"/>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2178212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639352" cy="903231"/>
          </a:xfrm>
        </p:spPr>
        <p:txBody>
          <a:bodyPr>
            <a:noAutofit/>
          </a:bodyPr>
          <a:lstStyle/>
          <a:p>
            <a:r>
              <a:rPr lang="en-US" sz="3200" dirty="0"/>
              <a:t>Solving Word Problems for the Unknowns </a:t>
            </a:r>
            <a:r>
              <a:rPr lang="en-US" sz="1000" b="0" dirty="0"/>
              <a:t>4</a:t>
            </a:r>
            <a:endParaRPr lang="en-IN" sz="1000" b="0" dirty="0"/>
          </a:p>
        </p:txBody>
      </p:sp>
      <p:sp>
        <p:nvSpPr>
          <p:cNvPr id="3" name="Content Placeholder 2"/>
          <p:cNvSpPr>
            <a:spLocks noGrp="1"/>
          </p:cNvSpPr>
          <p:nvPr>
            <p:ph sz="quarter" idx="11"/>
          </p:nvPr>
        </p:nvSpPr>
        <p:spPr>
          <a:xfrm>
            <a:off x="342900" y="1276709"/>
            <a:ext cx="8458200" cy="2033797"/>
          </a:xfrm>
        </p:spPr>
        <p:txBody>
          <a:bodyPr/>
          <a:lstStyle/>
          <a:p>
            <a:r>
              <a:rPr lang="en-US" b="1" dirty="0"/>
              <a:t>Example:</a:t>
            </a:r>
          </a:p>
          <a:p>
            <a:r>
              <a:rPr lang="en-US" dirty="0"/>
              <a:t>Andy sold watches for $9 and alarm clocks for $5 at a flea market. Total sales for 35 watches and alarm clocks were $287. How many of each did Andy sell? What were the total dollar sales of each?</a:t>
            </a:r>
          </a:p>
        </p:txBody>
      </p:sp>
      <p:sp>
        <p:nvSpPr>
          <p:cNvPr id="4" name="Content Placeholder 3"/>
          <p:cNvSpPr>
            <a:spLocks noGrp="1"/>
          </p:cNvSpPr>
          <p:nvPr>
            <p:ph sz="quarter" idx="14"/>
          </p:nvPr>
        </p:nvSpPr>
        <p:spPr>
          <a:xfrm>
            <a:off x="342900" y="3459554"/>
            <a:ext cx="1587500" cy="456664"/>
          </a:xfrm>
        </p:spPr>
        <p:txBody>
          <a:bodyPr/>
          <a:lstStyle/>
          <a:p>
            <a:r>
              <a:rPr lang="en-IN" b="1" dirty="0"/>
              <a:t>Solution:</a:t>
            </a:r>
          </a:p>
        </p:txBody>
      </p:sp>
      <p:pic>
        <p:nvPicPr>
          <p:cNvPr id="12" name="Picture 11" descr="A table with details for an example problem."/>
          <p:cNvPicPr>
            <a:picLocks noChangeAspect="1"/>
          </p:cNvPicPr>
          <p:nvPr/>
        </p:nvPicPr>
        <p:blipFill>
          <a:blip r:embed="rId2"/>
          <a:stretch>
            <a:fillRect/>
          </a:stretch>
        </p:blipFill>
        <p:spPr>
          <a:xfrm>
            <a:off x="342900" y="4086853"/>
            <a:ext cx="5371042" cy="2024047"/>
          </a:xfrm>
          <a:prstGeom prst="rect">
            <a:avLst/>
          </a:prstGeom>
        </p:spPr>
      </p:pic>
      <p:pic>
        <p:nvPicPr>
          <p:cNvPr id="13" name="Picture 12" descr="The mechanical steps for a problem."/>
          <p:cNvPicPr>
            <a:picLocks noChangeAspect="1"/>
          </p:cNvPicPr>
          <p:nvPr/>
        </p:nvPicPr>
        <p:blipFill>
          <a:blip r:embed="rId3"/>
          <a:stretch>
            <a:fillRect/>
          </a:stretch>
        </p:blipFill>
        <p:spPr>
          <a:xfrm>
            <a:off x="6444334" y="3671031"/>
            <a:ext cx="2163932" cy="2551106"/>
          </a:xfrm>
          <a:prstGeom prst="rect">
            <a:avLst/>
          </a:prstGeom>
        </p:spPr>
      </p:pic>
      <p:sp>
        <p:nvSpPr>
          <p:cNvPr id="5" name="Text Placeholder 4">
            <a:extLst>
              <a:ext uri="{FF2B5EF4-FFF2-40B4-BE49-F238E27FC236}">
                <a16:creationId xmlns:a16="http://schemas.microsoft.com/office/drawing/2014/main" id="{02CC5FE6-75D8-CEFD-71C7-0420C0FA8ABC}"/>
              </a:ext>
            </a:extLst>
          </p:cNvPr>
          <p:cNvSpPr>
            <a:spLocks noGrp="1"/>
          </p:cNvSpPr>
          <p:nvPr>
            <p:ph type="body" sz="quarter" idx="12"/>
          </p:nvPr>
        </p:nvSpPr>
        <p:spPr>
          <a:xfrm>
            <a:off x="3019437" y="6253018"/>
            <a:ext cx="3105127" cy="262082"/>
          </a:xfrm>
        </p:spPr>
        <p:txBody>
          <a:bodyPr/>
          <a:lstStyle/>
          <a:p>
            <a:r>
              <a:rPr lang="en-US" sz="1200" dirty="0">
                <a:hlinkClick r:id="rId4" action="ppaction://hlinksldjump"/>
              </a:rPr>
              <a:t>Access the text alternative for slide images</a:t>
            </a:r>
            <a:endParaRPr lang="en-IN" sz="1200" dirty="0">
              <a:hlinkClick r:id="rId4" action="ppaction://hlinksldjump"/>
            </a:endParaRPr>
          </a:p>
        </p:txBody>
      </p:sp>
      <p:sp>
        <p:nvSpPr>
          <p:cNvPr id="11" name="Slide Number Placeholder 10"/>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921789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4-2</a:t>
            </a:r>
          </a:p>
        </p:txBody>
      </p:sp>
      <p:sp>
        <p:nvSpPr>
          <p:cNvPr id="3" name="Content Placeholder 2"/>
          <p:cNvSpPr>
            <a:spLocks noGrp="1"/>
          </p:cNvSpPr>
          <p:nvPr>
            <p:ph sz="quarter" idx="11"/>
          </p:nvPr>
        </p:nvSpPr>
        <p:spPr>
          <a:xfrm>
            <a:off x="342900" y="1276710"/>
            <a:ext cx="8458200" cy="957444"/>
          </a:xfrm>
        </p:spPr>
        <p:txBody>
          <a:bodyPr/>
          <a:lstStyle/>
          <a:p>
            <a:r>
              <a:rPr lang="en-US" b="1" i="1" dirty="0"/>
              <a:t>Problem Statement:</a:t>
            </a:r>
          </a:p>
          <a:p>
            <a:r>
              <a:rPr lang="en-US" dirty="0"/>
              <a:t>Solve for the unknown from the following equation: </a:t>
            </a:r>
            <a:r>
              <a:rPr lang="en-US" i="1" dirty="0"/>
              <a:t>L</a:t>
            </a:r>
            <a:r>
              <a:rPr lang="en-US" sz="100" i="1" dirty="0"/>
              <a:t> </a:t>
            </a:r>
            <a:r>
              <a:rPr lang="en-US" i="1" dirty="0"/>
              <a:t>U 4-1(2)</a:t>
            </a:r>
          </a:p>
        </p:txBody>
      </p:sp>
      <p:graphicFrame>
        <p:nvGraphicFramePr>
          <p:cNvPr id="10" name="Object 9"/>
          <p:cNvGraphicFramePr>
            <a:graphicFrameLocks noChangeAspect="1"/>
          </p:cNvGraphicFramePr>
          <p:nvPr>
            <p:extLst>
              <p:ext uri="{D42A27DB-BD31-4B8C-83A1-F6EECF244321}">
                <p14:modId xmlns:p14="http://schemas.microsoft.com/office/powerpoint/2010/main" val="1229691854"/>
              </p:ext>
            </p:extLst>
          </p:nvPr>
        </p:nvGraphicFramePr>
        <p:xfrm>
          <a:off x="3438754" y="2415143"/>
          <a:ext cx="1409700" cy="279400"/>
        </p:xfrm>
        <a:graphic>
          <a:graphicData uri="http://schemas.openxmlformats.org/presentationml/2006/ole">
            <mc:AlternateContent xmlns:mc="http://schemas.openxmlformats.org/markup-compatibility/2006">
              <mc:Choice xmlns:v="urn:schemas-microsoft-com:vml" Requires="v">
                <p:oleObj spid="_x0000_s7234" name="Equation" r:id="rId3" imgW="1409400" imgH="279360" progId="Equation.DSMT4">
                  <p:embed/>
                </p:oleObj>
              </mc:Choice>
              <mc:Fallback>
                <p:oleObj name="Equation" r:id="rId3" imgW="1409400" imgH="279360" progId="Equation.DSMT4">
                  <p:embed/>
                  <p:pic>
                    <p:nvPicPr>
                      <p:cNvPr id="0" name=""/>
                      <p:cNvPicPr/>
                      <p:nvPr/>
                    </p:nvPicPr>
                    <p:blipFill>
                      <a:blip r:embed="rId4"/>
                      <a:stretch>
                        <a:fillRect/>
                      </a:stretch>
                    </p:blipFill>
                    <p:spPr>
                      <a:xfrm>
                        <a:off x="3438754" y="2415143"/>
                        <a:ext cx="1409700" cy="279400"/>
                      </a:xfrm>
                      <a:prstGeom prst="rect">
                        <a:avLst/>
                      </a:prstGeom>
                    </p:spPr>
                  </p:pic>
                </p:oleObj>
              </mc:Fallback>
            </mc:AlternateContent>
          </a:graphicData>
        </a:graphic>
      </p:graphicFrame>
      <p:sp>
        <p:nvSpPr>
          <p:cNvPr id="4" name="Content Placeholder 3"/>
          <p:cNvSpPr>
            <a:spLocks noGrp="1"/>
          </p:cNvSpPr>
          <p:nvPr>
            <p:ph sz="quarter" idx="14"/>
          </p:nvPr>
        </p:nvSpPr>
        <p:spPr>
          <a:xfrm>
            <a:off x="342900" y="3026004"/>
            <a:ext cx="1740424" cy="461914"/>
          </a:xfrm>
        </p:spPr>
        <p:txBody>
          <a:bodyPr/>
          <a:lstStyle/>
          <a:p>
            <a:r>
              <a:rPr lang="en-IN" b="1" i="1" dirty="0"/>
              <a:t>Solution:</a:t>
            </a:r>
          </a:p>
        </p:txBody>
      </p:sp>
      <p:graphicFrame>
        <p:nvGraphicFramePr>
          <p:cNvPr id="12" name="Table 11"/>
          <p:cNvGraphicFramePr>
            <a:graphicFrameLocks noGrp="1"/>
          </p:cNvGraphicFramePr>
          <p:nvPr>
            <p:extLst>
              <p:ext uri="{D42A27DB-BD31-4B8C-83A1-F6EECF244321}">
                <p14:modId xmlns:p14="http://schemas.microsoft.com/office/powerpoint/2010/main" val="2780469796"/>
              </p:ext>
            </p:extLst>
          </p:nvPr>
        </p:nvGraphicFramePr>
        <p:xfrm>
          <a:off x="2897106" y="3398573"/>
          <a:ext cx="1951348" cy="1107440"/>
        </p:xfrm>
        <a:graphic>
          <a:graphicData uri="http://schemas.openxmlformats.org/drawingml/2006/table">
            <a:tbl>
              <a:tblPr firstRow="1" bandRow="1">
                <a:tableStyleId>{5C22544A-7EE6-4342-B048-85BDC9FD1C3A}</a:tableStyleId>
              </a:tblPr>
              <a:tblGrid>
                <a:gridCol w="952107">
                  <a:extLst>
                    <a:ext uri="{9D8B030D-6E8A-4147-A177-3AD203B41FA5}">
                      <a16:colId xmlns:a16="http://schemas.microsoft.com/office/drawing/2014/main" val="3172443716"/>
                    </a:ext>
                  </a:extLst>
                </a:gridCol>
                <a:gridCol w="348792">
                  <a:extLst>
                    <a:ext uri="{9D8B030D-6E8A-4147-A177-3AD203B41FA5}">
                      <a16:colId xmlns:a16="http://schemas.microsoft.com/office/drawing/2014/main" val="1252800971"/>
                    </a:ext>
                  </a:extLst>
                </a:gridCol>
                <a:gridCol w="650449">
                  <a:extLst>
                    <a:ext uri="{9D8B030D-6E8A-4147-A177-3AD203B41FA5}">
                      <a16:colId xmlns:a16="http://schemas.microsoft.com/office/drawing/2014/main" val="3704003580"/>
                    </a:ext>
                  </a:extLst>
                </a:gridCol>
              </a:tblGrid>
              <a:tr h="370840">
                <a:tc>
                  <a:txBody>
                    <a:bodyPr/>
                    <a:lstStyle/>
                    <a:p>
                      <a:pPr algn="r"/>
                      <a:r>
                        <a:rPr lang="en-US" i="1" dirty="0">
                          <a:solidFill>
                            <a:schemeClr val="tx1"/>
                          </a:solidFill>
                        </a:rPr>
                        <a:t>A</a:t>
                      </a:r>
                      <a:r>
                        <a:rPr lang="en-US" dirty="0">
                          <a:solidFill>
                            <a:schemeClr val="tx1"/>
                          </a:solidFill>
                        </a:rPr>
                        <a:t> + 64</a:t>
                      </a:r>
                      <a:endParaRPr lang="en-IN" dirty="0">
                        <a:solidFill>
                          <a:schemeClr val="tx1"/>
                        </a:solidFill>
                      </a:endParaRPr>
                    </a:p>
                  </a:txBody>
                  <a:tcPr>
                    <a:solidFill>
                      <a:schemeClr val="bg1"/>
                    </a:solidFill>
                  </a:tcPr>
                </a:tc>
                <a:tc>
                  <a:txBody>
                    <a:bodyPr/>
                    <a:lstStyle/>
                    <a:p>
                      <a:pPr algn="ctr"/>
                      <a:r>
                        <a:rPr lang="en-US" dirty="0">
                          <a:solidFill>
                            <a:schemeClr val="tx1"/>
                          </a:solidFill>
                        </a:rPr>
                        <a:t>=</a:t>
                      </a:r>
                      <a:endParaRPr lang="en-IN" dirty="0">
                        <a:solidFill>
                          <a:schemeClr val="tx1"/>
                        </a:solidFill>
                      </a:endParaRPr>
                    </a:p>
                  </a:txBody>
                  <a:tcPr>
                    <a:solidFill>
                      <a:schemeClr val="bg1"/>
                    </a:solidFill>
                  </a:tcPr>
                </a:tc>
                <a:tc>
                  <a:txBody>
                    <a:bodyPr/>
                    <a:lstStyle/>
                    <a:p>
                      <a:pPr algn="r"/>
                      <a:r>
                        <a:rPr lang="en-US" dirty="0">
                          <a:solidFill>
                            <a:schemeClr val="tx1"/>
                          </a:solidFill>
                        </a:rPr>
                        <a:t>98</a:t>
                      </a:r>
                      <a:endParaRPr lang="en-IN" dirty="0">
                        <a:solidFill>
                          <a:schemeClr val="tx1"/>
                        </a:solidFill>
                      </a:endParaRPr>
                    </a:p>
                  </a:txBody>
                  <a:tcPr>
                    <a:solidFill>
                      <a:schemeClr val="bg1"/>
                    </a:solidFill>
                  </a:tcPr>
                </a:tc>
                <a:extLst>
                  <a:ext uri="{0D108BD9-81ED-4DB2-BD59-A6C34878D82A}">
                    <a16:rowId xmlns:a16="http://schemas.microsoft.com/office/drawing/2014/main" val="500859116"/>
                  </a:ext>
                </a:extLst>
              </a:tr>
              <a:tr h="237267">
                <a:tc>
                  <a:txBody>
                    <a:bodyPr/>
                    <a:lstStyle/>
                    <a:p>
                      <a:pPr algn="r"/>
                      <a:r>
                        <a:rPr lang="en-US" dirty="0">
                          <a:solidFill>
                            <a:srgbClr val="C00000"/>
                          </a:solidFill>
                        </a:rPr>
                        <a:t>− 64</a:t>
                      </a:r>
                      <a:endParaRPr lang="en-IN" dirty="0">
                        <a:solidFill>
                          <a:srgbClr val="C00000"/>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IN" dirty="0">
                        <a:solidFill>
                          <a:srgbClr val="C00000"/>
                        </a:solidFill>
                      </a:endParaRPr>
                    </a:p>
                  </a:txBody>
                  <a:tcPr>
                    <a:solidFill>
                      <a:schemeClr val="bg1"/>
                    </a:solidFill>
                  </a:tcPr>
                </a:tc>
                <a:tc>
                  <a:txBody>
                    <a:bodyPr/>
                    <a:lstStyle/>
                    <a:p>
                      <a:pPr algn="r"/>
                      <a:r>
                        <a:rPr lang="en-IN" dirty="0">
                          <a:solidFill>
                            <a:srgbClr val="C00000"/>
                          </a:solidFill>
                        </a:rPr>
                        <a:t>− 64</a:t>
                      </a: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5435163"/>
                  </a:ext>
                </a:extLst>
              </a:tr>
              <a:tr h="370840">
                <a:tc>
                  <a:txBody>
                    <a:bodyPr/>
                    <a:lstStyle/>
                    <a:p>
                      <a:pPr algn="l"/>
                      <a:r>
                        <a:rPr lang="en-US" i="1" dirty="0">
                          <a:solidFill>
                            <a:srgbClr val="C00000"/>
                          </a:solidFill>
                        </a:rPr>
                        <a:t>A</a:t>
                      </a:r>
                      <a:endParaRPr lang="en-IN" i="1" dirty="0">
                        <a:solidFill>
                          <a:srgbClr val="C00000"/>
                        </a:solidFill>
                      </a:endParaRPr>
                    </a:p>
                  </a:txBody>
                  <a:tcP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dirty="0">
                          <a:solidFill>
                            <a:srgbClr val="C00000"/>
                          </a:solidFill>
                        </a:rPr>
                        <a:t>=</a:t>
                      </a:r>
                      <a:endParaRPr lang="en-IN" dirty="0">
                        <a:solidFill>
                          <a:srgbClr val="C00000"/>
                        </a:solidFill>
                      </a:endParaRPr>
                    </a:p>
                  </a:txBody>
                  <a:tcPr>
                    <a:solidFill>
                      <a:schemeClr val="bg1"/>
                    </a:solidFill>
                  </a:tcPr>
                </a:tc>
                <a:tc>
                  <a:txBody>
                    <a:bodyPr/>
                    <a:lstStyle/>
                    <a:p>
                      <a:pPr algn="r"/>
                      <a:r>
                        <a:rPr lang="en-US" dirty="0">
                          <a:solidFill>
                            <a:srgbClr val="C00000"/>
                          </a:solidFill>
                        </a:rPr>
                        <a:t>34</a:t>
                      </a:r>
                      <a:endParaRPr lang="en-IN" dirty="0">
                        <a:solidFill>
                          <a:srgbClr val="C00000"/>
                        </a:solidFill>
                      </a:endParaRPr>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980395071"/>
                  </a:ext>
                </a:extLst>
              </a:tr>
            </a:tbl>
          </a:graphicData>
        </a:graphic>
      </p:graphicFrame>
      <p:sp>
        <p:nvSpPr>
          <p:cNvPr id="8" name="Content Placeholder 7"/>
          <p:cNvSpPr>
            <a:spLocks noGrp="1"/>
          </p:cNvSpPr>
          <p:nvPr>
            <p:ph sz="quarter" idx="15"/>
          </p:nvPr>
        </p:nvSpPr>
        <p:spPr>
          <a:xfrm>
            <a:off x="356750" y="4506013"/>
            <a:ext cx="1283514" cy="461913"/>
          </a:xfrm>
        </p:spPr>
        <p:txBody>
          <a:bodyPr/>
          <a:lstStyle/>
          <a:p>
            <a:r>
              <a:rPr lang="en-IN" b="1" i="1" dirty="0"/>
              <a:t>Check:</a:t>
            </a:r>
          </a:p>
        </p:txBody>
      </p:sp>
      <p:graphicFrame>
        <p:nvGraphicFramePr>
          <p:cNvPr id="14" name="Object 13"/>
          <p:cNvGraphicFramePr>
            <a:graphicFrameLocks noChangeAspect="1"/>
          </p:cNvGraphicFramePr>
          <p:nvPr>
            <p:extLst>
              <p:ext uri="{D42A27DB-BD31-4B8C-83A1-F6EECF244321}">
                <p14:modId xmlns:p14="http://schemas.microsoft.com/office/powerpoint/2010/main" val="3385379737"/>
              </p:ext>
            </p:extLst>
          </p:nvPr>
        </p:nvGraphicFramePr>
        <p:xfrm>
          <a:off x="3033401" y="4945049"/>
          <a:ext cx="1409700" cy="279400"/>
        </p:xfrm>
        <a:graphic>
          <a:graphicData uri="http://schemas.openxmlformats.org/presentationml/2006/ole">
            <mc:AlternateContent xmlns:mc="http://schemas.openxmlformats.org/markup-compatibility/2006">
              <mc:Choice xmlns:v="urn:schemas-microsoft-com:vml" Requires="v">
                <p:oleObj spid="_x0000_s7235" name="Equation" r:id="rId5" imgW="1409400" imgH="279360" progId="Equation.DSMT4">
                  <p:embed/>
                </p:oleObj>
              </mc:Choice>
              <mc:Fallback>
                <p:oleObj name="Equation" r:id="rId5" imgW="1409400" imgH="279360" progId="Equation.DSMT4">
                  <p:embed/>
                  <p:pic>
                    <p:nvPicPr>
                      <p:cNvPr id="0" name=""/>
                      <p:cNvPicPr/>
                      <p:nvPr/>
                    </p:nvPicPr>
                    <p:blipFill>
                      <a:blip r:embed="rId6"/>
                      <a:stretch>
                        <a:fillRect/>
                      </a:stretch>
                    </p:blipFill>
                    <p:spPr>
                      <a:xfrm>
                        <a:off x="3033401" y="4945049"/>
                        <a:ext cx="1409700" cy="279400"/>
                      </a:xfrm>
                      <a:prstGeom prst="rect">
                        <a:avLst/>
                      </a:prstGeom>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1415981500"/>
              </p:ext>
            </p:extLst>
          </p:nvPr>
        </p:nvGraphicFramePr>
        <p:xfrm>
          <a:off x="2988951" y="5370635"/>
          <a:ext cx="1498600" cy="279400"/>
        </p:xfrm>
        <a:graphic>
          <a:graphicData uri="http://schemas.openxmlformats.org/presentationml/2006/ole">
            <mc:AlternateContent xmlns:mc="http://schemas.openxmlformats.org/markup-compatibility/2006">
              <mc:Choice xmlns:v="urn:schemas-microsoft-com:vml" Requires="v">
                <p:oleObj spid="_x0000_s7236" name="Equation" r:id="rId7" imgW="1498320" imgH="279360" progId="Equation.DSMT4">
                  <p:embed/>
                </p:oleObj>
              </mc:Choice>
              <mc:Fallback>
                <p:oleObj name="Equation" r:id="rId7" imgW="1498320" imgH="279360" progId="Equation.DSMT4">
                  <p:embed/>
                  <p:pic>
                    <p:nvPicPr>
                      <p:cNvPr id="0" name=""/>
                      <p:cNvPicPr/>
                      <p:nvPr/>
                    </p:nvPicPr>
                    <p:blipFill>
                      <a:blip r:embed="rId8"/>
                      <a:stretch>
                        <a:fillRect/>
                      </a:stretch>
                    </p:blipFill>
                    <p:spPr>
                      <a:xfrm>
                        <a:off x="2988951" y="5370635"/>
                        <a:ext cx="1498600" cy="279400"/>
                      </a:xfrm>
                      <a:prstGeom prst="rect">
                        <a:avLst/>
                      </a:prstGeom>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1459933754"/>
              </p:ext>
            </p:extLst>
          </p:nvPr>
        </p:nvGraphicFramePr>
        <p:xfrm>
          <a:off x="3560451" y="5809671"/>
          <a:ext cx="927100" cy="279400"/>
        </p:xfrm>
        <a:graphic>
          <a:graphicData uri="http://schemas.openxmlformats.org/presentationml/2006/ole">
            <mc:AlternateContent xmlns:mc="http://schemas.openxmlformats.org/markup-compatibility/2006">
              <mc:Choice xmlns:v="urn:schemas-microsoft-com:vml" Requires="v">
                <p:oleObj spid="_x0000_s7237" name="Equation" r:id="rId9" imgW="927000" imgH="279360" progId="Equation.DSMT4">
                  <p:embed/>
                </p:oleObj>
              </mc:Choice>
              <mc:Fallback>
                <p:oleObj name="Equation" r:id="rId9" imgW="927000" imgH="279360" progId="Equation.DSMT4">
                  <p:embed/>
                  <p:pic>
                    <p:nvPicPr>
                      <p:cNvPr id="0" name=""/>
                      <p:cNvPicPr/>
                      <p:nvPr/>
                    </p:nvPicPr>
                    <p:blipFill>
                      <a:blip r:embed="rId10"/>
                      <a:stretch>
                        <a:fillRect/>
                      </a:stretch>
                    </p:blipFill>
                    <p:spPr>
                      <a:xfrm>
                        <a:off x="3560451" y="5809671"/>
                        <a:ext cx="927100" cy="279400"/>
                      </a:xfrm>
                      <a:prstGeom prst="rect">
                        <a:avLst/>
                      </a:prstGeom>
                    </p:spPr>
                  </p:pic>
                </p:oleObj>
              </mc:Fallback>
            </mc:AlternateContent>
          </a:graphicData>
        </a:graphic>
      </p:graphicFrame>
      <p:sp>
        <p:nvSpPr>
          <p:cNvPr id="7" name="Slide Number Placeholder 6"/>
          <p:cNvSpPr>
            <a:spLocks noGrp="1"/>
          </p:cNvSpPr>
          <p:nvPr>
            <p:ph type="sldNum" sz="quarter" idx="10"/>
          </p:nvPr>
        </p:nvSpPr>
        <p:spPr/>
        <p:txBody>
          <a:bodyPr/>
          <a:lstStyle/>
          <a:p>
            <a:fld id="{68151E55-6873-49E2-B8D5-2F265E6F1973}" type="slidenum">
              <a:rPr lang="en-US" smtClean="0"/>
              <a:t>23</a:t>
            </a:fld>
            <a:endParaRPr lang="en-US"/>
          </a:p>
        </p:txBody>
      </p:sp>
    </p:spTree>
    <p:extLst>
      <p:ext uri="{BB962C8B-B14F-4D97-AF65-F5344CB8AC3E}">
        <p14:creationId xmlns:p14="http://schemas.microsoft.com/office/powerpoint/2010/main" val="1712395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4-5</a:t>
            </a:r>
          </a:p>
        </p:txBody>
      </p:sp>
      <p:sp>
        <p:nvSpPr>
          <p:cNvPr id="3" name="Content Placeholder 2"/>
          <p:cNvSpPr>
            <a:spLocks noGrp="1"/>
          </p:cNvSpPr>
          <p:nvPr>
            <p:ph sz="quarter" idx="11"/>
          </p:nvPr>
        </p:nvSpPr>
        <p:spPr>
          <a:xfrm>
            <a:off x="342900" y="1276710"/>
            <a:ext cx="8458200" cy="957444"/>
          </a:xfrm>
        </p:spPr>
        <p:txBody>
          <a:bodyPr/>
          <a:lstStyle/>
          <a:p>
            <a:r>
              <a:rPr lang="en-US" b="1" i="1" dirty="0"/>
              <a:t>Problem Statement:</a:t>
            </a:r>
          </a:p>
          <a:p>
            <a:r>
              <a:rPr lang="en-US" dirty="0"/>
              <a:t>Solve for the unknown from the following equation: </a:t>
            </a:r>
            <a:r>
              <a:rPr lang="en-US" i="1" dirty="0"/>
              <a:t>L</a:t>
            </a:r>
            <a:r>
              <a:rPr lang="en-US" sz="100" i="1" dirty="0"/>
              <a:t> </a:t>
            </a:r>
            <a:r>
              <a:rPr lang="en-US" i="1" dirty="0"/>
              <a:t>U 4-1(2)</a:t>
            </a:r>
          </a:p>
        </p:txBody>
      </p:sp>
      <p:graphicFrame>
        <p:nvGraphicFramePr>
          <p:cNvPr id="10" name="Object 9"/>
          <p:cNvGraphicFramePr>
            <a:graphicFrameLocks noChangeAspect="1"/>
          </p:cNvGraphicFramePr>
          <p:nvPr>
            <p:extLst>
              <p:ext uri="{D42A27DB-BD31-4B8C-83A1-F6EECF244321}">
                <p14:modId xmlns:p14="http://schemas.microsoft.com/office/powerpoint/2010/main" val="32069058"/>
              </p:ext>
            </p:extLst>
          </p:nvPr>
        </p:nvGraphicFramePr>
        <p:xfrm>
          <a:off x="3654425" y="2414588"/>
          <a:ext cx="977900" cy="279400"/>
        </p:xfrm>
        <a:graphic>
          <a:graphicData uri="http://schemas.openxmlformats.org/presentationml/2006/ole">
            <mc:AlternateContent xmlns:mc="http://schemas.openxmlformats.org/markup-compatibility/2006">
              <mc:Choice xmlns:v="urn:schemas-microsoft-com:vml" Requires="v">
                <p:oleObj spid="_x0000_s8318" name="Equation" r:id="rId3" imgW="977760" imgH="279360" progId="Equation.DSMT4">
                  <p:embed/>
                </p:oleObj>
              </mc:Choice>
              <mc:Fallback>
                <p:oleObj name="Equation" r:id="rId3" imgW="977760" imgH="279360" progId="Equation.DSMT4">
                  <p:embed/>
                  <p:pic>
                    <p:nvPicPr>
                      <p:cNvPr id="10" name="Object 9"/>
                      <p:cNvPicPr/>
                      <p:nvPr/>
                    </p:nvPicPr>
                    <p:blipFill>
                      <a:blip r:embed="rId4"/>
                      <a:stretch>
                        <a:fillRect/>
                      </a:stretch>
                    </p:blipFill>
                    <p:spPr>
                      <a:xfrm>
                        <a:off x="3654425" y="2414588"/>
                        <a:ext cx="977900" cy="279400"/>
                      </a:xfrm>
                      <a:prstGeom prst="rect">
                        <a:avLst/>
                      </a:prstGeom>
                    </p:spPr>
                  </p:pic>
                </p:oleObj>
              </mc:Fallback>
            </mc:AlternateContent>
          </a:graphicData>
        </a:graphic>
      </p:graphicFrame>
      <p:sp>
        <p:nvSpPr>
          <p:cNvPr id="4" name="Content Placeholder 3"/>
          <p:cNvSpPr>
            <a:spLocks noGrp="1"/>
          </p:cNvSpPr>
          <p:nvPr>
            <p:ph sz="quarter" idx="14"/>
          </p:nvPr>
        </p:nvSpPr>
        <p:spPr>
          <a:xfrm>
            <a:off x="342900" y="3026004"/>
            <a:ext cx="1740424" cy="461914"/>
          </a:xfrm>
        </p:spPr>
        <p:txBody>
          <a:bodyPr/>
          <a:lstStyle/>
          <a:p>
            <a:r>
              <a:rPr lang="en-IN" b="1" i="1" dirty="0"/>
              <a:t>Solution:</a:t>
            </a:r>
          </a:p>
        </p:txBody>
      </p:sp>
      <p:graphicFrame>
        <p:nvGraphicFramePr>
          <p:cNvPr id="12" name="Table 11"/>
          <p:cNvGraphicFramePr>
            <a:graphicFrameLocks noGrp="1"/>
          </p:cNvGraphicFramePr>
          <p:nvPr>
            <p:extLst>
              <p:ext uri="{D42A27DB-BD31-4B8C-83A1-F6EECF244321}">
                <p14:modId xmlns:p14="http://schemas.microsoft.com/office/powerpoint/2010/main" val="2101181232"/>
              </p:ext>
            </p:extLst>
          </p:nvPr>
        </p:nvGraphicFramePr>
        <p:xfrm>
          <a:off x="2897106" y="3026005"/>
          <a:ext cx="1951348" cy="1523120"/>
        </p:xfrm>
        <a:graphic>
          <a:graphicData uri="http://schemas.openxmlformats.org/drawingml/2006/table">
            <a:tbl>
              <a:tblPr firstRow="1" bandRow="1">
                <a:tableStyleId>{5C22544A-7EE6-4342-B048-85BDC9FD1C3A}</a:tableStyleId>
              </a:tblPr>
              <a:tblGrid>
                <a:gridCol w="952107">
                  <a:extLst>
                    <a:ext uri="{9D8B030D-6E8A-4147-A177-3AD203B41FA5}">
                      <a16:colId xmlns:a16="http://schemas.microsoft.com/office/drawing/2014/main" val="3172443716"/>
                    </a:ext>
                  </a:extLst>
                </a:gridCol>
                <a:gridCol w="348792">
                  <a:extLst>
                    <a:ext uri="{9D8B030D-6E8A-4147-A177-3AD203B41FA5}">
                      <a16:colId xmlns:a16="http://schemas.microsoft.com/office/drawing/2014/main" val="1252800971"/>
                    </a:ext>
                  </a:extLst>
                </a:gridCol>
                <a:gridCol w="650449">
                  <a:extLst>
                    <a:ext uri="{9D8B030D-6E8A-4147-A177-3AD203B41FA5}">
                      <a16:colId xmlns:a16="http://schemas.microsoft.com/office/drawing/2014/main" val="3704003580"/>
                    </a:ext>
                  </a:extLst>
                </a:gridCol>
              </a:tblGrid>
              <a:tr h="273376">
                <a:tc>
                  <a:txBody>
                    <a:bodyPr/>
                    <a:lstStyle/>
                    <a:p>
                      <a:pPr algn="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0859116"/>
                  </a:ext>
                </a:extLst>
              </a:tr>
              <a:tr h="661761">
                <a:tc>
                  <a:txBody>
                    <a:bodyPr/>
                    <a:lstStyle/>
                    <a:p>
                      <a:pPr algn="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5435163"/>
                  </a:ext>
                </a:extLst>
              </a:tr>
              <a:tr h="495599">
                <a:tc>
                  <a:txBody>
                    <a:bodyPr/>
                    <a:lstStyle/>
                    <a:p>
                      <a:pPr algn="r"/>
                      <a:endParaRPr lang="en-IN" b="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80395071"/>
                  </a:ext>
                </a:extLst>
              </a:tr>
            </a:tbl>
          </a:graphicData>
        </a:graphic>
      </p:graphicFrame>
      <p:graphicFrame>
        <p:nvGraphicFramePr>
          <p:cNvPr id="5" name="Object 4">
            <a:extLst>
              <a:ext uri="{FF2B5EF4-FFF2-40B4-BE49-F238E27FC236}">
                <a16:creationId xmlns:a16="http://schemas.microsoft.com/office/drawing/2014/main" id="{7F47FFA7-E57C-4F84-9FB1-0B1649F0A8A7}"/>
              </a:ext>
            </a:extLst>
          </p:cNvPr>
          <p:cNvGraphicFramePr>
            <a:graphicFrameLocks noChangeAspect="1"/>
          </p:cNvGraphicFramePr>
          <p:nvPr>
            <p:extLst>
              <p:ext uri="{D42A27DB-BD31-4B8C-83A1-F6EECF244321}">
                <p14:modId xmlns:p14="http://schemas.microsoft.com/office/powerpoint/2010/main" val="3784465423"/>
              </p:ext>
            </p:extLst>
          </p:nvPr>
        </p:nvGraphicFramePr>
        <p:xfrm>
          <a:off x="3437087" y="3062088"/>
          <a:ext cx="345777" cy="276625"/>
        </p:xfrm>
        <a:graphic>
          <a:graphicData uri="http://schemas.openxmlformats.org/presentationml/2006/ole">
            <mc:AlternateContent xmlns:mc="http://schemas.openxmlformats.org/markup-compatibility/2006">
              <mc:Choice xmlns:v="urn:schemas-microsoft-com:vml" Requires="v">
                <p:oleObj spid="_x0000_s8319" name="Equation" r:id="rId5" imgW="253800" imgH="203040" progId="Equation.DSMT4">
                  <p:embed/>
                </p:oleObj>
              </mc:Choice>
              <mc:Fallback>
                <p:oleObj name="Equation" r:id="rId5" imgW="253800" imgH="203040" progId="Equation.DSMT4">
                  <p:embed/>
                  <p:pic>
                    <p:nvPicPr>
                      <p:cNvPr id="0" name=""/>
                      <p:cNvPicPr/>
                      <p:nvPr/>
                    </p:nvPicPr>
                    <p:blipFill>
                      <a:blip r:embed="rId6"/>
                      <a:stretch>
                        <a:fillRect/>
                      </a:stretch>
                    </p:blipFill>
                    <p:spPr>
                      <a:xfrm>
                        <a:off x="3437087" y="3062088"/>
                        <a:ext cx="345777" cy="276625"/>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4EDB6A84-E995-4CD6-9A96-1BCD2AA34C9A}"/>
              </a:ext>
            </a:extLst>
          </p:cNvPr>
          <p:cNvGraphicFramePr>
            <a:graphicFrameLocks noChangeAspect="1"/>
          </p:cNvGraphicFramePr>
          <p:nvPr>
            <p:extLst>
              <p:ext uri="{D42A27DB-BD31-4B8C-83A1-F6EECF244321}">
                <p14:modId xmlns:p14="http://schemas.microsoft.com/office/powerpoint/2010/main" val="1743562582"/>
              </p:ext>
            </p:extLst>
          </p:nvPr>
        </p:nvGraphicFramePr>
        <p:xfrm>
          <a:off x="3935413" y="3157538"/>
          <a:ext cx="187325" cy="158750"/>
        </p:xfrm>
        <a:graphic>
          <a:graphicData uri="http://schemas.openxmlformats.org/presentationml/2006/ole">
            <mc:AlternateContent xmlns:mc="http://schemas.openxmlformats.org/markup-compatibility/2006">
              <mc:Choice xmlns:v="urn:schemas-microsoft-com:vml" Requires="v">
                <p:oleObj spid="_x0000_s8320" name="Equation" r:id="rId7" imgW="164880" imgH="139680" progId="Equation.DSMT4">
                  <p:embed/>
                </p:oleObj>
              </mc:Choice>
              <mc:Fallback>
                <p:oleObj name="Equation" r:id="rId7" imgW="164880" imgH="139680" progId="Equation.DSMT4">
                  <p:embed/>
                  <p:pic>
                    <p:nvPicPr>
                      <p:cNvPr id="0" name=""/>
                      <p:cNvPicPr/>
                      <p:nvPr/>
                    </p:nvPicPr>
                    <p:blipFill>
                      <a:blip r:embed="rId8"/>
                      <a:stretch>
                        <a:fillRect/>
                      </a:stretch>
                    </p:blipFill>
                    <p:spPr>
                      <a:xfrm>
                        <a:off x="3935413" y="3157538"/>
                        <a:ext cx="187325" cy="15875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93F5C29F-1A54-4FCF-B809-762464ACFB2B}"/>
              </a:ext>
            </a:extLst>
          </p:cNvPr>
          <p:cNvGraphicFramePr>
            <a:graphicFrameLocks noChangeAspect="1"/>
          </p:cNvGraphicFramePr>
          <p:nvPr>
            <p:extLst>
              <p:ext uri="{D42A27DB-BD31-4B8C-83A1-F6EECF244321}">
                <p14:modId xmlns:p14="http://schemas.microsoft.com/office/powerpoint/2010/main" val="379179420"/>
              </p:ext>
            </p:extLst>
          </p:nvPr>
        </p:nvGraphicFramePr>
        <p:xfrm>
          <a:off x="4499656" y="3080172"/>
          <a:ext cx="278038" cy="259507"/>
        </p:xfrm>
        <a:graphic>
          <a:graphicData uri="http://schemas.openxmlformats.org/presentationml/2006/ole">
            <mc:AlternateContent xmlns:mc="http://schemas.openxmlformats.org/markup-compatibility/2006">
              <mc:Choice xmlns:v="urn:schemas-microsoft-com:vml" Requires="v">
                <p:oleObj spid="_x0000_s8321" name="Equation" r:id="rId9" imgW="190440" imgH="177480" progId="Equation.DSMT4">
                  <p:embed/>
                </p:oleObj>
              </mc:Choice>
              <mc:Fallback>
                <p:oleObj name="Equation" r:id="rId9" imgW="190440" imgH="177480" progId="Equation.DSMT4">
                  <p:embed/>
                  <p:pic>
                    <p:nvPicPr>
                      <p:cNvPr id="0" name=""/>
                      <p:cNvPicPr/>
                      <p:nvPr/>
                    </p:nvPicPr>
                    <p:blipFill>
                      <a:blip r:embed="rId10"/>
                      <a:stretch>
                        <a:fillRect/>
                      </a:stretch>
                    </p:blipFill>
                    <p:spPr>
                      <a:xfrm>
                        <a:off x="4499656" y="3080172"/>
                        <a:ext cx="278038" cy="259507"/>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216596668"/>
              </p:ext>
            </p:extLst>
          </p:nvPr>
        </p:nvGraphicFramePr>
        <p:xfrm>
          <a:off x="3363913" y="3397250"/>
          <a:ext cx="393700" cy="647700"/>
        </p:xfrm>
        <a:graphic>
          <a:graphicData uri="http://schemas.openxmlformats.org/presentationml/2006/ole">
            <mc:AlternateContent xmlns:mc="http://schemas.openxmlformats.org/markup-compatibility/2006">
              <mc:Choice xmlns:v="urn:schemas-microsoft-com:vml" Requires="v">
                <p:oleObj spid="_x0000_s8322" name="Equation" r:id="rId11" imgW="393480" imgH="647640" progId="Equation.DSMT4">
                  <p:embed/>
                </p:oleObj>
              </mc:Choice>
              <mc:Fallback>
                <p:oleObj name="Equation" r:id="rId11" imgW="393480" imgH="647640" progId="Equation.DSMT4">
                  <p:embed/>
                  <p:pic>
                    <p:nvPicPr>
                      <p:cNvPr id="0" name=""/>
                      <p:cNvPicPr/>
                      <p:nvPr/>
                    </p:nvPicPr>
                    <p:blipFill>
                      <a:blip r:embed="rId12"/>
                      <a:stretch>
                        <a:fillRect/>
                      </a:stretch>
                    </p:blipFill>
                    <p:spPr>
                      <a:xfrm>
                        <a:off x="3363913" y="3397250"/>
                        <a:ext cx="393700" cy="647700"/>
                      </a:xfrm>
                      <a:prstGeom prst="rect">
                        <a:avLst/>
                      </a:prstGeom>
                      <a:solidFill>
                        <a:schemeClr val="bg1"/>
                      </a:solidFill>
                    </p:spPr>
                  </p:pic>
                </p:oleObj>
              </mc:Fallback>
            </mc:AlternateContent>
          </a:graphicData>
        </a:graphic>
      </p:graphicFrame>
      <p:graphicFrame>
        <p:nvGraphicFramePr>
          <p:cNvPr id="20" name="Object 19">
            <a:extLst>
              <a:ext uri="{FF2B5EF4-FFF2-40B4-BE49-F238E27FC236}">
                <a16:creationId xmlns:a16="http://schemas.microsoft.com/office/drawing/2014/main" id="{1E08F1D5-4A53-47ED-8C2B-0596E845D248}"/>
              </a:ext>
            </a:extLst>
          </p:cNvPr>
          <p:cNvGraphicFramePr>
            <a:graphicFrameLocks noChangeAspect="1"/>
          </p:cNvGraphicFramePr>
          <p:nvPr>
            <p:extLst>
              <p:ext uri="{D42A27DB-BD31-4B8C-83A1-F6EECF244321}">
                <p14:modId xmlns:p14="http://schemas.microsoft.com/office/powerpoint/2010/main" val="1008667126"/>
              </p:ext>
            </p:extLst>
          </p:nvPr>
        </p:nvGraphicFramePr>
        <p:xfrm>
          <a:off x="3909970" y="3651946"/>
          <a:ext cx="215987" cy="182758"/>
        </p:xfrm>
        <a:graphic>
          <a:graphicData uri="http://schemas.openxmlformats.org/presentationml/2006/ole">
            <mc:AlternateContent xmlns:mc="http://schemas.openxmlformats.org/markup-compatibility/2006">
              <mc:Choice xmlns:v="urn:schemas-microsoft-com:vml" Requires="v">
                <p:oleObj spid="_x0000_s8323" name="Equation" r:id="rId13" imgW="164880" imgH="139680" progId="Equation.DSMT4">
                  <p:embed/>
                </p:oleObj>
              </mc:Choice>
              <mc:Fallback>
                <p:oleObj name="Equation" r:id="rId13" imgW="164880" imgH="139680" progId="Equation.DSMT4">
                  <p:embed/>
                  <p:pic>
                    <p:nvPicPr>
                      <p:cNvPr id="0" name=""/>
                      <p:cNvPicPr/>
                      <p:nvPr/>
                    </p:nvPicPr>
                    <p:blipFill>
                      <a:blip r:embed="rId14"/>
                      <a:stretch>
                        <a:fillRect/>
                      </a:stretch>
                    </p:blipFill>
                    <p:spPr>
                      <a:xfrm>
                        <a:off x="3909970" y="3651946"/>
                        <a:ext cx="215987" cy="182758"/>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1077051"/>
              </p:ext>
            </p:extLst>
          </p:nvPr>
        </p:nvGraphicFramePr>
        <p:xfrm>
          <a:off x="4479925" y="3436106"/>
          <a:ext cx="304800" cy="571500"/>
        </p:xfrm>
        <a:graphic>
          <a:graphicData uri="http://schemas.openxmlformats.org/presentationml/2006/ole">
            <mc:AlternateContent xmlns:mc="http://schemas.openxmlformats.org/markup-compatibility/2006">
              <mc:Choice xmlns:v="urn:schemas-microsoft-com:vml" Requires="v">
                <p:oleObj spid="_x0000_s8324" name="Equation" r:id="rId15" imgW="304560" imgH="571320" progId="Equation.DSMT4">
                  <p:embed/>
                </p:oleObj>
              </mc:Choice>
              <mc:Fallback>
                <p:oleObj name="Equation" r:id="rId15" imgW="304560" imgH="571320" progId="Equation.DSMT4">
                  <p:embed/>
                  <p:pic>
                    <p:nvPicPr>
                      <p:cNvPr id="0" name=""/>
                      <p:cNvPicPr/>
                      <p:nvPr/>
                    </p:nvPicPr>
                    <p:blipFill>
                      <a:blip r:embed="rId16"/>
                      <a:stretch>
                        <a:fillRect/>
                      </a:stretch>
                    </p:blipFill>
                    <p:spPr>
                      <a:xfrm>
                        <a:off x="4479925" y="3436106"/>
                        <a:ext cx="304800" cy="571500"/>
                      </a:xfrm>
                      <a:prstGeom prst="rect">
                        <a:avLst/>
                      </a:prstGeom>
                      <a:solidFill>
                        <a:schemeClr val="bg1"/>
                      </a:solidFill>
                    </p:spPr>
                  </p:pic>
                </p:oleObj>
              </mc:Fallback>
            </mc:AlternateContent>
          </a:graphicData>
        </a:graphic>
      </p:graphicFrame>
      <p:graphicFrame>
        <p:nvGraphicFramePr>
          <p:cNvPr id="22" name="Object 21">
            <a:extLst>
              <a:ext uri="{FF2B5EF4-FFF2-40B4-BE49-F238E27FC236}">
                <a16:creationId xmlns:a16="http://schemas.microsoft.com/office/drawing/2014/main" id="{16F5E8A8-0E7B-4B99-9AAD-A5C7B9C86148}"/>
              </a:ext>
            </a:extLst>
          </p:cNvPr>
          <p:cNvGraphicFramePr>
            <a:graphicFrameLocks noChangeAspect="1"/>
          </p:cNvGraphicFramePr>
          <p:nvPr>
            <p:extLst>
              <p:ext uri="{D42A27DB-BD31-4B8C-83A1-F6EECF244321}">
                <p14:modId xmlns:p14="http://schemas.microsoft.com/office/powerpoint/2010/main" val="4264531491"/>
              </p:ext>
            </p:extLst>
          </p:nvPr>
        </p:nvGraphicFramePr>
        <p:xfrm>
          <a:off x="3603625" y="4178300"/>
          <a:ext cx="165100" cy="215900"/>
        </p:xfrm>
        <a:graphic>
          <a:graphicData uri="http://schemas.openxmlformats.org/presentationml/2006/ole">
            <mc:AlternateContent xmlns:mc="http://schemas.openxmlformats.org/markup-compatibility/2006">
              <mc:Choice xmlns:v="urn:schemas-microsoft-com:vml" Requires="v">
                <p:oleObj spid="_x0000_s8325" name="Equation" r:id="rId17" imgW="164880" imgH="215640" progId="Equation.DSMT4">
                  <p:embed/>
                </p:oleObj>
              </mc:Choice>
              <mc:Fallback>
                <p:oleObj name="Equation" r:id="rId17" imgW="164880" imgH="215640" progId="Equation.DSMT4">
                  <p:embed/>
                  <p:pic>
                    <p:nvPicPr>
                      <p:cNvPr id="0" name=""/>
                      <p:cNvPicPr/>
                      <p:nvPr/>
                    </p:nvPicPr>
                    <p:blipFill>
                      <a:blip r:embed="rId18"/>
                      <a:stretch>
                        <a:fillRect/>
                      </a:stretch>
                    </p:blipFill>
                    <p:spPr>
                      <a:xfrm>
                        <a:off x="3603625" y="4178300"/>
                        <a:ext cx="165100" cy="2159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6ED38FE5-3392-42AA-BAD6-AAE5B88C7C53}"/>
              </a:ext>
            </a:extLst>
          </p:cNvPr>
          <p:cNvGraphicFramePr>
            <a:graphicFrameLocks noChangeAspect="1"/>
          </p:cNvGraphicFramePr>
          <p:nvPr>
            <p:extLst>
              <p:ext uri="{D42A27DB-BD31-4B8C-83A1-F6EECF244321}">
                <p14:modId xmlns:p14="http://schemas.microsoft.com/office/powerpoint/2010/main" val="1479048657"/>
              </p:ext>
            </p:extLst>
          </p:nvPr>
        </p:nvGraphicFramePr>
        <p:xfrm>
          <a:off x="3915743" y="4210144"/>
          <a:ext cx="245715" cy="207775"/>
        </p:xfrm>
        <a:graphic>
          <a:graphicData uri="http://schemas.openxmlformats.org/presentationml/2006/ole">
            <mc:AlternateContent xmlns:mc="http://schemas.openxmlformats.org/markup-compatibility/2006">
              <mc:Choice xmlns:v="urn:schemas-microsoft-com:vml" Requires="v">
                <p:oleObj spid="_x0000_s8326" name="Equation" r:id="rId19" imgW="215180" imgH="183142" progId="Equation.DSMT4">
                  <p:embed/>
                </p:oleObj>
              </mc:Choice>
              <mc:Fallback>
                <p:oleObj name="Equation" r:id="rId19" imgW="215180" imgH="183142" progId="Equation.DSMT4">
                  <p:embed/>
                  <p:pic>
                    <p:nvPicPr>
                      <p:cNvPr id="0" name=""/>
                      <p:cNvPicPr/>
                      <p:nvPr/>
                    </p:nvPicPr>
                    <p:blipFill>
                      <a:blip r:embed="rId20"/>
                      <a:stretch>
                        <a:fillRect/>
                      </a:stretch>
                    </p:blipFill>
                    <p:spPr>
                      <a:xfrm>
                        <a:off x="3915743" y="4210144"/>
                        <a:ext cx="245715" cy="207775"/>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3452CDD1-FF2C-4289-A0B1-A8321C59B4C1}"/>
              </a:ext>
            </a:extLst>
          </p:cNvPr>
          <p:cNvGraphicFramePr>
            <a:graphicFrameLocks noChangeAspect="1"/>
          </p:cNvGraphicFramePr>
          <p:nvPr>
            <p:extLst>
              <p:ext uri="{D42A27DB-BD31-4B8C-83A1-F6EECF244321}">
                <p14:modId xmlns:p14="http://schemas.microsoft.com/office/powerpoint/2010/main" val="2759673779"/>
              </p:ext>
            </p:extLst>
          </p:nvPr>
        </p:nvGraphicFramePr>
        <p:xfrm>
          <a:off x="4525963" y="4124325"/>
          <a:ext cx="241300" cy="228600"/>
        </p:xfrm>
        <a:graphic>
          <a:graphicData uri="http://schemas.openxmlformats.org/presentationml/2006/ole">
            <mc:AlternateContent xmlns:mc="http://schemas.openxmlformats.org/markup-compatibility/2006">
              <mc:Choice xmlns:v="urn:schemas-microsoft-com:vml" Requires="v">
                <p:oleObj spid="_x0000_s8327" name="Equation" r:id="rId21" imgW="241200" imgH="228600" progId="Equation.DSMT4">
                  <p:embed/>
                </p:oleObj>
              </mc:Choice>
              <mc:Fallback>
                <p:oleObj name="Equation" r:id="rId21" imgW="241200" imgH="228600" progId="Equation.DSMT4">
                  <p:embed/>
                  <p:pic>
                    <p:nvPicPr>
                      <p:cNvPr id="0" name=""/>
                      <p:cNvPicPr/>
                      <p:nvPr/>
                    </p:nvPicPr>
                    <p:blipFill>
                      <a:blip r:embed="rId22"/>
                      <a:stretch>
                        <a:fillRect/>
                      </a:stretch>
                    </p:blipFill>
                    <p:spPr>
                      <a:xfrm>
                        <a:off x="4525963" y="4124325"/>
                        <a:ext cx="241300" cy="228600"/>
                      </a:xfrm>
                      <a:prstGeom prst="rect">
                        <a:avLst/>
                      </a:prstGeom>
                    </p:spPr>
                  </p:pic>
                </p:oleObj>
              </mc:Fallback>
            </mc:AlternateContent>
          </a:graphicData>
        </a:graphic>
      </p:graphicFrame>
      <p:sp>
        <p:nvSpPr>
          <p:cNvPr id="8" name="Content Placeholder 7"/>
          <p:cNvSpPr>
            <a:spLocks noGrp="1"/>
          </p:cNvSpPr>
          <p:nvPr>
            <p:ph sz="quarter" idx="15"/>
          </p:nvPr>
        </p:nvSpPr>
        <p:spPr>
          <a:xfrm>
            <a:off x="356750" y="4506013"/>
            <a:ext cx="1283514" cy="461913"/>
          </a:xfrm>
        </p:spPr>
        <p:txBody>
          <a:bodyPr/>
          <a:lstStyle/>
          <a:p>
            <a:r>
              <a:rPr lang="en-IN" b="1" i="1" dirty="0"/>
              <a:t>Check:</a:t>
            </a:r>
          </a:p>
        </p:txBody>
      </p:sp>
      <p:graphicFrame>
        <p:nvGraphicFramePr>
          <p:cNvPr id="14" name="Object 13"/>
          <p:cNvGraphicFramePr>
            <a:graphicFrameLocks noChangeAspect="1"/>
          </p:cNvGraphicFramePr>
          <p:nvPr>
            <p:extLst>
              <p:ext uri="{D42A27DB-BD31-4B8C-83A1-F6EECF244321}">
                <p14:modId xmlns:p14="http://schemas.microsoft.com/office/powerpoint/2010/main" val="1571645700"/>
              </p:ext>
            </p:extLst>
          </p:nvPr>
        </p:nvGraphicFramePr>
        <p:xfrm>
          <a:off x="3249613" y="4945063"/>
          <a:ext cx="977900" cy="279400"/>
        </p:xfrm>
        <a:graphic>
          <a:graphicData uri="http://schemas.openxmlformats.org/presentationml/2006/ole">
            <mc:AlternateContent xmlns:mc="http://schemas.openxmlformats.org/markup-compatibility/2006">
              <mc:Choice xmlns:v="urn:schemas-microsoft-com:vml" Requires="v">
                <p:oleObj spid="_x0000_s8328" name="Equation" r:id="rId23" imgW="977760" imgH="279360" progId="Equation.DSMT4">
                  <p:embed/>
                </p:oleObj>
              </mc:Choice>
              <mc:Fallback>
                <p:oleObj name="Equation" r:id="rId23" imgW="977760" imgH="279360" progId="Equation.DSMT4">
                  <p:embed/>
                  <p:pic>
                    <p:nvPicPr>
                      <p:cNvPr id="14" name="Object 13"/>
                      <p:cNvPicPr/>
                      <p:nvPr/>
                    </p:nvPicPr>
                    <p:blipFill>
                      <a:blip r:embed="rId24"/>
                      <a:stretch>
                        <a:fillRect/>
                      </a:stretch>
                    </p:blipFill>
                    <p:spPr>
                      <a:xfrm>
                        <a:off x="3249613" y="4945063"/>
                        <a:ext cx="977900" cy="279400"/>
                      </a:xfrm>
                      <a:prstGeom prst="rect">
                        <a:avLst/>
                      </a:prstGeom>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1354341500"/>
              </p:ext>
            </p:extLst>
          </p:nvPr>
        </p:nvGraphicFramePr>
        <p:xfrm>
          <a:off x="2949248" y="5340976"/>
          <a:ext cx="1257300" cy="342900"/>
        </p:xfrm>
        <a:graphic>
          <a:graphicData uri="http://schemas.openxmlformats.org/presentationml/2006/ole">
            <mc:AlternateContent xmlns:mc="http://schemas.openxmlformats.org/markup-compatibility/2006">
              <mc:Choice xmlns:v="urn:schemas-microsoft-com:vml" Requires="v">
                <p:oleObj spid="_x0000_s8329" name="Equation" r:id="rId25" imgW="1257120" imgH="342720" progId="Equation.DSMT4">
                  <p:embed/>
                </p:oleObj>
              </mc:Choice>
              <mc:Fallback>
                <p:oleObj name="Equation" r:id="rId25" imgW="1257120" imgH="342720" progId="Equation.DSMT4">
                  <p:embed/>
                  <p:pic>
                    <p:nvPicPr>
                      <p:cNvPr id="15" name="Object 14"/>
                      <p:cNvPicPr/>
                      <p:nvPr/>
                    </p:nvPicPr>
                    <p:blipFill>
                      <a:blip r:embed="rId26"/>
                      <a:stretch>
                        <a:fillRect/>
                      </a:stretch>
                    </p:blipFill>
                    <p:spPr>
                      <a:xfrm>
                        <a:off x="2949248" y="5340976"/>
                        <a:ext cx="1257300" cy="342900"/>
                      </a:xfrm>
                      <a:prstGeom prst="rect">
                        <a:avLst/>
                      </a:prstGeom>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351706445"/>
              </p:ext>
            </p:extLst>
          </p:nvPr>
        </p:nvGraphicFramePr>
        <p:xfrm>
          <a:off x="3334204" y="5809671"/>
          <a:ext cx="927100" cy="279400"/>
        </p:xfrm>
        <a:graphic>
          <a:graphicData uri="http://schemas.openxmlformats.org/presentationml/2006/ole">
            <mc:AlternateContent xmlns:mc="http://schemas.openxmlformats.org/markup-compatibility/2006">
              <mc:Choice xmlns:v="urn:schemas-microsoft-com:vml" Requires="v">
                <p:oleObj spid="_x0000_s8330" name="Equation" r:id="rId27" imgW="927000" imgH="279360" progId="Equation.DSMT4">
                  <p:embed/>
                </p:oleObj>
              </mc:Choice>
              <mc:Fallback>
                <p:oleObj name="Equation" r:id="rId27" imgW="927000" imgH="279360" progId="Equation.DSMT4">
                  <p:embed/>
                  <p:pic>
                    <p:nvPicPr>
                      <p:cNvPr id="16" name="Object 15"/>
                      <p:cNvPicPr/>
                      <p:nvPr/>
                    </p:nvPicPr>
                    <p:blipFill>
                      <a:blip r:embed="rId28"/>
                      <a:stretch>
                        <a:fillRect/>
                      </a:stretch>
                    </p:blipFill>
                    <p:spPr>
                      <a:xfrm>
                        <a:off x="3334204" y="5809671"/>
                        <a:ext cx="927100" cy="279400"/>
                      </a:xfrm>
                      <a:prstGeom prst="rect">
                        <a:avLst/>
                      </a:prstGeom>
                    </p:spPr>
                  </p:pic>
                </p:oleObj>
              </mc:Fallback>
            </mc:AlternateContent>
          </a:graphicData>
        </a:graphic>
      </p:graphicFrame>
      <p:sp>
        <p:nvSpPr>
          <p:cNvPr id="7" name="Slide Number Placeholder 6"/>
          <p:cNvSpPr>
            <a:spLocks noGrp="1"/>
          </p:cNvSpPr>
          <p:nvPr>
            <p:ph type="sldNum" sz="quarter" idx="10"/>
          </p:nvPr>
        </p:nvSpPr>
        <p:spPr/>
        <p:txBody>
          <a:bodyPr/>
          <a:lstStyle/>
          <a:p>
            <a:fld id="{68151E55-6873-49E2-B8D5-2F265E6F1973}" type="slidenum">
              <a:rPr lang="en-US" smtClean="0"/>
              <a:t>24</a:t>
            </a:fld>
            <a:endParaRPr lang="en-US"/>
          </a:p>
        </p:txBody>
      </p:sp>
    </p:spTree>
    <p:extLst>
      <p:ext uri="{BB962C8B-B14F-4D97-AF65-F5344CB8AC3E}">
        <p14:creationId xmlns:p14="http://schemas.microsoft.com/office/powerpoint/2010/main" val="2044510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4-9</a:t>
            </a:r>
          </a:p>
        </p:txBody>
      </p:sp>
      <p:sp>
        <p:nvSpPr>
          <p:cNvPr id="3" name="Content Placeholder 2"/>
          <p:cNvSpPr>
            <a:spLocks noGrp="1"/>
          </p:cNvSpPr>
          <p:nvPr>
            <p:ph sz="quarter" idx="11"/>
          </p:nvPr>
        </p:nvSpPr>
        <p:spPr>
          <a:xfrm>
            <a:off x="342900" y="1276710"/>
            <a:ext cx="8458200" cy="957444"/>
          </a:xfrm>
        </p:spPr>
        <p:txBody>
          <a:bodyPr/>
          <a:lstStyle/>
          <a:p>
            <a:r>
              <a:rPr lang="en-US" b="1" i="1" dirty="0"/>
              <a:t>Problem Statement:</a:t>
            </a:r>
          </a:p>
          <a:p>
            <a:r>
              <a:rPr lang="en-US" dirty="0"/>
              <a:t>Solve for the unknown from the following equation: </a:t>
            </a:r>
            <a:r>
              <a:rPr lang="en-US" i="1" dirty="0"/>
              <a:t>L</a:t>
            </a:r>
            <a:r>
              <a:rPr lang="en-US" sz="100" i="1" dirty="0"/>
              <a:t> </a:t>
            </a:r>
            <a:r>
              <a:rPr lang="en-US" i="1" dirty="0"/>
              <a:t>U 4-1(2)</a:t>
            </a:r>
          </a:p>
        </p:txBody>
      </p:sp>
      <p:graphicFrame>
        <p:nvGraphicFramePr>
          <p:cNvPr id="10" name="Object 9"/>
          <p:cNvGraphicFramePr>
            <a:graphicFrameLocks noChangeAspect="1"/>
          </p:cNvGraphicFramePr>
          <p:nvPr>
            <p:extLst>
              <p:ext uri="{D42A27DB-BD31-4B8C-83A1-F6EECF244321}">
                <p14:modId xmlns:p14="http://schemas.microsoft.com/office/powerpoint/2010/main" val="2127808150"/>
              </p:ext>
            </p:extLst>
          </p:nvPr>
        </p:nvGraphicFramePr>
        <p:xfrm>
          <a:off x="3305175" y="2338388"/>
          <a:ext cx="1676400" cy="431800"/>
        </p:xfrm>
        <a:graphic>
          <a:graphicData uri="http://schemas.openxmlformats.org/presentationml/2006/ole">
            <mc:AlternateContent xmlns:mc="http://schemas.openxmlformats.org/markup-compatibility/2006">
              <mc:Choice xmlns:v="urn:schemas-microsoft-com:vml" Requires="v">
                <p:oleObj spid="_x0000_s9298" name="Equation" r:id="rId3" imgW="1676160" imgH="431640" progId="Equation.DSMT4">
                  <p:embed/>
                </p:oleObj>
              </mc:Choice>
              <mc:Fallback>
                <p:oleObj name="Equation" r:id="rId3" imgW="1676160" imgH="431640" progId="Equation.DSMT4">
                  <p:embed/>
                  <p:pic>
                    <p:nvPicPr>
                      <p:cNvPr id="10" name="Object 9"/>
                      <p:cNvPicPr/>
                      <p:nvPr/>
                    </p:nvPicPr>
                    <p:blipFill>
                      <a:blip r:embed="rId4"/>
                      <a:stretch>
                        <a:fillRect/>
                      </a:stretch>
                    </p:blipFill>
                    <p:spPr>
                      <a:xfrm>
                        <a:off x="3305175" y="2338388"/>
                        <a:ext cx="1676400" cy="431800"/>
                      </a:xfrm>
                      <a:prstGeom prst="rect">
                        <a:avLst/>
                      </a:prstGeom>
                    </p:spPr>
                  </p:pic>
                </p:oleObj>
              </mc:Fallback>
            </mc:AlternateContent>
          </a:graphicData>
        </a:graphic>
      </p:graphicFrame>
      <p:sp>
        <p:nvSpPr>
          <p:cNvPr id="4" name="Content Placeholder 3"/>
          <p:cNvSpPr>
            <a:spLocks noGrp="1"/>
          </p:cNvSpPr>
          <p:nvPr>
            <p:ph sz="quarter" idx="14"/>
          </p:nvPr>
        </p:nvSpPr>
        <p:spPr>
          <a:xfrm>
            <a:off x="342900" y="2846895"/>
            <a:ext cx="1740424" cy="461914"/>
          </a:xfrm>
        </p:spPr>
        <p:txBody>
          <a:bodyPr/>
          <a:lstStyle/>
          <a:p>
            <a:r>
              <a:rPr lang="en-IN" b="1" i="1" dirty="0"/>
              <a:t>Solution:</a:t>
            </a:r>
          </a:p>
        </p:txBody>
      </p:sp>
      <p:pic>
        <p:nvPicPr>
          <p:cNvPr id="5" name="Picture 4" descr="4 P minus 36 equals 64. Adding 36 on both sides of the equation gives 4 P equals 100. Dividing both sides of the equation 4 gives P equals 25."/>
          <p:cNvPicPr>
            <a:picLocks noChangeAspect="1"/>
          </p:cNvPicPr>
          <p:nvPr/>
        </p:nvPicPr>
        <p:blipFill>
          <a:blip r:embed="rId5"/>
          <a:stretch>
            <a:fillRect/>
          </a:stretch>
        </p:blipFill>
        <p:spPr>
          <a:xfrm>
            <a:off x="2456669" y="2846895"/>
            <a:ext cx="1985150" cy="1708035"/>
          </a:xfrm>
          <a:prstGeom prst="rect">
            <a:avLst/>
          </a:prstGeom>
        </p:spPr>
      </p:pic>
      <p:sp>
        <p:nvSpPr>
          <p:cNvPr id="8" name="Content Placeholder 7"/>
          <p:cNvSpPr>
            <a:spLocks noGrp="1"/>
          </p:cNvSpPr>
          <p:nvPr>
            <p:ph sz="quarter" idx="15"/>
          </p:nvPr>
        </p:nvSpPr>
        <p:spPr>
          <a:xfrm>
            <a:off x="356750" y="4326904"/>
            <a:ext cx="1283514" cy="461913"/>
          </a:xfrm>
        </p:spPr>
        <p:txBody>
          <a:bodyPr/>
          <a:lstStyle/>
          <a:p>
            <a:r>
              <a:rPr lang="en-IN" b="1" i="1" dirty="0"/>
              <a:t>Check:</a:t>
            </a:r>
          </a:p>
        </p:txBody>
      </p:sp>
      <p:graphicFrame>
        <p:nvGraphicFramePr>
          <p:cNvPr id="14" name="Object 13"/>
          <p:cNvGraphicFramePr>
            <a:graphicFrameLocks noChangeAspect="1"/>
          </p:cNvGraphicFramePr>
          <p:nvPr>
            <p:extLst>
              <p:ext uri="{D42A27DB-BD31-4B8C-83A1-F6EECF244321}">
                <p14:modId xmlns:p14="http://schemas.microsoft.com/office/powerpoint/2010/main" val="4025618306"/>
              </p:ext>
            </p:extLst>
          </p:nvPr>
        </p:nvGraphicFramePr>
        <p:xfrm>
          <a:off x="2408238" y="4618038"/>
          <a:ext cx="1676400" cy="431800"/>
        </p:xfrm>
        <a:graphic>
          <a:graphicData uri="http://schemas.openxmlformats.org/presentationml/2006/ole">
            <mc:AlternateContent xmlns:mc="http://schemas.openxmlformats.org/markup-compatibility/2006">
              <mc:Choice xmlns:v="urn:schemas-microsoft-com:vml" Requires="v">
                <p:oleObj spid="_x0000_s9299" name="Equation" r:id="rId6" imgW="1676160" imgH="431640" progId="Equation.DSMT4">
                  <p:embed/>
                </p:oleObj>
              </mc:Choice>
              <mc:Fallback>
                <p:oleObj name="Equation" r:id="rId6" imgW="1676160" imgH="431640" progId="Equation.DSMT4">
                  <p:embed/>
                  <p:pic>
                    <p:nvPicPr>
                      <p:cNvPr id="14" name="Object 13"/>
                      <p:cNvPicPr/>
                      <p:nvPr/>
                    </p:nvPicPr>
                    <p:blipFill>
                      <a:blip r:embed="rId7"/>
                      <a:stretch>
                        <a:fillRect/>
                      </a:stretch>
                    </p:blipFill>
                    <p:spPr>
                      <a:xfrm>
                        <a:off x="2408238" y="4618038"/>
                        <a:ext cx="1676400" cy="431800"/>
                      </a:xfrm>
                      <a:prstGeom prst="rect">
                        <a:avLst/>
                      </a:prstGeom>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3337515409"/>
              </p:ext>
            </p:extLst>
          </p:nvPr>
        </p:nvGraphicFramePr>
        <p:xfrm>
          <a:off x="2426093" y="5154072"/>
          <a:ext cx="1778000" cy="431800"/>
        </p:xfrm>
        <a:graphic>
          <a:graphicData uri="http://schemas.openxmlformats.org/presentationml/2006/ole">
            <mc:AlternateContent xmlns:mc="http://schemas.openxmlformats.org/markup-compatibility/2006">
              <mc:Choice xmlns:v="urn:schemas-microsoft-com:vml" Requires="v">
                <p:oleObj spid="_x0000_s9300" name="Equation" r:id="rId8" imgW="1777680" imgH="431640" progId="Equation.DSMT4">
                  <p:embed/>
                </p:oleObj>
              </mc:Choice>
              <mc:Fallback>
                <p:oleObj name="Equation" r:id="rId8" imgW="1777680" imgH="431640" progId="Equation.DSMT4">
                  <p:embed/>
                  <p:pic>
                    <p:nvPicPr>
                      <p:cNvPr id="15" name="Object 14"/>
                      <p:cNvPicPr/>
                      <p:nvPr/>
                    </p:nvPicPr>
                    <p:blipFill>
                      <a:blip r:embed="rId9"/>
                      <a:stretch>
                        <a:fillRect/>
                      </a:stretch>
                    </p:blipFill>
                    <p:spPr>
                      <a:xfrm>
                        <a:off x="2426093" y="5154072"/>
                        <a:ext cx="1778000" cy="431800"/>
                      </a:xfrm>
                      <a:prstGeom prst="rect">
                        <a:avLst/>
                      </a:prstGeom>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405317701"/>
              </p:ext>
            </p:extLst>
          </p:nvPr>
        </p:nvGraphicFramePr>
        <p:xfrm>
          <a:off x="2185939" y="5690106"/>
          <a:ext cx="1333500" cy="431800"/>
        </p:xfrm>
        <a:graphic>
          <a:graphicData uri="http://schemas.openxmlformats.org/presentationml/2006/ole">
            <mc:AlternateContent xmlns:mc="http://schemas.openxmlformats.org/markup-compatibility/2006">
              <mc:Choice xmlns:v="urn:schemas-microsoft-com:vml" Requires="v">
                <p:oleObj spid="_x0000_s9301" name="Equation" r:id="rId10" imgW="1333440" imgH="431640" progId="Equation.DSMT4">
                  <p:embed/>
                </p:oleObj>
              </mc:Choice>
              <mc:Fallback>
                <p:oleObj name="Equation" r:id="rId10" imgW="1333440" imgH="431640" progId="Equation.DSMT4">
                  <p:embed/>
                  <p:pic>
                    <p:nvPicPr>
                      <p:cNvPr id="16" name="Object 15"/>
                      <p:cNvPicPr/>
                      <p:nvPr/>
                    </p:nvPicPr>
                    <p:blipFill>
                      <a:blip r:embed="rId11"/>
                      <a:stretch>
                        <a:fillRect/>
                      </a:stretch>
                    </p:blipFill>
                    <p:spPr>
                      <a:xfrm>
                        <a:off x="2185939" y="5690106"/>
                        <a:ext cx="1333500" cy="4318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3881397012"/>
              </p:ext>
            </p:extLst>
          </p:nvPr>
        </p:nvGraphicFramePr>
        <p:xfrm>
          <a:off x="2509444" y="6226140"/>
          <a:ext cx="939800" cy="279400"/>
        </p:xfrm>
        <a:graphic>
          <a:graphicData uri="http://schemas.openxmlformats.org/presentationml/2006/ole">
            <mc:AlternateContent xmlns:mc="http://schemas.openxmlformats.org/markup-compatibility/2006">
              <mc:Choice xmlns:v="urn:schemas-microsoft-com:vml" Requires="v">
                <p:oleObj spid="_x0000_s9302" name="Equation" r:id="rId12" imgW="939600" imgH="279360" progId="Equation.DSMT4">
                  <p:embed/>
                </p:oleObj>
              </mc:Choice>
              <mc:Fallback>
                <p:oleObj name="Equation" r:id="rId12" imgW="939600" imgH="279360" progId="Equation.DSMT4">
                  <p:embed/>
                  <p:pic>
                    <p:nvPicPr>
                      <p:cNvPr id="0" name=""/>
                      <p:cNvPicPr/>
                      <p:nvPr/>
                    </p:nvPicPr>
                    <p:blipFill>
                      <a:blip r:embed="rId13"/>
                      <a:stretch>
                        <a:fillRect/>
                      </a:stretch>
                    </p:blipFill>
                    <p:spPr>
                      <a:xfrm>
                        <a:off x="2509444" y="6226140"/>
                        <a:ext cx="939800" cy="279400"/>
                      </a:xfrm>
                      <a:prstGeom prst="rect">
                        <a:avLst/>
                      </a:prstGeom>
                    </p:spPr>
                  </p:pic>
                </p:oleObj>
              </mc:Fallback>
            </mc:AlternateContent>
          </a:graphicData>
        </a:graphic>
      </p:graphicFrame>
      <p:sp>
        <p:nvSpPr>
          <p:cNvPr id="7" name="Slide Number Placeholder 6"/>
          <p:cNvSpPr>
            <a:spLocks noGrp="1"/>
          </p:cNvSpPr>
          <p:nvPr>
            <p:ph type="sldNum" sz="quarter" idx="10"/>
          </p:nvPr>
        </p:nvSpPr>
        <p:spPr/>
        <p:txBody>
          <a:bodyPr/>
          <a:lstStyle/>
          <a:p>
            <a:fld id="{68151E55-6873-49E2-B8D5-2F265E6F1973}" type="slidenum">
              <a:rPr lang="en-US" smtClean="0"/>
              <a:t>25</a:t>
            </a:fld>
            <a:endParaRPr lang="en-US"/>
          </a:p>
        </p:txBody>
      </p:sp>
    </p:spTree>
    <p:extLst>
      <p:ext uri="{BB962C8B-B14F-4D97-AF65-F5344CB8AC3E}">
        <p14:creationId xmlns:p14="http://schemas.microsoft.com/office/powerpoint/2010/main" val="1157773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4-15</a:t>
            </a:r>
          </a:p>
        </p:txBody>
      </p:sp>
      <p:sp>
        <p:nvSpPr>
          <p:cNvPr id="3" name="Content Placeholder 2"/>
          <p:cNvSpPr>
            <a:spLocks noGrp="1"/>
          </p:cNvSpPr>
          <p:nvPr>
            <p:ph sz="quarter" idx="11"/>
          </p:nvPr>
        </p:nvSpPr>
        <p:spPr>
          <a:xfrm>
            <a:off x="342900" y="1276709"/>
            <a:ext cx="8458200" cy="2786243"/>
          </a:xfrm>
        </p:spPr>
        <p:txBody>
          <a:bodyPr/>
          <a:lstStyle/>
          <a:p>
            <a:r>
              <a:rPr lang="en-US" b="1" i="1" dirty="0"/>
              <a:t>Problem Statement:</a:t>
            </a:r>
          </a:p>
          <a:p>
            <a:r>
              <a:rPr lang="en-US" dirty="0"/>
              <a:t>Jessica and Josh are selling Entertainment Books to raise money for the art room at their school. One book sells for $15. Jessica received the prize for selling the most books in the school. Jessica sold 15 times more books than Josh. Together they sold 256 books. How many did each one of them sell?: </a:t>
            </a:r>
            <a:r>
              <a:rPr lang="en-US" i="1" dirty="0"/>
              <a:t>L</a:t>
            </a:r>
            <a:r>
              <a:rPr lang="en-US" sz="100" i="1" dirty="0"/>
              <a:t> </a:t>
            </a:r>
            <a:r>
              <a:rPr lang="en-US" i="1" dirty="0"/>
              <a:t>U 4-2(1)</a:t>
            </a:r>
          </a:p>
        </p:txBody>
      </p:sp>
      <p:sp>
        <p:nvSpPr>
          <p:cNvPr id="4" name="Content Placeholder 3"/>
          <p:cNvSpPr>
            <a:spLocks noGrp="1"/>
          </p:cNvSpPr>
          <p:nvPr>
            <p:ph sz="quarter" idx="14"/>
          </p:nvPr>
        </p:nvSpPr>
        <p:spPr>
          <a:xfrm>
            <a:off x="342900" y="4157222"/>
            <a:ext cx="1740424" cy="461914"/>
          </a:xfrm>
        </p:spPr>
        <p:txBody>
          <a:bodyPr/>
          <a:lstStyle/>
          <a:p>
            <a:r>
              <a:rPr lang="en-IN" b="1" i="1" dirty="0"/>
              <a:t>Solution:</a:t>
            </a:r>
          </a:p>
        </p:txBody>
      </p:sp>
      <p:graphicFrame>
        <p:nvGraphicFramePr>
          <p:cNvPr id="5" name="Table 4"/>
          <p:cNvGraphicFramePr>
            <a:graphicFrameLocks noGrp="1"/>
          </p:cNvGraphicFramePr>
          <p:nvPr>
            <p:extLst>
              <p:ext uri="{D42A27DB-BD31-4B8C-83A1-F6EECF244321}">
                <p14:modId xmlns:p14="http://schemas.microsoft.com/office/powerpoint/2010/main" val="2917746387"/>
              </p:ext>
            </p:extLst>
          </p:nvPr>
        </p:nvGraphicFramePr>
        <p:xfrm>
          <a:off x="419100" y="4735284"/>
          <a:ext cx="4878615" cy="1476830"/>
        </p:xfrm>
        <a:graphic>
          <a:graphicData uri="http://schemas.openxmlformats.org/drawingml/2006/table">
            <a:tbl>
              <a:tblPr firstRow="1" bandRow="1">
                <a:tableStyleId>{2D5ABB26-0587-4C30-8999-92F81FD0307C}</a:tableStyleId>
              </a:tblPr>
              <a:tblGrid>
                <a:gridCol w="1626205">
                  <a:extLst>
                    <a:ext uri="{9D8B030D-6E8A-4147-A177-3AD203B41FA5}">
                      <a16:colId xmlns:a16="http://schemas.microsoft.com/office/drawing/2014/main" val="3688155806"/>
                    </a:ext>
                  </a:extLst>
                </a:gridCol>
                <a:gridCol w="1626205">
                  <a:extLst>
                    <a:ext uri="{9D8B030D-6E8A-4147-A177-3AD203B41FA5}">
                      <a16:colId xmlns:a16="http://schemas.microsoft.com/office/drawing/2014/main" val="1007676739"/>
                    </a:ext>
                  </a:extLst>
                </a:gridCol>
                <a:gridCol w="1626205">
                  <a:extLst>
                    <a:ext uri="{9D8B030D-6E8A-4147-A177-3AD203B41FA5}">
                      <a16:colId xmlns:a16="http://schemas.microsoft.com/office/drawing/2014/main" val="3671786353"/>
                    </a:ext>
                  </a:extLst>
                </a:gridCol>
              </a:tblGrid>
              <a:tr h="417287">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5480671"/>
                  </a:ext>
                </a:extLst>
              </a:tr>
              <a:tr h="1059543">
                <a:tc>
                  <a:txBody>
                    <a:bodyPr/>
                    <a:lstStyle/>
                    <a:p>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p>
                      <a:pPr marL="231775" indent="0"/>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3020493"/>
                  </a:ext>
                </a:extLst>
              </a:tr>
            </a:tbl>
          </a:graphicData>
        </a:graphic>
      </p:graphicFrame>
      <p:graphicFrame>
        <p:nvGraphicFramePr>
          <p:cNvPr id="6" name="Object 5">
            <a:extLst>
              <a:ext uri="{FF2B5EF4-FFF2-40B4-BE49-F238E27FC236}">
                <a16:creationId xmlns:a16="http://schemas.microsoft.com/office/drawing/2014/main" id="{7A6A9C67-6146-4A6B-91E7-BEB15ED27BB9}"/>
              </a:ext>
            </a:extLst>
          </p:cNvPr>
          <p:cNvGraphicFramePr>
            <a:graphicFrameLocks noChangeAspect="1"/>
          </p:cNvGraphicFramePr>
          <p:nvPr>
            <p:extLst>
              <p:ext uri="{D42A27DB-BD31-4B8C-83A1-F6EECF244321}">
                <p14:modId xmlns:p14="http://schemas.microsoft.com/office/powerpoint/2010/main" val="2606190115"/>
              </p:ext>
            </p:extLst>
          </p:nvPr>
        </p:nvGraphicFramePr>
        <p:xfrm>
          <a:off x="487363" y="4799013"/>
          <a:ext cx="1368425" cy="307975"/>
        </p:xfrm>
        <a:graphic>
          <a:graphicData uri="http://schemas.openxmlformats.org/presentationml/2006/ole">
            <mc:AlternateContent xmlns:mc="http://schemas.openxmlformats.org/markup-compatibility/2006">
              <mc:Choice xmlns:v="urn:schemas-microsoft-com:vml" Requires="v">
                <p:oleObj spid="_x0000_s10330" name="Equation" r:id="rId3" imgW="901440" imgH="203040" progId="Equation.DSMT4">
                  <p:embed/>
                </p:oleObj>
              </mc:Choice>
              <mc:Fallback>
                <p:oleObj name="Equation" r:id="rId3" imgW="901440" imgH="203040" progId="Equation.DSMT4">
                  <p:embed/>
                  <p:pic>
                    <p:nvPicPr>
                      <p:cNvPr id="0" name=""/>
                      <p:cNvPicPr/>
                      <p:nvPr/>
                    </p:nvPicPr>
                    <p:blipFill>
                      <a:blip r:embed="rId4"/>
                      <a:stretch>
                        <a:fillRect/>
                      </a:stretch>
                    </p:blipFill>
                    <p:spPr>
                      <a:xfrm>
                        <a:off x="487363" y="4799013"/>
                        <a:ext cx="1368425" cy="307975"/>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1ECC3D9F-B8D0-467E-A3FB-28FC63AE847F}"/>
              </a:ext>
            </a:extLst>
          </p:cNvPr>
          <p:cNvGraphicFramePr>
            <a:graphicFrameLocks noChangeAspect="1"/>
          </p:cNvGraphicFramePr>
          <p:nvPr>
            <p:extLst>
              <p:ext uri="{D42A27DB-BD31-4B8C-83A1-F6EECF244321}">
                <p14:modId xmlns:p14="http://schemas.microsoft.com/office/powerpoint/2010/main" val="2684759103"/>
              </p:ext>
            </p:extLst>
          </p:nvPr>
        </p:nvGraphicFramePr>
        <p:xfrm>
          <a:off x="2251633" y="4771505"/>
          <a:ext cx="1151410" cy="359817"/>
        </p:xfrm>
        <a:graphic>
          <a:graphicData uri="http://schemas.openxmlformats.org/presentationml/2006/ole">
            <mc:AlternateContent xmlns:mc="http://schemas.openxmlformats.org/markup-compatibility/2006">
              <mc:Choice xmlns:v="urn:schemas-microsoft-com:vml" Requires="v">
                <p:oleObj spid="_x0000_s10331" name="Equation" r:id="rId5" imgW="812520" imgH="253800" progId="Equation.DSMT4">
                  <p:embed/>
                </p:oleObj>
              </mc:Choice>
              <mc:Fallback>
                <p:oleObj name="Equation" r:id="rId5" imgW="812520" imgH="253800" progId="Equation.DSMT4">
                  <p:embed/>
                  <p:pic>
                    <p:nvPicPr>
                      <p:cNvPr id="0" name=""/>
                      <p:cNvPicPr/>
                      <p:nvPr/>
                    </p:nvPicPr>
                    <p:blipFill>
                      <a:blip r:embed="rId6"/>
                      <a:stretch>
                        <a:fillRect/>
                      </a:stretch>
                    </p:blipFill>
                    <p:spPr>
                      <a:xfrm>
                        <a:off x="2251633" y="4771505"/>
                        <a:ext cx="1151410" cy="359817"/>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0401C05D-F08D-4DD4-8019-CF3394791745}"/>
              </a:ext>
            </a:extLst>
          </p:cNvPr>
          <p:cNvGraphicFramePr>
            <a:graphicFrameLocks noChangeAspect="1"/>
          </p:cNvGraphicFramePr>
          <p:nvPr>
            <p:extLst>
              <p:ext uri="{D42A27DB-BD31-4B8C-83A1-F6EECF244321}">
                <p14:modId xmlns:p14="http://schemas.microsoft.com/office/powerpoint/2010/main" val="2344545979"/>
              </p:ext>
            </p:extLst>
          </p:nvPr>
        </p:nvGraphicFramePr>
        <p:xfrm>
          <a:off x="3800989" y="4818756"/>
          <a:ext cx="1157849" cy="268489"/>
        </p:xfrm>
        <a:graphic>
          <a:graphicData uri="http://schemas.openxmlformats.org/presentationml/2006/ole">
            <mc:AlternateContent xmlns:mc="http://schemas.openxmlformats.org/markup-compatibility/2006">
              <mc:Choice xmlns:v="urn:schemas-microsoft-com:vml" Requires="v">
                <p:oleObj spid="_x0000_s10332" name="Equation" r:id="rId7" imgW="876240" imgH="203040" progId="Equation.DSMT4">
                  <p:embed/>
                </p:oleObj>
              </mc:Choice>
              <mc:Fallback>
                <p:oleObj name="Equation" r:id="rId7" imgW="876240" imgH="203040" progId="Equation.DSMT4">
                  <p:embed/>
                  <p:pic>
                    <p:nvPicPr>
                      <p:cNvPr id="0" name=""/>
                      <p:cNvPicPr/>
                      <p:nvPr/>
                    </p:nvPicPr>
                    <p:blipFill>
                      <a:blip r:embed="rId8"/>
                      <a:stretch>
                        <a:fillRect/>
                      </a:stretch>
                    </p:blipFill>
                    <p:spPr>
                      <a:xfrm>
                        <a:off x="3800989" y="4818756"/>
                        <a:ext cx="1157849" cy="268489"/>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0A4741E7-5B7F-4315-AD6D-0FE5DA1EBDE2}"/>
              </a:ext>
            </a:extLst>
          </p:cNvPr>
          <p:cNvGraphicFramePr>
            <a:graphicFrameLocks noChangeAspect="1"/>
          </p:cNvGraphicFramePr>
          <p:nvPr>
            <p:extLst>
              <p:ext uri="{D42A27DB-BD31-4B8C-83A1-F6EECF244321}">
                <p14:modId xmlns:p14="http://schemas.microsoft.com/office/powerpoint/2010/main" val="105929558"/>
              </p:ext>
            </p:extLst>
          </p:nvPr>
        </p:nvGraphicFramePr>
        <p:xfrm>
          <a:off x="497987" y="5200052"/>
          <a:ext cx="718526" cy="264723"/>
        </p:xfrm>
        <a:graphic>
          <a:graphicData uri="http://schemas.openxmlformats.org/presentationml/2006/ole">
            <mc:AlternateContent xmlns:mc="http://schemas.openxmlformats.org/markup-compatibility/2006">
              <mc:Choice xmlns:v="urn:schemas-microsoft-com:vml" Requires="v">
                <p:oleObj spid="_x0000_s10333" name="Equation" r:id="rId9" imgW="482400" imgH="177480" progId="Equation.DSMT4">
                  <p:embed/>
                </p:oleObj>
              </mc:Choice>
              <mc:Fallback>
                <p:oleObj name="Equation" r:id="rId9" imgW="482400" imgH="177480" progId="Equation.DSMT4">
                  <p:embed/>
                  <p:pic>
                    <p:nvPicPr>
                      <p:cNvPr id="0" name=""/>
                      <p:cNvPicPr/>
                      <p:nvPr/>
                    </p:nvPicPr>
                    <p:blipFill>
                      <a:blip r:embed="rId10"/>
                      <a:stretch>
                        <a:fillRect/>
                      </a:stretch>
                    </p:blipFill>
                    <p:spPr>
                      <a:xfrm>
                        <a:off x="497987" y="5200052"/>
                        <a:ext cx="718526" cy="264723"/>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0ADB49D8-9BBA-46DB-919D-4B92850830C1}"/>
              </a:ext>
            </a:extLst>
          </p:cNvPr>
          <p:cNvGraphicFramePr>
            <a:graphicFrameLocks noChangeAspect="1"/>
          </p:cNvGraphicFramePr>
          <p:nvPr>
            <p:extLst>
              <p:ext uri="{D42A27DB-BD31-4B8C-83A1-F6EECF244321}">
                <p14:modId xmlns:p14="http://schemas.microsoft.com/office/powerpoint/2010/main" val="3749066557"/>
              </p:ext>
            </p:extLst>
          </p:nvPr>
        </p:nvGraphicFramePr>
        <p:xfrm>
          <a:off x="2195805" y="5210008"/>
          <a:ext cx="370891" cy="225761"/>
        </p:xfrm>
        <a:graphic>
          <a:graphicData uri="http://schemas.openxmlformats.org/presentationml/2006/ole">
            <mc:AlternateContent xmlns:mc="http://schemas.openxmlformats.org/markup-compatibility/2006">
              <mc:Choice xmlns:v="urn:schemas-microsoft-com:vml" Requires="v">
                <p:oleObj spid="_x0000_s10334" name="Equation" r:id="rId11" imgW="291960" imgH="177480" progId="Equation.DSMT4">
                  <p:embed/>
                </p:oleObj>
              </mc:Choice>
              <mc:Fallback>
                <p:oleObj name="Equation" r:id="rId11" imgW="291960" imgH="177480" progId="Equation.DSMT4">
                  <p:embed/>
                  <p:pic>
                    <p:nvPicPr>
                      <p:cNvPr id="0" name=""/>
                      <p:cNvPicPr/>
                      <p:nvPr/>
                    </p:nvPicPr>
                    <p:blipFill>
                      <a:blip r:embed="rId12"/>
                      <a:stretch>
                        <a:fillRect/>
                      </a:stretch>
                    </p:blipFill>
                    <p:spPr>
                      <a:xfrm>
                        <a:off x="2195805" y="5210008"/>
                        <a:ext cx="370891" cy="225761"/>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4385317C-5CE8-4482-8DE6-0AE380B58FA8}"/>
              </a:ext>
            </a:extLst>
          </p:cNvPr>
          <p:cNvGraphicFramePr>
            <a:graphicFrameLocks noChangeAspect="1"/>
          </p:cNvGraphicFramePr>
          <p:nvPr>
            <p:extLst>
              <p:ext uri="{D42A27DB-BD31-4B8C-83A1-F6EECF244321}">
                <p14:modId xmlns:p14="http://schemas.microsoft.com/office/powerpoint/2010/main" val="1876415345"/>
              </p:ext>
            </p:extLst>
          </p:nvPr>
        </p:nvGraphicFramePr>
        <p:xfrm>
          <a:off x="3816350" y="5240338"/>
          <a:ext cx="366713" cy="223837"/>
        </p:xfrm>
        <a:graphic>
          <a:graphicData uri="http://schemas.openxmlformats.org/presentationml/2006/ole">
            <mc:AlternateContent xmlns:mc="http://schemas.openxmlformats.org/markup-compatibility/2006">
              <mc:Choice xmlns:v="urn:schemas-microsoft-com:vml" Requires="v">
                <p:oleObj spid="_x0000_s10335" name="Equation" r:id="rId13" imgW="291960" imgH="177480" progId="Equation.DSMT4">
                  <p:embed/>
                </p:oleObj>
              </mc:Choice>
              <mc:Fallback>
                <p:oleObj name="Equation" r:id="rId13" imgW="291960" imgH="177480" progId="Equation.DSMT4">
                  <p:embed/>
                  <p:pic>
                    <p:nvPicPr>
                      <p:cNvPr id="0" name=""/>
                      <p:cNvPicPr/>
                      <p:nvPr/>
                    </p:nvPicPr>
                    <p:blipFill>
                      <a:blip r:embed="rId14"/>
                      <a:stretch>
                        <a:fillRect/>
                      </a:stretch>
                    </p:blipFill>
                    <p:spPr>
                      <a:xfrm>
                        <a:off x="3816350" y="5240338"/>
                        <a:ext cx="366713" cy="223837"/>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69A33C99-40B8-466F-92BE-3DEC228B9548}"/>
              </a:ext>
            </a:extLst>
          </p:cNvPr>
          <p:cNvGraphicFramePr>
            <a:graphicFrameLocks noChangeAspect="1"/>
          </p:cNvGraphicFramePr>
          <p:nvPr>
            <p:extLst>
              <p:ext uri="{D42A27DB-BD31-4B8C-83A1-F6EECF244321}">
                <p14:modId xmlns:p14="http://schemas.microsoft.com/office/powerpoint/2010/main" val="687558524"/>
              </p:ext>
            </p:extLst>
          </p:nvPr>
        </p:nvGraphicFramePr>
        <p:xfrm>
          <a:off x="483731" y="5500806"/>
          <a:ext cx="477165" cy="256938"/>
        </p:xfrm>
        <a:graphic>
          <a:graphicData uri="http://schemas.openxmlformats.org/presentationml/2006/ole">
            <mc:AlternateContent xmlns:mc="http://schemas.openxmlformats.org/markup-compatibility/2006">
              <mc:Choice xmlns:v="urn:schemas-microsoft-com:vml" Requires="v">
                <p:oleObj spid="_x0000_s10336" name="Equation" r:id="rId15" imgW="330120" imgH="177480" progId="Equation.DSMT4">
                  <p:embed/>
                </p:oleObj>
              </mc:Choice>
              <mc:Fallback>
                <p:oleObj name="Equation" r:id="rId15" imgW="330120" imgH="177480" progId="Equation.DSMT4">
                  <p:embed/>
                  <p:pic>
                    <p:nvPicPr>
                      <p:cNvPr id="0" name=""/>
                      <p:cNvPicPr/>
                      <p:nvPr/>
                    </p:nvPicPr>
                    <p:blipFill>
                      <a:blip r:embed="rId16"/>
                      <a:stretch>
                        <a:fillRect/>
                      </a:stretch>
                    </p:blipFill>
                    <p:spPr>
                      <a:xfrm>
                        <a:off x="483731" y="5500806"/>
                        <a:ext cx="477165" cy="256938"/>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97F7FA24-3073-4CFB-94BB-9DE919A6D1BC}"/>
              </a:ext>
            </a:extLst>
          </p:cNvPr>
          <p:cNvGraphicFramePr>
            <a:graphicFrameLocks noChangeAspect="1"/>
          </p:cNvGraphicFramePr>
          <p:nvPr>
            <p:extLst>
              <p:ext uri="{D42A27DB-BD31-4B8C-83A1-F6EECF244321}">
                <p14:modId xmlns:p14="http://schemas.microsoft.com/office/powerpoint/2010/main" val="3560691927"/>
              </p:ext>
            </p:extLst>
          </p:nvPr>
        </p:nvGraphicFramePr>
        <p:xfrm>
          <a:off x="2357395" y="5483182"/>
          <a:ext cx="215987" cy="215987"/>
        </p:xfrm>
        <a:graphic>
          <a:graphicData uri="http://schemas.openxmlformats.org/presentationml/2006/ole">
            <mc:AlternateContent xmlns:mc="http://schemas.openxmlformats.org/markup-compatibility/2006">
              <mc:Choice xmlns:v="urn:schemas-microsoft-com:vml" Requires="v">
                <p:oleObj spid="_x0000_s10337" name="Equation" r:id="rId17" imgW="164880" imgH="164880" progId="Equation.DSMT4">
                  <p:embed/>
                </p:oleObj>
              </mc:Choice>
              <mc:Fallback>
                <p:oleObj name="Equation" r:id="rId17" imgW="164880" imgH="164880" progId="Equation.DSMT4">
                  <p:embed/>
                  <p:pic>
                    <p:nvPicPr>
                      <p:cNvPr id="0" name=""/>
                      <p:cNvPicPr/>
                      <p:nvPr/>
                    </p:nvPicPr>
                    <p:blipFill>
                      <a:blip r:embed="rId18"/>
                      <a:stretch>
                        <a:fillRect/>
                      </a:stretch>
                    </p:blipFill>
                    <p:spPr>
                      <a:xfrm>
                        <a:off x="2357395" y="5483182"/>
                        <a:ext cx="215987" cy="215987"/>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073536397"/>
              </p:ext>
            </p:extLst>
          </p:nvPr>
        </p:nvGraphicFramePr>
        <p:xfrm>
          <a:off x="3778251" y="5540378"/>
          <a:ext cx="1130300" cy="622300"/>
        </p:xfrm>
        <a:graphic>
          <a:graphicData uri="http://schemas.openxmlformats.org/presentationml/2006/ole">
            <mc:AlternateContent xmlns:mc="http://schemas.openxmlformats.org/markup-compatibility/2006">
              <mc:Choice xmlns:v="urn:schemas-microsoft-com:vml" Requires="v">
                <p:oleObj spid="_x0000_s10338" name="Equation" r:id="rId19" imgW="1130040" imgH="622080" progId="Equation.DSMT4">
                  <p:embed/>
                </p:oleObj>
              </mc:Choice>
              <mc:Fallback>
                <p:oleObj name="Equation" r:id="rId19" imgW="1130040" imgH="622080" progId="Equation.DSMT4">
                  <p:embed/>
                  <p:pic>
                    <p:nvPicPr>
                      <p:cNvPr id="0" name=""/>
                      <p:cNvPicPr/>
                      <p:nvPr/>
                    </p:nvPicPr>
                    <p:blipFill>
                      <a:blip r:embed="rId20"/>
                      <a:stretch>
                        <a:fillRect/>
                      </a:stretch>
                    </p:blipFill>
                    <p:spPr>
                      <a:xfrm>
                        <a:off x="3778251" y="5540378"/>
                        <a:ext cx="1130300" cy="622300"/>
                      </a:xfrm>
                      <a:prstGeom prst="rect">
                        <a:avLst/>
                      </a:prstGeom>
                      <a:solidFill>
                        <a:schemeClr val="bg1"/>
                      </a:solidFill>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4140197847"/>
              </p:ext>
            </p:extLst>
          </p:nvPr>
        </p:nvGraphicFramePr>
        <p:xfrm>
          <a:off x="5578143" y="4778676"/>
          <a:ext cx="1883438" cy="272448"/>
        </p:xfrm>
        <a:graphic>
          <a:graphicData uri="http://schemas.openxmlformats.org/presentationml/2006/ole">
            <mc:AlternateContent xmlns:mc="http://schemas.openxmlformats.org/markup-compatibility/2006">
              <mc:Choice xmlns:v="urn:schemas-microsoft-com:vml" Requires="v">
                <p:oleObj spid="_x0000_s10339" name="Equation" r:id="rId21" imgW="2019240" imgH="291960" progId="Equation.DSMT4">
                  <p:embed/>
                </p:oleObj>
              </mc:Choice>
              <mc:Fallback>
                <p:oleObj name="Equation" r:id="rId21" imgW="2019240" imgH="291960" progId="Equation.DSMT4">
                  <p:embed/>
                  <p:pic>
                    <p:nvPicPr>
                      <p:cNvPr id="0" name=""/>
                      <p:cNvPicPr/>
                      <p:nvPr/>
                    </p:nvPicPr>
                    <p:blipFill>
                      <a:blip r:embed="rId22"/>
                      <a:stretch>
                        <a:fillRect/>
                      </a:stretch>
                    </p:blipFill>
                    <p:spPr>
                      <a:xfrm>
                        <a:off x="5578143" y="4778676"/>
                        <a:ext cx="1883438" cy="272448"/>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490240442"/>
              </p:ext>
            </p:extLst>
          </p:nvPr>
        </p:nvGraphicFramePr>
        <p:xfrm>
          <a:off x="6129709" y="5182807"/>
          <a:ext cx="1362236" cy="272448"/>
        </p:xfrm>
        <a:graphic>
          <a:graphicData uri="http://schemas.openxmlformats.org/presentationml/2006/ole">
            <mc:AlternateContent xmlns:mc="http://schemas.openxmlformats.org/markup-compatibility/2006">
              <mc:Choice xmlns:v="urn:schemas-microsoft-com:vml" Requires="v">
                <p:oleObj spid="_x0000_s10340" name="Equation" r:id="rId23" imgW="1460160" imgH="291960" progId="Equation.DSMT4">
                  <p:embed/>
                </p:oleObj>
              </mc:Choice>
              <mc:Fallback>
                <p:oleObj name="Equation" r:id="rId23" imgW="1460160" imgH="291960" progId="Equation.DSMT4">
                  <p:embed/>
                  <p:pic>
                    <p:nvPicPr>
                      <p:cNvPr id="0" name=""/>
                      <p:cNvPicPr/>
                      <p:nvPr/>
                    </p:nvPicPr>
                    <p:blipFill>
                      <a:blip r:embed="rId24"/>
                      <a:stretch>
                        <a:fillRect/>
                      </a:stretch>
                    </p:blipFill>
                    <p:spPr>
                      <a:xfrm>
                        <a:off x="6129709" y="5182807"/>
                        <a:ext cx="1362236" cy="272448"/>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550494164"/>
              </p:ext>
            </p:extLst>
          </p:nvPr>
        </p:nvGraphicFramePr>
        <p:xfrm>
          <a:off x="6483350" y="5567363"/>
          <a:ext cx="1728788" cy="403225"/>
        </p:xfrm>
        <a:graphic>
          <a:graphicData uri="http://schemas.openxmlformats.org/presentationml/2006/ole">
            <mc:AlternateContent xmlns:mc="http://schemas.openxmlformats.org/markup-compatibility/2006">
              <mc:Choice xmlns:v="urn:schemas-microsoft-com:vml" Requires="v">
                <p:oleObj spid="_x0000_s10341" name="Equation" r:id="rId25" imgW="1854000" imgH="431640" progId="Equation.DSMT4">
                  <p:embed/>
                </p:oleObj>
              </mc:Choice>
              <mc:Fallback>
                <p:oleObj name="Equation" r:id="rId25" imgW="1854000" imgH="431640" progId="Equation.DSMT4">
                  <p:embed/>
                  <p:pic>
                    <p:nvPicPr>
                      <p:cNvPr id="0" name=""/>
                      <p:cNvPicPr/>
                      <p:nvPr/>
                    </p:nvPicPr>
                    <p:blipFill>
                      <a:blip r:embed="rId26"/>
                      <a:stretch>
                        <a:fillRect/>
                      </a:stretch>
                    </p:blipFill>
                    <p:spPr>
                      <a:xfrm>
                        <a:off x="6483350" y="5567363"/>
                        <a:ext cx="1728788" cy="403225"/>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4046984786"/>
              </p:ext>
            </p:extLst>
          </p:nvPr>
        </p:nvGraphicFramePr>
        <p:xfrm>
          <a:off x="5903913" y="6046788"/>
          <a:ext cx="2830512" cy="403225"/>
        </p:xfrm>
        <a:graphic>
          <a:graphicData uri="http://schemas.openxmlformats.org/presentationml/2006/ole">
            <mc:AlternateContent xmlns:mc="http://schemas.openxmlformats.org/markup-compatibility/2006">
              <mc:Choice xmlns:v="urn:schemas-microsoft-com:vml" Requires="v">
                <p:oleObj spid="_x0000_s10342" name="Equation" r:id="rId27" imgW="3035160" imgH="431640" progId="Equation.DSMT4">
                  <p:embed/>
                </p:oleObj>
              </mc:Choice>
              <mc:Fallback>
                <p:oleObj name="Equation" r:id="rId27" imgW="3035160" imgH="431640" progId="Equation.DSMT4">
                  <p:embed/>
                  <p:pic>
                    <p:nvPicPr>
                      <p:cNvPr id="0" name=""/>
                      <p:cNvPicPr/>
                      <p:nvPr/>
                    </p:nvPicPr>
                    <p:blipFill>
                      <a:blip r:embed="rId28"/>
                      <a:stretch>
                        <a:fillRect/>
                      </a:stretch>
                    </p:blipFill>
                    <p:spPr>
                      <a:xfrm>
                        <a:off x="5903913" y="6046788"/>
                        <a:ext cx="2830512" cy="403225"/>
                      </a:xfrm>
                      <a:prstGeom prst="rect">
                        <a:avLst/>
                      </a:prstGeom>
                    </p:spPr>
                  </p:pic>
                </p:oleObj>
              </mc:Fallback>
            </mc:AlternateContent>
          </a:graphicData>
        </a:graphic>
      </p:graphicFrame>
      <p:sp>
        <p:nvSpPr>
          <p:cNvPr id="7" name="Slide Number Placeholder 6"/>
          <p:cNvSpPr>
            <a:spLocks noGrp="1"/>
          </p:cNvSpPr>
          <p:nvPr>
            <p:ph type="sldNum" sz="quarter" idx="10"/>
          </p:nvPr>
        </p:nvSpPr>
        <p:spPr/>
        <p:txBody>
          <a:bodyPr/>
          <a:lstStyle/>
          <a:p>
            <a:fld id="{68151E55-6873-49E2-B8D5-2F265E6F1973}" type="slidenum">
              <a:rPr lang="en-US" smtClean="0"/>
              <a:t>26</a:t>
            </a:fld>
            <a:endParaRPr lang="en-US"/>
          </a:p>
        </p:txBody>
      </p:sp>
    </p:spTree>
    <p:extLst>
      <p:ext uri="{BB962C8B-B14F-4D97-AF65-F5344CB8AC3E}">
        <p14:creationId xmlns:p14="http://schemas.microsoft.com/office/powerpoint/2010/main" val="3367652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dirty="0"/>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3848266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t>Accessibility Content: Text Alternatives for Images</a:t>
            </a:r>
          </a:p>
        </p:txBody>
      </p:sp>
      <p:sp>
        <p:nvSpPr>
          <p:cNvPr id="4" name="Slide Number Placeholder 5">
            <a:extLst>
              <a:ext uri="{FF2B5EF4-FFF2-40B4-BE49-F238E27FC236}">
                <a16:creationId xmlns:a16="http://schemas.microsoft.com/office/drawing/2014/main" id="{41139168-94D5-E8E4-2235-AB6D528728ED}"/>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28</a:t>
            </a:fld>
            <a:endParaRPr lang="en-US" sz="800" dirty="0"/>
          </a:p>
        </p:txBody>
      </p:sp>
    </p:spTree>
    <p:extLst>
      <p:ext uri="{BB962C8B-B14F-4D97-AF65-F5344CB8AC3E}">
        <p14:creationId xmlns:p14="http://schemas.microsoft.com/office/powerpoint/2010/main" val="4245016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Solving Equations for the Unknown </a:t>
            </a:r>
            <a:r>
              <a:rPr lang="en-US" sz="1000" b="0" dirty="0"/>
              <a:t>1</a:t>
            </a:r>
            <a:r>
              <a:rPr lang="en-US" sz="2800" b="0" dirty="0"/>
              <a:t>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A weighing scale demonstrating equality in equations. In the weighing scale, the left pan represents the left side of an equation, and the right pan represents the right side of the equation. On the left side, we have A plus 8. On the right side, we have 58.</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2236805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Solving for the Unknown Rule –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A weighing scale in which the left pan represents the left side of an equation, and the right pan represents the right side of the equation. On the left side, we have A plus 8. On the right side, we have 58.</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885245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IN" sz="2800" dirty="0"/>
              <a:t>Opposite Process Rule </a:t>
            </a:r>
            <a:r>
              <a:rPr lang="en-IN" sz="1000" b="0" dirty="0"/>
              <a:t>2</a:t>
            </a:r>
            <a:r>
              <a:rPr lang="en-IN" sz="2800" b="0" dirty="0"/>
              <a:t>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For the first image: Example. A plus 8 equals 58. Dick's age A plus 8 equals 58. Mechanical steps. A plus 8 equals 58. Subtracting 8 from both sides of the equation gives A equals 50. Explanation. 8 is subtracted from both sides of equation to isolate variable A on the left. Check. 50 plus 8 equals 58. 58 equals 58.</a:t>
            </a:r>
          </a:p>
          <a:p>
            <a:r>
              <a:rPr lang="en-US" b="0" i="0" u="none" strike="noStrike" dirty="0">
                <a:solidFill>
                  <a:srgbClr val="000000"/>
                </a:solidFill>
                <a:effectLst/>
              </a:rPr>
              <a:t>For the second image: Example. B minus 50 equals 80. Some number B less 50 equals 80. Mechanical steps. B minus 50 equals 80. Adding 50 to both sides of the equation gives B equals 130. Explanation. 50 is added to both sides to isolate variable B on the left. Check. 130 minus 50 equals 80. 80 equals 80.</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2755313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IN" sz="2800" dirty="0"/>
              <a:t>Opposite Process Rule </a:t>
            </a:r>
            <a:r>
              <a:rPr lang="en-IN" sz="1000" b="0" dirty="0"/>
              <a:t>3</a:t>
            </a:r>
            <a:r>
              <a:rPr lang="en-IN" sz="2800" b="0" dirty="0"/>
              <a:t>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For the first image: Mechanical steps. A plus 8 equals 58. Subtracting 8 from both sides of the equation gives A equals 50. Explanation. 8 is subtracted from both sides of equation to isolate variable A on the left. Check. 50 plus 8 equals 58. 58 equals 58.</a:t>
            </a:r>
          </a:p>
          <a:p>
            <a:r>
              <a:rPr lang="en-US" b="0" i="0" u="none" strike="noStrike" dirty="0">
                <a:solidFill>
                  <a:srgbClr val="000000"/>
                </a:solidFill>
                <a:effectLst/>
              </a:rPr>
              <a:t>For the second image: Mechanical steps. B minus 50 equals 80. Adding 50 to both sides of the equation gives B equals 130. Explanation. 50 is added to both sides to isolate variable B on the left. Check. 130 minus 50 equals 80. 80 equals 80.</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3899108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IN" sz="2800" dirty="0"/>
              <a:t>Equation Equality Rule </a:t>
            </a:r>
            <a:r>
              <a:rPr lang="en-IN" sz="1000" b="0" dirty="0"/>
              <a:t>2</a:t>
            </a:r>
            <a:r>
              <a:rPr lang="en-IN" sz="2800" b="0" dirty="0"/>
              <a:t>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For the first image: Mechanical steps. 7 G equals 35. Dividing both sides of the equation by 7 gives G equals 5. Explanation. By dividing both sides by 7, G equals 5. Check.  7 times 5 equals 35. 35 equals 35.</a:t>
            </a:r>
          </a:p>
          <a:p>
            <a:r>
              <a:rPr lang="en-US" b="0" i="0" u="none" strike="noStrike" dirty="0">
                <a:solidFill>
                  <a:srgbClr val="000000"/>
                </a:solidFill>
                <a:effectLst/>
              </a:rPr>
              <a:t>For the second image: Mechanical steps. V over 5 equals 70. Both sides of the equation are multiplied by 5. Explanation. By multiplying both sides by 5, v is equal to 350. Check. 350 divided by 5 equals 70. 70 equals 70.</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33</a:t>
            </a:fld>
            <a:endParaRPr lang="en-US" dirty="0"/>
          </a:p>
        </p:txBody>
      </p:sp>
    </p:spTree>
    <p:extLst>
      <p:ext uri="{BB962C8B-B14F-4D97-AF65-F5344CB8AC3E}">
        <p14:creationId xmlns:p14="http://schemas.microsoft.com/office/powerpoint/2010/main" val="4036866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IN" sz="2800" dirty="0"/>
              <a:t>Multiple Processes Rule </a:t>
            </a:r>
            <a:r>
              <a:rPr lang="en-IN" sz="1000" b="0" dirty="0"/>
              <a:t>2</a:t>
            </a:r>
            <a:r>
              <a:rPr lang="en-IN" sz="2800" b="0" dirty="0"/>
              <a:t>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Mechanical steps. H over 4 plus 2 equals 5. H over 4 plus 2 equals 5. Subtracting 2 from both sides of the equation gives H over 4 equals 3. Multiplying by 4 on both sides of the equation gives H equals 12. Explanation. 1. Move constant to right by subtracting 2 from both sides. 2. To isolate H, which is divided by 4, we do the opposite process and multiply 4 times both sides of the equation.</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34</a:t>
            </a:fld>
            <a:endParaRPr lang="en-US" dirty="0"/>
          </a:p>
        </p:txBody>
      </p:sp>
    </p:spTree>
    <p:extLst>
      <p:ext uri="{BB962C8B-B14F-4D97-AF65-F5344CB8AC3E}">
        <p14:creationId xmlns:p14="http://schemas.microsoft.com/office/powerpoint/2010/main" val="1431762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Distributive Rule </a:t>
            </a:r>
            <a:r>
              <a:rPr lang="en-US" sz="1000" b="0" dirty="0"/>
              <a:t>2</a:t>
            </a:r>
            <a:r>
              <a:rPr lang="en-US" sz="2800" b="0" dirty="0"/>
              <a:t>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5 times (P minus 4) equals 20. 5 P minus 20 equals 20. Adding 20 on both sides of the equation gives 5 P equals 40. Dividing both sides of the resulting equation by 5 gives P equals 8.</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4439911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Solving Word Problems for the Unknowns </a:t>
            </a:r>
            <a:r>
              <a:rPr lang="en-US" sz="1000" b="0" dirty="0"/>
              <a:t>3</a:t>
            </a:r>
            <a:r>
              <a:rPr lang="en-US" sz="2800" b="0" dirty="0"/>
              <a:t>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A table consists of 3 columns and 2 rows. The text that reads, the blueprint is on the left of the first column. The row entries are as follows. Row 1. Unknowns: I C M. Variables: 4 C. Relationship: 4 C. Row 2. Unknowns: Ring. Variables: C. Relationship: negative C over 27.</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6003676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Solving Word Problems for the Unknowns </a:t>
            </a:r>
            <a:r>
              <a:rPr lang="en-US" sz="1000" b="0" dirty="0"/>
              <a:t>4</a:t>
            </a:r>
            <a:r>
              <a:rPr lang="en-US" sz="2800" b="0" dirty="0"/>
              <a:t>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For the first image: A table consists of 3 columns and 2 rows. The text that reads, the blueprint is on the left of the first column. The row entries are as follows. Row 1. Unknowns: I C M. Variables: 4 C. Relationship: 4 C. Row 2. Unknowns: Ring. Variables: C. Relationship: negative C over 27.</a:t>
            </a:r>
          </a:p>
          <a:p>
            <a:r>
              <a:rPr lang="en-US" b="0" i="0" u="none" strike="noStrike" dirty="0">
                <a:solidFill>
                  <a:srgbClr val="000000"/>
                </a:solidFill>
                <a:effectLst/>
              </a:rPr>
              <a:t>For the first image: Mechanical steps. 9</a:t>
            </a:r>
            <a:r>
              <a:rPr lang="en-US" sz="100" b="0" i="0" u="none" strike="noStrike" dirty="0">
                <a:solidFill>
                  <a:srgbClr val="000000"/>
                </a:solidFill>
                <a:effectLst/>
              </a:rPr>
              <a:t> </a:t>
            </a:r>
            <a:r>
              <a:rPr lang="en-US" b="0" i="0" u="none" strike="noStrike" dirty="0">
                <a:solidFill>
                  <a:srgbClr val="000000"/>
                </a:solidFill>
                <a:effectLst/>
              </a:rPr>
              <a:t>W plus 5 times (35 minus W) equals 287. 9 W plus 175 minus 5</a:t>
            </a:r>
            <a:r>
              <a:rPr lang="en-US" sz="100" b="0" i="0" u="none" strike="noStrike" dirty="0">
                <a:solidFill>
                  <a:srgbClr val="000000"/>
                </a:solidFill>
                <a:effectLst/>
              </a:rPr>
              <a:t> </a:t>
            </a:r>
            <a:r>
              <a:rPr lang="en-US" b="0" i="0" u="none" strike="noStrike" dirty="0">
                <a:solidFill>
                  <a:srgbClr val="000000"/>
                </a:solidFill>
                <a:effectLst/>
              </a:rPr>
              <a:t>W equals 287. 4 W plus 175 equals 287. Subtracting 175 from both sides on the equation gives 4</a:t>
            </a:r>
            <a:r>
              <a:rPr lang="en-US" sz="100" b="0" i="0" u="none" strike="noStrike" dirty="0">
                <a:solidFill>
                  <a:srgbClr val="000000"/>
                </a:solidFill>
                <a:effectLst/>
              </a:rPr>
              <a:t> </a:t>
            </a:r>
            <a:r>
              <a:rPr lang="en-US" b="0" i="0" u="none" strike="noStrike" dirty="0">
                <a:solidFill>
                  <a:srgbClr val="000000"/>
                </a:solidFill>
                <a:effectLst/>
              </a:rPr>
              <a:t>W equals 112. Dividing 4 on both sides of the equation gives W equals 28. Watches equals 28. Clocks equals 35 minus 28 equals 7.</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37</a:t>
            </a:fld>
            <a:endParaRPr lang="en-US" dirty="0"/>
          </a:p>
        </p:txBody>
      </p:sp>
    </p:spTree>
    <p:extLst>
      <p:ext uri="{BB962C8B-B14F-4D97-AF65-F5344CB8AC3E}">
        <p14:creationId xmlns:p14="http://schemas.microsoft.com/office/powerpoint/2010/main" val="3231783708"/>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5784</TotalTime>
  <Words>2521</Words>
  <Application>Microsoft Office PowerPoint</Application>
  <PresentationFormat>On-screen Show (4:3)</PresentationFormat>
  <Paragraphs>244</Paragraphs>
  <Slides>37</Slides>
  <Notes>1</Notes>
  <HiddenSlides>10</HiddenSlides>
  <MMClips>0</MMClips>
  <ScaleCrop>false</ScaleCrop>
  <HeadingPairs>
    <vt:vector size="8" baseType="variant">
      <vt:variant>
        <vt:lpstr>Fonts Used</vt:lpstr>
      </vt:variant>
      <vt:variant>
        <vt:i4>2</vt:i4>
      </vt:variant>
      <vt:variant>
        <vt:lpstr>Theme</vt:lpstr>
      </vt:variant>
      <vt:variant>
        <vt:i4>5</vt:i4>
      </vt:variant>
      <vt:variant>
        <vt:lpstr>Embedded OLE Servers</vt:lpstr>
      </vt:variant>
      <vt:variant>
        <vt:i4>2</vt:i4>
      </vt:variant>
      <vt:variant>
        <vt:lpstr>Slide Titles</vt:lpstr>
      </vt:variant>
      <vt:variant>
        <vt:i4>37</vt:i4>
      </vt:variant>
    </vt:vector>
  </HeadingPairs>
  <TitlesOfParts>
    <vt:vector size="46" baseType="lpstr">
      <vt:lpstr>Arial</vt:lpstr>
      <vt:lpstr>Calibri</vt:lpstr>
      <vt:lpstr>Title Slides Master</vt:lpstr>
      <vt:lpstr>MainContentSlideMaster</vt:lpstr>
      <vt:lpstr>ClosingMaster</vt:lpstr>
      <vt:lpstr>DividerSlideMaster</vt:lpstr>
      <vt:lpstr>ImageDescriptionAppendixSlideMaster</vt:lpstr>
      <vt:lpstr>Equation</vt:lpstr>
      <vt:lpstr>MathType 7.0 Equation</vt:lpstr>
      <vt:lpstr>Chapter 4</vt:lpstr>
      <vt:lpstr>Learning Unit Objectives</vt:lpstr>
      <vt:lpstr>Basic Equation-Solving Procedure Terminology</vt:lpstr>
      <vt:lpstr>Variables and Constants Rules</vt:lpstr>
      <vt:lpstr>Solving Equations</vt:lpstr>
      <vt:lpstr>Solving Equations for the Unknown 1</vt:lpstr>
      <vt:lpstr>Solving Equations for the Unknown 2</vt:lpstr>
      <vt:lpstr>Solving for the Unknown Rule</vt:lpstr>
      <vt:lpstr>Opposite Process Rule 1</vt:lpstr>
      <vt:lpstr>Opposite Process Rule 2</vt:lpstr>
      <vt:lpstr>Opposite Process Rule 3</vt:lpstr>
      <vt:lpstr>Equation Equality Rule 1</vt:lpstr>
      <vt:lpstr>Equation Equality Rule 2</vt:lpstr>
      <vt:lpstr>Multiple Processes Rule 1</vt:lpstr>
      <vt:lpstr>Multiple Processes Rule 2</vt:lpstr>
      <vt:lpstr>Distributive Rule 1</vt:lpstr>
      <vt:lpstr>Distributive Rule 2</vt:lpstr>
      <vt:lpstr>Like Unknowns Rule</vt:lpstr>
      <vt:lpstr>Solving Word Problems for the Unknown 1</vt:lpstr>
      <vt:lpstr>Solving Word Problems for the Unknown 2</vt:lpstr>
      <vt:lpstr>Solving Word Problems for the Unknowns 3</vt:lpstr>
      <vt:lpstr>Solving Word Problems for the Unknowns 4</vt:lpstr>
      <vt:lpstr>Textbook Problem 4-2</vt:lpstr>
      <vt:lpstr>Textbook Problem 4-5</vt:lpstr>
      <vt:lpstr>Textbook Problem 4-9</vt:lpstr>
      <vt:lpstr>Textbook Problem 4-15</vt:lpstr>
      <vt:lpstr>End of Main Content</vt:lpstr>
      <vt:lpstr>Accessibility Content: Text Alternatives for Images</vt:lpstr>
      <vt:lpstr>Solving Equations for the Unknown 1 – Text Alternative</vt:lpstr>
      <vt:lpstr>Solving for the Unknown Rule – Text Alternative</vt:lpstr>
      <vt:lpstr>Opposite Process Rule 2 – Text Alternative</vt:lpstr>
      <vt:lpstr>Opposite Process Rule 3 – Text Alternative</vt:lpstr>
      <vt:lpstr>Equation Equality Rule 2 – Text Alternative</vt:lpstr>
      <vt:lpstr>Multiple Processes Rule 2 – Text Alternative</vt:lpstr>
      <vt:lpstr>Distributive Rule 2 – Text Alternative</vt:lpstr>
      <vt:lpstr>Solving Word Problems for the Unknowns 3 – Text Alternative</vt:lpstr>
      <vt:lpstr>Solving Word Problems for the Unknowns 4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
  <cp:keywords/>
  <cp:lastModifiedBy>Rizwan Ahmed</cp:lastModifiedBy>
  <cp:revision>2278</cp:revision>
  <dcterms:created xsi:type="dcterms:W3CDTF">2020-12-08T04:00:13Z</dcterms:created>
  <dcterms:modified xsi:type="dcterms:W3CDTF">2023-05-12T05:27:43Z</dcterms:modified>
</cp:coreProperties>
</file>