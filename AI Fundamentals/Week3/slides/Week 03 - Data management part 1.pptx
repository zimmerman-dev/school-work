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1"/>
  </p:notesMasterIdLst>
  <p:sldIdLst>
    <p:sldId id="256" r:id="rId2"/>
    <p:sldId id="257" r:id="rId3"/>
    <p:sldId id="258" r:id="rId4"/>
    <p:sldId id="267" r:id="rId5"/>
    <p:sldId id="268" r:id="rId6"/>
    <p:sldId id="269" r:id="rId7"/>
    <p:sldId id="272" r:id="rId8"/>
    <p:sldId id="270" r:id="rId9"/>
    <p:sldId id="27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A478F"/>
    <a:srgbClr val="E1595C"/>
    <a:srgbClr val="22B0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1" autoAdjust="0"/>
    <p:restoredTop sz="78961" autoAdjust="0"/>
  </p:normalViewPr>
  <p:slideViewPr>
    <p:cSldViewPr snapToGrid="0">
      <p:cViewPr varScale="1">
        <p:scale>
          <a:sx n="61" d="100"/>
          <a:sy n="61" d="100"/>
        </p:scale>
        <p:origin x="1364" y="55"/>
      </p:cViewPr>
      <p:guideLst/>
    </p:cSldViewPr>
  </p:slideViewPr>
  <p:notesTextViewPr>
    <p:cViewPr>
      <p:scale>
        <a:sx n="1" d="1"/>
        <a:sy n="1" d="1"/>
      </p:scale>
      <p:origin x="0" y="-69"/>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C1BFD8-8E29-4001-9AB7-2078DA6D05F0}"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E5D10ED1-4AA7-4431-9E07-63D2A1FDD492}">
      <dgm:prSet/>
      <dgm:spPr/>
      <dgm:t>
        <a:bodyPr/>
        <a:lstStyle/>
        <a:p>
          <a:pPr>
            <a:defRPr cap="all"/>
          </a:pPr>
          <a:r>
            <a:rPr lang="en-US"/>
            <a:t>Data is essential for successful AI implementations</a:t>
          </a:r>
        </a:p>
      </dgm:t>
    </dgm:pt>
    <dgm:pt modelId="{6991D4A6-4BB3-410C-A3B7-B9B01FB32D32}" type="parTrans" cxnId="{28CC238E-3ED2-4974-B73B-7D8ADBEBBA46}">
      <dgm:prSet/>
      <dgm:spPr/>
      <dgm:t>
        <a:bodyPr/>
        <a:lstStyle/>
        <a:p>
          <a:endParaRPr lang="en-US"/>
        </a:p>
      </dgm:t>
    </dgm:pt>
    <dgm:pt modelId="{B2A5373F-3113-4CC6-B472-61673013A5CF}" type="sibTrans" cxnId="{28CC238E-3ED2-4974-B73B-7D8ADBEBBA46}">
      <dgm:prSet/>
      <dgm:spPr/>
      <dgm:t>
        <a:bodyPr/>
        <a:lstStyle/>
        <a:p>
          <a:endParaRPr lang="en-US"/>
        </a:p>
      </dgm:t>
    </dgm:pt>
    <dgm:pt modelId="{4620EF9E-8869-4CEC-8BBE-044C36B2236A}">
      <dgm:prSet/>
      <dgm:spPr/>
      <dgm:t>
        <a:bodyPr/>
        <a:lstStyle/>
        <a:p>
          <a:pPr>
            <a:defRPr cap="all"/>
          </a:pPr>
          <a:r>
            <a:rPr lang="en-US"/>
            <a:t>Like a human, AI works best when the information that it assimilates is reliable and constant</a:t>
          </a:r>
        </a:p>
      </dgm:t>
    </dgm:pt>
    <dgm:pt modelId="{B50BB101-D0E0-46AA-96BA-1C45B6B22B26}" type="parTrans" cxnId="{49007E48-4921-4C87-A68B-6BAA2B2C6929}">
      <dgm:prSet/>
      <dgm:spPr/>
      <dgm:t>
        <a:bodyPr/>
        <a:lstStyle/>
        <a:p>
          <a:endParaRPr lang="en-US"/>
        </a:p>
      </dgm:t>
    </dgm:pt>
    <dgm:pt modelId="{9CFBEC34-B94C-46E1-BE95-E9FA9D728E02}" type="sibTrans" cxnId="{49007E48-4921-4C87-A68B-6BAA2B2C6929}">
      <dgm:prSet/>
      <dgm:spPr/>
      <dgm:t>
        <a:bodyPr/>
        <a:lstStyle/>
        <a:p>
          <a:endParaRPr lang="en-US"/>
        </a:p>
      </dgm:t>
    </dgm:pt>
    <dgm:pt modelId="{216CEAE1-8F64-47EB-AE2E-7E6D5532E065}">
      <dgm:prSet/>
      <dgm:spPr/>
      <dgm:t>
        <a:bodyPr/>
        <a:lstStyle/>
        <a:p>
          <a:pPr>
            <a:defRPr cap="all"/>
          </a:pPr>
          <a:r>
            <a:rPr lang="en-US"/>
            <a:t>This allows the systems to learn and without this constant supply of data, the AI systems are prone to stagnation</a:t>
          </a:r>
        </a:p>
      </dgm:t>
    </dgm:pt>
    <dgm:pt modelId="{61D76B7A-E75C-4D85-B788-FA66BB7E65D5}" type="parTrans" cxnId="{6D025D58-B26E-4901-B80E-B3D3ACE73AB5}">
      <dgm:prSet/>
      <dgm:spPr/>
      <dgm:t>
        <a:bodyPr/>
        <a:lstStyle/>
        <a:p>
          <a:endParaRPr lang="en-US"/>
        </a:p>
      </dgm:t>
    </dgm:pt>
    <dgm:pt modelId="{5C1DE512-05FC-4907-8921-ADC2D0C317CD}" type="sibTrans" cxnId="{6D025D58-B26E-4901-B80E-B3D3ACE73AB5}">
      <dgm:prSet/>
      <dgm:spPr/>
      <dgm:t>
        <a:bodyPr/>
        <a:lstStyle/>
        <a:p>
          <a:endParaRPr lang="en-US"/>
        </a:p>
      </dgm:t>
    </dgm:pt>
    <dgm:pt modelId="{E2A2FB63-097E-46ED-B54F-402912A55E3B}" type="pres">
      <dgm:prSet presAssocID="{37C1BFD8-8E29-4001-9AB7-2078DA6D05F0}" presName="root" presStyleCnt="0">
        <dgm:presLayoutVars>
          <dgm:dir/>
          <dgm:resizeHandles val="exact"/>
        </dgm:presLayoutVars>
      </dgm:prSet>
      <dgm:spPr/>
    </dgm:pt>
    <dgm:pt modelId="{2C752AAD-4B8F-4E27-8D5E-3AADBF5F5991}" type="pres">
      <dgm:prSet presAssocID="{E5D10ED1-4AA7-4431-9E07-63D2A1FDD492}" presName="compNode" presStyleCnt="0"/>
      <dgm:spPr/>
    </dgm:pt>
    <dgm:pt modelId="{23A4B4DF-E0A4-4988-A3A5-4CB9B25A9F36}" type="pres">
      <dgm:prSet presAssocID="{E5D10ED1-4AA7-4431-9E07-63D2A1FDD492}" presName="iconBgRect" presStyleLbl="bgShp" presStyleIdx="0" presStyleCnt="3"/>
      <dgm:spPr>
        <a:prstGeom prst="round2DiagRect">
          <a:avLst>
            <a:gd name="adj1" fmla="val 29727"/>
            <a:gd name="adj2" fmla="val 0"/>
          </a:avLst>
        </a:prstGeom>
      </dgm:spPr>
    </dgm:pt>
    <dgm:pt modelId="{D48C4A0A-8F42-4ED3-8BCA-A7BC2F161D88}" type="pres">
      <dgm:prSet presAssocID="{E5D10ED1-4AA7-4431-9E07-63D2A1FDD49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64E70FE4-C760-4B15-949C-773DA654DEA8}" type="pres">
      <dgm:prSet presAssocID="{E5D10ED1-4AA7-4431-9E07-63D2A1FDD492}" presName="spaceRect" presStyleCnt="0"/>
      <dgm:spPr/>
    </dgm:pt>
    <dgm:pt modelId="{052DF716-2888-46AF-9A4B-C5C6E7218CDC}" type="pres">
      <dgm:prSet presAssocID="{E5D10ED1-4AA7-4431-9E07-63D2A1FDD492}" presName="textRect" presStyleLbl="revTx" presStyleIdx="0" presStyleCnt="3">
        <dgm:presLayoutVars>
          <dgm:chMax val="1"/>
          <dgm:chPref val="1"/>
        </dgm:presLayoutVars>
      </dgm:prSet>
      <dgm:spPr/>
    </dgm:pt>
    <dgm:pt modelId="{3ECF2514-F428-4980-9485-90E384648EF4}" type="pres">
      <dgm:prSet presAssocID="{B2A5373F-3113-4CC6-B472-61673013A5CF}" presName="sibTrans" presStyleCnt="0"/>
      <dgm:spPr/>
    </dgm:pt>
    <dgm:pt modelId="{3665EF86-3292-40C6-AB6C-4981EE413E8F}" type="pres">
      <dgm:prSet presAssocID="{4620EF9E-8869-4CEC-8BBE-044C36B2236A}" presName="compNode" presStyleCnt="0"/>
      <dgm:spPr/>
    </dgm:pt>
    <dgm:pt modelId="{F09F2D82-1E90-4069-AA07-87ACF3192EF5}" type="pres">
      <dgm:prSet presAssocID="{4620EF9E-8869-4CEC-8BBE-044C36B2236A}" presName="iconBgRect" presStyleLbl="bgShp" presStyleIdx="1" presStyleCnt="3"/>
      <dgm:spPr>
        <a:prstGeom prst="round2DiagRect">
          <a:avLst>
            <a:gd name="adj1" fmla="val 29727"/>
            <a:gd name="adj2" fmla="val 0"/>
          </a:avLst>
        </a:prstGeom>
      </dgm:spPr>
    </dgm:pt>
    <dgm:pt modelId="{DB29787E-5C3C-4B22-AC4A-E7B71F1F0073}" type="pres">
      <dgm:prSet presAssocID="{4620EF9E-8869-4CEC-8BBE-044C36B2236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rson with Idea"/>
        </a:ext>
      </dgm:extLst>
    </dgm:pt>
    <dgm:pt modelId="{EDD7B497-26A9-41E8-AD50-85F2C5E9580D}" type="pres">
      <dgm:prSet presAssocID="{4620EF9E-8869-4CEC-8BBE-044C36B2236A}" presName="spaceRect" presStyleCnt="0"/>
      <dgm:spPr/>
    </dgm:pt>
    <dgm:pt modelId="{704EE583-6B01-4FF3-B236-90F3A987A599}" type="pres">
      <dgm:prSet presAssocID="{4620EF9E-8869-4CEC-8BBE-044C36B2236A}" presName="textRect" presStyleLbl="revTx" presStyleIdx="1" presStyleCnt="3">
        <dgm:presLayoutVars>
          <dgm:chMax val="1"/>
          <dgm:chPref val="1"/>
        </dgm:presLayoutVars>
      </dgm:prSet>
      <dgm:spPr/>
    </dgm:pt>
    <dgm:pt modelId="{9B27E2EA-5CFD-464E-BBB9-030C6AB83E14}" type="pres">
      <dgm:prSet presAssocID="{9CFBEC34-B94C-46E1-BE95-E9FA9D728E02}" presName="sibTrans" presStyleCnt="0"/>
      <dgm:spPr/>
    </dgm:pt>
    <dgm:pt modelId="{9E904F65-BFB7-4E43-908F-6661D5C45C0B}" type="pres">
      <dgm:prSet presAssocID="{216CEAE1-8F64-47EB-AE2E-7E6D5532E065}" presName="compNode" presStyleCnt="0"/>
      <dgm:spPr/>
    </dgm:pt>
    <dgm:pt modelId="{2A477F0D-D901-4B67-9A28-A82FC30707C3}" type="pres">
      <dgm:prSet presAssocID="{216CEAE1-8F64-47EB-AE2E-7E6D5532E065}" presName="iconBgRect" presStyleLbl="bgShp" presStyleIdx="2" presStyleCnt="3"/>
      <dgm:spPr>
        <a:prstGeom prst="round2DiagRect">
          <a:avLst>
            <a:gd name="adj1" fmla="val 29727"/>
            <a:gd name="adj2" fmla="val 0"/>
          </a:avLst>
        </a:prstGeom>
      </dgm:spPr>
    </dgm:pt>
    <dgm:pt modelId="{38FACD98-288A-47C3-B793-345B1EC2246B}" type="pres">
      <dgm:prSet presAssocID="{216CEAE1-8F64-47EB-AE2E-7E6D5532E06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D39CBF3B-AA82-42B5-9C3A-2D9A3F9A359A}" type="pres">
      <dgm:prSet presAssocID="{216CEAE1-8F64-47EB-AE2E-7E6D5532E065}" presName="spaceRect" presStyleCnt="0"/>
      <dgm:spPr/>
    </dgm:pt>
    <dgm:pt modelId="{11D36E20-0E1D-477D-BA52-8FBD193E066D}" type="pres">
      <dgm:prSet presAssocID="{216CEAE1-8F64-47EB-AE2E-7E6D5532E065}" presName="textRect" presStyleLbl="revTx" presStyleIdx="2" presStyleCnt="3">
        <dgm:presLayoutVars>
          <dgm:chMax val="1"/>
          <dgm:chPref val="1"/>
        </dgm:presLayoutVars>
      </dgm:prSet>
      <dgm:spPr/>
    </dgm:pt>
  </dgm:ptLst>
  <dgm:cxnLst>
    <dgm:cxn modelId="{F4563303-EA55-4FBA-9E98-4F41F8B13587}" type="presOf" srcId="{216CEAE1-8F64-47EB-AE2E-7E6D5532E065}" destId="{11D36E20-0E1D-477D-BA52-8FBD193E066D}" srcOrd="0" destOrd="0" presId="urn:microsoft.com/office/officeart/2018/5/layout/IconLeafLabelList"/>
    <dgm:cxn modelId="{49007E48-4921-4C87-A68B-6BAA2B2C6929}" srcId="{37C1BFD8-8E29-4001-9AB7-2078DA6D05F0}" destId="{4620EF9E-8869-4CEC-8BBE-044C36B2236A}" srcOrd="1" destOrd="0" parTransId="{B50BB101-D0E0-46AA-96BA-1C45B6B22B26}" sibTransId="{9CFBEC34-B94C-46E1-BE95-E9FA9D728E02}"/>
    <dgm:cxn modelId="{6D025D58-B26E-4901-B80E-B3D3ACE73AB5}" srcId="{37C1BFD8-8E29-4001-9AB7-2078DA6D05F0}" destId="{216CEAE1-8F64-47EB-AE2E-7E6D5532E065}" srcOrd="2" destOrd="0" parTransId="{61D76B7A-E75C-4D85-B788-FA66BB7E65D5}" sibTransId="{5C1DE512-05FC-4907-8921-ADC2D0C317CD}"/>
    <dgm:cxn modelId="{28CC238E-3ED2-4974-B73B-7D8ADBEBBA46}" srcId="{37C1BFD8-8E29-4001-9AB7-2078DA6D05F0}" destId="{E5D10ED1-4AA7-4431-9E07-63D2A1FDD492}" srcOrd="0" destOrd="0" parTransId="{6991D4A6-4BB3-410C-A3B7-B9B01FB32D32}" sibTransId="{B2A5373F-3113-4CC6-B472-61673013A5CF}"/>
    <dgm:cxn modelId="{893E16BE-3177-4713-9D79-7694B471FAC5}" type="presOf" srcId="{4620EF9E-8869-4CEC-8BBE-044C36B2236A}" destId="{704EE583-6B01-4FF3-B236-90F3A987A599}" srcOrd="0" destOrd="0" presId="urn:microsoft.com/office/officeart/2018/5/layout/IconLeafLabelList"/>
    <dgm:cxn modelId="{0D5C3AC0-CCA3-4099-946F-06C0C743ABE3}" type="presOf" srcId="{37C1BFD8-8E29-4001-9AB7-2078DA6D05F0}" destId="{E2A2FB63-097E-46ED-B54F-402912A55E3B}" srcOrd="0" destOrd="0" presId="urn:microsoft.com/office/officeart/2018/5/layout/IconLeafLabelList"/>
    <dgm:cxn modelId="{557567F1-B530-427B-9584-FB26D459A3B6}" type="presOf" srcId="{E5D10ED1-4AA7-4431-9E07-63D2A1FDD492}" destId="{052DF716-2888-46AF-9A4B-C5C6E7218CDC}" srcOrd="0" destOrd="0" presId="urn:microsoft.com/office/officeart/2018/5/layout/IconLeafLabelList"/>
    <dgm:cxn modelId="{265B7A90-D601-4471-9B8F-E7781C5DE16A}" type="presParOf" srcId="{E2A2FB63-097E-46ED-B54F-402912A55E3B}" destId="{2C752AAD-4B8F-4E27-8D5E-3AADBF5F5991}" srcOrd="0" destOrd="0" presId="urn:microsoft.com/office/officeart/2018/5/layout/IconLeafLabelList"/>
    <dgm:cxn modelId="{7962F643-B541-4B3A-841D-C3F5C4A7686D}" type="presParOf" srcId="{2C752AAD-4B8F-4E27-8D5E-3AADBF5F5991}" destId="{23A4B4DF-E0A4-4988-A3A5-4CB9B25A9F36}" srcOrd="0" destOrd="0" presId="urn:microsoft.com/office/officeart/2018/5/layout/IconLeafLabelList"/>
    <dgm:cxn modelId="{EF5B3BF2-28C8-41C5-B30D-C64A9AD23BD3}" type="presParOf" srcId="{2C752AAD-4B8F-4E27-8D5E-3AADBF5F5991}" destId="{D48C4A0A-8F42-4ED3-8BCA-A7BC2F161D88}" srcOrd="1" destOrd="0" presId="urn:microsoft.com/office/officeart/2018/5/layout/IconLeafLabelList"/>
    <dgm:cxn modelId="{A945889D-2874-433E-9494-FA24B9038B9E}" type="presParOf" srcId="{2C752AAD-4B8F-4E27-8D5E-3AADBF5F5991}" destId="{64E70FE4-C760-4B15-949C-773DA654DEA8}" srcOrd="2" destOrd="0" presId="urn:microsoft.com/office/officeart/2018/5/layout/IconLeafLabelList"/>
    <dgm:cxn modelId="{170E507A-68BB-4C1B-B3F4-287AADA10461}" type="presParOf" srcId="{2C752AAD-4B8F-4E27-8D5E-3AADBF5F5991}" destId="{052DF716-2888-46AF-9A4B-C5C6E7218CDC}" srcOrd="3" destOrd="0" presId="urn:microsoft.com/office/officeart/2018/5/layout/IconLeafLabelList"/>
    <dgm:cxn modelId="{452F9B28-6DE4-4FA3-8D02-7249583D838E}" type="presParOf" srcId="{E2A2FB63-097E-46ED-B54F-402912A55E3B}" destId="{3ECF2514-F428-4980-9485-90E384648EF4}" srcOrd="1" destOrd="0" presId="urn:microsoft.com/office/officeart/2018/5/layout/IconLeafLabelList"/>
    <dgm:cxn modelId="{062C681B-95D4-4612-A7EE-F54704EE36C2}" type="presParOf" srcId="{E2A2FB63-097E-46ED-B54F-402912A55E3B}" destId="{3665EF86-3292-40C6-AB6C-4981EE413E8F}" srcOrd="2" destOrd="0" presId="urn:microsoft.com/office/officeart/2018/5/layout/IconLeafLabelList"/>
    <dgm:cxn modelId="{B9E7B342-24FF-42B4-84C0-9C76D4F134E9}" type="presParOf" srcId="{3665EF86-3292-40C6-AB6C-4981EE413E8F}" destId="{F09F2D82-1E90-4069-AA07-87ACF3192EF5}" srcOrd="0" destOrd="0" presId="urn:microsoft.com/office/officeart/2018/5/layout/IconLeafLabelList"/>
    <dgm:cxn modelId="{995C3B83-807D-4E16-A6B5-C8ED6EEC4B74}" type="presParOf" srcId="{3665EF86-3292-40C6-AB6C-4981EE413E8F}" destId="{DB29787E-5C3C-4B22-AC4A-E7B71F1F0073}" srcOrd="1" destOrd="0" presId="urn:microsoft.com/office/officeart/2018/5/layout/IconLeafLabelList"/>
    <dgm:cxn modelId="{706378F1-4F51-47BE-98E9-7A1975754484}" type="presParOf" srcId="{3665EF86-3292-40C6-AB6C-4981EE413E8F}" destId="{EDD7B497-26A9-41E8-AD50-85F2C5E9580D}" srcOrd="2" destOrd="0" presId="urn:microsoft.com/office/officeart/2018/5/layout/IconLeafLabelList"/>
    <dgm:cxn modelId="{58CCE6DA-6B2C-44E5-B645-12CCB8D8EFD2}" type="presParOf" srcId="{3665EF86-3292-40C6-AB6C-4981EE413E8F}" destId="{704EE583-6B01-4FF3-B236-90F3A987A599}" srcOrd="3" destOrd="0" presId="urn:microsoft.com/office/officeart/2018/5/layout/IconLeafLabelList"/>
    <dgm:cxn modelId="{04154FDE-D654-4AB1-AC60-43879E4EF078}" type="presParOf" srcId="{E2A2FB63-097E-46ED-B54F-402912A55E3B}" destId="{9B27E2EA-5CFD-464E-BBB9-030C6AB83E14}" srcOrd="3" destOrd="0" presId="urn:microsoft.com/office/officeart/2018/5/layout/IconLeafLabelList"/>
    <dgm:cxn modelId="{B02EE0CF-E7C1-4954-A043-42C49F24EC53}" type="presParOf" srcId="{E2A2FB63-097E-46ED-B54F-402912A55E3B}" destId="{9E904F65-BFB7-4E43-908F-6661D5C45C0B}" srcOrd="4" destOrd="0" presId="urn:microsoft.com/office/officeart/2018/5/layout/IconLeafLabelList"/>
    <dgm:cxn modelId="{EC892D4C-2B32-4A9C-AA6E-7419587A5FEE}" type="presParOf" srcId="{9E904F65-BFB7-4E43-908F-6661D5C45C0B}" destId="{2A477F0D-D901-4B67-9A28-A82FC30707C3}" srcOrd="0" destOrd="0" presId="urn:microsoft.com/office/officeart/2018/5/layout/IconLeafLabelList"/>
    <dgm:cxn modelId="{79149C36-9C08-49C8-9A6E-6FA1B37CF587}" type="presParOf" srcId="{9E904F65-BFB7-4E43-908F-6661D5C45C0B}" destId="{38FACD98-288A-47C3-B793-345B1EC2246B}" srcOrd="1" destOrd="0" presId="urn:microsoft.com/office/officeart/2018/5/layout/IconLeafLabelList"/>
    <dgm:cxn modelId="{7CC027FF-3997-47C9-BF23-C59AA4928B47}" type="presParOf" srcId="{9E904F65-BFB7-4E43-908F-6661D5C45C0B}" destId="{D39CBF3B-AA82-42B5-9C3A-2D9A3F9A359A}" srcOrd="2" destOrd="0" presId="urn:microsoft.com/office/officeart/2018/5/layout/IconLeafLabelList"/>
    <dgm:cxn modelId="{19B7A565-8964-45DF-8120-03623E787B9D}" type="presParOf" srcId="{9E904F65-BFB7-4E43-908F-6661D5C45C0B}" destId="{11D36E20-0E1D-477D-BA52-8FBD193E066D}"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9DE19FF-59CF-41C1-8703-130D42C4A4E2}"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2F26D72-01B8-4879-946F-44DC3CE20937}">
      <dgm:prSet/>
      <dgm:spPr/>
      <dgm:t>
        <a:bodyPr/>
        <a:lstStyle/>
        <a:p>
          <a:r>
            <a:rPr lang="en-US"/>
            <a:t>For example, an AI needed for a flight controller would need data related to pitch, yaw, roll, direction, coordinates, speed, acceleration, wind speed/dir, etc.</a:t>
          </a:r>
        </a:p>
      </dgm:t>
    </dgm:pt>
    <dgm:pt modelId="{D628272E-D06B-4619-95C8-375539F2173D}" type="parTrans" cxnId="{24FCE790-A34F-41A4-8BED-9D508F9C414D}">
      <dgm:prSet/>
      <dgm:spPr/>
      <dgm:t>
        <a:bodyPr/>
        <a:lstStyle/>
        <a:p>
          <a:endParaRPr lang="en-US"/>
        </a:p>
      </dgm:t>
    </dgm:pt>
    <dgm:pt modelId="{49B8C0E0-2E34-4FB3-AAAB-BA2581DFF945}" type="sibTrans" cxnId="{24FCE790-A34F-41A4-8BED-9D508F9C414D}">
      <dgm:prSet/>
      <dgm:spPr/>
      <dgm:t>
        <a:bodyPr/>
        <a:lstStyle/>
        <a:p>
          <a:endParaRPr lang="en-US"/>
        </a:p>
      </dgm:t>
    </dgm:pt>
    <dgm:pt modelId="{DF43E9A4-02D3-4F02-8EA4-D001453FACD6}">
      <dgm:prSet/>
      <dgm:spPr/>
      <dgm:t>
        <a:bodyPr/>
        <a:lstStyle/>
        <a:p>
          <a:r>
            <a:rPr lang="en-US"/>
            <a:t>The typical data needed would only be flight-related</a:t>
          </a:r>
        </a:p>
      </dgm:t>
    </dgm:pt>
    <dgm:pt modelId="{7AD7C244-F6E6-44DE-9AE6-C3BAAADACE92}" type="parTrans" cxnId="{CA8EC0E5-21A8-4794-A9A9-CB88A10873D9}">
      <dgm:prSet/>
      <dgm:spPr/>
      <dgm:t>
        <a:bodyPr/>
        <a:lstStyle/>
        <a:p>
          <a:endParaRPr lang="en-US"/>
        </a:p>
      </dgm:t>
    </dgm:pt>
    <dgm:pt modelId="{C96766AD-0FE7-4553-A3D3-46CB6DC8C97F}" type="sibTrans" cxnId="{CA8EC0E5-21A8-4794-A9A9-CB88A10873D9}">
      <dgm:prSet/>
      <dgm:spPr/>
      <dgm:t>
        <a:bodyPr/>
        <a:lstStyle/>
        <a:p>
          <a:endParaRPr lang="en-US"/>
        </a:p>
      </dgm:t>
    </dgm:pt>
    <dgm:pt modelId="{6AFA49AE-6BBE-48AE-B211-BFAF2BCC016E}">
      <dgm:prSet/>
      <dgm:spPr/>
      <dgm:t>
        <a:bodyPr/>
        <a:lstStyle/>
        <a:p>
          <a:r>
            <a:rPr lang="en-US"/>
            <a:t>This AI system would not need data on displacement, currents, crosswalk signage, etc.</a:t>
          </a:r>
        </a:p>
      </dgm:t>
    </dgm:pt>
    <dgm:pt modelId="{753768EF-27CB-4A31-B382-CFFF9898971F}" type="parTrans" cxnId="{409F52D0-065F-4326-B837-1DFCB2F56701}">
      <dgm:prSet/>
      <dgm:spPr/>
      <dgm:t>
        <a:bodyPr/>
        <a:lstStyle/>
        <a:p>
          <a:endParaRPr lang="en-US"/>
        </a:p>
      </dgm:t>
    </dgm:pt>
    <dgm:pt modelId="{D8F1A07C-9B97-4D81-B763-1661580AFF8E}" type="sibTrans" cxnId="{409F52D0-065F-4326-B837-1DFCB2F56701}">
      <dgm:prSet/>
      <dgm:spPr/>
      <dgm:t>
        <a:bodyPr/>
        <a:lstStyle/>
        <a:p>
          <a:endParaRPr lang="en-US"/>
        </a:p>
      </dgm:t>
    </dgm:pt>
    <dgm:pt modelId="{4CE25A66-A42C-48B6-9D64-02FB7FFBD881}" type="pres">
      <dgm:prSet presAssocID="{F9DE19FF-59CF-41C1-8703-130D42C4A4E2}" presName="root" presStyleCnt="0">
        <dgm:presLayoutVars>
          <dgm:dir/>
          <dgm:resizeHandles val="exact"/>
        </dgm:presLayoutVars>
      </dgm:prSet>
      <dgm:spPr/>
    </dgm:pt>
    <dgm:pt modelId="{55C35002-B91F-4ADB-BC33-FED494BE36CE}" type="pres">
      <dgm:prSet presAssocID="{82F26D72-01B8-4879-946F-44DC3CE20937}" presName="compNode" presStyleCnt="0"/>
      <dgm:spPr/>
    </dgm:pt>
    <dgm:pt modelId="{F1232272-2FFD-4488-988F-2EAAA4A261EA}" type="pres">
      <dgm:prSet presAssocID="{82F26D72-01B8-4879-946F-44DC3CE2093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licopter"/>
        </a:ext>
      </dgm:extLst>
    </dgm:pt>
    <dgm:pt modelId="{EDC05ACF-3640-47F7-82E3-45233859CBC8}" type="pres">
      <dgm:prSet presAssocID="{82F26D72-01B8-4879-946F-44DC3CE20937}" presName="spaceRect" presStyleCnt="0"/>
      <dgm:spPr/>
    </dgm:pt>
    <dgm:pt modelId="{8D430C32-CA35-46AE-882A-957A00C27FBE}" type="pres">
      <dgm:prSet presAssocID="{82F26D72-01B8-4879-946F-44DC3CE20937}" presName="textRect" presStyleLbl="revTx" presStyleIdx="0" presStyleCnt="3">
        <dgm:presLayoutVars>
          <dgm:chMax val="1"/>
          <dgm:chPref val="1"/>
        </dgm:presLayoutVars>
      </dgm:prSet>
      <dgm:spPr/>
    </dgm:pt>
    <dgm:pt modelId="{4969EA8F-7783-4F3A-9CF3-6AD2D97897CD}" type="pres">
      <dgm:prSet presAssocID="{49B8C0E0-2E34-4FB3-AAAB-BA2581DFF945}" presName="sibTrans" presStyleCnt="0"/>
      <dgm:spPr/>
    </dgm:pt>
    <dgm:pt modelId="{DC31C10D-965A-49D2-A476-CE42A8A9B32E}" type="pres">
      <dgm:prSet presAssocID="{DF43E9A4-02D3-4F02-8EA4-D001453FACD6}" presName="compNode" presStyleCnt="0"/>
      <dgm:spPr/>
    </dgm:pt>
    <dgm:pt modelId="{0613EEC4-E3B5-47CA-AFDA-5482449E107D}" type="pres">
      <dgm:prSet presAssocID="{DF43E9A4-02D3-4F02-8EA4-D001453FACD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irplane"/>
        </a:ext>
      </dgm:extLst>
    </dgm:pt>
    <dgm:pt modelId="{5279E7E8-D1AB-4E91-92F7-1CD985250B7F}" type="pres">
      <dgm:prSet presAssocID="{DF43E9A4-02D3-4F02-8EA4-D001453FACD6}" presName="spaceRect" presStyleCnt="0"/>
      <dgm:spPr/>
    </dgm:pt>
    <dgm:pt modelId="{83112300-B365-459E-95BD-335154076543}" type="pres">
      <dgm:prSet presAssocID="{DF43E9A4-02D3-4F02-8EA4-D001453FACD6}" presName="textRect" presStyleLbl="revTx" presStyleIdx="1" presStyleCnt="3">
        <dgm:presLayoutVars>
          <dgm:chMax val="1"/>
          <dgm:chPref val="1"/>
        </dgm:presLayoutVars>
      </dgm:prSet>
      <dgm:spPr/>
    </dgm:pt>
    <dgm:pt modelId="{C46E7995-449B-439B-B821-AAA339388C58}" type="pres">
      <dgm:prSet presAssocID="{C96766AD-0FE7-4553-A3D3-46CB6DC8C97F}" presName="sibTrans" presStyleCnt="0"/>
      <dgm:spPr/>
    </dgm:pt>
    <dgm:pt modelId="{9D6FF58A-EE3D-4B84-B75C-00E83029F9C5}" type="pres">
      <dgm:prSet presAssocID="{6AFA49AE-6BBE-48AE-B211-BFAF2BCC016E}" presName="compNode" presStyleCnt="0"/>
      <dgm:spPr/>
    </dgm:pt>
    <dgm:pt modelId="{496D924F-5E2A-4254-BA03-A1C77C9EE94B}" type="pres">
      <dgm:prSet presAssocID="{6AFA49AE-6BBE-48AE-B211-BFAF2BCC016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cooter"/>
        </a:ext>
      </dgm:extLst>
    </dgm:pt>
    <dgm:pt modelId="{35DF02FB-9CA8-4495-9F85-99548EFFA52D}" type="pres">
      <dgm:prSet presAssocID="{6AFA49AE-6BBE-48AE-B211-BFAF2BCC016E}" presName="spaceRect" presStyleCnt="0"/>
      <dgm:spPr/>
    </dgm:pt>
    <dgm:pt modelId="{32CFE364-762B-41F5-981F-E140C0B29FA6}" type="pres">
      <dgm:prSet presAssocID="{6AFA49AE-6BBE-48AE-B211-BFAF2BCC016E}" presName="textRect" presStyleLbl="revTx" presStyleIdx="2" presStyleCnt="3">
        <dgm:presLayoutVars>
          <dgm:chMax val="1"/>
          <dgm:chPref val="1"/>
        </dgm:presLayoutVars>
      </dgm:prSet>
      <dgm:spPr/>
    </dgm:pt>
  </dgm:ptLst>
  <dgm:cxnLst>
    <dgm:cxn modelId="{A8CD6119-F902-4D75-8A0A-08854A487623}" type="presOf" srcId="{82F26D72-01B8-4879-946F-44DC3CE20937}" destId="{8D430C32-CA35-46AE-882A-957A00C27FBE}" srcOrd="0" destOrd="0" presId="urn:microsoft.com/office/officeart/2018/2/layout/IconLabelList"/>
    <dgm:cxn modelId="{3313EC1E-A8F8-4464-BFA0-12924592FD36}" type="presOf" srcId="{DF43E9A4-02D3-4F02-8EA4-D001453FACD6}" destId="{83112300-B365-459E-95BD-335154076543}" srcOrd="0" destOrd="0" presId="urn:microsoft.com/office/officeart/2018/2/layout/IconLabelList"/>
    <dgm:cxn modelId="{BDE14D69-81F1-4B32-9C82-AE4AAA6A351E}" type="presOf" srcId="{6AFA49AE-6BBE-48AE-B211-BFAF2BCC016E}" destId="{32CFE364-762B-41F5-981F-E140C0B29FA6}" srcOrd="0" destOrd="0" presId="urn:microsoft.com/office/officeart/2018/2/layout/IconLabelList"/>
    <dgm:cxn modelId="{24FCE790-A34F-41A4-8BED-9D508F9C414D}" srcId="{F9DE19FF-59CF-41C1-8703-130D42C4A4E2}" destId="{82F26D72-01B8-4879-946F-44DC3CE20937}" srcOrd="0" destOrd="0" parTransId="{D628272E-D06B-4619-95C8-375539F2173D}" sibTransId="{49B8C0E0-2E34-4FB3-AAAB-BA2581DFF945}"/>
    <dgm:cxn modelId="{409F52D0-065F-4326-B837-1DFCB2F56701}" srcId="{F9DE19FF-59CF-41C1-8703-130D42C4A4E2}" destId="{6AFA49AE-6BBE-48AE-B211-BFAF2BCC016E}" srcOrd="2" destOrd="0" parTransId="{753768EF-27CB-4A31-B382-CFFF9898971F}" sibTransId="{D8F1A07C-9B97-4D81-B763-1661580AFF8E}"/>
    <dgm:cxn modelId="{2FD8A2DF-15B5-4D64-B8E1-372E7EB17391}" type="presOf" srcId="{F9DE19FF-59CF-41C1-8703-130D42C4A4E2}" destId="{4CE25A66-A42C-48B6-9D64-02FB7FFBD881}" srcOrd="0" destOrd="0" presId="urn:microsoft.com/office/officeart/2018/2/layout/IconLabelList"/>
    <dgm:cxn modelId="{CA8EC0E5-21A8-4794-A9A9-CB88A10873D9}" srcId="{F9DE19FF-59CF-41C1-8703-130D42C4A4E2}" destId="{DF43E9A4-02D3-4F02-8EA4-D001453FACD6}" srcOrd="1" destOrd="0" parTransId="{7AD7C244-F6E6-44DE-9AE6-C3BAAADACE92}" sibTransId="{C96766AD-0FE7-4553-A3D3-46CB6DC8C97F}"/>
    <dgm:cxn modelId="{82C6356F-797A-4A5F-927A-1492441CEF51}" type="presParOf" srcId="{4CE25A66-A42C-48B6-9D64-02FB7FFBD881}" destId="{55C35002-B91F-4ADB-BC33-FED494BE36CE}" srcOrd="0" destOrd="0" presId="urn:microsoft.com/office/officeart/2018/2/layout/IconLabelList"/>
    <dgm:cxn modelId="{B59393C3-A482-409F-9DFC-EF8BF52D5671}" type="presParOf" srcId="{55C35002-B91F-4ADB-BC33-FED494BE36CE}" destId="{F1232272-2FFD-4488-988F-2EAAA4A261EA}" srcOrd="0" destOrd="0" presId="urn:microsoft.com/office/officeart/2018/2/layout/IconLabelList"/>
    <dgm:cxn modelId="{68848F31-3D35-4B79-9E8A-A69212FC87A0}" type="presParOf" srcId="{55C35002-B91F-4ADB-BC33-FED494BE36CE}" destId="{EDC05ACF-3640-47F7-82E3-45233859CBC8}" srcOrd="1" destOrd="0" presId="urn:microsoft.com/office/officeart/2018/2/layout/IconLabelList"/>
    <dgm:cxn modelId="{2C638A65-1750-4098-98AE-CC5ED8655AF3}" type="presParOf" srcId="{55C35002-B91F-4ADB-BC33-FED494BE36CE}" destId="{8D430C32-CA35-46AE-882A-957A00C27FBE}" srcOrd="2" destOrd="0" presId="urn:microsoft.com/office/officeart/2018/2/layout/IconLabelList"/>
    <dgm:cxn modelId="{5659C53E-D67C-4474-807D-AF3695DAEB6E}" type="presParOf" srcId="{4CE25A66-A42C-48B6-9D64-02FB7FFBD881}" destId="{4969EA8F-7783-4F3A-9CF3-6AD2D97897CD}" srcOrd="1" destOrd="0" presId="urn:microsoft.com/office/officeart/2018/2/layout/IconLabelList"/>
    <dgm:cxn modelId="{C903997B-29E0-4796-AF4E-5E683C096BE8}" type="presParOf" srcId="{4CE25A66-A42C-48B6-9D64-02FB7FFBD881}" destId="{DC31C10D-965A-49D2-A476-CE42A8A9B32E}" srcOrd="2" destOrd="0" presId="urn:microsoft.com/office/officeart/2018/2/layout/IconLabelList"/>
    <dgm:cxn modelId="{11D6A3A5-3E2A-460E-9039-0A2C1A5158D6}" type="presParOf" srcId="{DC31C10D-965A-49D2-A476-CE42A8A9B32E}" destId="{0613EEC4-E3B5-47CA-AFDA-5482449E107D}" srcOrd="0" destOrd="0" presId="urn:microsoft.com/office/officeart/2018/2/layout/IconLabelList"/>
    <dgm:cxn modelId="{F22BEFAF-6786-43A9-9A61-65CEFCBD5A3C}" type="presParOf" srcId="{DC31C10D-965A-49D2-A476-CE42A8A9B32E}" destId="{5279E7E8-D1AB-4E91-92F7-1CD985250B7F}" srcOrd="1" destOrd="0" presId="urn:microsoft.com/office/officeart/2018/2/layout/IconLabelList"/>
    <dgm:cxn modelId="{3F14AF48-BD4A-45B6-8B86-7D38BF2BC671}" type="presParOf" srcId="{DC31C10D-965A-49D2-A476-CE42A8A9B32E}" destId="{83112300-B365-459E-95BD-335154076543}" srcOrd="2" destOrd="0" presId="urn:microsoft.com/office/officeart/2018/2/layout/IconLabelList"/>
    <dgm:cxn modelId="{C69A96B4-63B2-473A-8FCE-71FEAFACF7AD}" type="presParOf" srcId="{4CE25A66-A42C-48B6-9D64-02FB7FFBD881}" destId="{C46E7995-449B-439B-B821-AAA339388C58}" srcOrd="3" destOrd="0" presId="urn:microsoft.com/office/officeart/2018/2/layout/IconLabelList"/>
    <dgm:cxn modelId="{D4C89381-2A5E-4910-86CF-0F9A982E3262}" type="presParOf" srcId="{4CE25A66-A42C-48B6-9D64-02FB7FFBD881}" destId="{9D6FF58A-EE3D-4B84-B75C-00E83029F9C5}" srcOrd="4" destOrd="0" presId="urn:microsoft.com/office/officeart/2018/2/layout/IconLabelList"/>
    <dgm:cxn modelId="{16B2EC0B-C5C7-4FAC-B481-8A05D96D9D7E}" type="presParOf" srcId="{9D6FF58A-EE3D-4B84-B75C-00E83029F9C5}" destId="{496D924F-5E2A-4254-BA03-A1C77C9EE94B}" srcOrd="0" destOrd="0" presId="urn:microsoft.com/office/officeart/2018/2/layout/IconLabelList"/>
    <dgm:cxn modelId="{3260ADCF-5D42-4B2F-A474-C47533A71A62}" type="presParOf" srcId="{9D6FF58A-EE3D-4B84-B75C-00E83029F9C5}" destId="{35DF02FB-9CA8-4495-9F85-99548EFFA52D}" srcOrd="1" destOrd="0" presId="urn:microsoft.com/office/officeart/2018/2/layout/IconLabelList"/>
    <dgm:cxn modelId="{C6D0D63A-2985-4A03-9E49-ED3B24C7E2DD}" type="presParOf" srcId="{9D6FF58A-EE3D-4B84-B75C-00E83029F9C5}" destId="{32CFE364-762B-41F5-981F-E140C0B29FA6}"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A4B4DF-E0A4-4988-A3A5-4CB9B25A9F36}">
      <dsp:nvSpPr>
        <dsp:cNvPr id="0" name=""/>
        <dsp:cNvSpPr/>
      </dsp:nvSpPr>
      <dsp:spPr>
        <a:xfrm>
          <a:off x="614850" y="35407"/>
          <a:ext cx="1921500" cy="19215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8C4A0A-8F42-4ED3-8BCA-A7BC2F161D88}">
      <dsp:nvSpPr>
        <dsp:cNvPr id="0" name=""/>
        <dsp:cNvSpPr/>
      </dsp:nvSpPr>
      <dsp:spPr>
        <a:xfrm>
          <a:off x="1024350" y="444907"/>
          <a:ext cx="1102500" cy="1102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52DF716-2888-46AF-9A4B-C5C6E7218CDC}">
      <dsp:nvSpPr>
        <dsp:cNvPr id="0" name=""/>
        <dsp:cNvSpPr/>
      </dsp:nvSpPr>
      <dsp:spPr>
        <a:xfrm>
          <a:off x="600" y="2555408"/>
          <a:ext cx="31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Data is essential for successful AI implementations</a:t>
          </a:r>
        </a:p>
      </dsp:txBody>
      <dsp:txXfrm>
        <a:off x="600" y="2555408"/>
        <a:ext cx="3150000" cy="720000"/>
      </dsp:txXfrm>
    </dsp:sp>
    <dsp:sp modelId="{F09F2D82-1E90-4069-AA07-87ACF3192EF5}">
      <dsp:nvSpPr>
        <dsp:cNvPr id="0" name=""/>
        <dsp:cNvSpPr/>
      </dsp:nvSpPr>
      <dsp:spPr>
        <a:xfrm>
          <a:off x="4316100" y="35407"/>
          <a:ext cx="1921500" cy="19215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29787E-5C3C-4B22-AC4A-E7B71F1F0073}">
      <dsp:nvSpPr>
        <dsp:cNvPr id="0" name=""/>
        <dsp:cNvSpPr/>
      </dsp:nvSpPr>
      <dsp:spPr>
        <a:xfrm>
          <a:off x="4725600" y="444907"/>
          <a:ext cx="1102500" cy="1102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04EE583-6B01-4FF3-B236-90F3A987A599}">
      <dsp:nvSpPr>
        <dsp:cNvPr id="0" name=""/>
        <dsp:cNvSpPr/>
      </dsp:nvSpPr>
      <dsp:spPr>
        <a:xfrm>
          <a:off x="3701850" y="2555408"/>
          <a:ext cx="31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Like a human, AI works best when the information that it assimilates is reliable and constant</a:t>
          </a:r>
        </a:p>
      </dsp:txBody>
      <dsp:txXfrm>
        <a:off x="3701850" y="2555408"/>
        <a:ext cx="3150000" cy="720000"/>
      </dsp:txXfrm>
    </dsp:sp>
    <dsp:sp modelId="{2A477F0D-D901-4B67-9A28-A82FC30707C3}">
      <dsp:nvSpPr>
        <dsp:cNvPr id="0" name=""/>
        <dsp:cNvSpPr/>
      </dsp:nvSpPr>
      <dsp:spPr>
        <a:xfrm>
          <a:off x="8017350" y="35407"/>
          <a:ext cx="1921500" cy="19215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FACD98-288A-47C3-B793-345B1EC2246B}">
      <dsp:nvSpPr>
        <dsp:cNvPr id="0" name=""/>
        <dsp:cNvSpPr/>
      </dsp:nvSpPr>
      <dsp:spPr>
        <a:xfrm>
          <a:off x="8426850" y="444907"/>
          <a:ext cx="1102500" cy="11025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1D36E20-0E1D-477D-BA52-8FBD193E066D}">
      <dsp:nvSpPr>
        <dsp:cNvPr id="0" name=""/>
        <dsp:cNvSpPr/>
      </dsp:nvSpPr>
      <dsp:spPr>
        <a:xfrm>
          <a:off x="7403100" y="2555408"/>
          <a:ext cx="31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This allows the systems to learn and without this constant supply of data, the AI systems are prone to stagnation</a:t>
          </a:r>
        </a:p>
      </dsp:txBody>
      <dsp:txXfrm>
        <a:off x="7403100" y="2555408"/>
        <a:ext cx="315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232272-2FFD-4488-988F-2EAAA4A261EA}">
      <dsp:nvSpPr>
        <dsp:cNvPr id="0" name=""/>
        <dsp:cNvSpPr/>
      </dsp:nvSpPr>
      <dsp:spPr>
        <a:xfrm>
          <a:off x="1224952" y="465736"/>
          <a:ext cx="1302395" cy="130239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D430C32-CA35-46AE-882A-957A00C27FBE}">
      <dsp:nvSpPr>
        <dsp:cNvPr id="0" name=""/>
        <dsp:cNvSpPr/>
      </dsp:nvSpPr>
      <dsp:spPr>
        <a:xfrm>
          <a:off x="429044" y="2125079"/>
          <a:ext cx="28942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For example, an AI needed for a flight controller would need data related to pitch, yaw, roll, direction, coordinates, speed, acceleration, wind speed/dir, etc.</a:t>
          </a:r>
        </a:p>
      </dsp:txBody>
      <dsp:txXfrm>
        <a:off x="429044" y="2125079"/>
        <a:ext cx="2894212" cy="720000"/>
      </dsp:txXfrm>
    </dsp:sp>
    <dsp:sp modelId="{0613EEC4-E3B5-47CA-AFDA-5482449E107D}">
      <dsp:nvSpPr>
        <dsp:cNvPr id="0" name=""/>
        <dsp:cNvSpPr/>
      </dsp:nvSpPr>
      <dsp:spPr>
        <a:xfrm>
          <a:off x="4625652" y="465736"/>
          <a:ext cx="1302395" cy="130239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3112300-B365-459E-95BD-335154076543}">
      <dsp:nvSpPr>
        <dsp:cNvPr id="0" name=""/>
        <dsp:cNvSpPr/>
      </dsp:nvSpPr>
      <dsp:spPr>
        <a:xfrm>
          <a:off x="3829743" y="2125079"/>
          <a:ext cx="28942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The typical data needed would only be flight-related</a:t>
          </a:r>
        </a:p>
      </dsp:txBody>
      <dsp:txXfrm>
        <a:off x="3829743" y="2125079"/>
        <a:ext cx="2894212" cy="720000"/>
      </dsp:txXfrm>
    </dsp:sp>
    <dsp:sp modelId="{496D924F-5E2A-4254-BA03-A1C77C9EE94B}">
      <dsp:nvSpPr>
        <dsp:cNvPr id="0" name=""/>
        <dsp:cNvSpPr/>
      </dsp:nvSpPr>
      <dsp:spPr>
        <a:xfrm>
          <a:off x="8026351" y="465736"/>
          <a:ext cx="1302395" cy="130239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2CFE364-762B-41F5-981F-E140C0B29FA6}">
      <dsp:nvSpPr>
        <dsp:cNvPr id="0" name=""/>
        <dsp:cNvSpPr/>
      </dsp:nvSpPr>
      <dsp:spPr>
        <a:xfrm>
          <a:off x="7230443" y="2125079"/>
          <a:ext cx="28942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This AI system would not need data on displacement, currents, crosswalk signage, etc.</a:t>
          </a:r>
        </a:p>
      </dsp:txBody>
      <dsp:txXfrm>
        <a:off x="7230443" y="2125079"/>
        <a:ext cx="2894212"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711570-E675-4B70-89F9-ABE38C2DE57C}" type="datetimeFigureOut">
              <a:rPr lang="en-US" smtClean="0"/>
              <a:t>5/31/2024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963B08-52C8-4357-B046-887EE840B405}" type="slidenum">
              <a:rPr lang="en-US" smtClean="0"/>
              <a:t>‹#›</a:t>
            </a:fld>
            <a:endParaRPr lang="en-US"/>
          </a:p>
        </p:txBody>
      </p:sp>
    </p:spTree>
    <p:extLst>
      <p:ext uri="{BB962C8B-B14F-4D97-AF65-F5344CB8AC3E}">
        <p14:creationId xmlns:p14="http://schemas.microsoft.com/office/powerpoint/2010/main" val="2495098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Data is essential for successful AI implementations. It is used for initial training, enabling decision making, and it enables the AI to evolve over time. Like a human, AI works best when the information that it assimilates is reliable and constant. This allows the systems to learn and without this constant supply of data, the AI systems are prone to stagnation</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3</a:t>
            </a:fld>
            <a:endParaRPr lang="en-US"/>
          </a:p>
        </p:txBody>
      </p:sp>
    </p:spTree>
    <p:extLst>
      <p:ext uri="{BB962C8B-B14F-4D97-AF65-F5344CB8AC3E}">
        <p14:creationId xmlns:p14="http://schemas.microsoft.com/office/powerpoint/2010/main" val="40764527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Data is essential for successful AI implementations. It is used for initial training, enabling decision making, and it enables the AI to evolve over time. Like a human, AI works best when the information that it assimilates is reliable and constant. This allows the systems to learn and without this constant supply of data, the AI systems are prone to stagnation</a:t>
            </a:r>
          </a:p>
          <a:p>
            <a:endParaRPr lang="en-US" sz="1800" dirty="0">
              <a:effectLst/>
              <a:latin typeface="Aptos" panose="020B0004020202020204" pitchFamily="34" charset="0"/>
              <a:cs typeface="Times New Roman" panose="02020603050405020304" pitchFamily="18" charset="0"/>
            </a:endParaRPr>
          </a:p>
          <a:p>
            <a:r>
              <a:rPr lang="en-US" sz="1800" dirty="0">
                <a:effectLst/>
                <a:latin typeface="Aptos" panose="020B0004020202020204" pitchFamily="34" charset="0"/>
                <a:cs typeface="Times New Roman" panose="02020603050405020304" pitchFamily="18" charset="0"/>
              </a:rPr>
              <a:t>Copilot Designer, 05312024; “</a:t>
            </a:r>
            <a:br>
              <a:rPr lang="en-US" dirty="0"/>
            </a:br>
            <a:r>
              <a:rPr lang="en-US" b="0" i="0" dirty="0">
                <a:solidFill>
                  <a:srgbClr val="111111"/>
                </a:solidFill>
                <a:effectLst/>
                <a:highlight>
                  <a:srgbClr val="F7F7F7"/>
                </a:highlight>
                <a:latin typeface="-apple-system"/>
              </a:rPr>
              <a:t>image of empty stadium seats with each row a different color</a:t>
            </a:r>
            <a:r>
              <a:rPr lang="en-US" sz="1800" b="0" i="0" dirty="0">
                <a:solidFill>
                  <a:srgbClr val="111111"/>
                </a:solidFill>
                <a:effectLst/>
                <a:highlight>
                  <a:srgbClr val="F7F7F7"/>
                </a:highlight>
                <a:latin typeface="Aptos" panose="020B0004020202020204" pitchFamily="34" charset="0"/>
                <a:cs typeface="Times New Roman" panose="02020603050405020304" pitchFamily="18" charset="0"/>
              </a:rPr>
              <a:t>”</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4</a:t>
            </a:fld>
            <a:endParaRPr lang="en-US"/>
          </a:p>
        </p:txBody>
      </p:sp>
    </p:spTree>
    <p:extLst>
      <p:ext uri="{BB962C8B-B14F-4D97-AF65-F5344CB8AC3E}">
        <p14:creationId xmlns:p14="http://schemas.microsoft.com/office/powerpoint/2010/main" val="1802245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Vertical Application will see the AI satisfy a role with a limited subset of capabilities. This includes things like autonomous piloting of vehicles, home automation devices, factory robotics, etc. These applications use AI for specific tasks and are tailored to the data that is supplied to them when they were designed. Constant data is not necessarily needed in this case because the variance of inputs are limited in scope to the tasks. These AI can be learning-AI but are typically stagnant in their factory-developed states</a:t>
            </a:r>
          </a:p>
          <a:p>
            <a:endParaRPr lang="en-US" sz="1800" dirty="0">
              <a:effectLst/>
              <a:latin typeface="Aptos" panose="020B0004020202020204" pitchFamily="34" charset="0"/>
              <a:cs typeface="Times New Roman" panose="02020603050405020304" pitchFamily="18" charset="0"/>
            </a:endParaRPr>
          </a:p>
          <a:p>
            <a:r>
              <a:rPr lang="en-US" sz="1800" dirty="0">
                <a:effectLst/>
                <a:latin typeface="Aptos" panose="020B0004020202020204" pitchFamily="34" charset="0"/>
                <a:cs typeface="Times New Roman" panose="02020603050405020304" pitchFamily="18" charset="0"/>
              </a:rPr>
              <a:t>Copilot Designer, 05312024; “</a:t>
            </a:r>
            <a:r>
              <a:rPr lang="en-US" b="0" i="0" dirty="0">
                <a:solidFill>
                  <a:srgbClr val="111111"/>
                </a:solidFill>
                <a:effectLst/>
                <a:highlight>
                  <a:srgbClr val="F7F7F7"/>
                </a:highlight>
                <a:latin typeface="-apple-system"/>
              </a:rPr>
              <a:t>image of a yellow robot arm moving different sized boxes on a belt in a factory</a:t>
            </a:r>
            <a:r>
              <a:rPr lang="en-US" sz="1800" b="0" i="0" dirty="0">
                <a:solidFill>
                  <a:srgbClr val="111111"/>
                </a:solidFill>
                <a:effectLst/>
                <a:highlight>
                  <a:srgbClr val="F7F7F7"/>
                </a:highlight>
                <a:latin typeface="Aptos" panose="020B0004020202020204" pitchFamily="34" charset="0"/>
                <a:cs typeface="Times New Roman" panose="02020603050405020304" pitchFamily="18" charset="0"/>
              </a:rPr>
              <a:t>”</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5</a:t>
            </a:fld>
            <a:endParaRPr lang="en-US"/>
          </a:p>
        </p:txBody>
      </p:sp>
    </p:spTree>
    <p:extLst>
      <p:ext uri="{BB962C8B-B14F-4D97-AF65-F5344CB8AC3E}">
        <p14:creationId xmlns:p14="http://schemas.microsoft.com/office/powerpoint/2010/main" val="3553294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Vertical Application will see the AI satisfy a role with a limited subset of capabilities. This includes things like autonomous piloting of vehicles, home automation devices, factory robotics, etc. These applications use AI for specific tasks and are tailored to the data that is supplied to them when they were designed. Constant data is not necessarily needed in this case because the variance of inputs are limited in scope to the tasks. These AI can be learning-AI but are typically stagnant in their factory-developed states</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6</a:t>
            </a:fld>
            <a:endParaRPr lang="en-US"/>
          </a:p>
        </p:txBody>
      </p:sp>
    </p:spTree>
    <p:extLst>
      <p:ext uri="{BB962C8B-B14F-4D97-AF65-F5344CB8AC3E}">
        <p14:creationId xmlns:p14="http://schemas.microsoft.com/office/powerpoint/2010/main" val="2952307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Vertical Application will see the AI satisfy a role with a limited subset of capabilities. This includes things like autonomous piloting of vehicles, home automation devices, factory robotics, etc. These applications use AI for specific tasks and are tailored to the data that is supplied to them when they were designed. Constant data is not necessarily needed in this case because the variance of inputs are limited in scope to the tasks. These AI can be learning-AI but are typically stagnant in their factory-developed states</a:t>
            </a:r>
          </a:p>
          <a:p>
            <a:endParaRPr lang="en-US" sz="1800" dirty="0">
              <a:effectLst/>
              <a:latin typeface="Aptos" panose="020B000402020202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95963B08-52C8-4357-B046-887EE840B405}" type="slidenum">
              <a:rPr lang="en-US" smtClean="0"/>
              <a:t>7</a:t>
            </a:fld>
            <a:endParaRPr lang="en-US"/>
          </a:p>
        </p:txBody>
      </p:sp>
    </p:spTree>
    <p:extLst>
      <p:ext uri="{BB962C8B-B14F-4D97-AF65-F5344CB8AC3E}">
        <p14:creationId xmlns:p14="http://schemas.microsoft.com/office/powerpoint/2010/main" val="4025403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Horizontal Application will see the AI satisfy tasks in a variety of roles. This includes some modern generative AI systems, military/government AI systems, and systems in research and development. These systems require massive datasets at training and will constantly need data to learn, adapt, and grow over time. They are the most capable systems but are more vulnerable to instability because of the need to constant data. The more data they assimilate, the more capable they become. However, if the data is assimilated from unreliable sources, then the systems can be corrupted</a:t>
            </a:r>
          </a:p>
          <a:p>
            <a:endParaRPr lang="en-US" sz="1800" dirty="0">
              <a:effectLst/>
              <a:latin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ptos" panose="020B0004020202020204" pitchFamily="34" charset="0"/>
                <a:cs typeface="Times New Roman" panose="02020603050405020304" pitchFamily="18" charset="0"/>
              </a:rPr>
              <a:t>Copilot Designer, 06012024; “an android robot walking and carrying boxes in its arms in a factory”</a:t>
            </a:r>
            <a:endParaRPr lang="en-US" dirty="0"/>
          </a:p>
          <a:p>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8</a:t>
            </a:fld>
            <a:endParaRPr lang="en-US"/>
          </a:p>
        </p:txBody>
      </p:sp>
    </p:spTree>
    <p:extLst>
      <p:ext uri="{BB962C8B-B14F-4D97-AF65-F5344CB8AC3E}">
        <p14:creationId xmlns:p14="http://schemas.microsoft.com/office/powerpoint/2010/main" val="17274776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Horizontal Application will see the AI satisfy tasks in a variety of roles. This includes some modern generative AI systems, military/government AI systems, and systems in research and development. These systems require massive datasets at training and will constantly need data to learn, adapt, and grow over time. They are the most capable systems but are more vulnerable to instability because of the need to constant data. The more data they assimilate, the more capable they become. However, if the data is assimilated from unreliable sources, then the systems can be corrupted</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9</a:t>
            </a:fld>
            <a:endParaRPr lang="en-US"/>
          </a:p>
        </p:txBody>
      </p:sp>
    </p:spTree>
    <p:extLst>
      <p:ext uri="{BB962C8B-B14F-4D97-AF65-F5344CB8AC3E}">
        <p14:creationId xmlns:p14="http://schemas.microsoft.com/office/powerpoint/2010/main" val="18586357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5/31/2024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5/31/2024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5/31/2024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5/31/2024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5/31/2024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5/31/2024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5/31/2024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5/31/2024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5/31/2024</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5/31/2024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5/31/2024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5/31/2024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5/31/2024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5/31/2024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5/31/2024</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276AD-F23B-1243-1F17-1DE59E1B8BC6}"/>
              </a:ext>
            </a:extLst>
          </p:cNvPr>
          <p:cNvSpPr>
            <a:spLocks noGrp="1"/>
          </p:cNvSpPr>
          <p:nvPr>
            <p:ph type="ctrTitle"/>
          </p:nvPr>
        </p:nvSpPr>
        <p:spPr/>
        <p:txBody>
          <a:bodyPr/>
          <a:lstStyle/>
          <a:p>
            <a:r>
              <a:rPr lang="en-US" dirty="0"/>
              <a:t>AI Fundamentals 	</a:t>
            </a:r>
          </a:p>
        </p:txBody>
      </p:sp>
      <p:sp>
        <p:nvSpPr>
          <p:cNvPr id="3" name="Subtitle 2">
            <a:extLst>
              <a:ext uri="{FF2B5EF4-FFF2-40B4-BE49-F238E27FC236}">
                <a16:creationId xmlns:a16="http://schemas.microsoft.com/office/drawing/2014/main" id="{ECEB3CB5-DFBF-DFD8-8D0A-8B56AC87F984}"/>
              </a:ext>
            </a:extLst>
          </p:cNvPr>
          <p:cNvSpPr>
            <a:spLocks noGrp="1"/>
          </p:cNvSpPr>
          <p:nvPr>
            <p:ph type="subTitle" idx="1"/>
          </p:nvPr>
        </p:nvSpPr>
        <p:spPr>
          <a:xfrm>
            <a:off x="810001" y="5280846"/>
            <a:ext cx="10572000" cy="1220437"/>
          </a:xfrm>
        </p:spPr>
        <p:txBody>
          <a:bodyPr>
            <a:normAutofit/>
          </a:bodyPr>
          <a:lstStyle/>
          <a:p>
            <a:r>
              <a:rPr lang="en-US" dirty="0"/>
              <a:t>Madison College</a:t>
            </a:r>
          </a:p>
          <a:p>
            <a:r>
              <a:rPr lang="en-US" dirty="0"/>
              <a:t>Week 03</a:t>
            </a:r>
          </a:p>
          <a:p>
            <a:r>
              <a:rPr lang="en-US" dirty="0">
                <a:solidFill>
                  <a:srgbClr val="FFFF00"/>
                </a:solidFill>
              </a:rPr>
              <a:t>Part 1: Data Management – Requirements and Application</a:t>
            </a:r>
          </a:p>
        </p:txBody>
      </p:sp>
    </p:spTree>
    <p:extLst>
      <p:ext uri="{BB962C8B-B14F-4D97-AF65-F5344CB8AC3E}">
        <p14:creationId xmlns:p14="http://schemas.microsoft.com/office/powerpoint/2010/main" val="1071873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Computer Generated Lights">
            <a:extLst>
              <a:ext uri="{FF2B5EF4-FFF2-40B4-BE49-F238E27FC236}">
                <a16:creationId xmlns:a16="http://schemas.microsoft.com/office/drawing/2014/main" id="{3510C163-53EA-425A-034F-14AFE5735E82}"/>
              </a:ext>
            </a:extLst>
          </p:cNvPr>
          <p:cNvPicPr>
            <a:picLocks noChangeAspect="1"/>
          </p:cNvPicPr>
          <p:nvPr/>
        </p:nvPicPr>
        <p:blipFill rotWithShape="1">
          <a:blip r:embed="rId2">
            <a:duotone>
              <a:schemeClr val="accent1">
                <a:shade val="45000"/>
                <a:satMod val="135000"/>
              </a:schemeClr>
              <a:prstClr val="white"/>
            </a:duotone>
          </a:blip>
          <a:srcRect l="11845" r="22394"/>
          <a:stretch/>
        </p:blipFill>
        <p:spPr>
          <a:xfrm>
            <a:off x="6108700" y="-1"/>
            <a:ext cx="6094450" cy="6858001"/>
          </a:xfrm>
          <a:prstGeom prst="rect">
            <a:avLst/>
          </a:prstGeom>
        </p:spPr>
      </p:pic>
      <p:sp>
        <p:nvSpPr>
          <p:cNvPr id="9" name="Freeform 16">
            <a:extLst>
              <a:ext uri="{FF2B5EF4-FFF2-40B4-BE49-F238E27FC236}">
                <a16:creationId xmlns:a16="http://schemas.microsoft.com/office/drawing/2014/main" id="{3EEED574-6FCC-45F8-ABA8-05782705A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a:xfrm>
            <a:off x="810000" y="447188"/>
            <a:ext cx="5070100" cy="1153012"/>
          </a:xfrm>
        </p:spPr>
        <p:txBody>
          <a:bodyPr>
            <a:normAutofit/>
          </a:bodyPr>
          <a:lstStyle/>
          <a:p>
            <a:r>
              <a:rPr lang="en-US" dirty="0"/>
              <a:t>Preface</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idx="1"/>
          </p:nvPr>
        </p:nvSpPr>
        <p:spPr>
          <a:xfrm>
            <a:off x="818712" y="1708484"/>
            <a:ext cx="5055923" cy="4336716"/>
          </a:xfrm>
        </p:spPr>
        <p:txBody>
          <a:bodyPr>
            <a:normAutofit/>
          </a:bodyPr>
          <a:lstStyle/>
          <a:p>
            <a:pPr marL="0" indent="0">
              <a:lnSpc>
                <a:spcPct val="90000"/>
              </a:lnSpc>
              <a:buNone/>
            </a:pPr>
            <a:r>
              <a:rPr lang="en-US" sz="1600" dirty="0">
                <a:latin typeface="Aptos" panose="020B0004020202020204" pitchFamily="34" charset="0"/>
                <a:ea typeface="Aptos" panose="020B0004020202020204" pitchFamily="34" charset="0"/>
                <a:cs typeface="Times New Roman" panose="02020603050405020304" pitchFamily="18" charset="0"/>
              </a:rPr>
              <a:t>A human begins learning about its environment before birth. The human brain takes in data from upwards of 4 million touch receptors on the skin of an average person. Humans also take in data information from many other receptors orally, visually, audibly, and through smell. Data from all of our organs, our autonomic systems such as digestion and respiration, and data from our unconscious thoughts all add up to a maelstrom of information that a human brain processes near constantly. That deluge of data has been fed to almost 100 billion neurons in the average human brain since before birth. Learning to read and speak from various sources was such a small amount of that data. Modern AI needs a tremendous amount of data as well to do the simple tasks required of it and the collection of this data can be challenging.</a:t>
            </a:r>
          </a:p>
        </p:txBody>
      </p:sp>
    </p:spTree>
    <p:extLst>
      <p:ext uri="{BB962C8B-B14F-4D97-AF65-F5344CB8AC3E}">
        <p14:creationId xmlns:p14="http://schemas.microsoft.com/office/powerpoint/2010/main" val="438809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16D1431C-18C1-4790-AAFC-9A4059AF3F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a:xfrm>
            <a:off x="810000" y="447188"/>
            <a:ext cx="10571998" cy="970450"/>
          </a:xfrm>
        </p:spPr>
        <p:txBody>
          <a:bodyPr vert="horz" lIns="91440" tIns="45720" rIns="91440" bIns="45720" rtlCol="0" anchor="b">
            <a:normAutofit/>
          </a:bodyPr>
          <a:lstStyle/>
          <a:p>
            <a:r>
              <a:rPr lang="en-US" dirty="0"/>
              <a:t>Data Requirements</a:t>
            </a:r>
          </a:p>
        </p:txBody>
      </p:sp>
      <p:graphicFrame>
        <p:nvGraphicFramePr>
          <p:cNvPr id="6" name="Content Placeholder 2">
            <a:extLst>
              <a:ext uri="{FF2B5EF4-FFF2-40B4-BE49-F238E27FC236}">
                <a16:creationId xmlns:a16="http://schemas.microsoft.com/office/drawing/2014/main" id="{18248E83-671D-FA56-1EF2-0403C8C2E96C}"/>
              </a:ext>
            </a:extLst>
          </p:cNvPr>
          <p:cNvGraphicFramePr>
            <a:graphicFrameLocks noGrp="1"/>
          </p:cNvGraphicFramePr>
          <p:nvPr>
            <p:ph sz="half" idx="1"/>
            <p:extLst>
              <p:ext uri="{D42A27DB-BD31-4B8C-83A1-F6EECF244321}">
                <p14:modId xmlns:p14="http://schemas.microsoft.com/office/powerpoint/2010/main" val="4215630849"/>
              </p:ext>
            </p:extLst>
          </p:nvPr>
        </p:nvGraphicFramePr>
        <p:xfrm>
          <a:off x="819150" y="2548647"/>
          <a:ext cx="10553700" cy="33108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92750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p:txBody>
          <a:bodyPr/>
          <a:lstStyle/>
          <a:p>
            <a:r>
              <a:rPr lang="en-US" dirty="0"/>
              <a:t>Data breadth and depth</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a:xfrm>
            <a:off x="5871975" y="2136046"/>
            <a:ext cx="5870846" cy="4274766"/>
          </a:xfrm>
        </p:spPr>
        <p:txBody>
          <a:bodyPr>
            <a:normAutofit/>
          </a:bodyPr>
          <a:lstStyle/>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The type of data required by an AI is dependent on what type of role it intends to fill</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AI can typically fall into two categories of application dependent upon need: vertical and horizontal</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Another way of describing them could be as simple AI (vertical) and general AI (horizontal)</a:t>
            </a:r>
          </a:p>
        </p:txBody>
      </p:sp>
      <p:pic>
        <p:nvPicPr>
          <p:cNvPr id="4" name="Picture 3">
            <a:extLst>
              <a:ext uri="{FF2B5EF4-FFF2-40B4-BE49-F238E27FC236}">
                <a16:creationId xmlns:a16="http://schemas.microsoft.com/office/drawing/2014/main" id="{1720A452-2535-6F2F-0A8C-9E218B91DC0B}"/>
              </a:ext>
            </a:extLst>
          </p:cNvPr>
          <p:cNvPicPr>
            <a:picLocks noChangeAspect="1"/>
          </p:cNvPicPr>
          <p:nvPr/>
        </p:nvPicPr>
        <p:blipFill>
          <a:blip r:embed="rId3"/>
          <a:stretch>
            <a:fillRect/>
          </a:stretch>
        </p:blipFill>
        <p:spPr>
          <a:xfrm>
            <a:off x="0" y="1900988"/>
            <a:ext cx="4957011" cy="4957011"/>
          </a:xfrm>
          <a:prstGeom prst="rect">
            <a:avLst/>
          </a:prstGeom>
        </p:spPr>
      </p:pic>
    </p:spTree>
    <p:extLst>
      <p:ext uri="{BB962C8B-B14F-4D97-AF65-F5344CB8AC3E}">
        <p14:creationId xmlns:p14="http://schemas.microsoft.com/office/powerpoint/2010/main" val="4029108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p:txBody>
          <a:bodyPr/>
          <a:lstStyle/>
          <a:p>
            <a:r>
              <a:rPr lang="en-US" dirty="0"/>
              <a:t>Vertical application AI</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a:xfrm>
            <a:off x="818712" y="2222287"/>
            <a:ext cx="5185873" cy="4274766"/>
          </a:xfrm>
        </p:spPr>
        <p:txBody>
          <a:bodyPr>
            <a:normAutofit/>
          </a:bodyPr>
          <a:lstStyle/>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Vertical Application will see the AI satisfy a role with a limited subset of capabilities</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Examples include autonomous piloting of vehicles, home automation devices, factory robot</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These applications use AI for specific tasks and are tailored to the data that is supplied to them when they were designed</a:t>
            </a:r>
          </a:p>
        </p:txBody>
      </p:sp>
      <p:pic>
        <p:nvPicPr>
          <p:cNvPr id="4" name="Picture 3">
            <a:extLst>
              <a:ext uri="{FF2B5EF4-FFF2-40B4-BE49-F238E27FC236}">
                <a16:creationId xmlns:a16="http://schemas.microsoft.com/office/drawing/2014/main" id="{9664A0DA-2C7B-A73A-6299-0F971F3E7BD6}"/>
              </a:ext>
            </a:extLst>
          </p:cNvPr>
          <p:cNvPicPr>
            <a:picLocks noChangeAspect="1"/>
          </p:cNvPicPr>
          <p:nvPr/>
        </p:nvPicPr>
        <p:blipFill>
          <a:blip r:embed="rId3"/>
          <a:stretch>
            <a:fillRect/>
          </a:stretch>
        </p:blipFill>
        <p:spPr>
          <a:xfrm>
            <a:off x="7218946" y="1884946"/>
            <a:ext cx="4973053" cy="4973053"/>
          </a:xfrm>
          <a:prstGeom prst="rect">
            <a:avLst/>
          </a:prstGeom>
        </p:spPr>
      </p:pic>
    </p:spTree>
    <p:extLst>
      <p:ext uri="{BB962C8B-B14F-4D97-AF65-F5344CB8AC3E}">
        <p14:creationId xmlns:p14="http://schemas.microsoft.com/office/powerpoint/2010/main" val="2262068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Freeform 6">
            <a:extLst>
              <a:ext uri="{FF2B5EF4-FFF2-40B4-BE49-F238E27FC236}">
                <a16:creationId xmlns:a16="http://schemas.microsoft.com/office/drawing/2014/main" id="{8EE457FF-670E-4EC1-ACD4-1173DA9A79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0" name="Rectangle 9">
            <a:extLst>
              <a:ext uri="{FF2B5EF4-FFF2-40B4-BE49-F238E27FC236}">
                <a16:creationId xmlns:a16="http://schemas.microsoft.com/office/drawing/2014/main" id="{089A69AF-D57B-49B4-886C-D4A5DC194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CABDC08D-6093-4397-92D4-54D00E2B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650724" y="650724"/>
            <a:ext cx="6858000" cy="5556552"/>
          </a:xfrm>
          <a:custGeom>
            <a:avLst/>
            <a:gdLst>
              <a:gd name="connsiteX0" fmla="*/ 6858000 w 6858000"/>
              <a:gd name="connsiteY0" fmla="*/ 3445704 h 5556552"/>
              <a:gd name="connsiteX1" fmla="*/ 3829242 w 6858000"/>
              <a:gd name="connsiteY1" fmla="*/ 5433322 h 5556552"/>
              <a:gd name="connsiteX2" fmla="*/ 3827369 w 6858000"/>
              <a:gd name="connsiteY2" fmla="*/ 5434867 h 5556552"/>
              <a:gd name="connsiteX3" fmla="*/ 3824583 w 6858000"/>
              <a:gd name="connsiteY3" fmla="*/ 5436378 h 5556552"/>
              <a:gd name="connsiteX4" fmla="*/ 3798693 w 6858000"/>
              <a:gd name="connsiteY4" fmla="*/ 5453370 h 5556552"/>
              <a:gd name="connsiteX5" fmla="*/ 3785011 w 6858000"/>
              <a:gd name="connsiteY5" fmla="*/ 5457858 h 5556552"/>
              <a:gd name="connsiteX6" fmla="*/ 3706339 w 6858000"/>
              <a:gd name="connsiteY6" fmla="*/ 5500559 h 5556552"/>
              <a:gd name="connsiteX7" fmla="*/ 3428998 w 6858000"/>
              <a:gd name="connsiteY7" fmla="*/ 5556552 h 5556552"/>
              <a:gd name="connsiteX8" fmla="*/ 3151658 w 6858000"/>
              <a:gd name="connsiteY8" fmla="*/ 5500559 h 5556552"/>
              <a:gd name="connsiteX9" fmla="*/ 3072996 w 6858000"/>
              <a:gd name="connsiteY9" fmla="*/ 5457863 h 5556552"/>
              <a:gd name="connsiteX10" fmla="*/ 3059298 w 6858000"/>
              <a:gd name="connsiteY10" fmla="*/ 5453370 h 5556552"/>
              <a:gd name="connsiteX11" fmla="*/ 3033383 w 6858000"/>
              <a:gd name="connsiteY11" fmla="*/ 5436362 h 5556552"/>
              <a:gd name="connsiteX12" fmla="*/ 3030627 w 6858000"/>
              <a:gd name="connsiteY12" fmla="*/ 5434867 h 5556552"/>
              <a:gd name="connsiteX13" fmla="*/ 3028775 w 6858000"/>
              <a:gd name="connsiteY13" fmla="*/ 5433338 h 5556552"/>
              <a:gd name="connsiteX14" fmla="*/ 0 w 6858000"/>
              <a:gd name="connsiteY14" fmla="*/ 3445704 h 5556552"/>
              <a:gd name="connsiteX15" fmla="*/ 6858000 w 6858000"/>
              <a:gd name="connsiteY15" fmla="*/ 0 h 5556552"/>
              <a:gd name="connsiteX16" fmla="*/ 6858000 w 6858000"/>
              <a:gd name="connsiteY16" fmla="*/ 349336 h 5556552"/>
              <a:gd name="connsiteX17" fmla="*/ 6858000 w 6858000"/>
              <a:gd name="connsiteY17" fmla="*/ 3445703 h 5556552"/>
              <a:gd name="connsiteX18" fmla="*/ 0 w 6858000"/>
              <a:gd name="connsiteY18" fmla="*/ 3445703 h 5556552"/>
              <a:gd name="connsiteX19" fmla="*/ 0 w 6858000"/>
              <a:gd name="connsiteY19" fmla="*/ 0 h 555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58000" h="5556552">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ln>
            <a:noFill/>
          </a:ln>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a:xfrm>
            <a:off x="451515" y="1734857"/>
            <a:ext cx="3765483" cy="3388287"/>
          </a:xfrm>
        </p:spPr>
        <p:txBody>
          <a:bodyPr vert="horz" lIns="91440" tIns="45720" rIns="91440" bIns="45720" rtlCol="0" anchor="ctr">
            <a:normAutofit/>
          </a:bodyPr>
          <a:lstStyle/>
          <a:p>
            <a:r>
              <a:rPr lang="en-US" dirty="0"/>
              <a:t>Vertical application AI, cont’d</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a:xfrm>
            <a:off x="6008068" y="978993"/>
            <a:ext cx="5365218" cy="4900014"/>
          </a:xfrm>
          <a:effectLst/>
        </p:spPr>
        <p:txBody>
          <a:bodyPr vert="horz" lIns="91440" tIns="45720" rIns="91440" bIns="45720" rtlCol="0" anchor="ctr">
            <a:normAutofit/>
          </a:bodyPr>
          <a:lstStyle/>
          <a:p>
            <a:r>
              <a:rPr lang="en-US" dirty="0"/>
              <a:t>Constant data is not necessarily needed in this case because the variance of inputs are limited in scope to the tasks</a:t>
            </a:r>
          </a:p>
          <a:p>
            <a:r>
              <a:rPr lang="en-US" dirty="0"/>
              <a:t>While these types of AI can learn, the data is typically application-dependent as with new skills learned</a:t>
            </a:r>
          </a:p>
          <a:p>
            <a:r>
              <a:rPr lang="en-US" dirty="0"/>
              <a:t>They are typically stagnant in their factory-developed states with designed data</a:t>
            </a:r>
          </a:p>
        </p:txBody>
      </p:sp>
    </p:spTree>
    <p:extLst>
      <p:ext uri="{BB962C8B-B14F-4D97-AF65-F5344CB8AC3E}">
        <p14:creationId xmlns:p14="http://schemas.microsoft.com/office/powerpoint/2010/main" val="486761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16D1431C-18C1-4790-AAFC-9A4059AF3F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a:xfrm>
            <a:off x="810000" y="447188"/>
            <a:ext cx="10571998" cy="970450"/>
          </a:xfrm>
        </p:spPr>
        <p:txBody>
          <a:bodyPr vert="horz" lIns="91440" tIns="45720" rIns="91440" bIns="45720" rtlCol="0" anchor="b">
            <a:normAutofit/>
          </a:bodyPr>
          <a:lstStyle/>
          <a:p>
            <a:r>
              <a:rPr lang="en-US" dirty="0"/>
              <a:t>Vertical application AI, cont’d</a:t>
            </a:r>
          </a:p>
        </p:txBody>
      </p:sp>
      <p:graphicFrame>
        <p:nvGraphicFramePr>
          <p:cNvPr id="6" name="Content Placeholder 2">
            <a:extLst>
              <a:ext uri="{FF2B5EF4-FFF2-40B4-BE49-F238E27FC236}">
                <a16:creationId xmlns:a16="http://schemas.microsoft.com/office/drawing/2014/main" id="{A2418786-0AC3-1A6E-209B-16B4E2EB42F7}"/>
              </a:ext>
            </a:extLst>
          </p:cNvPr>
          <p:cNvGraphicFramePr>
            <a:graphicFrameLocks noGrp="1"/>
          </p:cNvGraphicFramePr>
          <p:nvPr>
            <p:ph sz="half" idx="1"/>
            <p:extLst>
              <p:ext uri="{D42A27DB-BD31-4B8C-83A1-F6EECF244321}">
                <p14:modId xmlns:p14="http://schemas.microsoft.com/office/powerpoint/2010/main" val="964662159"/>
              </p:ext>
            </p:extLst>
          </p:nvPr>
        </p:nvGraphicFramePr>
        <p:xfrm>
          <a:off x="819150" y="2548647"/>
          <a:ext cx="10553700" cy="33108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55117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p:txBody>
          <a:bodyPr/>
          <a:lstStyle/>
          <a:p>
            <a:r>
              <a:rPr lang="en-US" dirty="0"/>
              <a:t>Horizontal application AI</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a:xfrm>
            <a:off x="6444915" y="2222286"/>
            <a:ext cx="5185873" cy="4274766"/>
          </a:xfrm>
        </p:spPr>
        <p:txBody>
          <a:bodyPr>
            <a:normAutofit lnSpcReduction="10000"/>
          </a:bodyPr>
          <a:lstStyle/>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Horizontal Application will see the AI satisfy tasks in a variety of roles</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Examples include modern generative AI systems, military/government systems, and systems in research and development</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The systems require massive datasets at training and will constantly need data to learn, adapt, and grow over time</a:t>
            </a:r>
          </a:p>
        </p:txBody>
      </p:sp>
      <p:sp>
        <p:nvSpPr>
          <p:cNvPr id="5" name="Content Placeholder 4">
            <a:extLst>
              <a:ext uri="{FF2B5EF4-FFF2-40B4-BE49-F238E27FC236}">
                <a16:creationId xmlns:a16="http://schemas.microsoft.com/office/drawing/2014/main" id="{B68FCA84-35CC-C9B4-4828-252F223DA8D7}"/>
              </a:ext>
            </a:extLst>
          </p:cNvPr>
          <p:cNvSpPr>
            <a:spLocks noGrp="1"/>
          </p:cNvSpPr>
          <p:nvPr>
            <p:ph sz="half" idx="2"/>
          </p:nvPr>
        </p:nvSpPr>
        <p:spPr>
          <a:xfrm>
            <a:off x="0" y="1881164"/>
            <a:ext cx="6004585" cy="4957011"/>
          </a:xfrm>
        </p:spPr>
        <p:txBody>
          <a:bodyPr>
            <a:normAutofit lnSpcReduction="10000"/>
          </a:bodyPr>
          <a:lstStyle/>
          <a:p>
            <a:endParaRPr lang="en-US" dirty="0"/>
          </a:p>
        </p:txBody>
      </p:sp>
    </p:spTree>
    <p:extLst>
      <p:ext uri="{BB962C8B-B14F-4D97-AF65-F5344CB8AC3E}">
        <p14:creationId xmlns:p14="http://schemas.microsoft.com/office/powerpoint/2010/main" val="646094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Freeform 6">
            <a:extLst>
              <a:ext uri="{FF2B5EF4-FFF2-40B4-BE49-F238E27FC236}">
                <a16:creationId xmlns:a16="http://schemas.microsoft.com/office/drawing/2014/main" id="{8EE457FF-670E-4EC1-ACD4-1173DA9A79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0" name="Rectangle 9">
            <a:extLst>
              <a:ext uri="{FF2B5EF4-FFF2-40B4-BE49-F238E27FC236}">
                <a16:creationId xmlns:a16="http://schemas.microsoft.com/office/drawing/2014/main" id="{089A69AF-D57B-49B4-886C-D4A5DC194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CABDC08D-6093-4397-92D4-54D00E2B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650724" y="650724"/>
            <a:ext cx="6858000" cy="5556552"/>
          </a:xfrm>
          <a:custGeom>
            <a:avLst/>
            <a:gdLst>
              <a:gd name="connsiteX0" fmla="*/ 6858000 w 6858000"/>
              <a:gd name="connsiteY0" fmla="*/ 3445704 h 5556552"/>
              <a:gd name="connsiteX1" fmla="*/ 3829242 w 6858000"/>
              <a:gd name="connsiteY1" fmla="*/ 5433322 h 5556552"/>
              <a:gd name="connsiteX2" fmla="*/ 3827369 w 6858000"/>
              <a:gd name="connsiteY2" fmla="*/ 5434867 h 5556552"/>
              <a:gd name="connsiteX3" fmla="*/ 3824583 w 6858000"/>
              <a:gd name="connsiteY3" fmla="*/ 5436378 h 5556552"/>
              <a:gd name="connsiteX4" fmla="*/ 3798693 w 6858000"/>
              <a:gd name="connsiteY4" fmla="*/ 5453370 h 5556552"/>
              <a:gd name="connsiteX5" fmla="*/ 3785011 w 6858000"/>
              <a:gd name="connsiteY5" fmla="*/ 5457858 h 5556552"/>
              <a:gd name="connsiteX6" fmla="*/ 3706339 w 6858000"/>
              <a:gd name="connsiteY6" fmla="*/ 5500559 h 5556552"/>
              <a:gd name="connsiteX7" fmla="*/ 3428998 w 6858000"/>
              <a:gd name="connsiteY7" fmla="*/ 5556552 h 5556552"/>
              <a:gd name="connsiteX8" fmla="*/ 3151658 w 6858000"/>
              <a:gd name="connsiteY8" fmla="*/ 5500559 h 5556552"/>
              <a:gd name="connsiteX9" fmla="*/ 3072996 w 6858000"/>
              <a:gd name="connsiteY9" fmla="*/ 5457863 h 5556552"/>
              <a:gd name="connsiteX10" fmla="*/ 3059298 w 6858000"/>
              <a:gd name="connsiteY10" fmla="*/ 5453370 h 5556552"/>
              <a:gd name="connsiteX11" fmla="*/ 3033383 w 6858000"/>
              <a:gd name="connsiteY11" fmla="*/ 5436362 h 5556552"/>
              <a:gd name="connsiteX12" fmla="*/ 3030627 w 6858000"/>
              <a:gd name="connsiteY12" fmla="*/ 5434867 h 5556552"/>
              <a:gd name="connsiteX13" fmla="*/ 3028775 w 6858000"/>
              <a:gd name="connsiteY13" fmla="*/ 5433338 h 5556552"/>
              <a:gd name="connsiteX14" fmla="*/ 0 w 6858000"/>
              <a:gd name="connsiteY14" fmla="*/ 3445704 h 5556552"/>
              <a:gd name="connsiteX15" fmla="*/ 6858000 w 6858000"/>
              <a:gd name="connsiteY15" fmla="*/ 0 h 5556552"/>
              <a:gd name="connsiteX16" fmla="*/ 6858000 w 6858000"/>
              <a:gd name="connsiteY16" fmla="*/ 349336 h 5556552"/>
              <a:gd name="connsiteX17" fmla="*/ 6858000 w 6858000"/>
              <a:gd name="connsiteY17" fmla="*/ 3445703 h 5556552"/>
              <a:gd name="connsiteX18" fmla="*/ 0 w 6858000"/>
              <a:gd name="connsiteY18" fmla="*/ 3445703 h 5556552"/>
              <a:gd name="connsiteX19" fmla="*/ 0 w 6858000"/>
              <a:gd name="connsiteY19" fmla="*/ 0 h 555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58000" h="5556552">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ln>
            <a:noFill/>
          </a:ln>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a:xfrm>
            <a:off x="451515" y="1734857"/>
            <a:ext cx="3765483" cy="3388287"/>
          </a:xfrm>
        </p:spPr>
        <p:txBody>
          <a:bodyPr vert="horz" lIns="91440" tIns="45720" rIns="91440" bIns="45720" rtlCol="0" anchor="ctr">
            <a:normAutofit/>
          </a:bodyPr>
          <a:lstStyle/>
          <a:p>
            <a:r>
              <a:rPr lang="en-US" dirty="0"/>
              <a:t>Horizontal application AI, cont’d</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a:xfrm>
            <a:off x="6008068" y="978993"/>
            <a:ext cx="5365218" cy="4900014"/>
          </a:xfrm>
          <a:effectLst/>
        </p:spPr>
        <p:txBody>
          <a:bodyPr vert="horz" lIns="91440" tIns="45720" rIns="91440" bIns="45720" rtlCol="0" anchor="ctr">
            <a:normAutofit/>
          </a:bodyPr>
          <a:lstStyle/>
          <a:p>
            <a:r>
              <a:rPr lang="en-US"/>
              <a:t>For example, modern generative AI is tasked with serving a variety of roles</a:t>
            </a:r>
          </a:p>
          <a:p>
            <a:r>
              <a:rPr lang="en-US"/>
              <a:t>New skills are added as new data is assimilated. While still language-based, skills can serve different modalities with additional extensions</a:t>
            </a:r>
          </a:p>
          <a:p>
            <a:r>
              <a:rPr lang="en-US"/>
              <a:t>The aim is the creation of artificial general intelligence as the ultimate form of horizontal application</a:t>
            </a:r>
          </a:p>
        </p:txBody>
      </p:sp>
    </p:spTree>
    <p:extLst>
      <p:ext uri="{BB962C8B-B14F-4D97-AF65-F5344CB8AC3E}">
        <p14:creationId xmlns:p14="http://schemas.microsoft.com/office/powerpoint/2010/main" val="11869854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8664B0"/>
      </a:accent1>
      <a:accent2>
        <a:srgbClr val="D75BCD"/>
      </a:accent2>
      <a:accent3>
        <a:srgbClr val="E54D86"/>
      </a:accent3>
      <a:accent4>
        <a:srgbClr val="DE4547"/>
      </a:accent4>
      <a:accent5>
        <a:srgbClr val="F16E40"/>
      </a:accent5>
      <a:accent6>
        <a:srgbClr val="EB9C5A"/>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7AF46513-5B0D-4B03-9323-32F3F0BFC9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TM03457503[[fn=Quotable]]</Template>
  <TotalTime>800</TotalTime>
  <Words>1256</Words>
  <Application>Microsoft Office PowerPoint</Application>
  <PresentationFormat>Widescreen</PresentationFormat>
  <Paragraphs>54</Paragraphs>
  <Slides>9</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-apple-system</vt:lpstr>
      <vt:lpstr>Aptos</vt:lpstr>
      <vt:lpstr>Century Gothic</vt:lpstr>
      <vt:lpstr>Wingdings 2</vt:lpstr>
      <vt:lpstr>Quotable</vt:lpstr>
      <vt:lpstr>AI Fundamentals  </vt:lpstr>
      <vt:lpstr>Preface</vt:lpstr>
      <vt:lpstr>Data Requirements</vt:lpstr>
      <vt:lpstr>Data breadth and depth</vt:lpstr>
      <vt:lpstr>Vertical application AI</vt:lpstr>
      <vt:lpstr>Vertical application AI, cont’d</vt:lpstr>
      <vt:lpstr>Vertical application AI, cont’d</vt:lpstr>
      <vt:lpstr>Horizontal application AI</vt:lpstr>
      <vt:lpstr>Horizontal application AI,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Fundamentals  </dc:title>
  <dc:creator>Johnson, Victor G</dc:creator>
  <cp:lastModifiedBy>Johnson, Victor G</cp:lastModifiedBy>
  <cp:revision>28</cp:revision>
  <dcterms:created xsi:type="dcterms:W3CDTF">2024-05-24T14:22:22Z</dcterms:created>
  <dcterms:modified xsi:type="dcterms:W3CDTF">2024-05-31T15:05:57Z</dcterms:modified>
</cp:coreProperties>
</file>