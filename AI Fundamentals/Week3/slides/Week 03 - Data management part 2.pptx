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A478F"/>
    <a:srgbClr val="E1595C"/>
    <a:srgbClr val="22B05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1" autoAdjust="0"/>
    <p:restoredTop sz="78961" autoAdjust="0"/>
  </p:normalViewPr>
  <p:slideViewPr>
    <p:cSldViewPr snapToGrid="0">
      <p:cViewPr varScale="1">
        <p:scale>
          <a:sx n="61" d="100"/>
          <a:sy n="61" d="100"/>
        </p:scale>
        <p:origin x="539" y="5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14.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14.pn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EC1333F-F441-41B2-8EEC-28E838BBBB7A}"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56D94D93-E333-43CA-9A3E-B17CF1511733}">
      <dgm:prSet custT="1"/>
      <dgm:spPr/>
      <dgm:t>
        <a:bodyPr/>
        <a:lstStyle/>
        <a:p>
          <a:pPr>
            <a:lnSpc>
              <a:spcPct val="100000"/>
            </a:lnSpc>
          </a:pPr>
          <a:r>
            <a:rPr lang="en-US" sz="1400" dirty="0"/>
            <a:t>Once the data is collected, the AI systems will need to be trained in some way and training can take on enormous costs as well</a:t>
          </a:r>
        </a:p>
      </dgm:t>
    </dgm:pt>
    <dgm:pt modelId="{D9D92ECE-0D75-464C-A6B0-995679046885}" type="parTrans" cxnId="{DBB2769D-8439-4760-AB85-FD2940F3F782}">
      <dgm:prSet/>
      <dgm:spPr/>
      <dgm:t>
        <a:bodyPr/>
        <a:lstStyle/>
        <a:p>
          <a:endParaRPr lang="en-US" sz="1600"/>
        </a:p>
      </dgm:t>
    </dgm:pt>
    <dgm:pt modelId="{AD0A27E1-9D18-4C34-8495-61156032C7F7}" type="sibTrans" cxnId="{DBB2769D-8439-4760-AB85-FD2940F3F782}">
      <dgm:prSet/>
      <dgm:spPr/>
      <dgm:t>
        <a:bodyPr/>
        <a:lstStyle/>
        <a:p>
          <a:pPr>
            <a:lnSpc>
              <a:spcPct val="100000"/>
            </a:lnSpc>
          </a:pPr>
          <a:endParaRPr lang="en-US"/>
        </a:p>
      </dgm:t>
    </dgm:pt>
    <dgm:pt modelId="{BF4C89A5-6604-49EF-9657-F6F737A79149}">
      <dgm:prSet custT="1"/>
      <dgm:spPr/>
      <dgm:t>
        <a:bodyPr/>
        <a:lstStyle/>
        <a:p>
          <a:pPr>
            <a:lnSpc>
              <a:spcPct val="100000"/>
            </a:lnSpc>
          </a:pPr>
          <a:r>
            <a:rPr lang="en-US" sz="1400" dirty="0"/>
            <a:t>Some modern generative AI systems can take months to train on clusters of supercomputers with compute costs for the training in the tens of millions of dollars</a:t>
          </a:r>
        </a:p>
      </dgm:t>
    </dgm:pt>
    <dgm:pt modelId="{479C6674-8FBA-47A3-BB77-B7FF6FF5F808}" type="parTrans" cxnId="{B315129C-1A8C-48D0-A093-8492839CFC68}">
      <dgm:prSet/>
      <dgm:spPr/>
      <dgm:t>
        <a:bodyPr/>
        <a:lstStyle/>
        <a:p>
          <a:endParaRPr lang="en-US" sz="1600"/>
        </a:p>
      </dgm:t>
    </dgm:pt>
    <dgm:pt modelId="{830F800D-5C73-4657-9451-BCD44913D3C5}" type="sibTrans" cxnId="{B315129C-1A8C-48D0-A093-8492839CFC68}">
      <dgm:prSet/>
      <dgm:spPr/>
      <dgm:t>
        <a:bodyPr/>
        <a:lstStyle/>
        <a:p>
          <a:pPr>
            <a:lnSpc>
              <a:spcPct val="100000"/>
            </a:lnSpc>
          </a:pPr>
          <a:endParaRPr lang="en-US"/>
        </a:p>
      </dgm:t>
    </dgm:pt>
    <dgm:pt modelId="{F777D44B-8CFA-4EE3-8FB0-173722D0B9EF}">
      <dgm:prSet custT="1"/>
      <dgm:spPr/>
      <dgm:t>
        <a:bodyPr/>
        <a:lstStyle/>
        <a:p>
          <a:pPr>
            <a:lnSpc>
              <a:spcPct val="100000"/>
            </a:lnSpc>
          </a:pPr>
          <a:r>
            <a:rPr lang="en-US" sz="1400" dirty="0"/>
            <a:t>Incremental and ongoing training will add to the costs as well</a:t>
          </a:r>
        </a:p>
      </dgm:t>
    </dgm:pt>
    <dgm:pt modelId="{30AFCBD3-0E6E-447A-A39F-0AC400516C97}" type="parTrans" cxnId="{F696DCA7-F376-4DE2-8584-D3BABF8AED48}">
      <dgm:prSet/>
      <dgm:spPr/>
      <dgm:t>
        <a:bodyPr/>
        <a:lstStyle/>
        <a:p>
          <a:endParaRPr lang="en-US" sz="1600"/>
        </a:p>
      </dgm:t>
    </dgm:pt>
    <dgm:pt modelId="{F6F8B907-79DC-4BA3-86A2-03EC8CD99419}" type="sibTrans" cxnId="{F696DCA7-F376-4DE2-8584-D3BABF8AED48}">
      <dgm:prSet/>
      <dgm:spPr/>
      <dgm:t>
        <a:bodyPr/>
        <a:lstStyle/>
        <a:p>
          <a:pPr>
            <a:lnSpc>
              <a:spcPct val="100000"/>
            </a:lnSpc>
          </a:pPr>
          <a:endParaRPr lang="en-US"/>
        </a:p>
      </dgm:t>
    </dgm:pt>
    <dgm:pt modelId="{B46FCA07-EB15-4F13-9EE3-2A7905A4DC9E}">
      <dgm:prSet custT="1"/>
      <dgm:spPr/>
      <dgm:t>
        <a:bodyPr/>
        <a:lstStyle/>
        <a:p>
          <a:pPr>
            <a:lnSpc>
              <a:spcPct val="100000"/>
            </a:lnSpc>
          </a:pPr>
          <a:r>
            <a:rPr lang="en-US" sz="1400" dirty="0"/>
            <a:t>Furthermore, there is a cost associated with the electricity needed to process the data across thousands of computers</a:t>
          </a:r>
        </a:p>
      </dgm:t>
    </dgm:pt>
    <dgm:pt modelId="{FC8FBA88-0AD9-48CF-BF9F-C6CCB1856D1B}" type="parTrans" cxnId="{1B5A5133-CC63-472A-BC6E-A1B876669815}">
      <dgm:prSet/>
      <dgm:spPr/>
      <dgm:t>
        <a:bodyPr/>
        <a:lstStyle/>
        <a:p>
          <a:endParaRPr lang="en-US" sz="1600"/>
        </a:p>
      </dgm:t>
    </dgm:pt>
    <dgm:pt modelId="{0D5DF43C-CA2E-4765-831F-08769776B863}" type="sibTrans" cxnId="{1B5A5133-CC63-472A-BC6E-A1B876669815}">
      <dgm:prSet/>
      <dgm:spPr/>
      <dgm:t>
        <a:bodyPr/>
        <a:lstStyle/>
        <a:p>
          <a:pPr>
            <a:lnSpc>
              <a:spcPct val="100000"/>
            </a:lnSpc>
          </a:pPr>
          <a:endParaRPr lang="en-US"/>
        </a:p>
      </dgm:t>
    </dgm:pt>
    <dgm:pt modelId="{9A800476-0596-49A9-9775-D8007D36A72C}">
      <dgm:prSet custT="1"/>
      <dgm:spPr/>
      <dgm:t>
        <a:bodyPr/>
        <a:lstStyle/>
        <a:p>
          <a:pPr>
            <a:lnSpc>
              <a:spcPct val="100000"/>
            </a:lnSpc>
          </a:pPr>
          <a:r>
            <a:rPr lang="en-US" sz="1400" dirty="0"/>
            <a:t>All of these costs can add up to create a significant barrier to the development of large AI systems. </a:t>
          </a:r>
        </a:p>
      </dgm:t>
    </dgm:pt>
    <dgm:pt modelId="{D6013474-9556-4F63-A410-A51C25D95E06}" type="parTrans" cxnId="{0F366F89-23D3-4708-BCCE-23217383762C}">
      <dgm:prSet/>
      <dgm:spPr/>
      <dgm:t>
        <a:bodyPr/>
        <a:lstStyle/>
        <a:p>
          <a:endParaRPr lang="en-US" sz="1600"/>
        </a:p>
      </dgm:t>
    </dgm:pt>
    <dgm:pt modelId="{2A29DDAC-B72E-43A0-AEAE-88CD3BB8078C}" type="sibTrans" cxnId="{0F366F89-23D3-4708-BCCE-23217383762C}">
      <dgm:prSet/>
      <dgm:spPr/>
      <dgm:t>
        <a:bodyPr/>
        <a:lstStyle/>
        <a:p>
          <a:endParaRPr lang="en-US"/>
        </a:p>
      </dgm:t>
    </dgm:pt>
    <dgm:pt modelId="{4DFFBC44-A7DF-4DB2-ACC0-C19D07FA7CD9}" type="pres">
      <dgm:prSet presAssocID="{AEC1333F-F441-41B2-8EEC-28E838BBBB7A}" presName="root" presStyleCnt="0">
        <dgm:presLayoutVars>
          <dgm:dir/>
          <dgm:resizeHandles val="exact"/>
        </dgm:presLayoutVars>
      </dgm:prSet>
      <dgm:spPr/>
    </dgm:pt>
    <dgm:pt modelId="{FFDB25E4-6D96-44BA-8826-CFD35078F3F8}" type="pres">
      <dgm:prSet presAssocID="{AEC1333F-F441-41B2-8EEC-28E838BBBB7A}" presName="container" presStyleCnt="0">
        <dgm:presLayoutVars>
          <dgm:dir/>
          <dgm:resizeHandles val="exact"/>
        </dgm:presLayoutVars>
      </dgm:prSet>
      <dgm:spPr/>
    </dgm:pt>
    <dgm:pt modelId="{13E39C75-7244-4D61-8485-A36C860C431E}" type="pres">
      <dgm:prSet presAssocID="{56D94D93-E333-43CA-9A3E-B17CF1511733}" presName="compNode" presStyleCnt="0"/>
      <dgm:spPr/>
    </dgm:pt>
    <dgm:pt modelId="{72E75105-7359-407D-A3FE-33E94D11E8C9}" type="pres">
      <dgm:prSet presAssocID="{56D94D93-E333-43CA-9A3E-B17CF1511733}" presName="iconBgRect" presStyleLbl="bgShp" presStyleIdx="0" presStyleCnt="5"/>
      <dgm:spPr/>
    </dgm:pt>
    <dgm:pt modelId="{F4C5D6C6-3CE1-4B88-9B18-6A71EEA020BB}" type="pres">
      <dgm:prSet presAssocID="{56D94D93-E333-43CA-9A3E-B17CF1511733}"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940A962D-2E7F-49C2-929C-2FCC413108DE}" type="pres">
      <dgm:prSet presAssocID="{56D94D93-E333-43CA-9A3E-B17CF1511733}" presName="spaceRect" presStyleCnt="0"/>
      <dgm:spPr/>
    </dgm:pt>
    <dgm:pt modelId="{B2C20EF0-7FFE-4E53-84CE-9B80E93240B9}" type="pres">
      <dgm:prSet presAssocID="{56D94D93-E333-43CA-9A3E-B17CF1511733}" presName="textRect" presStyleLbl="revTx" presStyleIdx="0" presStyleCnt="5">
        <dgm:presLayoutVars>
          <dgm:chMax val="1"/>
          <dgm:chPref val="1"/>
        </dgm:presLayoutVars>
      </dgm:prSet>
      <dgm:spPr/>
    </dgm:pt>
    <dgm:pt modelId="{26DC9609-BF25-48CB-9858-E000B71280A1}" type="pres">
      <dgm:prSet presAssocID="{AD0A27E1-9D18-4C34-8495-61156032C7F7}" presName="sibTrans" presStyleLbl="sibTrans2D1" presStyleIdx="0" presStyleCnt="0"/>
      <dgm:spPr/>
    </dgm:pt>
    <dgm:pt modelId="{E92B8D30-0B77-47E9-BFA0-9F920140EE3C}" type="pres">
      <dgm:prSet presAssocID="{BF4C89A5-6604-49EF-9657-F6F737A79149}" presName="compNode" presStyleCnt="0"/>
      <dgm:spPr/>
    </dgm:pt>
    <dgm:pt modelId="{C7790744-5F6C-43C6-96FD-20D01968AB17}" type="pres">
      <dgm:prSet presAssocID="{BF4C89A5-6604-49EF-9657-F6F737A79149}" presName="iconBgRect" presStyleLbl="bgShp" presStyleIdx="1" presStyleCnt="5"/>
      <dgm:spPr/>
    </dgm:pt>
    <dgm:pt modelId="{23BF0EE6-DF97-4BF1-9266-A7DC4D939430}" type="pres">
      <dgm:prSet presAssocID="{BF4C89A5-6604-49EF-9657-F6F737A79149}"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A852CD91-FD2B-4B3C-B181-EC5ED78CB835}" type="pres">
      <dgm:prSet presAssocID="{BF4C89A5-6604-49EF-9657-F6F737A79149}" presName="spaceRect" presStyleCnt="0"/>
      <dgm:spPr/>
    </dgm:pt>
    <dgm:pt modelId="{01A69CB3-8874-4DB0-AE29-79B1E889DAB1}" type="pres">
      <dgm:prSet presAssocID="{BF4C89A5-6604-49EF-9657-F6F737A79149}" presName="textRect" presStyleLbl="revTx" presStyleIdx="1" presStyleCnt="5">
        <dgm:presLayoutVars>
          <dgm:chMax val="1"/>
          <dgm:chPref val="1"/>
        </dgm:presLayoutVars>
      </dgm:prSet>
      <dgm:spPr/>
    </dgm:pt>
    <dgm:pt modelId="{B38FFE7F-4465-4A78-B04C-311CCC2AA275}" type="pres">
      <dgm:prSet presAssocID="{830F800D-5C73-4657-9451-BCD44913D3C5}" presName="sibTrans" presStyleLbl="sibTrans2D1" presStyleIdx="0" presStyleCnt="0"/>
      <dgm:spPr/>
    </dgm:pt>
    <dgm:pt modelId="{94B119BD-CEF4-4418-920A-2CDBE524B604}" type="pres">
      <dgm:prSet presAssocID="{F777D44B-8CFA-4EE3-8FB0-173722D0B9EF}" presName="compNode" presStyleCnt="0"/>
      <dgm:spPr/>
    </dgm:pt>
    <dgm:pt modelId="{32627327-68C4-478A-ABFA-31B4D99AA08F}" type="pres">
      <dgm:prSet presAssocID="{F777D44B-8CFA-4EE3-8FB0-173722D0B9EF}" presName="iconBgRect" presStyleLbl="bgShp" presStyleIdx="2" presStyleCnt="5"/>
      <dgm:spPr/>
    </dgm:pt>
    <dgm:pt modelId="{DB47B677-9C7C-4956-9EE6-25D477EC9F52}" type="pres">
      <dgm:prSet presAssocID="{F777D44B-8CFA-4EE3-8FB0-173722D0B9EF}"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oney"/>
        </a:ext>
      </dgm:extLst>
    </dgm:pt>
    <dgm:pt modelId="{C4936AD6-7B2B-4E2D-9F5F-204288853CED}" type="pres">
      <dgm:prSet presAssocID="{F777D44B-8CFA-4EE3-8FB0-173722D0B9EF}" presName="spaceRect" presStyleCnt="0"/>
      <dgm:spPr/>
    </dgm:pt>
    <dgm:pt modelId="{9E5DBB49-B59B-4DBF-8A13-D5FB7AF08120}" type="pres">
      <dgm:prSet presAssocID="{F777D44B-8CFA-4EE3-8FB0-173722D0B9EF}" presName="textRect" presStyleLbl="revTx" presStyleIdx="2" presStyleCnt="5">
        <dgm:presLayoutVars>
          <dgm:chMax val="1"/>
          <dgm:chPref val="1"/>
        </dgm:presLayoutVars>
      </dgm:prSet>
      <dgm:spPr/>
    </dgm:pt>
    <dgm:pt modelId="{3EE6C671-8C43-4816-9855-E3DF2CC09225}" type="pres">
      <dgm:prSet presAssocID="{F6F8B907-79DC-4BA3-86A2-03EC8CD99419}" presName="sibTrans" presStyleLbl="sibTrans2D1" presStyleIdx="0" presStyleCnt="0"/>
      <dgm:spPr/>
    </dgm:pt>
    <dgm:pt modelId="{3746FCDD-738F-46CE-BF7B-81B224D06340}" type="pres">
      <dgm:prSet presAssocID="{B46FCA07-EB15-4F13-9EE3-2A7905A4DC9E}" presName="compNode" presStyleCnt="0"/>
      <dgm:spPr/>
    </dgm:pt>
    <dgm:pt modelId="{CD7FA4DC-CB7D-4277-9AC9-39C21018C1D8}" type="pres">
      <dgm:prSet presAssocID="{B46FCA07-EB15-4F13-9EE3-2A7905A4DC9E}" presName="iconBgRect" presStyleLbl="bgShp" presStyleIdx="3" presStyleCnt="5"/>
      <dgm:spPr/>
    </dgm:pt>
    <dgm:pt modelId="{16691F7A-D3D7-47AF-AD6A-E30F346B28E9}" type="pres">
      <dgm:prSet presAssocID="{B46FCA07-EB15-4F13-9EE3-2A7905A4DC9E}"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omputer"/>
        </a:ext>
      </dgm:extLst>
    </dgm:pt>
    <dgm:pt modelId="{70B82DA4-1D78-4D3C-96F6-B54F209CCFC9}" type="pres">
      <dgm:prSet presAssocID="{B46FCA07-EB15-4F13-9EE3-2A7905A4DC9E}" presName="spaceRect" presStyleCnt="0"/>
      <dgm:spPr/>
    </dgm:pt>
    <dgm:pt modelId="{E38588E3-D7DB-4EB9-AFA6-98EA5EC9D1C7}" type="pres">
      <dgm:prSet presAssocID="{B46FCA07-EB15-4F13-9EE3-2A7905A4DC9E}" presName="textRect" presStyleLbl="revTx" presStyleIdx="3" presStyleCnt="5">
        <dgm:presLayoutVars>
          <dgm:chMax val="1"/>
          <dgm:chPref val="1"/>
        </dgm:presLayoutVars>
      </dgm:prSet>
      <dgm:spPr/>
    </dgm:pt>
    <dgm:pt modelId="{9CF70451-015E-488A-81DA-5DC52BBFA58D}" type="pres">
      <dgm:prSet presAssocID="{0D5DF43C-CA2E-4765-831F-08769776B863}" presName="sibTrans" presStyleLbl="sibTrans2D1" presStyleIdx="0" presStyleCnt="0"/>
      <dgm:spPr/>
    </dgm:pt>
    <dgm:pt modelId="{916685DA-F77A-401A-9B85-9D8FBC82D94B}" type="pres">
      <dgm:prSet presAssocID="{9A800476-0596-49A9-9775-D8007D36A72C}" presName="compNode" presStyleCnt="0"/>
      <dgm:spPr/>
    </dgm:pt>
    <dgm:pt modelId="{F481E4A8-48E7-4E31-82CE-38989D1AEB5E}" type="pres">
      <dgm:prSet presAssocID="{9A800476-0596-49A9-9775-D8007D36A72C}" presName="iconBgRect" presStyleLbl="bgShp" presStyleIdx="4" presStyleCnt="5"/>
      <dgm:spPr/>
    </dgm:pt>
    <dgm:pt modelId="{DCB9BC94-2599-4191-8DE5-2A299CE7FD3A}" type="pres">
      <dgm:prSet presAssocID="{9A800476-0596-49A9-9775-D8007D36A72C}"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Head with Gears"/>
        </a:ext>
      </dgm:extLst>
    </dgm:pt>
    <dgm:pt modelId="{481C6FAE-D446-43A8-8B65-0F0087C8E601}" type="pres">
      <dgm:prSet presAssocID="{9A800476-0596-49A9-9775-D8007D36A72C}" presName="spaceRect" presStyleCnt="0"/>
      <dgm:spPr/>
    </dgm:pt>
    <dgm:pt modelId="{E3BD017F-343D-49C4-AF84-D73CD1978233}" type="pres">
      <dgm:prSet presAssocID="{9A800476-0596-49A9-9775-D8007D36A72C}" presName="textRect" presStyleLbl="revTx" presStyleIdx="4" presStyleCnt="5">
        <dgm:presLayoutVars>
          <dgm:chMax val="1"/>
          <dgm:chPref val="1"/>
        </dgm:presLayoutVars>
      </dgm:prSet>
      <dgm:spPr/>
    </dgm:pt>
  </dgm:ptLst>
  <dgm:cxnLst>
    <dgm:cxn modelId="{4A348C01-A40F-47B2-A3B8-0285E58D3CF3}" type="presOf" srcId="{9A800476-0596-49A9-9775-D8007D36A72C}" destId="{E3BD017F-343D-49C4-AF84-D73CD1978233}" srcOrd="0" destOrd="0" presId="urn:microsoft.com/office/officeart/2018/2/layout/IconCircleList"/>
    <dgm:cxn modelId="{9A2CC004-81AF-4DAA-916E-B099506C6FBC}" type="presOf" srcId="{B46FCA07-EB15-4F13-9EE3-2A7905A4DC9E}" destId="{E38588E3-D7DB-4EB9-AFA6-98EA5EC9D1C7}" srcOrd="0" destOrd="0" presId="urn:microsoft.com/office/officeart/2018/2/layout/IconCircleList"/>
    <dgm:cxn modelId="{22B03614-5B68-429E-B619-3BD8045EBC75}" type="presOf" srcId="{AD0A27E1-9D18-4C34-8495-61156032C7F7}" destId="{26DC9609-BF25-48CB-9858-E000B71280A1}" srcOrd="0" destOrd="0" presId="urn:microsoft.com/office/officeart/2018/2/layout/IconCircleList"/>
    <dgm:cxn modelId="{10EC0027-F80B-41A9-B329-104B88A16251}" type="presOf" srcId="{56D94D93-E333-43CA-9A3E-B17CF1511733}" destId="{B2C20EF0-7FFE-4E53-84CE-9B80E93240B9}" srcOrd="0" destOrd="0" presId="urn:microsoft.com/office/officeart/2018/2/layout/IconCircleList"/>
    <dgm:cxn modelId="{90FE8631-F4B7-4E40-8430-DC428D397D50}" type="presOf" srcId="{F6F8B907-79DC-4BA3-86A2-03EC8CD99419}" destId="{3EE6C671-8C43-4816-9855-E3DF2CC09225}" srcOrd="0" destOrd="0" presId="urn:microsoft.com/office/officeart/2018/2/layout/IconCircleList"/>
    <dgm:cxn modelId="{1B5A5133-CC63-472A-BC6E-A1B876669815}" srcId="{AEC1333F-F441-41B2-8EEC-28E838BBBB7A}" destId="{B46FCA07-EB15-4F13-9EE3-2A7905A4DC9E}" srcOrd="3" destOrd="0" parTransId="{FC8FBA88-0AD9-48CF-BF9F-C6CCB1856D1B}" sibTransId="{0D5DF43C-CA2E-4765-831F-08769776B863}"/>
    <dgm:cxn modelId="{3698E43C-5403-43F2-A96E-12D6A6051087}" type="presOf" srcId="{F777D44B-8CFA-4EE3-8FB0-173722D0B9EF}" destId="{9E5DBB49-B59B-4DBF-8A13-D5FB7AF08120}" srcOrd="0" destOrd="0" presId="urn:microsoft.com/office/officeart/2018/2/layout/IconCircleList"/>
    <dgm:cxn modelId="{4F401666-456A-4782-8899-8273354163BC}" type="presOf" srcId="{0D5DF43C-CA2E-4765-831F-08769776B863}" destId="{9CF70451-015E-488A-81DA-5DC52BBFA58D}" srcOrd="0" destOrd="0" presId="urn:microsoft.com/office/officeart/2018/2/layout/IconCircleList"/>
    <dgm:cxn modelId="{331F146C-7D99-4A53-84CC-81580F2C2832}" type="presOf" srcId="{BF4C89A5-6604-49EF-9657-F6F737A79149}" destId="{01A69CB3-8874-4DB0-AE29-79B1E889DAB1}" srcOrd="0" destOrd="0" presId="urn:microsoft.com/office/officeart/2018/2/layout/IconCircleList"/>
    <dgm:cxn modelId="{11BBF581-09E7-4C1D-B72A-446960932791}" type="presOf" srcId="{830F800D-5C73-4657-9451-BCD44913D3C5}" destId="{B38FFE7F-4465-4A78-B04C-311CCC2AA275}" srcOrd="0" destOrd="0" presId="urn:microsoft.com/office/officeart/2018/2/layout/IconCircleList"/>
    <dgm:cxn modelId="{0F366F89-23D3-4708-BCCE-23217383762C}" srcId="{AEC1333F-F441-41B2-8EEC-28E838BBBB7A}" destId="{9A800476-0596-49A9-9775-D8007D36A72C}" srcOrd="4" destOrd="0" parTransId="{D6013474-9556-4F63-A410-A51C25D95E06}" sibTransId="{2A29DDAC-B72E-43A0-AEAE-88CD3BB8078C}"/>
    <dgm:cxn modelId="{B315129C-1A8C-48D0-A093-8492839CFC68}" srcId="{AEC1333F-F441-41B2-8EEC-28E838BBBB7A}" destId="{BF4C89A5-6604-49EF-9657-F6F737A79149}" srcOrd="1" destOrd="0" parTransId="{479C6674-8FBA-47A3-BB77-B7FF6FF5F808}" sibTransId="{830F800D-5C73-4657-9451-BCD44913D3C5}"/>
    <dgm:cxn modelId="{DBB2769D-8439-4760-AB85-FD2940F3F782}" srcId="{AEC1333F-F441-41B2-8EEC-28E838BBBB7A}" destId="{56D94D93-E333-43CA-9A3E-B17CF1511733}" srcOrd="0" destOrd="0" parTransId="{D9D92ECE-0D75-464C-A6B0-995679046885}" sibTransId="{AD0A27E1-9D18-4C34-8495-61156032C7F7}"/>
    <dgm:cxn modelId="{960E45A4-B301-4D7B-86CF-17E5020AE112}" type="presOf" srcId="{AEC1333F-F441-41B2-8EEC-28E838BBBB7A}" destId="{4DFFBC44-A7DF-4DB2-ACC0-C19D07FA7CD9}" srcOrd="0" destOrd="0" presId="urn:microsoft.com/office/officeart/2018/2/layout/IconCircleList"/>
    <dgm:cxn modelId="{F696DCA7-F376-4DE2-8584-D3BABF8AED48}" srcId="{AEC1333F-F441-41B2-8EEC-28E838BBBB7A}" destId="{F777D44B-8CFA-4EE3-8FB0-173722D0B9EF}" srcOrd="2" destOrd="0" parTransId="{30AFCBD3-0E6E-447A-A39F-0AC400516C97}" sibTransId="{F6F8B907-79DC-4BA3-86A2-03EC8CD99419}"/>
    <dgm:cxn modelId="{86825C20-88CD-4BA2-A28B-B3446498D2AC}" type="presParOf" srcId="{4DFFBC44-A7DF-4DB2-ACC0-C19D07FA7CD9}" destId="{FFDB25E4-6D96-44BA-8826-CFD35078F3F8}" srcOrd="0" destOrd="0" presId="urn:microsoft.com/office/officeart/2018/2/layout/IconCircleList"/>
    <dgm:cxn modelId="{79293259-B5D0-44E5-8B6D-78F01C772E2B}" type="presParOf" srcId="{FFDB25E4-6D96-44BA-8826-CFD35078F3F8}" destId="{13E39C75-7244-4D61-8485-A36C860C431E}" srcOrd="0" destOrd="0" presId="urn:microsoft.com/office/officeart/2018/2/layout/IconCircleList"/>
    <dgm:cxn modelId="{C07CB63A-6D1F-4AE4-A385-0CF7B5C258E9}" type="presParOf" srcId="{13E39C75-7244-4D61-8485-A36C860C431E}" destId="{72E75105-7359-407D-A3FE-33E94D11E8C9}" srcOrd="0" destOrd="0" presId="urn:microsoft.com/office/officeart/2018/2/layout/IconCircleList"/>
    <dgm:cxn modelId="{306477CF-9053-47C8-9199-E11E54CFAF92}" type="presParOf" srcId="{13E39C75-7244-4D61-8485-A36C860C431E}" destId="{F4C5D6C6-3CE1-4B88-9B18-6A71EEA020BB}" srcOrd="1" destOrd="0" presId="urn:microsoft.com/office/officeart/2018/2/layout/IconCircleList"/>
    <dgm:cxn modelId="{B11F3501-1459-469A-992B-9C59589A7AF5}" type="presParOf" srcId="{13E39C75-7244-4D61-8485-A36C860C431E}" destId="{940A962D-2E7F-49C2-929C-2FCC413108DE}" srcOrd="2" destOrd="0" presId="urn:microsoft.com/office/officeart/2018/2/layout/IconCircleList"/>
    <dgm:cxn modelId="{5C1FA196-29AB-4744-A3C5-A04006619CAD}" type="presParOf" srcId="{13E39C75-7244-4D61-8485-A36C860C431E}" destId="{B2C20EF0-7FFE-4E53-84CE-9B80E93240B9}" srcOrd="3" destOrd="0" presId="urn:microsoft.com/office/officeart/2018/2/layout/IconCircleList"/>
    <dgm:cxn modelId="{D2FB754D-724F-470A-9585-BB696B6FD6D9}" type="presParOf" srcId="{FFDB25E4-6D96-44BA-8826-CFD35078F3F8}" destId="{26DC9609-BF25-48CB-9858-E000B71280A1}" srcOrd="1" destOrd="0" presId="urn:microsoft.com/office/officeart/2018/2/layout/IconCircleList"/>
    <dgm:cxn modelId="{1F6B93BE-B046-4653-8154-29242B8178CF}" type="presParOf" srcId="{FFDB25E4-6D96-44BA-8826-CFD35078F3F8}" destId="{E92B8D30-0B77-47E9-BFA0-9F920140EE3C}" srcOrd="2" destOrd="0" presId="urn:microsoft.com/office/officeart/2018/2/layout/IconCircleList"/>
    <dgm:cxn modelId="{18EB9831-4CAC-4AAB-9C80-9B799AB4E8CD}" type="presParOf" srcId="{E92B8D30-0B77-47E9-BFA0-9F920140EE3C}" destId="{C7790744-5F6C-43C6-96FD-20D01968AB17}" srcOrd="0" destOrd="0" presId="urn:microsoft.com/office/officeart/2018/2/layout/IconCircleList"/>
    <dgm:cxn modelId="{94D51DA1-1CD7-49E9-A610-C7DFCD2B2B9E}" type="presParOf" srcId="{E92B8D30-0B77-47E9-BFA0-9F920140EE3C}" destId="{23BF0EE6-DF97-4BF1-9266-A7DC4D939430}" srcOrd="1" destOrd="0" presId="urn:microsoft.com/office/officeart/2018/2/layout/IconCircleList"/>
    <dgm:cxn modelId="{4925A197-F979-4111-AE95-272C75338FA8}" type="presParOf" srcId="{E92B8D30-0B77-47E9-BFA0-9F920140EE3C}" destId="{A852CD91-FD2B-4B3C-B181-EC5ED78CB835}" srcOrd="2" destOrd="0" presId="urn:microsoft.com/office/officeart/2018/2/layout/IconCircleList"/>
    <dgm:cxn modelId="{50BF99AD-C988-43D8-8796-AB2991DD02C4}" type="presParOf" srcId="{E92B8D30-0B77-47E9-BFA0-9F920140EE3C}" destId="{01A69CB3-8874-4DB0-AE29-79B1E889DAB1}" srcOrd="3" destOrd="0" presId="urn:microsoft.com/office/officeart/2018/2/layout/IconCircleList"/>
    <dgm:cxn modelId="{DF0D89BC-0072-47A1-93DE-D6D7DA6C8D11}" type="presParOf" srcId="{FFDB25E4-6D96-44BA-8826-CFD35078F3F8}" destId="{B38FFE7F-4465-4A78-B04C-311CCC2AA275}" srcOrd="3" destOrd="0" presId="urn:microsoft.com/office/officeart/2018/2/layout/IconCircleList"/>
    <dgm:cxn modelId="{485FA1A5-614D-4171-A828-664496315017}" type="presParOf" srcId="{FFDB25E4-6D96-44BA-8826-CFD35078F3F8}" destId="{94B119BD-CEF4-4418-920A-2CDBE524B604}" srcOrd="4" destOrd="0" presId="urn:microsoft.com/office/officeart/2018/2/layout/IconCircleList"/>
    <dgm:cxn modelId="{B4E6E3BC-B246-4971-9A3F-EC4FEB5CD915}" type="presParOf" srcId="{94B119BD-CEF4-4418-920A-2CDBE524B604}" destId="{32627327-68C4-478A-ABFA-31B4D99AA08F}" srcOrd="0" destOrd="0" presId="urn:microsoft.com/office/officeart/2018/2/layout/IconCircleList"/>
    <dgm:cxn modelId="{EEF0B007-C4DE-4E0E-8A2E-9BD8AEBD5E46}" type="presParOf" srcId="{94B119BD-CEF4-4418-920A-2CDBE524B604}" destId="{DB47B677-9C7C-4956-9EE6-25D477EC9F52}" srcOrd="1" destOrd="0" presId="urn:microsoft.com/office/officeart/2018/2/layout/IconCircleList"/>
    <dgm:cxn modelId="{CC9AC062-3604-45BD-A1AD-BBDDA764962E}" type="presParOf" srcId="{94B119BD-CEF4-4418-920A-2CDBE524B604}" destId="{C4936AD6-7B2B-4E2D-9F5F-204288853CED}" srcOrd="2" destOrd="0" presId="urn:microsoft.com/office/officeart/2018/2/layout/IconCircleList"/>
    <dgm:cxn modelId="{7BAE0C67-204C-4A16-885C-9E7748D32BEF}" type="presParOf" srcId="{94B119BD-CEF4-4418-920A-2CDBE524B604}" destId="{9E5DBB49-B59B-4DBF-8A13-D5FB7AF08120}" srcOrd="3" destOrd="0" presId="urn:microsoft.com/office/officeart/2018/2/layout/IconCircleList"/>
    <dgm:cxn modelId="{2DB2C781-8708-4455-8403-C9C1F54CECF6}" type="presParOf" srcId="{FFDB25E4-6D96-44BA-8826-CFD35078F3F8}" destId="{3EE6C671-8C43-4816-9855-E3DF2CC09225}" srcOrd="5" destOrd="0" presId="urn:microsoft.com/office/officeart/2018/2/layout/IconCircleList"/>
    <dgm:cxn modelId="{CBE3B6CA-5813-4377-951D-1DE6E28C6FE8}" type="presParOf" srcId="{FFDB25E4-6D96-44BA-8826-CFD35078F3F8}" destId="{3746FCDD-738F-46CE-BF7B-81B224D06340}" srcOrd="6" destOrd="0" presId="urn:microsoft.com/office/officeart/2018/2/layout/IconCircleList"/>
    <dgm:cxn modelId="{C35D365F-0A8D-439C-95FE-B28F33B56C9D}" type="presParOf" srcId="{3746FCDD-738F-46CE-BF7B-81B224D06340}" destId="{CD7FA4DC-CB7D-4277-9AC9-39C21018C1D8}" srcOrd="0" destOrd="0" presId="urn:microsoft.com/office/officeart/2018/2/layout/IconCircleList"/>
    <dgm:cxn modelId="{9042F46E-2430-4BFF-B682-132C8E829DD4}" type="presParOf" srcId="{3746FCDD-738F-46CE-BF7B-81B224D06340}" destId="{16691F7A-D3D7-47AF-AD6A-E30F346B28E9}" srcOrd="1" destOrd="0" presId="urn:microsoft.com/office/officeart/2018/2/layout/IconCircleList"/>
    <dgm:cxn modelId="{013D9348-0A26-465A-93C3-F950ABC3B4FD}" type="presParOf" srcId="{3746FCDD-738F-46CE-BF7B-81B224D06340}" destId="{70B82DA4-1D78-4D3C-96F6-B54F209CCFC9}" srcOrd="2" destOrd="0" presId="urn:microsoft.com/office/officeart/2018/2/layout/IconCircleList"/>
    <dgm:cxn modelId="{0D7769EA-602A-4F51-9725-60B4B6F37F96}" type="presParOf" srcId="{3746FCDD-738F-46CE-BF7B-81B224D06340}" destId="{E38588E3-D7DB-4EB9-AFA6-98EA5EC9D1C7}" srcOrd="3" destOrd="0" presId="urn:microsoft.com/office/officeart/2018/2/layout/IconCircleList"/>
    <dgm:cxn modelId="{F2F02F55-B443-42B8-96B8-53EFD1FD5E9D}" type="presParOf" srcId="{FFDB25E4-6D96-44BA-8826-CFD35078F3F8}" destId="{9CF70451-015E-488A-81DA-5DC52BBFA58D}" srcOrd="7" destOrd="0" presId="urn:microsoft.com/office/officeart/2018/2/layout/IconCircleList"/>
    <dgm:cxn modelId="{59E3A6E7-B6CB-491C-9D34-C46EA1D64BDC}" type="presParOf" srcId="{FFDB25E4-6D96-44BA-8826-CFD35078F3F8}" destId="{916685DA-F77A-401A-9B85-9D8FBC82D94B}" srcOrd="8" destOrd="0" presId="urn:microsoft.com/office/officeart/2018/2/layout/IconCircleList"/>
    <dgm:cxn modelId="{0E634AE9-53C4-44E8-89C8-E1F00DB14D25}" type="presParOf" srcId="{916685DA-F77A-401A-9B85-9D8FBC82D94B}" destId="{F481E4A8-48E7-4E31-82CE-38989D1AEB5E}" srcOrd="0" destOrd="0" presId="urn:microsoft.com/office/officeart/2018/2/layout/IconCircleList"/>
    <dgm:cxn modelId="{384718E4-6961-4751-BDC3-EBBB48DD0BF4}" type="presParOf" srcId="{916685DA-F77A-401A-9B85-9D8FBC82D94B}" destId="{DCB9BC94-2599-4191-8DE5-2A299CE7FD3A}" srcOrd="1" destOrd="0" presId="urn:microsoft.com/office/officeart/2018/2/layout/IconCircleList"/>
    <dgm:cxn modelId="{D2307A8A-3681-4771-8C67-F6B773B441A9}" type="presParOf" srcId="{916685DA-F77A-401A-9B85-9D8FBC82D94B}" destId="{481C6FAE-D446-43A8-8B65-0F0087C8E601}" srcOrd="2" destOrd="0" presId="urn:microsoft.com/office/officeart/2018/2/layout/IconCircleList"/>
    <dgm:cxn modelId="{D1874AFD-9116-4BC1-A3C2-92F784E495BD}" type="presParOf" srcId="{916685DA-F77A-401A-9B85-9D8FBC82D94B}" destId="{E3BD017F-343D-49C4-AF84-D73CD1978233}"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E75105-7359-407D-A3FE-33E94D11E8C9}">
      <dsp:nvSpPr>
        <dsp:cNvPr id="0" name=""/>
        <dsp:cNvSpPr/>
      </dsp:nvSpPr>
      <dsp:spPr>
        <a:xfrm>
          <a:off x="412609" y="732559"/>
          <a:ext cx="935987" cy="935987"/>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4C5D6C6-3CE1-4B88-9B18-6A71EEA020BB}">
      <dsp:nvSpPr>
        <dsp:cNvPr id="0" name=""/>
        <dsp:cNvSpPr/>
      </dsp:nvSpPr>
      <dsp:spPr>
        <a:xfrm>
          <a:off x="609166" y="929117"/>
          <a:ext cx="542872" cy="54287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B2C20EF0-7FFE-4E53-84CE-9B80E93240B9}">
      <dsp:nvSpPr>
        <dsp:cNvPr id="0" name=""/>
        <dsp:cNvSpPr/>
      </dsp:nvSpPr>
      <dsp:spPr>
        <a:xfrm>
          <a:off x="1549165" y="732559"/>
          <a:ext cx="2206256" cy="9359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kern="1200" dirty="0"/>
            <a:t>Once the data is collected, the AI systems will need to be trained in some way and training can take on enormous costs as well</a:t>
          </a:r>
        </a:p>
      </dsp:txBody>
      <dsp:txXfrm>
        <a:off x="1549165" y="732559"/>
        <a:ext cx="2206256" cy="935987"/>
      </dsp:txXfrm>
    </dsp:sp>
    <dsp:sp modelId="{C7790744-5F6C-43C6-96FD-20D01968AB17}">
      <dsp:nvSpPr>
        <dsp:cNvPr id="0" name=""/>
        <dsp:cNvSpPr/>
      </dsp:nvSpPr>
      <dsp:spPr>
        <a:xfrm>
          <a:off x="4139845" y="732559"/>
          <a:ext cx="935987" cy="935987"/>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3BF0EE6-DF97-4BF1-9266-A7DC4D939430}">
      <dsp:nvSpPr>
        <dsp:cNvPr id="0" name=""/>
        <dsp:cNvSpPr/>
      </dsp:nvSpPr>
      <dsp:spPr>
        <a:xfrm>
          <a:off x="4336403" y="929117"/>
          <a:ext cx="542872" cy="54287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1A69CB3-8874-4DB0-AE29-79B1E889DAB1}">
      <dsp:nvSpPr>
        <dsp:cNvPr id="0" name=""/>
        <dsp:cNvSpPr/>
      </dsp:nvSpPr>
      <dsp:spPr>
        <a:xfrm>
          <a:off x="5276402" y="732559"/>
          <a:ext cx="2206256" cy="9359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kern="1200" dirty="0"/>
            <a:t>Some modern generative AI systems can take months to train on clusters of supercomputers with compute costs for the training in the tens of millions of dollars</a:t>
          </a:r>
        </a:p>
      </dsp:txBody>
      <dsp:txXfrm>
        <a:off x="5276402" y="732559"/>
        <a:ext cx="2206256" cy="935987"/>
      </dsp:txXfrm>
    </dsp:sp>
    <dsp:sp modelId="{32627327-68C4-478A-ABFA-31B4D99AA08F}">
      <dsp:nvSpPr>
        <dsp:cNvPr id="0" name=""/>
        <dsp:cNvSpPr/>
      </dsp:nvSpPr>
      <dsp:spPr>
        <a:xfrm>
          <a:off x="7867082" y="732559"/>
          <a:ext cx="935987" cy="935987"/>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B47B677-9C7C-4956-9EE6-25D477EC9F52}">
      <dsp:nvSpPr>
        <dsp:cNvPr id="0" name=""/>
        <dsp:cNvSpPr/>
      </dsp:nvSpPr>
      <dsp:spPr>
        <a:xfrm>
          <a:off x="8063639" y="929117"/>
          <a:ext cx="542872" cy="54287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E5DBB49-B59B-4DBF-8A13-D5FB7AF08120}">
      <dsp:nvSpPr>
        <dsp:cNvPr id="0" name=""/>
        <dsp:cNvSpPr/>
      </dsp:nvSpPr>
      <dsp:spPr>
        <a:xfrm>
          <a:off x="9003639" y="732559"/>
          <a:ext cx="2206256" cy="9359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kern="1200" dirty="0"/>
            <a:t>Incremental and ongoing training will add to the costs as well</a:t>
          </a:r>
        </a:p>
      </dsp:txBody>
      <dsp:txXfrm>
        <a:off x="9003639" y="732559"/>
        <a:ext cx="2206256" cy="935987"/>
      </dsp:txXfrm>
    </dsp:sp>
    <dsp:sp modelId="{CD7FA4DC-CB7D-4277-9AC9-39C21018C1D8}">
      <dsp:nvSpPr>
        <dsp:cNvPr id="0" name=""/>
        <dsp:cNvSpPr/>
      </dsp:nvSpPr>
      <dsp:spPr>
        <a:xfrm>
          <a:off x="412609" y="2352048"/>
          <a:ext cx="935987" cy="935987"/>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6691F7A-D3D7-47AF-AD6A-E30F346B28E9}">
      <dsp:nvSpPr>
        <dsp:cNvPr id="0" name=""/>
        <dsp:cNvSpPr/>
      </dsp:nvSpPr>
      <dsp:spPr>
        <a:xfrm>
          <a:off x="609166" y="2548606"/>
          <a:ext cx="542872" cy="54287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38588E3-D7DB-4EB9-AFA6-98EA5EC9D1C7}">
      <dsp:nvSpPr>
        <dsp:cNvPr id="0" name=""/>
        <dsp:cNvSpPr/>
      </dsp:nvSpPr>
      <dsp:spPr>
        <a:xfrm>
          <a:off x="1549165" y="2352048"/>
          <a:ext cx="2206256" cy="9359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kern="1200" dirty="0"/>
            <a:t>Furthermore, there is a cost associated with the electricity needed to process the data across thousands of computers</a:t>
          </a:r>
        </a:p>
      </dsp:txBody>
      <dsp:txXfrm>
        <a:off x="1549165" y="2352048"/>
        <a:ext cx="2206256" cy="935987"/>
      </dsp:txXfrm>
    </dsp:sp>
    <dsp:sp modelId="{F481E4A8-48E7-4E31-82CE-38989D1AEB5E}">
      <dsp:nvSpPr>
        <dsp:cNvPr id="0" name=""/>
        <dsp:cNvSpPr/>
      </dsp:nvSpPr>
      <dsp:spPr>
        <a:xfrm>
          <a:off x="4139845" y="2352048"/>
          <a:ext cx="935987" cy="935987"/>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CB9BC94-2599-4191-8DE5-2A299CE7FD3A}">
      <dsp:nvSpPr>
        <dsp:cNvPr id="0" name=""/>
        <dsp:cNvSpPr/>
      </dsp:nvSpPr>
      <dsp:spPr>
        <a:xfrm>
          <a:off x="4336403" y="2548606"/>
          <a:ext cx="542872" cy="542872"/>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3BD017F-343D-49C4-AF84-D73CD1978233}">
      <dsp:nvSpPr>
        <dsp:cNvPr id="0" name=""/>
        <dsp:cNvSpPr/>
      </dsp:nvSpPr>
      <dsp:spPr>
        <a:xfrm>
          <a:off x="5276402" y="2352048"/>
          <a:ext cx="2206256" cy="9359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kern="1200" dirty="0"/>
            <a:t>All of these costs can add up to create a significant barrier to the development of large AI systems. </a:t>
          </a:r>
        </a:p>
      </dsp:txBody>
      <dsp:txXfrm>
        <a:off x="5276402" y="2352048"/>
        <a:ext cx="2206256" cy="935987"/>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711570-E675-4B70-89F9-ABE38C2DE57C}" type="datetimeFigureOut">
              <a:rPr lang="en-US" smtClean="0"/>
              <a:t>6/1/2024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963B08-52C8-4357-B046-887EE840B405}" type="slidenum">
              <a:rPr lang="en-US" smtClean="0"/>
              <a:t>‹#›</a:t>
            </a:fld>
            <a:endParaRPr lang="en-US"/>
          </a:p>
        </p:txBody>
      </p:sp>
    </p:spTree>
    <p:extLst>
      <p:ext uri="{BB962C8B-B14F-4D97-AF65-F5344CB8AC3E}">
        <p14:creationId xmlns:p14="http://schemas.microsoft.com/office/powerpoint/2010/main" val="24950983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Aptos" panose="020B0004020202020204" pitchFamily="34" charset="0"/>
                <a:ea typeface="Aptos" panose="020B0004020202020204" pitchFamily="34" charset="0"/>
                <a:cs typeface="Times New Roman" panose="02020603050405020304" pitchFamily="18" charset="0"/>
              </a:rPr>
              <a:t>Like any system, its reliability is dependent on good data. If the data is corrupt, broken, missing, or incorrect, then the system will provide incorrect, broken results. Great care should be taken to acquire the data from reliable sources. Vertical application systems typically are created with data that has been curated by experts at design time. Those types of systems are generally considered as being reliable and capable of creating consistent results. Horizontal application systems can initially be fed curated data but can encounter unreliable data over time. This will lead to an increasing degradation in the performance and reliability of those types of systems</a:t>
            </a:r>
            <a:endParaRPr lang="en-US" dirty="0"/>
          </a:p>
        </p:txBody>
      </p:sp>
      <p:sp>
        <p:nvSpPr>
          <p:cNvPr id="4" name="Slide Number Placeholder 3"/>
          <p:cNvSpPr>
            <a:spLocks noGrp="1"/>
          </p:cNvSpPr>
          <p:nvPr>
            <p:ph type="sldNum" sz="quarter" idx="5"/>
          </p:nvPr>
        </p:nvSpPr>
        <p:spPr/>
        <p:txBody>
          <a:bodyPr/>
          <a:lstStyle/>
          <a:p>
            <a:fld id="{95963B08-52C8-4357-B046-887EE840B405}" type="slidenum">
              <a:rPr lang="en-US" smtClean="0"/>
              <a:t>2</a:t>
            </a:fld>
            <a:endParaRPr lang="en-US"/>
          </a:p>
        </p:txBody>
      </p:sp>
    </p:spTree>
    <p:extLst>
      <p:ext uri="{BB962C8B-B14F-4D97-AF65-F5344CB8AC3E}">
        <p14:creationId xmlns:p14="http://schemas.microsoft.com/office/powerpoint/2010/main" val="10339257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Aptos" panose="020B0004020202020204" pitchFamily="34" charset="0"/>
                <a:ea typeface="Aptos" panose="020B0004020202020204" pitchFamily="34" charset="0"/>
                <a:cs typeface="Times New Roman" panose="02020603050405020304" pitchFamily="18" charset="0"/>
              </a:rPr>
              <a:t>When acquiring the data, great care should be taken when assessing the size and amount of data that is to be collected in order to train the AI system. Proper statistical methods for data collection should be paid attention to when collecting the data. Sometimes the population of data to be used may be too large to process and proper sampling should occur to ensure that the runtime calls do not exceed the budget set for development. If samples are taken, then they need to be properly randomized in order to reflect the true nature of the data being represented. Failure to do so will lead to unreliable system results</a:t>
            </a:r>
            <a:endParaRPr lang="en-US" dirty="0"/>
          </a:p>
        </p:txBody>
      </p:sp>
      <p:sp>
        <p:nvSpPr>
          <p:cNvPr id="4" name="Slide Number Placeholder 3"/>
          <p:cNvSpPr>
            <a:spLocks noGrp="1"/>
          </p:cNvSpPr>
          <p:nvPr>
            <p:ph type="sldNum" sz="quarter" idx="5"/>
          </p:nvPr>
        </p:nvSpPr>
        <p:spPr/>
        <p:txBody>
          <a:bodyPr/>
          <a:lstStyle/>
          <a:p>
            <a:fld id="{95963B08-52C8-4357-B046-887EE840B405}" type="slidenum">
              <a:rPr lang="en-US" smtClean="0"/>
              <a:t>3</a:t>
            </a:fld>
            <a:endParaRPr lang="en-US"/>
          </a:p>
        </p:txBody>
      </p:sp>
    </p:spTree>
    <p:extLst>
      <p:ext uri="{BB962C8B-B14F-4D97-AF65-F5344CB8AC3E}">
        <p14:creationId xmlns:p14="http://schemas.microsoft.com/office/powerpoint/2010/main" val="24926079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Aptos" panose="020B0004020202020204" pitchFamily="34" charset="0"/>
                <a:ea typeface="Aptos" panose="020B0004020202020204" pitchFamily="34" charset="0"/>
                <a:cs typeface="Times New Roman" panose="02020603050405020304" pitchFamily="18" charset="0"/>
              </a:rPr>
              <a:t>Collection of the data should respect copyright and intellectual property protections. Data that has been protected using these methods is not free to use. Typically, analysts who collect the data for their AI system development from protected sources will need to acquire permission and or licensing to use that data. Additionally, data can be private to organizations and individuals. This data is not free to use either and would require the same type of permission and/or licensing for use</a:t>
            </a:r>
            <a:endParaRPr lang="en-US" dirty="0"/>
          </a:p>
        </p:txBody>
      </p:sp>
      <p:sp>
        <p:nvSpPr>
          <p:cNvPr id="4" name="Slide Number Placeholder 3"/>
          <p:cNvSpPr>
            <a:spLocks noGrp="1"/>
          </p:cNvSpPr>
          <p:nvPr>
            <p:ph type="sldNum" sz="quarter" idx="5"/>
          </p:nvPr>
        </p:nvSpPr>
        <p:spPr/>
        <p:txBody>
          <a:bodyPr/>
          <a:lstStyle/>
          <a:p>
            <a:fld id="{95963B08-52C8-4357-B046-887EE840B405}" type="slidenum">
              <a:rPr lang="en-US" smtClean="0"/>
              <a:t>4</a:t>
            </a:fld>
            <a:endParaRPr lang="en-US"/>
          </a:p>
        </p:txBody>
      </p:sp>
    </p:spTree>
    <p:extLst>
      <p:ext uri="{BB962C8B-B14F-4D97-AF65-F5344CB8AC3E}">
        <p14:creationId xmlns:p14="http://schemas.microsoft.com/office/powerpoint/2010/main" val="36644113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Aptos" panose="020B0004020202020204" pitchFamily="34" charset="0"/>
                <a:ea typeface="Aptos" panose="020B0004020202020204" pitchFamily="34" charset="0"/>
                <a:cs typeface="Times New Roman" panose="02020603050405020304" pitchFamily="18" charset="0"/>
              </a:rPr>
              <a:t>There are methods to circumvent the broad protections that are used to secure data for use. Data can be sanitized to remove user-specific information. This would detach the data from any particular person or organization. Another approach would have data be transcribed from its original form. This would entail reading in, summarizing, and generally changing the form of the data to fit the development of the AI systems at hand. The resulting transcribed data would no longer be the same as its original</a:t>
            </a:r>
            <a:endParaRPr lang="en-US" dirty="0"/>
          </a:p>
        </p:txBody>
      </p:sp>
      <p:sp>
        <p:nvSpPr>
          <p:cNvPr id="4" name="Slide Number Placeholder 3"/>
          <p:cNvSpPr>
            <a:spLocks noGrp="1"/>
          </p:cNvSpPr>
          <p:nvPr>
            <p:ph type="sldNum" sz="quarter" idx="5"/>
          </p:nvPr>
        </p:nvSpPr>
        <p:spPr/>
        <p:txBody>
          <a:bodyPr/>
          <a:lstStyle/>
          <a:p>
            <a:fld id="{95963B08-52C8-4357-B046-887EE840B405}" type="slidenum">
              <a:rPr lang="en-US" smtClean="0"/>
              <a:t>5</a:t>
            </a:fld>
            <a:endParaRPr lang="en-US"/>
          </a:p>
        </p:txBody>
      </p:sp>
    </p:spTree>
    <p:extLst>
      <p:ext uri="{BB962C8B-B14F-4D97-AF65-F5344CB8AC3E}">
        <p14:creationId xmlns:p14="http://schemas.microsoft.com/office/powerpoint/2010/main" val="8469274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Acquiring the data for AI systems is almost always a costly endeavor. Since massive amounts of data is needed in order to train the AI systems, the data would need to be sourced from reliable data collection sources. Those costs can include:</a:t>
            </a:r>
          </a:p>
          <a:p>
            <a:pPr marL="342900" marR="0" lvl="0" indent="-342900">
              <a:lnSpc>
                <a:spcPct val="107000"/>
              </a:lnSpc>
              <a:spcBef>
                <a:spcPts val="0"/>
              </a:spcBef>
              <a:spcAft>
                <a:spcPts val="0"/>
              </a:spcAft>
              <a:buFont typeface="Symbol" panose="05050102010706020507" pitchFamily="18" charset="2"/>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distributing and collecting surveys</a:t>
            </a:r>
          </a:p>
          <a:p>
            <a:pPr marL="342900" marR="0" lvl="0" indent="-342900">
              <a:lnSpc>
                <a:spcPct val="107000"/>
              </a:lnSpc>
              <a:spcBef>
                <a:spcPts val="0"/>
              </a:spcBef>
              <a:spcAft>
                <a:spcPts val="0"/>
              </a:spcAft>
              <a:buFont typeface="Symbol" panose="05050102010706020507" pitchFamily="18" charset="2"/>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the time that it takes to get enough results</a:t>
            </a:r>
          </a:p>
          <a:p>
            <a:pPr marL="342900" marR="0" lvl="0" indent="-342900">
              <a:lnSpc>
                <a:spcPct val="107000"/>
              </a:lnSpc>
              <a:spcBef>
                <a:spcPts val="0"/>
              </a:spcBef>
              <a:spcAft>
                <a:spcPts val="0"/>
              </a:spcAft>
              <a:buFont typeface="Symbol" panose="05050102010706020507" pitchFamily="18" charset="2"/>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ensuring that proper sampling and randomization is employed</a:t>
            </a:r>
          </a:p>
          <a:p>
            <a:pPr marL="342900" marR="0" lvl="0" indent="-342900">
              <a:lnSpc>
                <a:spcPct val="107000"/>
              </a:lnSpc>
              <a:spcBef>
                <a:spcPts val="0"/>
              </a:spcBef>
              <a:spcAft>
                <a:spcPts val="0"/>
              </a:spcAft>
              <a:buFont typeface="Symbol" panose="05050102010706020507" pitchFamily="18" charset="2"/>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sanitizing the data to remove user-specific information</a:t>
            </a:r>
          </a:p>
          <a:p>
            <a:pPr marL="342900" marR="0" lvl="0" indent="-342900">
              <a:lnSpc>
                <a:spcPct val="107000"/>
              </a:lnSpc>
              <a:spcBef>
                <a:spcPts val="0"/>
              </a:spcBef>
              <a:spcAft>
                <a:spcPts val="800"/>
              </a:spcAft>
              <a:buFont typeface="Symbol" panose="05050102010706020507" pitchFamily="18" charset="2"/>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installing and operating devices that could be used to gather metrics for data purposes</a:t>
            </a:r>
          </a:p>
          <a:p>
            <a:r>
              <a:rPr lang="en-US" sz="1800" dirty="0">
                <a:effectLst/>
                <a:latin typeface="Aptos" panose="020B0004020202020204" pitchFamily="34" charset="0"/>
                <a:ea typeface="Aptos" panose="020B0004020202020204" pitchFamily="34" charset="0"/>
                <a:cs typeface="Times New Roman" panose="02020603050405020304" pitchFamily="18" charset="0"/>
              </a:rPr>
              <a:t>ensuring the integrity of the collection techniques to prevent bad actors or faulty systems from infecting the data with errors</a:t>
            </a:r>
            <a:endParaRPr lang="en-US" dirty="0"/>
          </a:p>
        </p:txBody>
      </p:sp>
      <p:sp>
        <p:nvSpPr>
          <p:cNvPr id="4" name="Slide Number Placeholder 3"/>
          <p:cNvSpPr>
            <a:spLocks noGrp="1"/>
          </p:cNvSpPr>
          <p:nvPr>
            <p:ph type="sldNum" sz="quarter" idx="5"/>
          </p:nvPr>
        </p:nvSpPr>
        <p:spPr/>
        <p:txBody>
          <a:bodyPr/>
          <a:lstStyle/>
          <a:p>
            <a:fld id="{95963B08-52C8-4357-B046-887EE840B405}" type="slidenum">
              <a:rPr lang="en-US" smtClean="0"/>
              <a:t>6</a:t>
            </a:fld>
            <a:endParaRPr lang="en-US"/>
          </a:p>
        </p:txBody>
      </p:sp>
    </p:spTree>
    <p:extLst>
      <p:ext uri="{BB962C8B-B14F-4D97-AF65-F5344CB8AC3E}">
        <p14:creationId xmlns:p14="http://schemas.microsoft.com/office/powerpoint/2010/main" val="9429401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1800" dirty="0">
                <a:effectLst/>
                <a:latin typeface="Aptos" panose="020B0004020202020204" pitchFamily="34" charset="0"/>
                <a:ea typeface="Aptos" panose="020B0004020202020204" pitchFamily="34" charset="0"/>
                <a:cs typeface="Times New Roman" panose="02020603050405020304" pitchFamily="18" charset="0"/>
              </a:rPr>
              <a:t>Once the data is collected, the AI systems will need to be trained in some way. The training can take on enormous costs as well. Some modern generative AI systems can take months to train on clusters of supercomputers. The compute costs in these types of training scenarios can be in the tens of millions of dollars. Incremental and ongoing training will add to the costs as well. Furthermore, there is a cost associated with the electricity needed to process the data across thousands of computers. All of these costs can add up to create a significant barrier to the development of large AI systems</a:t>
            </a:r>
            <a:endParaRPr lang="en-US" dirty="0"/>
          </a:p>
        </p:txBody>
      </p:sp>
      <p:sp>
        <p:nvSpPr>
          <p:cNvPr id="4" name="Slide Number Placeholder 3"/>
          <p:cNvSpPr>
            <a:spLocks noGrp="1"/>
          </p:cNvSpPr>
          <p:nvPr>
            <p:ph type="sldNum" sz="quarter" idx="5"/>
          </p:nvPr>
        </p:nvSpPr>
        <p:spPr/>
        <p:txBody>
          <a:bodyPr/>
          <a:lstStyle/>
          <a:p>
            <a:fld id="{95963B08-52C8-4357-B046-887EE840B405}" type="slidenum">
              <a:rPr lang="en-US" smtClean="0"/>
              <a:t>7</a:t>
            </a:fld>
            <a:endParaRPr lang="en-US"/>
          </a:p>
        </p:txBody>
      </p:sp>
    </p:spTree>
    <p:extLst>
      <p:ext uri="{BB962C8B-B14F-4D97-AF65-F5344CB8AC3E}">
        <p14:creationId xmlns:p14="http://schemas.microsoft.com/office/powerpoint/2010/main" val="37368128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8B9EBBA-996F-894A-B54A-D6246ED52CEA}" type="datetimeFigureOut">
              <a:rPr lang="en-US" dirty="0"/>
              <a:pPr/>
              <a:t>6/1/2024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lstStyle/>
          <a:p>
            <a:r>
              <a:rPr lang="en-US"/>
              <a:t>Click to edit Master title style</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B3A1323-8D79-1946-B0D7-40001CF92E9D}" type="datetimeFigureOut">
              <a:rPr lang="en-US" dirty="0"/>
              <a:pPr/>
              <a:t>6/1/2024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en-US"/>
              <a:t>Click to edit Master title style</a:t>
            </a:r>
            <a:endParaRPr lang="en-US" dirty="0"/>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dirty="0"/>
              <a:pPr/>
              <a:t>6/1/2024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18712" y="2222287"/>
            <a:ext cx="5185873" cy="36387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7415" y="2222287"/>
            <a:ext cx="5194583" cy="363876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302355-E14B-8545-A8F8-0FE83CC9D524}" type="datetimeFigureOut">
              <a:rPr lang="en-US" dirty="0"/>
              <a:pPr/>
              <a:t>6/1/2024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2640F58-564D-2B4F-AE67-E407BA4FCF45}" type="datetimeFigureOut">
              <a:rPr lang="en-US" dirty="0"/>
              <a:pPr/>
              <a:t>6/1/2024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13A34C8-038E-2045-AF43-DF7DBB8E0E9E}" type="datetimeFigureOut">
              <a:rPr lang="en-US" dirty="0"/>
              <a:pPr/>
              <a:t>6/1/2024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18C68F-D26B-8F47-958C-23B49CF8A634}" type="datetimeFigureOut">
              <a:rPr lang="en-US" dirty="0"/>
              <a:pPr/>
              <a:t>6/1/2024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en-US"/>
              <a:t>Click to edit Master title style</a:t>
            </a:r>
            <a:endParaRPr lang="en-US" dirty="0"/>
          </a:p>
        </p:txBody>
      </p:sp>
      <p:sp>
        <p:nvSpPr>
          <p:cNvPr id="3" name="Content Placeholder 2"/>
          <p:cNvSpPr>
            <a:spLocks noGrp="1"/>
          </p:cNvSpPr>
          <p:nvPr>
            <p:ph idx="1"/>
          </p:nvPr>
        </p:nvSpPr>
        <p:spPr>
          <a:xfrm>
            <a:off x="4855633" y="446088"/>
            <a:ext cx="6252633" cy="54149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0DF5E60-9974-AC48-9591-99C2BB44B7CF}" type="datetimeFigureOut">
              <a:rPr lang="en-US" dirty="0"/>
              <a:pPr/>
              <a:t>6/1/2024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en-US"/>
              <a:t>Click to edit Master title style</a:t>
            </a:r>
            <a:endParaRPr lang="en-US" dirty="0"/>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en-US"/>
              <a:t>Click icon to add picture</a:t>
            </a:r>
            <a:endParaRPr lang="en-US" dirty="0"/>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885810" y="6041362"/>
            <a:ext cx="976879" cy="365125"/>
          </a:xfrm>
        </p:spPr>
        <p:txBody>
          <a:bodyPr/>
          <a:lstStyle/>
          <a:p>
            <a:fld id="{18C79C5D-2A6F-F04D-97DA-BEF2467B64E4}" type="datetimeFigureOut">
              <a:rPr lang="en-US" dirty="0"/>
              <a:pPr/>
              <a:t>6/1/2024</a:t>
            </a:fld>
            <a:endParaRPr lang="en-US" dirty="0"/>
          </a:p>
        </p:txBody>
      </p:sp>
      <p:sp>
        <p:nvSpPr>
          <p:cNvPr id="6" name="Footer Placeholder 5"/>
          <p:cNvSpPr>
            <a:spLocks noGrp="1"/>
          </p:cNvSpPr>
          <p:nvPr>
            <p:ph type="ftr" sz="quarter" idx="11"/>
          </p:nvPr>
        </p:nvSpPr>
        <p:spPr>
          <a:xfrm>
            <a:off x="590396" y="6041362"/>
            <a:ext cx="3295413" cy="365125"/>
          </a:xfrm>
        </p:spPr>
        <p:txBody>
          <a:bodyPr/>
          <a:lstStyle/>
          <a:p>
            <a:endParaRPr lang="en-US" dirty="0"/>
          </a:p>
        </p:txBody>
      </p:sp>
      <p:sp>
        <p:nvSpPr>
          <p:cNvPr id="7" name="Slide Number Placeholder 6"/>
          <p:cNvSpPr>
            <a:spLocks noGrp="1"/>
          </p:cNvSpPr>
          <p:nvPr>
            <p:ph type="sldNum" sz="quarter" idx="12"/>
          </p:nvPr>
        </p:nvSpPr>
        <p:spPr>
          <a:xfrm>
            <a:off x="4862689" y="5915888"/>
            <a:ext cx="1062155" cy="490599"/>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en-US"/>
              <a:t>Click to edit Master title style</a:t>
            </a:r>
            <a:endParaRPr lang="en-US" dirty="0"/>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en-US"/>
              <a:t>Click icon to add picture</a:t>
            </a:r>
            <a:endParaRPr lang="en-US" dirty="0"/>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C79C5D-2A6F-F04D-97DA-BEF2467B64E4}" type="datetimeFigureOut">
              <a:rPr lang="en-US" dirty="0"/>
              <a:pPr/>
              <a:t>6/1/2024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en-US"/>
              <a:t>Click to edit Master title style</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en-US"/>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dirty="0"/>
              <a:pPr/>
              <a:t>6/1/2024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en-US"/>
              <a:t>Click to edit Master title style</a:t>
            </a:r>
            <a:endParaRPr lang="en-US" dirty="0"/>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en-US"/>
              <a:t>Click to edit Master text styles</a:t>
            </a:r>
          </a:p>
        </p:txBody>
      </p:sp>
      <p:sp>
        <p:nvSpPr>
          <p:cNvPr id="2" name="Date Placeholder 1"/>
          <p:cNvSpPr>
            <a:spLocks noGrp="1"/>
          </p:cNvSpPr>
          <p:nvPr>
            <p:ph type="dt" sz="half" idx="10"/>
          </p:nvPr>
        </p:nvSpPr>
        <p:spPr/>
        <p:txBody>
          <a:bodyPr/>
          <a:lstStyle/>
          <a:p>
            <a:fld id="{FBF54567-0DE4-3F47-BF90-CB84690072F9}" type="datetimeFigureOut">
              <a:rPr lang="en-US" dirty="0"/>
              <a:pPr/>
              <a:t>6/1/2024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C52C72-DE31-F449-A4ED-4C594FD91407}" type="datetimeFigureOut">
              <a:rPr lang="en-US" dirty="0"/>
              <a:pPr/>
              <a:t>6/1/2024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62726E-379B-B349-9EED-81ED093FA806}" type="datetimeFigureOut">
              <a:rPr lang="en-US" dirty="0"/>
              <a:pPr/>
              <a:t>6/1/2024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US" dirty="0"/>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09B482E8-6E0E-1B4F-B1FD-C69DB9E858D9}" type="datetimeFigureOut">
              <a:rPr lang="en-US" dirty="0"/>
              <a:pPr/>
              <a:t>6/1/2024</a:t>
            </a:fld>
            <a:endParaRPr lang="en-US" dirty="0"/>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3" r:id="rId9"/>
    <p:sldLayoutId id="2147483657" r:id="rId10"/>
    <p:sldLayoutId id="2147483666" r:id="rId11"/>
    <p:sldLayoutId id="2147483661" r:id="rId12"/>
    <p:sldLayoutId id="2147483658" r:id="rId13"/>
    <p:sldLayoutId id="2147483659" r:id="rId14"/>
  </p:sldLayoutIdLst>
  <p:hf sldNum="0" hdr="0" ftr="0" dt="0"/>
  <p:txStyles>
    <p:title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276AD-F23B-1243-1F17-1DE59E1B8BC6}"/>
              </a:ext>
            </a:extLst>
          </p:cNvPr>
          <p:cNvSpPr>
            <a:spLocks noGrp="1"/>
          </p:cNvSpPr>
          <p:nvPr>
            <p:ph type="ctrTitle"/>
          </p:nvPr>
        </p:nvSpPr>
        <p:spPr/>
        <p:txBody>
          <a:bodyPr/>
          <a:lstStyle/>
          <a:p>
            <a:r>
              <a:rPr lang="en-US" dirty="0"/>
              <a:t>AI Fundamentals 	</a:t>
            </a:r>
          </a:p>
        </p:txBody>
      </p:sp>
      <p:sp>
        <p:nvSpPr>
          <p:cNvPr id="3" name="Subtitle 2">
            <a:extLst>
              <a:ext uri="{FF2B5EF4-FFF2-40B4-BE49-F238E27FC236}">
                <a16:creationId xmlns:a16="http://schemas.microsoft.com/office/drawing/2014/main" id="{ECEB3CB5-DFBF-DFD8-8D0A-8B56AC87F984}"/>
              </a:ext>
            </a:extLst>
          </p:cNvPr>
          <p:cNvSpPr>
            <a:spLocks noGrp="1"/>
          </p:cNvSpPr>
          <p:nvPr>
            <p:ph type="subTitle" idx="1"/>
          </p:nvPr>
        </p:nvSpPr>
        <p:spPr>
          <a:xfrm>
            <a:off x="810001" y="5280846"/>
            <a:ext cx="10572000" cy="1220437"/>
          </a:xfrm>
        </p:spPr>
        <p:txBody>
          <a:bodyPr>
            <a:normAutofit/>
          </a:bodyPr>
          <a:lstStyle/>
          <a:p>
            <a:r>
              <a:rPr lang="en-US" dirty="0"/>
              <a:t>Madison College</a:t>
            </a:r>
          </a:p>
          <a:p>
            <a:r>
              <a:rPr lang="en-US" dirty="0"/>
              <a:t>Week 03</a:t>
            </a:r>
          </a:p>
          <a:p>
            <a:r>
              <a:rPr lang="en-US" dirty="0">
                <a:solidFill>
                  <a:srgbClr val="FFFF00"/>
                </a:solidFill>
              </a:rPr>
              <a:t>Part 2: Data Management – GIGO, Collection, Privacy</a:t>
            </a:r>
          </a:p>
        </p:txBody>
      </p:sp>
    </p:spTree>
    <p:extLst>
      <p:ext uri="{BB962C8B-B14F-4D97-AF65-F5344CB8AC3E}">
        <p14:creationId xmlns:p14="http://schemas.microsoft.com/office/powerpoint/2010/main" val="10718730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940F547-7206-4401-94FB-F8421915D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8DF16703-A7DE-F627-103C-2087D7D9593D}"/>
              </a:ext>
            </a:extLst>
          </p:cNvPr>
          <p:cNvPicPr>
            <a:picLocks noChangeAspect="1"/>
          </p:cNvPicPr>
          <p:nvPr/>
        </p:nvPicPr>
        <p:blipFill rotWithShape="1">
          <a:blip r:embed="rId3">
            <a:alphaModFix amt="40000"/>
          </a:blip>
          <a:srcRect l="4000"/>
          <a:stretch/>
        </p:blipFill>
        <p:spPr>
          <a:xfrm>
            <a:off x="20" y="10"/>
            <a:ext cx="12191980" cy="6857990"/>
          </a:xfrm>
          <a:prstGeom prst="rect">
            <a:avLst/>
          </a:prstGeom>
        </p:spPr>
      </p:pic>
      <p:sp>
        <p:nvSpPr>
          <p:cNvPr id="2" name="Title 1">
            <a:extLst>
              <a:ext uri="{FF2B5EF4-FFF2-40B4-BE49-F238E27FC236}">
                <a16:creationId xmlns:a16="http://schemas.microsoft.com/office/drawing/2014/main" id="{194E7842-4DA4-8EF1-357A-F004402DDD78}"/>
              </a:ext>
            </a:extLst>
          </p:cNvPr>
          <p:cNvSpPr>
            <a:spLocks noGrp="1"/>
          </p:cNvSpPr>
          <p:nvPr>
            <p:ph type="title"/>
          </p:nvPr>
        </p:nvSpPr>
        <p:spPr>
          <a:xfrm>
            <a:off x="810000" y="447188"/>
            <a:ext cx="10571998" cy="970450"/>
          </a:xfrm>
        </p:spPr>
        <p:txBody>
          <a:bodyPr>
            <a:normAutofit/>
          </a:bodyPr>
          <a:lstStyle/>
          <a:p>
            <a:r>
              <a:rPr lang="en-US" dirty="0"/>
              <a:t>Garbage In, Garbage Out</a:t>
            </a:r>
          </a:p>
        </p:txBody>
      </p:sp>
      <p:sp>
        <p:nvSpPr>
          <p:cNvPr id="3" name="Content Placeholder 2">
            <a:extLst>
              <a:ext uri="{FF2B5EF4-FFF2-40B4-BE49-F238E27FC236}">
                <a16:creationId xmlns:a16="http://schemas.microsoft.com/office/drawing/2014/main" id="{0F8DF97E-4D61-419C-65BB-65389942B401}"/>
              </a:ext>
            </a:extLst>
          </p:cNvPr>
          <p:cNvSpPr>
            <a:spLocks noGrp="1"/>
          </p:cNvSpPr>
          <p:nvPr>
            <p:ph idx="1"/>
          </p:nvPr>
        </p:nvSpPr>
        <p:spPr>
          <a:xfrm>
            <a:off x="818712" y="2057401"/>
            <a:ext cx="10554574" cy="4463716"/>
          </a:xfrm>
        </p:spPr>
        <p:txBody>
          <a:bodyPr>
            <a:normAutofit/>
          </a:bodyPr>
          <a:lstStyle/>
          <a:p>
            <a:r>
              <a:rPr lang="en-US" sz="2000" dirty="0"/>
              <a:t>Like any system, its reliability is dependent on good data. If the data is corrupt, broken, missing, or incorrect, then the system will provide incorrect, broken results</a:t>
            </a:r>
          </a:p>
          <a:p>
            <a:r>
              <a:rPr lang="en-US" sz="2000" dirty="0"/>
              <a:t>Great care should be taken to acquire the data from reliable sources</a:t>
            </a:r>
          </a:p>
          <a:p>
            <a:r>
              <a:rPr lang="en-US" sz="2000" dirty="0"/>
              <a:t>Vertical application systems typically are created with data that has been curated by experts at design time. Those types of systems are generally considered as being reliable and capable of creating consistent results</a:t>
            </a:r>
          </a:p>
          <a:p>
            <a:r>
              <a:rPr lang="en-US" sz="2000" dirty="0"/>
              <a:t>Horizontal application systems can initially be fed curated data but can encounter unreliable data over time. This will lead to an increasing degradation in the performance and reliability of those types of systems</a:t>
            </a:r>
          </a:p>
        </p:txBody>
      </p:sp>
    </p:spTree>
    <p:extLst>
      <p:ext uri="{BB962C8B-B14F-4D97-AF65-F5344CB8AC3E}">
        <p14:creationId xmlns:p14="http://schemas.microsoft.com/office/powerpoint/2010/main" val="21947110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D697E777-8077-48ED-861D-919762A4A5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23">
            <a:extLst>
              <a:ext uri="{FF2B5EF4-FFF2-40B4-BE49-F238E27FC236}">
                <a16:creationId xmlns:a16="http://schemas.microsoft.com/office/drawing/2014/main" id="{48AF6BEF-7139-416D-8C2F-4AD91DA472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4637005" cy="6858000"/>
          </a:xfrm>
          <a:custGeom>
            <a:avLst/>
            <a:gdLst>
              <a:gd name="connsiteX0" fmla="*/ 0 w 4637005"/>
              <a:gd name="connsiteY0" fmla="*/ 0 h 6858000"/>
              <a:gd name="connsiteX1" fmla="*/ 4637005 w 4637005"/>
              <a:gd name="connsiteY1" fmla="*/ 0 h 6858000"/>
              <a:gd name="connsiteX2" fmla="*/ 4637005 w 4637005"/>
              <a:gd name="connsiteY2" fmla="*/ 1900238 h 6858000"/>
              <a:gd name="connsiteX3" fmla="*/ 4266589 w 4637005"/>
              <a:gd name="connsiteY3" fmla="*/ 2178050 h 6858000"/>
              <a:gd name="connsiteX4" fmla="*/ 4262355 w 4637005"/>
              <a:gd name="connsiteY4" fmla="*/ 2184400 h 6858000"/>
              <a:gd name="connsiteX5" fmla="*/ 4256005 w 4637005"/>
              <a:gd name="connsiteY5" fmla="*/ 2193925 h 6858000"/>
              <a:gd name="connsiteX6" fmla="*/ 4249655 w 4637005"/>
              <a:gd name="connsiteY6" fmla="*/ 2201863 h 6858000"/>
              <a:gd name="connsiteX7" fmla="*/ 4249655 w 4637005"/>
              <a:gd name="connsiteY7" fmla="*/ 2211388 h 6858000"/>
              <a:gd name="connsiteX8" fmla="*/ 4249655 w 4637005"/>
              <a:gd name="connsiteY8" fmla="*/ 2220913 h 6858000"/>
              <a:gd name="connsiteX9" fmla="*/ 4256005 w 4637005"/>
              <a:gd name="connsiteY9" fmla="*/ 2228850 h 6858000"/>
              <a:gd name="connsiteX10" fmla="*/ 4262355 w 4637005"/>
              <a:gd name="connsiteY10" fmla="*/ 2238375 h 6858000"/>
              <a:gd name="connsiteX11" fmla="*/ 4266589 w 4637005"/>
              <a:gd name="connsiteY11" fmla="*/ 2244725 h 6858000"/>
              <a:gd name="connsiteX12" fmla="*/ 4637005 w 4637005"/>
              <a:gd name="connsiteY12" fmla="*/ 2522538 h 6858000"/>
              <a:gd name="connsiteX13" fmla="*/ 4637005 w 4637005"/>
              <a:gd name="connsiteY13" fmla="*/ 6858000 h 6858000"/>
              <a:gd name="connsiteX14" fmla="*/ 0 w 4637005"/>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37005" h="6858000">
                <a:moveTo>
                  <a:pt x="0" y="0"/>
                </a:moveTo>
                <a:lnTo>
                  <a:pt x="4637005" y="0"/>
                </a:lnTo>
                <a:lnTo>
                  <a:pt x="4637005" y="1900238"/>
                </a:lnTo>
                <a:lnTo>
                  <a:pt x="4266589" y="2178050"/>
                </a:lnTo>
                <a:lnTo>
                  <a:pt x="4262355" y="2184400"/>
                </a:lnTo>
                <a:lnTo>
                  <a:pt x="4256005" y="2193925"/>
                </a:lnTo>
                <a:lnTo>
                  <a:pt x="4249655" y="2201863"/>
                </a:lnTo>
                <a:lnTo>
                  <a:pt x="4249655" y="2211388"/>
                </a:lnTo>
                <a:lnTo>
                  <a:pt x="4249655" y="2220913"/>
                </a:lnTo>
                <a:lnTo>
                  <a:pt x="4256005" y="2228850"/>
                </a:lnTo>
                <a:lnTo>
                  <a:pt x="4262355" y="2238375"/>
                </a:lnTo>
                <a:lnTo>
                  <a:pt x="4266589" y="2244725"/>
                </a:lnTo>
                <a:lnTo>
                  <a:pt x="4637005" y="2522538"/>
                </a:lnTo>
                <a:lnTo>
                  <a:pt x="4637005" y="6858000"/>
                </a:lnTo>
                <a:lnTo>
                  <a:pt x="0" y="6858000"/>
                </a:lnTo>
                <a:close/>
              </a:path>
            </a:pathLst>
          </a:cu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94E7842-4DA4-8EF1-357A-F004402DDD78}"/>
              </a:ext>
            </a:extLst>
          </p:cNvPr>
          <p:cNvSpPr>
            <a:spLocks noGrp="1"/>
          </p:cNvSpPr>
          <p:nvPr>
            <p:ph type="title"/>
          </p:nvPr>
        </p:nvSpPr>
        <p:spPr>
          <a:xfrm>
            <a:off x="810001" y="447188"/>
            <a:ext cx="3413084" cy="811341"/>
          </a:xfrm>
        </p:spPr>
        <p:txBody>
          <a:bodyPr>
            <a:normAutofit/>
          </a:bodyPr>
          <a:lstStyle/>
          <a:p>
            <a:r>
              <a:rPr lang="en-US" sz="3200" dirty="0"/>
              <a:t>Data Collection</a:t>
            </a:r>
          </a:p>
        </p:txBody>
      </p:sp>
      <p:sp>
        <p:nvSpPr>
          <p:cNvPr id="3" name="Content Placeholder 2">
            <a:extLst>
              <a:ext uri="{FF2B5EF4-FFF2-40B4-BE49-F238E27FC236}">
                <a16:creationId xmlns:a16="http://schemas.microsoft.com/office/drawing/2014/main" id="{0F8DF97E-4D61-419C-65BB-65389942B401}"/>
              </a:ext>
            </a:extLst>
          </p:cNvPr>
          <p:cNvSpPr>
            <a:spLocks noGrp="1"/>
          </p:cNvSpPr>
          <p:nvPr>
            <p:ph idx="1"/>
          </p:nvPr>
        </p:nvSpPr>
        <p:spPr>
          <a:xfrm>
            <a:off x="192505" y="1540043"/>
            <a:ext cx="4030580" cy="4870770"/>
          </a:xfrm>
        </p:spPr>
        <p:txBody>
          <a:bodyPr>
            <a:normAutofit/>
          </a:bodyPr>
          <a:lstStyle/>
          <a:p>
            <a:pPr>
              <a:lnSpc>
                <a:spcPct val="90000"/>
              </a:lnSpc>
            </a:pPr>
            <a:r>
              <a:rPr lang="en-US" sz="1600" dirty="0"/>
              <a:t>Great care should be taken when assessing the size and amount of data that is to be collected in order to train the AI system</a:t>
            </a:r>
          </a:p>
          <a:p>
            <a:pPr>
              <a:lnSpc>
                <a:spcPct val="90000"/>
              </a:lnSpc>
            </a:pPr>
            <a:r>
              <a:rPr lang="en-US" sz="1600" dirty="0"/>
              <a:t>Proper statistical methods for data collection should be paid attention to when collecting the data</a:t>
            </a:r>
          </a:p>
          <a:p>
            <a:pPr>
              <a:lnSpc>
                <a:spcPct val="90000"/>
              </a:lnSpc>
            </a:pPr>
            <a:r>
              <a:rPr lang="en-US" sz="1600" dirty="0"/>
              <a:t>Sometimes the population of data to be used may be too large to process and proper sampling should occur to ensure that the runtime calls do not exceed the budget set for development</a:t>
            </a:r>
          </a:p>
          <a:p>
            <a:pPr>
              <a:lnSpc>
                <a:spcPct val="90000"/>
              </a:lnSpc>
            </a:pPr>
            <a:r>
              <a:rPr lang="en-US" sz="1600" dirty="0"/>
              <a:t>If samples are taken, then they need to be properly randomized in order to reflect the true nature of the data being represented. Failure to do so will lead to unreliable system results</a:t>
            </a:r>
          </a:p>
        </p:txBody>
      </p:sp>
      <p:sp>
        <p:nvSpPr>
          <p:cNvPr id="18" name="Rounded Rectangle 17">
            <a:extLst>
              <a:ext uri="{FF2B5EF4-FFF2-40B4-BE49-F238E27FC236}">
                <a16:creationId xmlns:a16="http://schemas.microsoft.com/office/drawing/2014/main" id="{03BFF6BD-7732-42A2-AEA2-7E4BC4FFCB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78945" y="958640"/>
            <a:ext cx="6269591" cy="4945244"/>
          </a:xfrm>
          <a:prstGeom prst="roundRect">
            <a:avLst>
              <a:gd name="adj" fmla="val 3513"/>
            </a:avLst>
          </a:prstGeom>
          <a:solidFill>
            <a:schemeClr val="tx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person reaching for a paper on a table full of paper and sticky notes">
            <a:extLst>
              <a:ext uri="{FF2B5EF4-FFF2-40B4-BE49-F238E27FC236}">
                <a16:creationId xmlns:a16="http://schemas.microsoft.com/office/drawing/2014/main" id="{90412A19-9894-E79F-DA3C-70C28D8246E8}"/>
              </a:ext>
            </a:extLst>
          </p:cNvPr>
          <p:cNvPicPr>
            <a:picLocks noChangeAspect="1"/>
          </p:cNvPicPr>
          <p:nvPr/>
        </p:nvPicPr>
        <p:blipFill rotWithShape="1">
          <a:blip r:embed="rId3"/>
          <a:srcRect l="6539" r="6539"/>
          <a:stretch/>
        </p:blipFill>
        <p:spPr>
          <a:xfrm>
            <a:off x="5603706" y="1258529"/>
            <a:ext cx="5638853" cy="4330205"/>
          </a:xfrm>
          <a:prstGeom prst="rect">
            <a:avLst/>
          </a:prstGeom>
        </p:spPr>
      </p:pic>
    </p:spTree>
    <p:extLst>
      <p:ext uri="{BB962C8B-B14F-4D97-AF65-F5344CB8AC3E}">
        <p14:creationId xmlns:p14="http://schemas.microsoft.com/office/powerpoint/2010/main" val="22773753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E7842-4DA4-8EF1-357A-F004402DDD78}"/>
              </a:ext>
            </a:extLst>
          </p:cNvPr>
          <p:cNvSpPr>
            <a:spLocks noGrp="1"/>
          </p:cNvSpPr>
          <p:nvPr>
            <p:ph type="title"/>
          </p:nvPr>
        </p:nvSpPr>
        <p:spPr>
          <a:xfrm>
            <a:off x="810000" y="447188"/>
            <a:ext cx="10571998" cy="970450"/>
          </a:xfrm>
        </p:spPr>
        <p:txBody>
          <a:bodyPr>
            <a:normAutofit/>
          </a:bodyPr>
          <a:lstStyle/>
          <a:p>
            <a:r>
              <a:rPr lang="en-US" dirty="0"/>
              <a:t>Privacy and protections</a:t>
            </a:r>
          </a:p>
        </p:txBody>
      </p:sp>
      <p:pic>
        <p:nvPicPr>
          <p:cNvPr id="7" name="Graphic 6" descr="Judge">
            <a:extLst>
              <a:ext uri="{FF2B5EF4-FFF2-40B4-BE49-F238E27FC236}">
                <a16:creationId xmlns:a16="http://schemas.microsoft.com/office/drawing/2014/main" id="{32F14BB4-DE7E-13F5-D728-220E501BF77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60438" y="2814638"/>
            <a:ext cx="2913062" cy="2913062"/>
          </a:xfrm>
          <a:prstGeom prst="roundRect">
            <a:avLst>
              <a:gd name="adj" fmla="val 3876"/>
            </a:avLst>
          </a:prstGeom>
          <a:ln>
            <a:solidFill>
              <a:schemeClr val="accent1"/>
            </a:solidFill>
          </a:ln>
          <a:effectLst/>
        </p:spPr>
      </p:pic>
      <p:sp>
        <p:nvSpPr>
          <p:cNvPr id="3" name="Content Placeholder 2">
            <a:extLst>
              <a:ext uri="{FF2B5EF4-FFF2-40B4-BE49-F238E27FC236}">
                <a16:creationId xmlns:a16="http://schemas.microsoft.com/office/drawing/2014/main" id="{0F8DF97E-4D61-419C-65BB-65389942B401}"/>
              </a:ext>
            </a:extLst>
          </p:cNvPr>
          <p:cNvSpPr>
            <a:spLocks noGrp="1"/>
          </p:cNvSpPr>
          <p:nvPr>
            <p:ph idx="1"/>
          </p:nvPr>
        </p:nvSpPr>
        <p:spPr>
          <a:xfrm>
            <a:off x="4330699" y="2413000"/>
            <a:ext cx="7052733" cy="3632200"/>
          </a:xfrm>
        </p:spPr>
        <p:txBody>
          <a:bodyPr>
            <a:normAutofit/>
          </a:bodyPr>
          <a:lstStyle/>
          <a:p>
            <a:r>
              <a:rPr lang="en-US"/>
              <a:t>Collection of the data should respect copyright and intellectual property protections. Data that has been protected using these methods is not free to use</a:t>
            </a:r>
          </a:p>
          <a:p>
            <a:r>
              <a:rPr lang="en-US"/>
              <a:t>Analysts who collect the data for their AI system development from protected sources will need to acquire permission and or licensing to use that data</a:t>
            </a:r>
          </a:p>
          <a:p>
            <a:r>
              <a:rPr lang="en-US"/>
              <a:t>The Internet seems to be a source of data well suited to collection but much of the content is protected by copyright</a:t>
            </a:r>
          </a:p>
          <a:p>
            <a:r>
              <a:rPr lang="en-US"/>
              <a:t>Care should be taken to ensure that sources are in the public domain and/or are royalty-free</a:t>
            </a:r>
          </a:p>
        </p:txBody>
      </p:sp>
    </p:spTree>
    <p:extLst>
      <p:ext uri="{BB962C8B-B14F-4D97-AF65-F5344CB8AC3E}">
        <p14:creationId xmlns:p14="http://schemas.microsoft.com/office/powerpoint/2010/main" val="11274104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089A69AF-D57B-49B4-886C-D4A5DC1944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CABDC08D-6093-4397-92D4-54D00E2BB1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16200000">
            <a:off x="-650724" y="650724"/>
            <a:ext cx="6858000" cy="5556552"/>
          </a:xfrm>
          <a:custGeom>
            <a:avLst/>
            <a:gdLst>
              <a:gd name="connsiteX0" fmla="*/ 6858000 w 6858000"/>
              <a:gd name="connsiteY0" fmla="*/ 3445704 h 5556552"/>
              <a:gd name="connsiteX1" fmla="*/ 3829242 w 6858000"/>
              <a:gd name="connsiteY1" fmla="*/ 5433322 h 5556552"/>
              <a:gd name="connsiteX2" fmla="*/ 3827369 w 6858000"/>
              <a:gd name="connsiteY2" fmla="*/ 5434867 h 5556552"/>
              <a:gd name="connsiteX3" fmla="*/ 3824583 w 6858000"/>
              <a:gd name="connsiteY3" fmla="*/ 5436378 h 5556552"/>
              <a:gd name="connsiteX4" fmla="*/ 3798693 w 6858000"/>
              <a:gd name="connsiteY4" fmla="*/ 5453370 h 5556552"/>
              <a:gd name="connsiteX5" fmla="*/ 3785011 w 6858000"/>
              <a:gd name="connsiteY5" fmla="*/ 5457858 h 5556552"/>
              <a:gd name="connsiteX6" fmla="*/ 3706339 w 6858000"/>
              <a:gd name="connsiteY6" fmla="*/ 5500559 h 5556552"/>
              <a:gd name="connsiteX7" fmla="*/ 3428998 w 6858000"/>
              <a:gd name="connsiteY7" fmla="*/ 5556552 h 5556552"/>
              <a:gd name="connsiteX8" fmla="*/ 3151658 w 6858000"/>
              <a:gd name="connsiteY8" fmla="*/ 5500559 h 5556552"/>
              <a:gd name="connsiteX9" fmla="*/ 3072996 w 6858000"/>
              <a:gd name="connsiteY9" fmla="*/ 5457863 h 5556552"/>
              <a:gd name="connsiteX10" fmla="*/ 3059298 w 6858000"/>
              <a:gd name="connsiteY10" fmla="*/ 5453370 h 5556552"/>
              <a:gd name="connsiteX11" fmla="*/ 3033383 w 6858000"/>
              <a:gd name="connsiteY11" fmla="*/ 5436362 h 5556552"/>
              <a:gd name="connsiteX12" fmla="*/ 3030627 w 6858000"/>
              <a:gd name="connsiteY12" fmla="*/ 5434867 h 5556552"/>
              <a:gd name="connsiteX13" fmla="*/ 3028775 w 6858000"/>
              <a:gd name="connsiteY13" fmla="*/ 5433338 h 5556552"/>
              <a:gd name="connsiteX14" fmla="*/ 0 w 6858000"/>
              <a:gd name="connsiteY14" fmla="*/ 3445704 h 5556552"/>
              <a:gd name="connsiteX15" fmla="*/ 6858000 w 6858000"/>
              <a:gd name="connsiteY15" fmla="*/ 0 h 5556552"/>
              <a:gd name="connsiteX16" fmla="*/ 6858000 w 6858000"/>
              <a:gd name="connsiteY16" fmla="*/ 349336 h 5556552"/>
              <a:gd name="connsiteX17" fmla="*/ 6858000 w 6858000"/>
              <a:gd name="connsiteY17" fmla="*/ 3445703 h 5556552"/>
              <a:gd name="connsiteX18" fmla="*/ 0 w 6858000"/>
              <a:gd name="connsiteY18" fmla="*/ 3445703 h 5556552"/>
              <a:gd name="connsiteX19" fmla="*/ 0 w 6858000"/>
              <a:gd name="connsiteY19" fmla="*/ 0 h 5556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858000" h="5556552">
                <a:moveTo>
                  <a:pt x="6858000" y="3445704"/>
                </a:moveTo>
                <a:lnTo>
                  <a:pt x="3829242" y="5433322"/>
                </a:lnTo>
                <a:lnTo>
                  <a:pt x="3827369" y="5434867"/>
                </a:lnTo>
                <a:lnTo>
                  <a:pt x="3824583" y="5436378"/>
                </a:lnTo>
                <a:lnTo>
                  <a:pt x="3798693" y="5453370"/>
                </a:lnTo>
                <a:lnTo>
                  <a:pt x="3785011" y="5457858"/>
                </a:lnTo>
                <a:lnTo>
                  <a:pt x="3706339" y="5500559"/>
                </a:lnTo>
                <a:cubicBezTo>
                  <a:pt x="3621096" y="5536614"/>
                  <a:pt x="3527375" y="5556552"/>
                  <a:pt x="3428998" y="5556552"/>
                </a:cubicBezTo>
                <a:cubicBezTo>
                  <a:pt x="3330621" y="5556552"/>
                  <a:pt x="3236901" y="5536614"/>
                  <a:pt x="3151658" y="5500559"/>
                </a:cubicBezTo>
                <a:lnTo>
                  <a:pt x="3072996" y="5457863"/>
                </a:lnTo>
                <a:lnTo>
                  <a:pt x="3059298" y="5453370"/>
                </a:lnTo>
                <a:lnTo>
                  <a:pt x="3033383" y="5436362"/>
                </a:lnTo>
                <a:lnTo>
                  <a:pt x="3030627" y="5434867"/>
                </a:lnTo>
                <a:lnTo>
                  <a:pt x="3028775" y="5433338"/>
                </a:lnTo>
                <a:lnTo>
                  <a:pt x="0" y="3445704"/>
                </a:lnTo>
                <a:close/>
                <a:moveTo>
                  <a:pt x="6858000" y="0"/>
                </a:moveTo>
                <a:lnTo>
                  <a:pt x="6858000" y="349336"/>
                </a:lnTo>
                <a:lnTo>
                  <a:pt x="6858000" y="3445703"/>
                </a:lnTo>
                <a:lnTo>
                  <a:pt x="0" y="3445703"/>
                </a:lnTo>
                <a:lnTo>
                  <a:pt x="0" y="0"/>
                </a:lnTo>
                <a:close/>
              </a:path>
            </a:pathLst>
          </a:custGeom>
          <a:ln>
            <a:noFill/>
          </a:ln>
          <a:effectLst/>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194E7842-4DA4-8EF1-357A-F004402DDD78}"/>
              </a:ext>
            </a:extLst>
          </p:cNvPr>
          <p:cNvSpPr>
            <a:spLocks noGrp="1"/>
          </p:cNvSpPr>
          <p:nvPr>
            <p:ph type="title"/>
          </p:nvPr>
        </p:nvSpPr>
        <p:spPr>
          <a:xfrm>
            <a:off x="451515" y="1734857"/>
            <a:ext cx="3765483" cy="3388287"/>
          </a:xfrm>
        </p:spPr>
        <p:txBody>
          <a:bodyPr anchor="ctr">
            <a:normAutofit/>
          </a:bodyPr>
          <a:lstStyle/>
          <a:p>
            <a:r>
              <a:rPr lang="en-US" dirty="0"/>
              <a:t>Privacy and protections, cont’d</a:t>
            </a:r>
          </a:p>
        </p:txBody>
      </p:sp>
      <p:sp>
        <p:nvSpPr>
          <p:cNvPr id="3" name="Content Placeholder 2">
            <a:extLst>
              <a:ext uri="{FF2B5EF4-FFF2-40B4-BE49-F238E27FC236}">
                <a16:creationId xmlns:a16="http://schemas.microsoft.com/office/drawing/2014/main" id="{0F8DF97E-4D61-419C-65BB-65389942B401}"/>
              </a:ext>
            </a:extLst>
          </p:cNvPr>
          <p:cNvSpPr>
            <a:spLocks noGrp="1"/>
          </p:cNvSpPr>
          <p:nvPr>
            <p:ph idx="1"/>
          </p:nvPr>
        </p:nvSpPr>
        <p:spPr>
          <a:xfrm>
            <a:off x="6008068" y="180474"/>
            <a:ext cx="5365218" cy="6376737"/>
          </a:xfrm>
          <a:effectLst/>
        </p:spPr>
        <p:txBody>
          <a:bodyPr>
            <a:normAutofit/>
          </a:bodyPr>
          <a:lstStyle/>
          <a:p>
            <a:pPr>
              <a:lnSpc>
                <a:spcPct val="90000"/>
              </a:lnSpc>
            </a:pPr>
            <a:r>
              <a:rPr lang="en-US" sz="2000" dirty="0"/>
              <a:t>There are methods to circumvent the broad protections that are used to secure data for use however</a:t>
            </a:r>
          </a:p>
          <a:p>
            <a:pPr>
              <a:lnSpc>
                <a:spcPct val="90000"/>
              </a:lnSpc>
            </a:pPr>
            <a:r>
              <a:rPr lang="en-US" sz="2000" dirty="0"/>
              <a:t>Data can be sanitized to remove user-specific information. This would detach the data from any particular person or organization</a:t>
            </a:r>
          </a:p>
          <a:p>
            <a:pPr>
              <a:lnSpc>
                <a:spcPct val="90000"/>
              </a:lnSpc>
            </a:pPr>
            <a:r>
              <a:rPr lang="en-US" sz="2000" dirty="0"/>
              <a:t>Another approach would have data be transcribed from its original form. This would entail reading in, summarizing, and generally changing the form of the data to fit the development of the AI systems at hand. The result would no longer be the same as the original</a:t>
            </a:r>
          </a:p>
          <a:p>
            <a:pPr>
              <a:lnSpc>
                <a:spcPct val="90000"/>
              </a:lnSpc>
            </a:pPr>
            <a:r>
              <a:rPr lang="en-US" sz="2000" dirty="0"/>
              <a:t>A more expensive option would be recreating the data after gaining understanding of its contents</a:t>
            </a:r>
          </a:p>
        </p:txBody>
      </p:sp>
    </p:spTree>
    <p:extLst>
      <p:ext uri="{BB962C8B-B14F-4D97-AF65-F5344CB8AC3E}">
        <p14:creationId xmlns:p14="http://schemas.microsoft.com/office/powerpoint/2010/main" val="3029816917"/>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5C44DBB-AD7C-4682-B258-6367305D20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94E7842-4DA4-8EF1-357A-F004402DDD78}"/>
              </a:ext>
            </a:extLst>
          </p:cNvPr>
          <p:cNvSpPr>
            <a:spLocks noGrp="1"/>
          </p:cNvSpPr>
          <p:nvPr>
            <p:ph type="title"/>
          </p:nvPr>
        </p:nvSpPr>
        <p:spPr>
          <a:xfrm>
            <a:off x="965200" y="1218476"/>
            <a:ext cx="3187318" cy="4421050"/>
          </a:xfrm>
          <a:effectLst/>
        </p:spPr>
        <p:txBody>
          <a:bodyPr anchor="ctr">
            <a:normAutofit/>
          </a:bodyPr>
          <a:lstStyle/>
          <a:p>
            <a:pPr algn="r"/>
            <a:r>
              <a:rPr lang="en-US" sz="3200">
                <a:solidFill>
                  <a:schemeClr val="tx1"/>
                </a:solidFill>
              </a:rPr>
              <a:t>Collection costs</a:t>
            </a:r>
          </a:p>
        </p:txBody>
      </p:sp>
      <p:cxnSp>
        <p:nvCxnSpPr>
          <p:cNvPr id="10" name="Straight Connector 9">
            <a:extLst>
              <a:ext uri="{FF2B5EF4-FFF2-40B4-BE49-F238E27FC236}">
                <a16:creationId xmlns:a16="http://schemas.microsoft.com/office/drawing/2014/main" id="{A1CED323-FAF0-4E0B-8717-FC1F468A28F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49634" y="1696777"/>
            <a:ext cx="0" cy="3464447"/>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0F8DF97E-4D61-419C-65BB-65389942B401}"/>
              </a:ext>
            </a:extLst>
          </p:cNvPr>
          <p:cNvSpPr>
            <a:spLocks noGrp="1"/>
          </p:cNvSpPr>
          <p:nvPr>
            <p:ph idx="1"/>
          </p:nvPr>
        </p:nvSpPr>
        <p:spPr>
          <a:xfrm>
            <a:off x="5146750" y="385011"/>
            <a:ext cx="6451687" cy="6112042"/>
          </a:xfrm>
          <a:effectLst/>
        </p:spPr>
        <p:txBody>
          <a:bodyPr>
            <a:normAutofit/>
          </a:bodyPr>
          <a:lstStyle/>
          <a:p>
            <a:pPr marL="0" indent="0">
              <a:lnSpc>
                <a:spcPct val="90000"/>
              </a:lnSpc>
              <a:buNone/>
            </a:pPr>
            <a:r>
              <a:rPr lang="en-US" sz="2000" dirty="0"/>
              <a:t>Acquiring the data for AI systems is almost always a costly endeavor. Since massive amounts of data is needed in order to train the AI systems, the data would need to be sourced from reliable data collection sources. Those costs can include:</a:t>
            </a:r>
          </a:p>
          <a:p>
            <a:pPr lvl="1">
              <a:lnSpc>
                <a:spcPct val="90000"/>
              </a:lnSpc>
            </a:pPr>
            <a:r>
              <a:rPr lang="en-US" sz="2000" dirty="0"/>
              <a:t>distributing and collecting surveys</a:t>
            </a:r>
          </a:p>
          <a:p>
            <a:pPr lvl="1">
              <a:lnSpc>
                <a:spcPct val="90000"/>
              </a:lnSpc>
            </a:pPr>
            <a:r>
              <a:rPr lang="en-US" sz="2000" dirty="0"/>
              <a:t>the time that it takes to get enough results</a:t>
            </a:r>
          </a:p>
          <a:p>
            <a:pPr lvl="1">
              <a:lnSpc>
                <a:spcPct val="90000"/>
              </a:lnSpc>
            </a:pPr>
            <a:r>
              <a:rPr lang="en-US" sz="2000" dirty="0"/>
              <a:t>ensuring that proper sampling and randomization is employed</a:t>
            </a:r>
          </a:p>
          <a:p>
            <a:pPr lvl="1">
              <a:lnSpc>
                <a:spcPct val="90000"/>
              </a:lnSpc>
            </a:pPr>
            <a:r>
              <a:rPr lang="en-US" sz="2000" dirty="0"/>
              <a:t>sanitizing the data to remove user-specific information</a:t>
            </a:r>
          </a:p>
          <a:p>
            <a:pPr lvl="1">
              <a:lnSpc>
                <a:spcPct val="90000"/>
              </a:lnSpc>
            </a:pPr>
            <a:r>
              <a:rPr lang="en-US" sz="2000" dirty="0"/>
              <a:t>installing and operating devices that could be used to gather metrics for data purposes</a:t>
            </a:r>
          </a:p>
          <a:p>
            <a:pPr lvl="1">
              <a:lnSpc>
                <a:spcPct val="90000"/>
              </a:lnSpc>
            </a:pPr>
            <a:r>
              <a:rPr lang="en-US" sz="2000" dirty="0"/>
              <a:t>ensuring the integrity of the collection techniques to prevent bad actors or faulty systems from infecting the data with errors</a:t>
            </a:r>
          </a:p>
        </p:txBody>
      </p:sp>
    </p:spTree>
    <p:extLst>
      <p:ext uri="{BB962C8B-B14F-4D97-AF65-F5344CB8AC3E}">
        <p14:creationId xmlns:p14="http://schemas.microsoft.com/office/powerpoint/2010/main" val="31833638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E7842-4DA4-8EF1-357A-F004402DDD78}"/>
              </a:ext>
            </a:extLst>
          </p:cNvPr>
          <p:cNvSpPr>
            <a:spLocks noGrp="1"/>
          </p:cNvSpPr>
          <p:nvPr>
            <p:ph type="title"/>
          </p:nvPr>
        </p:nvSpPr>
        <p:spPr>
          <a:xfrm>
            <a:off x="810000" y="447188"/>
            <a:ext cx="10571998" cy="970450"/>
          </a:xfrm>
        </p:spPr>
        <p:txBody>
          <a:bodyPr>
            <a:normAutofit/>
          </a:bodyPr>
          <a:lstStyle/>
          <a:p>
            <a:r>
              <a:rPr lang="en-US" dirty="0"/>
              <a:t>Collection costs, cont’d</a:t>
            </a:r>
          </a:p>
        </p:txBody>
      </p:sp>
      <p:graphicFrame>
        <p:nvGraphicFramePr>
          <p:cNvPr id="5" name="Content Placeholder 2">
            <a:extLst>
              <a:ext uri="{FF2B5EF4-FFF2-40B4-BE49-F238E27FC236}">
                <a16:creationId xmlns:a16="http://schemas.microsoft.com/office/drawing/2014/main" id="{CF0FF183-1163-1FB1-2D69-5B95DCDAA2A8}"/>
              </a:ext>
            </a:extLst>
          </p:cNvPr>
          <p:cNvGraphicFramePr>
            <a:graphicFrameLocks noGrp="1"/>
          </p:cNvGraphicFramePr>
          <p:nvPr>
            <p:ph idx="1"/>
            <p:extLst>
              <p:ext uri="{D42A27DB-BD31-4B8C-83A1-F6EECF244321}">
                <p14:modId xmlns:p14="http://schemas.microsoft.com/office/powerpoint/2010/main" val="1534529246"/>
              </p:ext>
            </p:extLst>
          </p:nvPr>
        </p:nvGraphicFramePr>
        <p:xfrm>
          <a:off x="264695" y="2548646"/>
          <a:ext cx="11622505" cy="40205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7024121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8664B0"/>
      </a:accent1>
      <a:accent2>
        <a:srgbClr val="D75BCD"/>
      </a:accent2>
      <a:accent3>
        <a:srgbClr val="E54D86"/>
      </a:accent3>
      <a:accent4>
        <a:srgbClr val="DE4547"/>
      </a:accent4>
      <a:accent5>
        <a:srgbClr val="F16E40"/>
      </a:accent5>
      <a:accent6>
        <a:srgbClr val="EB9C5A"/>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7AF46513-5B0D-4B03-9323-32F3F0BFC9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TM03457503[[fn=Quotable]]</Template>
  <TotalTime>839</TotalTime>
  <Words>1301</Words>
  <Application>Microsoft Office PowerPoint</Application>
  <PresentationFormat>Widescreen</PresentationFormat>
  <Paragraphs>56</Paragraphs>
  <Slides>7</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Century Gothic</vt:lpstr>
      <vt:lpstr>Symbol</vt:lpstr>
      <vt:lpstr>Wingdings 2</vt:lpstr>
      <vt:lpstr>Quotable</vt:lpstr>
      <vt:lpstr>AI Fundamentals  </vt:lpstr>
      <vt:lpstr>Garbage In, Garbage Out</vt:lpstr>
      <vt:lpstr>Data Collection</vt:lpstr>
      <vt:lpstr>Privacy and protections</vt:lpstr>
      <vt:lpstr>Privacy and protections, cont’d</vt:lpstr>
      <vt:lpstr>Collection costs</vt:lpstr>
      <vt:lpstr>Collection costs, cont’d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Fundamentals  </dc:title>
  <dc:creator>Johnson, Victor G</dc:creator>
  <cp:lastModifiedBy>Johnson, Victor G</cp:lastModifiedBy>
  <cp:revision>34</cp:revision>
  <dcterms:created xsi:type="dcterms:W3CDTF">2024-05-24T14:22:22Z</dcterms:created>
  <dcterms:modified xsi:type="dcterms:W3CDTF">2024-06-01T17:07:10Z</dcterms:modified>
</cp:coreProperties>
</file>