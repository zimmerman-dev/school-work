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1"/>
  </p:notesMasterIdLst>
  <p:sldIdLst>
    <p:sldId id="256" r:id="rId2"/>
    <p:sldId id="257" r:id="rId3"/>
    <p:sldId id="258" r:id="rId4"/>
    <p:sldId id="270" r:id="rId5"/>
    <p:sldId id="274" r:id="rId6"/>
    <p:sldId id="259" r:id="rId7"/>
    <p:sldId id="260" r:id="rId8"/>
    <p:sldId id="261" r:id="rId9"/>
    <p:sldId id="262" r:id="rId10"/>
    <p:sldId id="263" r:id="rId11"/>
    <p:sldId id="276" r:id="rId12"/>
    <p:sldId id="275" r:id="rId13"/>
    <p:sldId id="264" r:id="rId14"/>
    <p:sldId id="266" r:id="rId15"/>
    <p:sldId id="267" r:id="rId16"/>
    <p:sldId id="268" r:id="rId17"/>
    <p:sldId id="277" r:id="rId18"/>
    <p:sldId id="278" r:id="rId19"/>
    <p:sldId id="279"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515C"/>
    <a:srgbClr val="00C6BB"/>
    <a:srgbClr val="641D2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63A656B-A682-4F80-86F7-08CDDB326678}" v="166" dt="2024-06-24T19:46:48.1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62" autoAdjust="0"/>
    <p:restoredTop sz="59252" autoAdjust="0"/>
  </p:normalViewPr>
  <p:slideViewPr>
    <p:cSldViewPr snapToGrid="0">
      <p:cViewPr varScale="1">
        <p:scale>
          <a:sx n="65" d="100"/>
          <a:sy n="65" d="100"/>
        </p:scale>
        <p:origin x="148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B11E8A3-AC01-4EF0-9A4E-ADF470DAB32D}"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2B1ECB3D-39AC-4C40-A2FF-FAD7EC7475A8}">
      <dgm:prSet/>
      <dgm:spPr/>
      <dgm:t>
        <a:bodyPr/>
        <a:lstStyle/>
        <a:p>
          <a:pPr>
            <a:lnSpc>
              <a:spcPct val="100000"/>
            </a:lnSpc>
          </a:pPr>
          <a:r>
            <a:rPr lang="en-US"/>
            <a:t>Digital Assistants (Google Assistant, Bixby, Siri, Alexa)</a:t>
          </a:r>
          <a:endParaRPr lang="en-US" dirty="0"/>
        </a:p>
      </dgm:t>
    </dgm:pt>
    <dgm:pt modelId="{58B9C572-C58D-4337-8225-9FF76ED7797C}" type="parTrans" cxnId="{F2DD8521-0FD7-40C9-BF65-1E424D6B68CA}">
      <dgm:prSet/>
      <dgm:spPr/>
      <dgm:t>
        <a:bodyPr/>
        <a:lstStyle/>
        <a:p>
          <a:endParaRPr lang="en-US"/>
        </a:p>
      </dgm:t>
    </dgm:pt>
    <dgm:pt modelId="{7B067F84-024B-4DAB-A808-B7E587D9CCB1}" type="sibTrans" cxnId="{F2DD8521-0FD7-40C9-BF65-1E424D6B68CA}">
      <dgm:prSet/>
      <dgm:spPr/>
      <dgm:t>
        <a:bodyPr/>
        <a:lstStyle/>
        <a:p>
          <a:endParaRPr lang="en-US"/>
        </a:p>
      </dgm:t>
    </dgm:pt>
    <dgm:pt modelId="{002F97AB-B801-435C-A826-CAD590E3F14F}">
      <dgm:prSet/>
      <dgm:spPr/>
      <dgm:t>
        <a:bodyPr/>
        <a:lstStyle/>
        <a:p>
          <a:pPr>
            <a:lnSpc>
              <a:spcPct val="100000"/>
            </a:lnSpc>
          </a:pPr>
          <a:r>
            <a:rPr lang="en-US" dirty="0"/>
            <a:t>Email Automation (Smart Reply)</a:t>
          </a:r>
        </a:p>
      </dgm:t>
    </dgm:pt>
    <dgm:pt modelId="{4A38BD8F-B7D6-4374-9F7A-EDF45F6CB089}" type="parTrans" cxnId="{B9DE4065-B6A7-4E62-9323-B4939CA9C3CD}">
      <dgm:prSet/>
      <dgm:spPr/>
      <dgm:t>
        <a:bodyPr/>
        <a:lstStyle/>
        <a:p>
          <a:endParaRPr lang="en-US"/>
        </a:p>
      </dgm:t>
    </dgm:pt>
    <dgm:pt modelId="{DF2686DF-2B37-4DB0-813F-559EF2154E14}" type="sibTrans" cxnId="{B9DE4065-B6A7-4E62-9323-B4939CA9C3CD}">
      <dgm:prSet/>
      <dgm:spPr/>
      <dgm:t>
        <a:bodyPr/>
        <a:lstStyle/>
        <a:p>
          <a:endParaRPr lang="en-US"/>
        </a:p>
      </dgm:t>
    </dgm:pt>
    <dgm:pt modelId="{61844365-471D-47BE-B361-4304228B6D00}">
      <dgm:prSet/>
      <dgm:spPr/>
      <dgm:t>
        <a:bodyPr/>
        <a:lstStyle/>
        <a:p>
          <a:pPr>
            <a:lnSpc>
              <a:spcPct val="100000"/>
            </a:lnSpc>
          </a:pPr>
          <a:r>
            <a:rPr lang="en-US" dirty="0"/>
            <a:t>Content Recommendations (Netflix, Spotify)</a:t>
          </a:r>
        </a:p>
      </dgm:t>
    </dgm:pt>
    <dgm:pt modelId="{C420CB56-055C-4649-A7B3-D931EA810A79}" type="parTrans" cxnId="{CC8A72DC-CF6D-4020-BD48-953B2F30FD64}">
      <dgm:prSet/>
      <dgm:spPr/>
      <dgm:t>
        <a:bodyPr/>
        <a:lstStyle/>
        <a:p>
          <a:endParaRPr lang="en-US"/>
        </a:p>
      </dgm:t>
    </dgm:pt>
    <dgm:pt modelId="{2E762297-301C-4D41-8D90-EA6BF81271B5}" type="sibTrans" cxnId="{CC8A72DC-CF6D-4020-BD48-953B2F30FD64}">
      <dgm:prSet/>
      <dgm:spPr/>
      <dgm:t>
        <a:bodyPr/>
        <a:lstStyle/>
        <a:p>
          <a:endParaRPr lang="en-US"/>
        </a:p>
      </dgm:t>
    </dgm:pt>
    <dgm:pt modelId="{35173CB8-D5E0-49B2-92D1-6FACB781289C}" type="pres">
      <dgm:prSet presAssocID="{1B11E8A3-AC01-4EF0-9A4E-ADF470DAB32D}" presName="root" presStyleCnt="0">
        <dgm:presLayoutVars>
          <dgm:dir/>
          <dgm:resizeHandles val="exact"/>
        </dgm:presLayoutVars>
      </dgm:prSet>
      <dgm:spPr/>
    </dgm:pt>
    <dgm:pt modelId="{897E12FC-CDE5-4F24-8BC7-B598107440AF}" type="pres">
      <dgm:prSet presAssocID="{2B1ECB3D-39AC-4C40-A2FF-FAD7EC7475A8}" presName="compNode" presStyleCnt="0"/>
      <dgm:spPr/>
    </dgm:pt>
    <dgm:pt modelId="{F6112B0F-F60F-4E27-9FBA-D7366FF8C000}" type="pres">
      <dgm:prSet presAssocID="{2B1ECB3D-39AC-4C40-A2FF-FAD7EC7475A8}" presName="bgRect" presStyleLbl="bgShp" presStyleIdx="0" presStyleCnt="3"/>
      <dgm:spPr/>
    </dgm:pt>
    <dgm:pt modelId="{46048BD4-13E3-4F1B-8A75-83089D7C52ED}" type="pres">
      <dgm:prSet presAssocID="{2B1ECB3D-39AC-4C40-A2FF-FAD7EC7475A8}" presName="iconRect" presStyleLbl="nod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Smart Phone with solid fill"/>
        </a:ext>
      </dgm:extLst>
    </dgm:pt>
    <dgm:pt modelId="{6EEA0C42-7AA0-4246-B842-E49F5C3DDA73}" type="pres">
      <dgm:prSet presAssocID="{2B1ECB3D-39AC-4C40-A2FF-FAD7EC7475A8}" presName="spaceRect" presStyleCnt="0"/>
      <dgm:spPr/>
    </dgm:pt>
    <dgm:pt modelId="{CE542E76-4139-4ED7-BE8E-9AD72C1D948C}" type="pres">
      <dgm:prSet presAssocID="{2B1ECB3D-39AC-4C40-A2FF-FAD7EC7475A8}" presName="parTx" presStyleLbl="revTx" presStyleIdx="0" presStyleCnt="3">
        <dgm:presLayoutVars>
          <dgm:chMax val="0"/>
          <dgm:chPref val="0"/>
        </dgm:presLayoutVars>
      </dgm:prSet>
      <dgm:spPr/>
    </dgm:pt>
    <dgm:pt modelId="{BA8C215C-AA29-41A6-BBCE-5F706BF65345}" type="pres">
      <dgm:prSet presAssocID="{7B067F84-024B-4DAB-A808-B7E587D9CCB1}" presName="sibTrans" presStyleCnt="0"/>
      <dgm:spPr/>
    </dgm:pt>
    <dgm:pt modelId="{0CF39FCD-DE60-4674-9451-B50A65E57762}" type="pres">
      <dgm:prSet presAssocID="{002F97AB-B801-435C-A826-CAD590E3F14F}" presName="compNode" presStyleCnt="0"/>
      <dgm:spPr/>
    </dgm:pt>
    <dgm:pt modelId="{CEA28D3B-0F26-4AED-9B1F-992C782EA33E}" type="pres">
      <dgm:prSet presAssocID="{002F97AB-B801-435C-A826-CAD590E3F14F}" presName="bgRect" presStyleLbl="bgShp" presStyleIdx="1" presStyleCnt="3"/>
      <dgm:spPr/>
    </dgm:pt>
    <dgm:pt modelId="{EB8F6CD1-58A2-4632-AF81-A9FBBCD4B0A5}" type="pres">
      <dgm:prSet presAssocID="{002F97AB-B801-435C-A826-CAD590E3F14F}"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Email"/>
        </a:ext>
      </dgm:extLst>
    </dgm:pt>
    <dgm:pt modelId="{EC62B573-BD8A-44DC-A6F8-820EEF7D870A}" type="pres">
      <dgm:prSet presAssocID="{002F97AB-B801-435C-A826-CAD590E3F14F}" presName="spaceRect" presStyleCnt="0"/>
      <dgm:spPr/>
    </dgm:pt>
    <dgm:pt modelId="{4CAA948A-E4D8-4C65-84D9-81C67CD227C0}" type="pres">
      <dgm:prSet presAssocID="{002F97AB-B801-435C-A826-CAD590E3F14F}" presName="parTx" presStyleLbl="revTx" presStyleIdx="1" presStyleCnt="3">
        <dgm:presLayoutVars>
          <dgm:chMax val="0"/>
          <dgm:chPref val="0"/>
        </dgm:presLayoutVars>
      </dgm:prSet>
      <dgm:spPr/>
    </dgm:pt>
    <dgm:pt modelId="{5B315E50-FE93-4524-BD33-FC39CD8A469E}" type="pres">
      <dgm:prSet presAssocID="{DF2686DF-2B37-4DB0-813F-559EF2154E14}" presName="sibTrans" presStyleCnt="0"/>
      <dgm:spPr/>
    </dgm:pt>
    <dgm:pt modelId="{365BCBDB-5B18-484A-8D3D-C5FCCEEE97FA}" type="pres">
      <dgm:prSet presAssocID="{61844365-471D-47BE-B361-4304228B6D00}" presName="compNode" presStyleCnt="0"/>
      <dgm:spPr/>
    </dgm:pt>
    <dgm:pt modelId="{34014892-2DE4-472A-B7F1-F835CFC57D69}" type="pres">
      <dgm:prSet presAssocID="{61844365-471D-47BE-B361-4304228B6D00}" presName="bgRect" presStyleLbl="bgShp" presStyleIdx="2" presStyleCnt="3"/>
      <dgm:spPr/>
    </dgm:pt>
    <dgm:pt modelId="{B1D83A67-EDE7-4304-AD7B-8E18C00BA8E1}" type="pres">
      <dgm:prSet presAssocID="{61844365-471D-47BE-B361-4304228B6D0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ilm reel"/>
        </a:ext>
      </dgm:extLst>
    </dgm:pt>
    <dgm:pt modelId="{0D3F284C-D8DC-4522-9409-68EEE12716DC}" type="pres">
      <dgm:prSet presAssocID="{61844365-471D-47BE-B361-4304228B6D00}" presName="spaceRect" presStyleCnt="0"/>
      <dgm:spPr/>
    </dgm:pt>
    <dgm:pt modelId="{6DB1BE0E-2669-4356-8C48-59306B63DF45}" type="pres">
      <dgm:prSet presAssocID="{61844365-471D-47BE-B361-4304228B6D00}" presName="parTx" presStyleLbl="revTx" presStyleIdx="2" presStyleCnt="3">
        <dgm:presLayoutVars>
          <dgm:chMax val="0"/>
          <dgm:chPref val="0"/>
        </dgm:presLayoutVars>
      </dgm:prSet>
      <dgm:spPr/>
    </dgm:pt>
  </dgm:ptLst>
  <dgm:cxnLst>
    <dgm:cxn modelId="{F2DD8521-0FD7-40C9-BF65-1E424D6B68CA}" srcId="{1B11E8A3-AC01-4EF0-9A4E-ADF470DAB32D}" destId="{2B1ECB3D-39AC-4C40-A2FF-FAD7EC7475A8}" srcOrd="0" destOrd="0" parTransId="{58B9C572-C58D-4337-8225-9FF76ED7797C}" sibTransId="{7B067F84-024B-4DAB-A808-B7E587D9CCB1}"/>
    <dgm:cxn modelId="{B9DE4065-B6A7-4E62-9323-B4939CA9C3CD}" srcId="{1B11E8A3-AC01-4EF0-9A4E-ADF470DAB32D}" destId="{002F97AB-B801-435C-A826-CAD590E3F14F}" srcOrd="1" destOrd="0" parTransId="{4A38BD8F-B7D6-4374-9F7A-EDF45F6CB089}" sibTransId="{DF2686DF-2B37-4DB0-813F-559EF2154E14}"/>
    <dgm:cxn modelId="{704FED8F-A7E0-4FFD-B9DF-4DCE5795DF76}" type="presOf" srcId="{1B11E8A3-AC01-4EF0-9A4E-ADF470DAB32D}" destId="{35173CB8-D5E0-49B2-92D1-6FACB781289C}" srcOrd="0" destOrd="0" presId="urn:microsoft.com/office/officeart/2018/2/layout/IconVerticalSolidList"/>
    <dgm:cxn modelId="{322038B4-3DC1-4B18-9B34-B3C315433802}" type="presOf" srcId="{2B1ECB3D-39AC-4C40-A2FF-FAD7EC7475A8}" destId="{CE542E76-4139-4ED7-BE8E-9AD72C1D948C}" srcOrd="0" destOrd="0" presId="urn:microsoft.com/office/officeart/2018/2/layout/IconVerticalSolidList"/>
    <dgm:cxn modelId="{CC8A72DC-CF6D-4020-BD48-953B2F30FD64}" srcId="{1B11E8A3-AC01-4EF0-9A4E-ADF470DAB32D}" destId="{61844365-471D-47BE-B361-4304228B6D00}" srcOrd="2" destOrd="0" parTransId="{C420CB56-055C-4649-A7B3-D931EA810A79}" sibTransId="{2E762297-301C-4D41-8D90-EA6BF81271B5}"/>
    <dgm:cxn modelId="{948B54EA-2C0F-4788-B189-FC69F3B3AE9E}" type="presOf" srcId="{61844365-471D-47BE-B361-4304228B6D00}" destId="{6DB1BE0E-2669-4356-8C48-59306B63DF45}" srcOrd="0" destOrd="0" presId="urn:microsoft.com/office/officeart/2018/2/layout/IconVerticalSolidList"/>
    <dgm:cxn modelId="{05421FF9-BA63-4DDB-A9AA-67B31D98EA36}" type="presOf" srcId="{002F97AB-B801-435C-A826-CAD590E3F14F}" destId="{4CAA948A-E4D8-4C65-84D9-81C67CD227C0}" srcOrd="0" destOrd="0" presId="urn:microsoft.com/office/officeart/2018/2/layout/IconVerticalSolidList"/>
    <dgm:cxn modelId="{82BD281A-3830-43D7-81E9-092EB955B614}" type="presParOf" srcId="{35173CB8-D5E0-49B2-92D1-6FACB781289C}" destId="{897E12FC-CDE5-4F24-8BC7-B598107440AF}" srcOrd="0" destOrd="0" presId="urn:microsoft.com/office/officeart/2018/2/layout/IconVerticalSolidList"/>
    <dgm:cxn modelId="{E6DC5AA8-3055-4D69-88BA-112D4D5B96A2}" type="presParOf" srcId="{897E12FC-CDE5-4F24-8BC7-B598107440AF}" destId="{F6112B0F-F60F-4E27-9FBA-D7366FF8C000}" srcOrd="0" destOrd="0" presId="urn:microsoft.com/office/officeart/2018/2/layout/IconVerticalSolidList"/>
    <dgm:cxn modelId="{6CBAAF7F-1ED2-446D-A5A2-37545EF3AB4A}" type="presParOf" srcId="{897E12FC-CDE5-4F24-8BC7-B598107440AF}" destId="{46048BD4-13E3-4F1B-8A75-83089D7C52ED}" srcOrd="1" destOrd="0" presId="urn:microsoft.com/office/officeart/2018/2/layout/IconVerticalSolidList"/>
    <dgm:cxn modelId="{B0698CB2-B2FF-4BA8-A903-03344E2E093D}" type="presParOf" srcId="{897E12FC-CDE5-4F24-8BC7-B598107440AF}" destId="{6EEA0C42-7AA0-4246-B842-E49F5C3DDA73}" srcOrd="2" destOrd="0" presId="urn:microsoft.com/office/officeart/2018/2/layout/IconVerticalSolidList"/>
    <dgm:cxn modelId="{0C305AF3-6397-487A-8A57-52D4AAB31EB5}" type="presParOf" srcId="{897E12FC-CDE5-4F24-8BC7-B598107440AF}" destId="{CE542E76-4139-4ED7-BE8E-9AD72C1D948C}" srcOrd="3" destOrd="0" presId="urn:microsoft.com/office/officeart/2018/2/layout/IconVerticalSolidList"/>
    <dgm:cxn modelId="{5B88B3F3-2FA0-4C14-9EB6-51D913505E40}" type="presParOf" srcId="{35173CB8-D5E0-49B2-92D1-6FACB781289C}" destId="{BA8C215C-AA29-41A6-BBCE-5F706BF65345}" srcOrd="1" destOrd="0" presId="urn:microsoft.com/office/officeart/2018/2/layout/IconVerticalSolidList"/>
    <dgm:cxn modelId="{22FF0477-6DEF-4A35-B8E3-C600AF56164A}" type="presParOf" srcId="{35173CB8-D5E0-49B2-92D1-6FACB781289C}" destId="{0CF39FCD-DE60-4674-9451-B50A65E57762}" srcOrd="2" destOrd="0" presId="urn:microsoft.com/office/officeart/2018/2/layout/IconVerticalSolidList"/>
    <dgm:cxn modelId="{1094214D-1FB3-4FAB-9059-FC625883ABB1}" type="presParOf" srcId="{0CF39FCD-DE60-4674-9451-B50A65E57762}" destId="{CEA28D3B-0F26-4AED-9B1F-992C782EA33E}" srcOrd="0" destOrd="0" presId="urn:microsoft.com/office/officeart/2018/2/layout/IconVerticalSolidList"/>
    <dgm:cxn modelId="{8584FB32-A6DE-485B-BE09-473938F8E4DA}" type="presParOf" srcId="{0CF39FCD-DE60-4674-9451-B50A65E57762}" destId="{EB8F6CD1-58A2-4632-AF81-A9FBBCD4B0A5}" srcOrd="1" destOrd="0" presId="urn:microsoft.com/office/officeart/2018/2/layout/IconVerticalSolidList"/>
    <dgm:cxn modelId="{2BD11F3F-80C1-4689-936B-7607866508CE}" type="presParOf" srcId="{0CF39FCD-DE60-4674-9451-B50A65E57762}" destId="{EC62B573-BD8A-44DC-A6F8-820EEF7D870A}" srcOrd="2" destOrd="0" presId="urn:microsoft.com/office/officeart/2018/2/layout/IconVerticalSolidList"/>
    <dgm:cxn modelId="{4F6E92E0-60CE-460E-AD53-A781D7F90014}" type="presParOf" srcId="{0CF39FCD-DE60-4674-9451-B50A65E57762}" destId="{4CAA948A-E4D8-4C65-84D9-81C67CD227C0}" srcOrd="3" destOrd="0" presId="urn:microsoft.com/office/officeart/2018/2/layout/IconVerticalSolidList"/>
    <dgm:cxn modelId="{A1E05A16-E971-4B5F-99C3-EFB52C6401F0}" type="presParOf" srcId="{35173CB8-D5E0-49B2-92D1-6FACB781289C}" destId="{5B315E50-FE93-4524-BD33-FC39CD8A469E}" srcOrd="3" destOrd="0" presId="urn:microsoft.com/office/officeart/2018/2/layout/IconVerticalSolidList"/>
    <dgm:cxn modelId="{53A7A568-B9F1-4024-951C-9454DA9A6D6C}" type="presParOf" srcId="{35173CB8-D5E0-49B2-92D1-6FACB781289C}" destId="{365BCBDB-5B18-484A-8D3D-C5FCCEEE97FA}" srcOrd="4" destOrd="0" presId="urn:microsoft.com/office/officeart/2018/2/layout/IconVerticalSolidList"/>
    <dgm:cxn modelId="{085C93D7-F70F-40D9-B4C6-409E50ACA862}" type="presParOf" srcId="{365BCBDB-5B18-484A-8D3D-C5FCCEEE97FA}" destId="{34014892-2DE4-472A-B7F1-F835CFC57D69}" srcOrd="0" destOrd="0" presId="urn:microsoft.com/office/officeart/2018/2/layout/IconVerticalSolidList"/>
    <dgm:cxn modelId="{5B3FD91B-B027-45DD-ADF5-1EECA191148D}" type="presParOf" srcId="{365BCBDB-5B18-484A-8D3D-C5FCCEEE97FA}" destId="{B1D83A67-EDE7-4304-AD7B-8E18C00BA8E1}" srcOrd="1" destOrd="0" presId="urn:microsoft.com/office/officeart/2018/2/layout/IconVerticalSolidList"/>
    <dgm:cxn modelId="{0FAFAA18-03A8-4F15-B08D-67ABB94964A8}" type="presParOf" srcId="{365BCBDB-5B18-484A-8D3D-C5FCCEEE97FA}" destId="{0D3F284C-D8DC-4522-9409-68EEE12716DC}" srcOrd="2" destOrd="0" presId="urn:microsoft.com/office/officeart/2018/2/layout/IconVerticalSolidList"/>
    <dgm:cxn modelId="{B7EA320F-7B8F-4FC1-A28A-58C797937B27}" type="presParOf" srcId="{365BCBDB-5B18-484A-8D3D-C5FCCEEE97FA}" destId="{6DB1BE0E-2669-4356-8C48-59306B63DF45}"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112B0F-F60F-4E27-9FBA-D7366FF8C000}">
      <dsp:nvSpPr>
        <dsp:cNvPr id="0" name=""/>
        <dsp:cNvSpPr/>
      </dsp:nvSpPr>
      <dsp:spPr>
        <a:xfrm>
          <a:off x="0" y="572"/>
          <a:ext cx="5906327" cy="133871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6048BD4-13E3-4F1B-8A75-83089D7C52ED}">
      <dsp:nvSpPr>
        <dsp:cNvPr id="0" name=""/>
        <dsp:cNvSpPr/>
      </dsp:nvSpPr>
      <dsp:spPr>
        <a:xfrm>
          <a:off x="404961" y="301782"/>
          <a:ext cx="736292" cy="736292"/>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E542E76-4139-4ED7-BE8E-9AD72C1D948C}">
      <dsp:nvSpPr>
        <dsp:cNvPr id="0" name=""/>
        <dsp:cNvSpPr/>
      </dsp:nvSpPr>
      <dsp:spPr>
        <a:xfrm>
          <a:off x="1546215" y="572"/>
          <a:ext cx="4360112" cy="13387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1681" tIns="141681" rIns="141681" bIns="141681" numCol="1" spcCol="1270" anchor="ctr" anchorCtr="0">
          <a:noAutofit/>
        </a:bodyPr>
        <a:lstStyle/>
        <a:p>
          <a:pPr marL="0" lvl="0" indent="0" algn="l" defTabSz="1022350">
            <a:lnSpc>
              <a:spcPct val="100000"/>
            </a:lnSpc>
            <a:spcBef>
              <a:spcPct val="0"/>
            </a:spcBef>
            <a:spcAft>
              <a:spcPct val="35000"/>
            </a:spcAft>
            <a:buNone/>
          </a:pPr>
          <a:r>
            <a:rPr lang="en-US" sz="2300" kern="1200"/>
            <a:t>Digital Assistants (Google Assistant, Bixby, Siri, Alexa)</a:t>
          </a:r>
          <a:endParaRPr lang="en-US" sz="2300" kern="1200" dirty="0"/>
        </a:p>
      </dsp:txBody>
      <dsp:txXfrm>
        <a:off x="1546215" y="572"/>
        <a:ext cx="4360112" cy="1338714"/>
      </dsp:txXfrm>
    </dsp:sp>
    <dsp:sp modelId="{CEA28D3B-0F26-4AED-9B1F-992C782EA33E}">
      <dsp:nvSpPr>
        <dsp:cNvPr id="0" name=""/>
        <dsp:cNvSpPr/>
      </dsp:nvSpPr>
      <dsp:spPr>
        <a:xfrm>
          <a:off x="0" y="1673965"/>
          <a:ext cx="5906327" cy="133871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B8F6CD1-58A2-4632-AF81-A9FBBCD4B0A5}">
      <dsp:nvSpPr>
        <dsp:cNvPr id="0" name=""/>
        <dsp:cNvSpPr/>
      </dsp:nvSpPr>
      <dsp:spPr>
        <a:xfrm>
          <a:off x="404961" y="1975176"/>
          <a:ext cx="736292" cy="73629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CAA948A-E4D8-4C65-84D9-81C67CD227C0}">
      <dsp:nvSpPr>
        <dsp:cNvPr id="0" name=""/>
        <dsp:cNvSpPr/>
      </dsp:nvSpPr>
      <dsp:spPr>
        <a:xfrm>
          <a:off x="1546215" y="1673965"/>
          <a:ext cx="4360112" cy="13387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1681" tIns="141681" rIns="141681" bIns="141681" numCol="1" spcCol="1270" anchor="ctr" anchorCtr="0">
          <a:noAutofit/>
        </a:bodyPr>
        <a:lstStyle/>
        <a:p>
          <a:pPr marL="0" lvl="0" indent="0" algn="l" defTabSz="1022350">
            <a:lnSpc>
              <a:spcPct val="100000"/>
            </a:lnSpc>
            <a:spcBef>
              <a:spcPct val="0"/>
            </a:spcBef>
            <a:spcAft>
              <a:spcPct val="35000"/>
            </a:spcAft>
            <a:buNone/>
          </a:pPr>
          <a:r>
            <a:rPr lang="en-US" sz="2300" kern="1200" dirty="0"/>
            <a:t>Email Automation (Smart Reply)</a:t>
          </a:r>
        </a:p>
      </dsp:txBody>
      <dsp:txXfrm>
        <a:off x="1546215" y="1673965"/>
        <a:ext cx="4360112" cy="1338714"/>
      </dsp:txXfrm>
    </dsp:sp>
    <dsp:sp modelId="{34014892-2DE4-472A-B7F1-F835CFC57D69}">
      <dsp:nvSpPr>
        <dsp:cNvPr id="0" name=""/>
        <dsp:cNvSpPr/>
      </dsp:nvSpPr>
      <dsp:spPr>
        <a:xfrm>
          <a:off x="0" y="3347358"/>
          <a:ext cx="5906327" cy="133871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1D83A67-EDE7-4304-AD7B-8E18C00BA8E1}">
      <dsp:nvSpPr>
        <dsp:cNvPr id="0" name=""/>
        <dsp:cNvSpPr/>
      </dsp:nvSpPr>
      <dsp:spPr>
        <a:xfrm>
          <a:off x="404961" y="3648569"/>
          <a:ext cx="736292" cy="73629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DB1BE0E-2669-4356-8C48-59306B63DF45}">
      <dsp:nvSpPr>
        <dsp:cNvPr id="0" name=""/>
        <dsp:cNvSpPr/>
      </dsp:nvSpPr>
      <dsp:spPr>
        <a:xfrm>
          <a:off x="1546215" y="3347358"/>
          <a:ext cx="4360112" cy="13387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1681" tIns="141681" rIns="141681" bIns="141681" numCol="1" spcCol="1270" anchor="ctr" anchorCtr="0">
          <a:noAutofit/>
        </a:bodyPr>
        <a:lstStyle/>
        <a:p>
          <a:pPr marL="0" lvl="0" indent="0" algn="l" defTabSz="1022350">
            <a:lnSpc>
              <a:spcPct val="100000"/>
            </a:lnSpc>
            <a:spcBef>
              <a:spcPct val="0"/>
            </a:spcBef>
            <a:spcAft>
              <a:spcPct val="35000"/>
            </a:spcAft>
            <a:buNone/>
          </a:pPr>
          <a:r>
            <a:rPr lang="en-US" sz="2300" kern="1200" dirty="0"/>
            <a:t>Content Recommendations (Netflix, Spotify)</a:t>
          </a:r>
        </a:p>
      </dsp:txBody>
      <dsp:txXfrm>
        <a:off x="1546215" y="3347358"/>
        <a:ext cx="4360112" cy="1338714"/>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F5B65D-1318-B745-939E-95855B17DEAB}" type="datetimeFigureOut">
              <a:rPr lang="en-US" smtClean="0"/>
              <a:t>7/27/2024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3B60B0-1DC3-0D4A-A3FA-F1C84AA2F0B8}" type="slidenum">
              <a:rPr lang="en-US" smtClean="0"/>
              <a:t>‹#›</a:t>
            </a:fld>
            <a:endParaRPr lang="en-US"/>
          </a:p>
        </p:txBody>
      </p:sp>
    </p:spTree>
    <p:extLst>
      <p:ext uri="{BB962C8B-B14F-4D97-AF65-F5344CB8AC3E}">
        <p14:creationId xmlns:p14="http://schemas.microsoft.com/office/powerpoint/2010/main" val="35739541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lecture covers the basics of Large Language Models (LLMs), including what they are, how they differ from traditional models, and the principles behind their design and operation.</a:t>
            </a:r>
          </a:p>
        </p:txBody>
      </p:sp>
      <p:sp>
        <p:nvSpPr>
          <p:cNvPr id="4" name="Slide Number Placeholder 3"/>
          <p:cNvSpPr>
            <a:spLocks noGrp="1"/>
          </p:cNvSpPr>
          <p:nvPr>
            <p:ph type="sldNum" sz="quarter" idx="5"/>
          </p:nvPr>
        </p:nvSpPr>
        <p:spPr/>
        <p:txBody>
          <a:bodyPr/>
          <a:lstStyle/>
          <a:p>
            <a:fld id="{433B60B0-1DC3-0D4A-A3FA-F1C84AA2F0B8}" type="slidenum">
              <a:rPr lang="en-US" smtClean="0"/>
              <a:t>1</a:t>
            </a:fld>
            <a:endParaRPr lang="en-US"/>
          </a:p>
        </p:txBody>
      </p:sp>
    </p:spTree>
    <p:extLst>
      <p:ext uri="{BB962C8B-B14F-4D97-AF65-F5344CB8AC3E}">
        <p14:creationId xmlns:p14="http://schemas.microsoft.com/office/powerpoint/2010/main" val="29882917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First, we'll explore what makes Large Language Models (LLMs) unique.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We'll discuss a few examples like OpenAI's GPT and break down the technology behind them in an easy-to-understand manner.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includes their architecture and construction, the functionalities they offer, the data requirements, the processes involved in their training, and the computational resources needed for their operation.</a:t>
            </a:r>
          </a:p>
        </p:txBody>
      </p:sp>
      <p:sp>
        <p:nvSpPr>
          <p:cNvPr id="4" name="Slide Number Placeholder 3"/>
          <p:cNvSpPr>
            <a:spLocks noGrp="1"/>
          </p:cNvSpPr>
          <p:nvPr>
            <p:ph type="sldNum" sz="quarter" idx="5"/>
          </p:nvPr>
        </p:nvSpPr>
        <p:spPr/>
        <p:txBody>
          <a:bodyPr/>
          <a:lstStyle/>
          <a:p>
            <a:fld id="{433B60B0-1DC3-0D4A-A3FA-F1C84AA2F0B8}" type="slidenum">
              <a:rPr lang="en-US" smtClean="0"/>
              <a:t>2</a:t>
            </a:fld>
            <a:endParaRPr lang="en-US"/>
          </a:p>
        </p:txBody>
      </p:sp>
    </p:spTree>
    <p:extLst>
      <p:ext uri="{BB962C8B-B14F-4D97-AF65-F5344CB8AC3E}">
        <p14:creationId xmlns:p14="http://schemas.microsoft.com/office/powerpoint/2010/main" val="39393726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Definition of Large Language Models (LLMs):</a:t>
            </a:r>
            <a:r>
              <a:rPr lang="en-US" dirty="0"/>
              <a:t>  </a:t>
            </a:r>
            <a:r>
              <a:rPr lang="en-US" b="0" dirty="0"/>
              <a:t>A large language model (LLM) </a:t>
            </a:r>
            <a:r>
              <a:rPr lang="en-US" dirty="0"/>
              <a:t>is a type of artificial intelligence that can understand and generate human-like text. LLMs are part of "deep learning," a type of machine learning that uses artificial neural networks. These networks are specifically designed to understand and generate text like humans do. LLMs are trained on huge datasets, sometimes as large as petabytes, which include text from books, articles, websites, and social media. This extensive training helps them understand context and language subtleties, allowing them to produce coherent and contextually appropriate text responses.</a:t>
            </a:r>
          </a:p>
          <a:p>
            <a:endParaRPr lang="en-US" dirty="0"/>
          </a:p>
          <a:p>
            <a:r>
              <a:rPr lang="en-US" dirty="0"/>
              <a:t>LLMs are used in many familiar places, from powering smart responses in digital assistants like Alexa, to filtering emails, to suggesting content on streaming platforms.</a:t>
            </a:r>
          </a:p>
          <a:p>
            <a:pPr algn="l"/>
            <a:endParaRPr lang="en-US" dirty="0"/>
          </a:p>
          <a:p>
            <a:r>
              <a:rPr lang="en-US" b="1" dirty="0"/>
              <a:t>Distinguishing LLMs from Traditional Models:</a:t>
            </a:r>
            <a:r>
              <a:rPr lang="en-US" dirty="0"/>
              <a:t> Traditional models handle specific, narrow tasks. For example, a keyword-based search engine looks for specific words in documents, and a simple rule-based chatbot responds to specific commands with preset answers. These traditional models usually have a limited understanding of context because they rely on explicit programming for each task.</a:t>
            </a:r>
          </a:p>
          <a:p>
            <a:endParaRPr lang="en-US" dirty="0"/>
          </a:p>
          <a:p>
            <a:r>
              <a:rPr lang="en-US" dirty="0"/>
              <a:t>In contrast, LLMs can handle a wide range of language tasks more dynamically. They use machine learning to understand and generate text. LLMs are trained on large amounts of text from various sources, helping them grasp context and language nuances. This enables them to perform complex tasks such as summarizing articles, translating languages, or creating original content. LLMs can adapt to new tasks with minimal additional programming, making them much more flexible and capable than traditional models.</a:t>
            </a:r>
          </a:p>
          <a:p>
            <a:endParaRPr lang="en-US" b="1" dirty="0"/>
          </a:p>
          <a:p>
            <a:r>
              <a:rPr lang="en-US" b="1" dirty="0"/>
              <a:t>LLMs vs. Generative Models:</a:t>
            </a:r>
            <a:r>
              <a:rPr lang="en-US" dirty="0"/>
              <a:t> LLMs are a type of generative model with a special process. First, they are pretrained on a very large dataset to understand general language patterns. After that, they are fine-tuned for specific purposes using smaller datasets. This makes them highly versatile and able to handle a variety of tasks effectively.</a:t>
            </a:r>
          </a:p>
        </p:txBody>
      </p:sp>
      <p:sp>
        <p:nvSpPr>
          <p:cNvPr id="4" name="Slide Number Placeholder 3"/>
          <p:cNvSpPr>
            <a:spLocks noGrp="1"/>
          </p:cNvSpPr>
          <p:nvPr>
            <p:ph type="sldNum" sz="quarter" idx="5"/>
          </p:nvPr>
        </p:nvSpPr>
        <p:spPr/>
        <p:txBody>
          <a:bodyPr/>
          <a:lstStyle/>
          <a:p>
            <a:fld id="{433B60B0-1DC3-0D4A-A3FA-F1C84AA2F0B8}" type="slidenum">
              <a:rPr lang="en-US" smtClean="0"/>
              <a:t>3</a:t>
            </a:fld>
            <a:endParaRPr lang="en-US"/>
          </a:p>
        </p:txBody>
      </p:sp>
    </p:spTree>
    <p:extLst>
      <p:ext uri="{BB962C8B-B14F-4D97-AF65-F5344CB8AC3E}">
        <p14:creationId xmlns:p14="http://schemas.microsoft.com/office/powerpoint/2010/main" val="18337532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Large Language Models (LLMs) are integrated into many aspects of our daily lives.</a:t>
            </a:r>
            <a:endParaRPr lang="en-US" dirty="0"/>
          </a:p>
          <a:p>
            <a:endParaRPr lang="en-US" dirty="0"/>
          </a:p>
          <a:p>
            <a:r>
              <a:rPr lang="en-US" dirty="0"/>
              <a:t>Digital assistants like Alexa, Google Assistant, and Siri use LLMs to understand and respond to your questions.</a:t>
            </a:r>
          </a:p>
          <a:p>
            <a:endParaRPr lang="en-US" dirty="0"/>
          </a:p>
          <a:p>
            <a:r>
              <a:rPr lang="en-US" dirty="0"/>
              <a:t>In email applications, features like Gmail’s Smart Reply, which suggests quick responses, are powered by LLMs analyzing the content of your messages.</a:t>
            </a:r>
          </a:p>
          <a:p>
            <a:endParaRPr lang="en-US" dirty="0"/>
          </a:p>
          <a:p>
            <a:r>
              <a:rPr lang="en-US" dirty="0"/>
              <a:t>Additionally, when using services like Netflix and Spotify, the shows and music recommended to you are often the result of LLMs analyzing your preferences and viewing habits.</a:t>
            </a:r>
          </a:p>
        </p:txBody>
      </p:sp>
      <p:sp>
        <p:nvSpPr>
          <p:cNvPr id="4" name="Slide Number Placeholder 3"/>
          <p:cNvSpPr>
            <a:spLocks noGrp="1"/>
          </p:cNvSpPr>
          <p:nvPr>
            <p:ph type="sldNum" sz="quarter" idx="5"/>
          </p:nvPr>
        </p:nvSpPr>
        <p:spPr/>
        <p:txBody>
          <a:bodyPr/>
          <a:lstStyle/>
          <a:p>
            <a:fld id="{433B60B0-1DC3-0D4A-A3FA-F1C84AA2F0B8}" type="slidenum">
              <a:rPr lang="en-US" smtClean="0"/>
              <a:t>4</a:t>
            </a:fld>
            <a:endParaRPr lang="en-US"/>
          </a:p>
        </p:txBody>
      </p:sp>
    </p:spTree>
    <p:extLst>
      <p:ext uri="{BB962C8B-B14F-4D97-AF65-F5344CB8AC3E}">
        <p14:creationId xmlns:p14="http://schemas.microsoft.com/office/powerpoint/2010/main" val="14521537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ChatGPT is one of many LLMs developed worldwide and is perhaps the most well-known example. </a:t>
            </a:r>
          </a:p>
          <a:p>
            <a:endParaRPr lang="en-US" dirty="0"/>
          </a:p>
          <a:p>
            <a:r>
              <a:rPr lang="en-US" dirty="0"/>
              <a:t>However, it is just one of many others. </a:t>
            </a:r>
          </a:p>
          <a:p>
            <a:endParaRPr lang="en-US" dirty="0"/>
          </a:p>
          <a:p>
            <a:r>
              <a:rPr lang="en-US" dirty="0"/>
              <a:t>For example, Google's BERT helps understand the context of search queries, and Facebook's BART is designed to better understand social media content. </a:t>
            </a:r>
          </a:p>
          <a:p>
            <a:endParaRPr lang="en-US" dirty="0"/>
          </a:p>
          <a:p>
            <a:r>
              <a:rPr lang="en-US" dirty="0"/>
              <a:t>Each model has unique strengths for specific language tasks, which is an important feature for advancing AI capabilities.</a:t>
            </a:r>
          </a:p>
          <a:p>
            <a:endParaRPr lang="en-US" dirty="0"/>
          </a:p>
          <a:p>
            <a:r>
              <a:rPr lang="en-US" dirty="0"/>
              <a:t>The next 3 slides will quickly introduce three LLM’s that you may be familiar with.</a:t>
            </a:r>
          </a:p>
        </p:txBody>
      </p:sp>
      <p:sp>
        <p:nvSpPr>
          <p:cNvPr id="4" name="Slide Number Placeholder 3"/>
          <p:cNvSpPr>
            <a:spLocks noGrp="1"/>
          </p:cNvSpPr>
          <p:nvPr>
            <p:ph type="sldNum" sz="quarter" idx="5"/>
          </p:nvPr>
        </p:nvSpPr>
        <p:spPr/>
        <p:txBody>
          <a:bodyPr/>
          <a:lstStyle/>
          <a:p>
            <a:fld id="{433B60B0-1DC3-0D4A-A3FA-F1C84AA2F0B8}" type="slidenum">
              <a:rPr lang="en-US" smtClean="0"/>
              <a:t>5</a:t>
            </a:fld>
            <a:endParaRPr lang="en-US"/>
          </a:p>
        </p:txBody>
      </p:sp>
    </p:spTree>
    <p:extLst>
      <p:ext uri="{BB962C8B-B14F-4D97-AF65-F5344CB8AC3E}">
        <p14:creationId xmlns:p14="http://schemas.microsoft.com/office/powerpoint/2010/main" val="8872317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GPT Series:</a:t>
            </a:r>
            <a:r>
              <a:rPr lang="en-US" dirty="0"/>
              <a:t> The </a:t>
            </a:r>
            <a:r>
              <a:rPr lang="en-US" b="1" dirty="0">
                <a:solidFill>
                  <a:schemeClr val="accent6"/>
                </a:solidFill>
              </a:rPr>
              <a:t>G</a:t>
            </a:r>
            <a:r>
              <a:rPr lang="en-US" dirty="0"/>
              <a:t>enerative </a:t>
            </a:r>
            <a:r>
              <a:rPr lang="en-US" b="1" dirty="0"/>
              <a:t>P</a:t>
            </a:r>
            <a:r>
              <a:rPr lang="en-US" dirty="0"/>
              <a:t>re-trained </a:t>
            </a:r>
            <a:r>
              <a:rPr lang="en-US" b="1" dirty="0"/>
              <a:t>T</a:t>
            </a:r>
            <a:r>
              <a:rPr lang="en-US" dirty="0"/>
              <a:t>ransformer series, better known as GPT, developed by OpenAI.</a:t>
            </a:r>
          </a:p>
          <a:p>
            <a:r>
              <a:rPr lang="en-US" b="1" dirty="0"/>
              <a:t>Highlighting GPT-4o:</a:t>
            </a:r>
            <a:r>
              <a:rPr lang="en-US" dirty="0"/>
              <a:t> This series advanced AI capabilities with GPT-4o being the latest version. GPT uses deep learning to perform various language tasks.</a:t>
            </a:r>
          </a:p>
          <a:p>
            <a:r>
              <a:rPr lang="en-US" b="1" dirty="0"/>
              <a:t>Impact of GPT-4:</a:t>
            </a:r>
            <a:r>
              <a:rPr lang="en-US" dirty="0"/>
              <a:t> It shows how LLMs can imitate human writing in different styles and contexts, demonstrating what AI can do in understanding and generating complex texts.</a:t>
            </a:r>
          </a:p>
        </p:txBody>
      </p:sp>
      <p:sp>
        <p:nvSpPr>
          <p:cNvPr id="4" name="Slide Number Placeholder 3"/>
          <p:cNvSpPr>
            <a:spLocks noGrp="1"/>
          </p:cNvSpPr>
          <p:nvPr>
            <p:ph type="sldNum" sz="quarter" idx="5"/>
          </p:nvPr>
        </p:nvSpPr>
        <p:spPr/>
        <p:txBody>
          <a:bodyPr/>
          <a:lstStyle/>
          <a:p>
            <a:fld id="{433B60B0-1DC3-0D4A-A3FA-F1C84AA2F0B8}" type="slidenum">
              <a:rPr lang="en-US" smtClean="0"/>
              <a:t>6</a:t>
            </a:fld>
            <a:endParaRPr lang="en-US"/>
          </a:p>
        </p:txBody>
      </p:sp>
    </p:spTree>
    <p:extLst>
      <p:ext uri="{BB962C8B-B14F-4D97-AF65-F5344CB8AC3E}">
        <p14:creationId xmlns:p14="http://schemas.microsoft.com/office/powerpoint/2010/main" val="4781438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Meta's </a:t>
            </a:r>
            <a:r>
              <a:rPr lang="en-US" b="1" dirty="0" err="1"/>
              <a:t>LLaMA</a:t>
            </a:r>
            <a:r>
              <a:rPr lang="en-US" b="1" dirty="0"/>
              <a:t>:</a:t>
            </a:r>
            <a:r>
              <a:rPr lang="en-US" dirty="0"/>
              <a:t> Meta's </a:t>
            </a:r>
            <a:r>
              <a:rPr lang="en-US" dirty="0" err="1"/>
              <a:t>LLaMA</a:t>
            </a:r>
            <a:r>
              <a:rPr lang="en-US" dirty="0"/>
              <a:t> model is designed to handle a wide range of language processing tasks.</a:t>
            </a:r>
          </a:p>
          <a:p>
            <a:endParaRPr lang="en-US" b="1" dirty="0"/>
          </a:p>
          <a:p>
            <a:r>
              <a:rPr lang="en-US" b="1" dirty="0"/>
              <a:t>Capabilities and Applications:</a:t>
            </a:r>
            <a:r>
              <a:rPr lang="en-US" dirty="0"/>
              <a:t> The model is versatile, making it useful in both commercial and academic settings. Its ability to adapt to various language tasks allows it to perform well in different areas, showing the practical applications of modern LLMs.</a:t>
            </a:r>
          </a:p>
        </p:txBody>
      </p:sp>
      <p:sp>
        <p:nvSpPr>
          <p:cNvPr id="4" name="Slide Number Placeholder 3"/>
          <p:cNvSpPr>
            <a:spLocks noGrp="1"/>
          </p:cNvSpPr>
          <p:nvPr>
            <p:ph type="sldNum" sz="quarter" idx="5"/>
          </p:nvPr>
        </p:nvSpPr>
        <p:spPr/>
        <p:txBody>
          <a:bodyPr/>
          <a:lstStyle/>
          <a:p>
            <a:fld id="{433B60B0-1DC3-0D4A-A3FA-F1C84AA2F0B8}" type="slidenum">
              <a:rPr lang="en-US" smtClean="0"/>
              <a:t>7</a:t>
            </a:fld>
            <a:endParaRPr lang="en-US"/>
          </a:p>
        </p:txBody>
      </p:sp>
    </p:spTree>
    <p:extLst>
      <p:ext uri="{BB962C8B-B14F-4D97-AF65-F5344CB8AC3E}">
        <p14:creationId xmlns:p14="http://schemas.microsoft.com/office/powerpoint/2010/main" val="7786604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ffectLst/>
              </a:rPr>
              <a:t>(</a:t>
            </a:r>
            <a:r>
              <a:rPr lang="en-US" b="1" dirty="0"/>
              <a:t>Introduction to BLOOM:</a:t>
            </a:r>
            <a:r>
              <a:rPr lang="en-US" dirty="0"/>
              <a:t> Next, we turn our attention to Hugging Face's BLOOM model. BLOOM stands for </a:t>
            </a:r>
            <a:r>
              <a:rPr lang="en-US" dirty="0" err="1"/>
              <a:t>BigScience</a:t>
            </a:r>
            <a:r>
              <a:rPr lang="en-US" dirty="0"/>
              <a:t> Large Open-science Open-access Multilingual Language Model.</a:t>
            </a:r>
          </a:p>
          <a:p>
            <a:r>
              <a:rPr lang="en-US" b="1" dirty="0"/>
              <a:t>Focus on Accessibility and Collaboration:</a:t>
            </a:r>
            <a:r>
              <a:rPr lang="en-US" dirty="0"/>
              <a:t> This model is notable for its multilingual capabilities and open-source nature, which encourages global collaboration and accessibility. BLOOM's design makes advanced language processing tools available to a broader audience worldwide.</a:t>
            </a:r>
          </a:p>
        </p:txBody>
      </p:sp>
      <p:sp>
        <p:nvSpPr>
          <p:cNvPr id="4" name="Slide Number Placeholder 3"/>
          <p:cNvSpPr>
            <a:spLocks noGrp="1"/>
          </p:cNvSpPr>
          <p:nvPr>
            <p:ph type="sldNum" sz="quarter" idx="5"/>
          </p:nvPr>
        </p:nvSpPr>
        <p:spPr/>
        <p:txBody>
          <a:bodyPr/>
          <a:lstStyle/>
          <a:p>
            <a:fld id="{433B60B0-1DC3-0D4A-A3FA-F1C84AA2F0B8}" type="slidenum">
              <a:rPr lang="en-US" smtClean="0"/>
              <a:t>8</a:t>
            </a:fld>
            <a:endParaRPr lang="en-US"/>
          </a:p>
        </p:txBody>
      </p:sp>
    </p:spTree>
    <p:extLst>
      <p:ext uri="{BB962C8B-B14F-4D97-AF65-F5344CB8AC3E}">
        <p14:creationId xmlns:p14="http://schemas.microsoft.com/office/powerpoint/2010/main" val="23065316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Transformers origin story:</a:t>
            </a:r>
            <a:r>
              <a:rPr lang="en-US" dirty="0"/>
              <a:t> Before 2017, language models struggled to understand and generate text effectively. When Google introduced the transformer architecture in 2017, the performance of LLM’s greatly improved.</a:t>
            </a:r>
          </a:p>
          <a:p>
            <a:endParaRPr lang="en-US" b="1" dirty="0"/>
          </a:p>
          <a:p>
            <a:r>
              <a:rPr lang="en-US" b="1" dirty="0"/>
              <a:t>Understanding Transformer Architecture:</a:t>
            </a:r>
            <a:r>
              <a:rPr lang="en-US" dirty="0"/>
              <a:t> The key innovation in transformers is the use of self-attention mechanisms. These mechanisms allow the model to consider the importance of each word in a sentence relative to every other word, enabling it to understand context and relationships between words more effectively. Instead of reading word by word in order, the model can focus on different parts of the sentence simultaneously.</a:t>
            </a:r>
          </a:p>
          <a:p>
            <a:endParaRPr lang="en-US" dirty="0"/>
          </a:p>
          <a:p>
            <a:r>
              <a:rPr lang="en-US" dirty="0"/>
              <a:t>For example, in the sentence "The cat sat on the mat," the model understands that "the mat" is related to "sat on" and not just isolated words. Because traditional models processed sentences word by word they often missed the bigger picture. In contrast, transformers process all words at once, making them faster and better at capturing context.</a:t>
            </a:r>
          </a:p>
          <a:p>
            <a:endParaRPr lang="en-US" b="1" dirty="0"/>
          </a:p>
          <a:p>
            <a:r>
              <a:rPr lang="en-US" b="1" dirty="0"/>
              <a:t>Importance of Transformers:</a:t>
            </a:r>
            <a:r>
              <a:rPr lang="en-US" dirty="0"/>
              <a:t> The flexibility and efficiency of transformer architecture improves LLM’s by allowing them to process and generate language with high accuracy and speed over a wide range of language tasks, such as translation, summarization, and question answering.</a:t>
            </a:r>
          </a:p>
        </p:txBody>
      </p:sp>
      <p:sp>
        <p:nvSpPr>
          <p:cNvPr id="4" name="Slide Number Placeholder 3"/>
          <p:cNvSpPr>
            <a:spLocks noGrp="1"/>
          </p:cNvSpPr>
          <p:nvPr>
            <p:ph type="sldNum" sz="quarter" idx="5"/>
          </p:nvPr>
        </p:nvSpPr>
        <p:spPr/>
        <p:txBody>
          <a:bodyPr/>
          <a:lstStyle/>
          <a:p>
            <a:fld id="{433B60B0-1DC3-0D4A-A3FA-F1C84AA2F0B8}" type="slidenum">
              <a:rPr lang="en-US" smtClean="0"/>
              <a:t>9</a:t>
            </a:fld>
            <a:endParaRPr lang="en-US"/>
          </a:p>
        </p:txBody>
      </p:sp>
    </p:spTree>
    <p:extLst>
      <p:ext uri="{BB962C8B-B14F-4D97-AF65-F5344CB8AC3E}">
        <p14:creationId xmlns:p14="http://schemas.microsoft.com/office/powerpoint/2010/main" val="11101135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Exploring Attention Mechanisms: </a:t>
            </a:r>
            <a:r>
              <a:rPr lang="en-US" dirty="0"/>
              <a:t>Building on the Transformer architecture, a cornerstone in the operation of LLMs is the attention mechanism. This feature allows LLMs to focus on different parts of the input data more dynamically than traditional static models.</a:t>
            </a:r>
          </a:p>
          <a:p>
            <a:endParaRPr lang="en-US" b="1" dirty="0"/>
          </a:p>
          <a:p>
            <a:r>
              <a:rPr lang="en-US" b="1" dirty="0"/>
              <a:t>Functionality of Attention Mechanisms: </a:t>
            </a:r>
            <a:r>
              <a:rPr lang="en-US" dirty="0"/>
              <a:t>By understanding which parts of the data are more relevant to the task at hand, attention mechanisms enhance the model's ability to generate coherent and contextually appropriate outputs. This is essential for tasks that require a deep understanding of language nuances, such as answering questions or summarizing long documents.</a:t>
            </a:r>
          </a:p>
          <a:p>
            <a:endParaRPr lang="en-US" b="1" dirty="0"/>
          </a:p>
          <a:p>
            <a:r>
              <a:rPr lang="en-US" b="1" dirty="0"/>
              <a:t>Impact on LLM Performance: </a:t>
            </a:r>
            <a:r>
              <a:rPr lang="en-US" dirty="0"/>
              <a:t>The integration of attention mechanisms has led to significant improvements in how LLMs process and generate text, ensuring that the output is not only accurate but also highly relevant to the context. This has enhanced the effectiveness of LLMs in various applications, making them more reliable for complex language tasks.</a:t>
            </a:r>
          </a:p>
        </p:txBody>
      </p:sp>
      <p:sp>
        <p:nvSpPr>
          <p:cNvPr id="4" name="Slide Number Placeholder 3"/>
          <p:cNvSpPr>
            <a:spLocks noGrp="1"/>
          </p:cNvSpPr>
          <p:nvPr>
            <p:ph type="sldNum" sz="quarter" idx="5"/>
          </p:nvPr>
        </p:nvSpPr>
        <p:spPr/>
        <p:txBody>
          <a:bodyPr/>
          <a:lstStyle/>
          <a:p>
            <a:fld id="{433B60B0-1DC3-0D4A-A3FA-F1C84AA2F0B8}" type="slidenum">
              <a:rPr lang="en-US" smtClean="0"/>
              <a:t>10</a:t>
            </a:fld>
            <a:endParaRPr lang="en-US"/>
          </a:p>
        </p:txBody>
      </p:sp>
    </p:spTree>
    <p:extLst>
      <p:ext uri="{BB962C8B-B14F-4D97-AF65-F5344CB8AC3E}">
        <p14:creationId xmlns:p14="http://schemas.microsoft.com/office/powerpoint/2010/main" val="5595776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Classroom Analogy:</a:t>
            </a:r>
            <a:r>
              <a:rPr lang="en-US" dirty="0"/>
              <a:t> Imagine you are in a classroom where the teacher is explaining a complex topic. You don't just focus on the last sentence they said; instead, you remember key points from the entire lesson to understand the full context.</a:t>
            </a:r>
          </a:p>
          <a:p>
            <a:endParaRPr lang="en-US" b="1" dirty="0"/>
          </a:p>
          <a:p>
            <a:r>
              <a:rPr lang="en-US" b="1" dirty="0"/>
              <a:t>Attention Mechanism in LLMs:</a:t>
            </a:r>
            <a:r>
              <a:rPr lang="en-US" dirty="0"/>
              <a:t> Similar to a student recalling important parts of a lesson, an attention mechanism in a Large Language Model focuses on significant information throughout a sentence. For example, understanding that a "CPU" is the "brain of the computer" and how it "processes instructions" helps the model provide accurate and context-aware responses.</a:t>
            </a:r>
          </a:p>
        </p:txBody>
      </p:sp>
      <p:sp>
        <p:nvSpPr>
          <p:cNvPr id="4" name="Slide Number Placeholder 3"/>
          <p:cNvSpPr>
            <a:spLocks noGrp="1"/>
          </p:cNvSpPr>
          <p:nvPr>
            <p:ph type="sldNum" sz="quarter" idx="5"/>
          </p:nvPr>
        </p:nvSpPr>
        <p:spPr/>
        <p:txBody>
          <a:bodyPr/>
          <a:lstStyle/>
          <a:p>
            <a:fld id="{433B60B0-1DC3-0D4A-A3FA-F1C84AA2F0B8}" type="slidenum">
              <a:rPr lang="en-US" smtClean="0"/>
              <a:t>11</a:t>
            </a:fld>
            <a:endParaRPr lang="en-US"/>
          </a:p>
        </p:txBody>
      </p:sp>
    </p:spTree>
    <p:extLst>
      <p:ext uri="{BB962C8B-B14F-4D97-AF65-F5344CB8AC3E}">
        <p14:creationId xmlns:p14="http://schemas.microsoft.com/office/powerpoint/2010/main" val="15250919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From Attention Mechanisms to NLP Techniques:</a:t>
            </a:r>
            <a:r>
              <a:rPr lang="en-US" dirty="0"/>
              <a:t> Now that we've seen how attention mechanisms help models understand context, let's explore some specific Natural Language Processing (NLP) techniques that use these mechanisms. These NLP techniques include tasks such as text classification, language translation, sentiment analysis, and more. Each technique helps the model focus on relevant parts of the input to produce accurate and meaningful outputs.</a:t>
            </a:r>
          </a:p>
          <a:p>
            <a:endParaRPr lang="en-US" b="1" dirty="0"/>
          </a:p>
          <a:p>
            <a:r>
              <a:rPr lang="en-US" b="1" dirty="0"/>
              <a:t>Understanding NLP Techniques:</a:t>
            </a:r>
            <a:endParaRPr lang="en-US" dirty="0"/>
          </a:p>
          <a:p>
            <a:pPr>
              <a:buFont typeface="Arial" panose="020B0604020202020204" pitchFamily="34" charset="0"/>
              <a:buChar char="•"/>
            </a:pPr>
            <a:r>
              <a:rPr lang="en-US" b="1" dirty="0"/>
              <a:t>Tokenization:</a:t>
            </a:r>
            <a:endParaRPr lang="en-US" dirty="0"/>
          </a:p>
          <a:p>
            <a:pPr marL="742950" lvl="1" indent="-285750">
              <a:buFont typeface="Arial" panose="020B0604020202020204" pitchFamily="34" charset="0"/>
              <a:buChar char="•"/>
            </a:pPr>
            <a:r>
              <a:rPr lang="en-US" dirty="0"/>
              <a:t>Breaking down text into smaller units like words or phrases.</a:t>
            </a:r>
          </a:p>
          <a:p>
            <a:pPr marL="742950" lvl="1" indent="-285750">
              <a:buFont typeface="Arial" panose="020B0604020202020204" pitchFamily="34" charset="0"/>
              <a:buChar char="•"/>
            </a:pPr>
            <a:r>
              <a:rPr lang="en-US" b="1" dirty="0"/>
              <a:t>Example:</a:t>
            </a:r>
            <a:r>
              <a:rPr lang="en-US" dirty="0"/>
              <a:t> The sentence "Natural Language Processing is fascinating" becomes ["Natural", "Language", "Processing", "is", "fascinating"].</a:t>
            </a:r>
          </a:p>
          <a:p>
            <a:pPr marL="742950" lvl="1" indent="-285750">
              <a:buFont typeface="Arial" panose="020B0604020202020204" pitchFamily="34" charset="0"/>
              <a:buChar char="•"/>
            </a:pPr>
            <a:r>
              <a:rPr lang="en-US" b="1" dirty="0"/>
              <a:t>Importance:</a:t>
            </a:r>
            <a:r>
              <a:rPr lang="en-US" dirty="0"/>
              <a:t> Converts text into manageable units for analysis and machine learning.</a:t>
            </a:r>
          </a:p>
          <a:p>
            <a:pPr>
              <a:buFont typeface="Arial" panose="020B0604020202020204" pitchFamily="34" charset="0"/>
              <a:buChar char="•"/>
            </a:pPr>
            <a:r>
              <a:rPr lang="en-US" b="1" dirty="0"/>
              <a:t>Stemming:</a:t>
            </a:r>
            <a:endParaRPr lang="en-US" dirty="0"/>
          </a:p>
          <a:p>
            <a:pPr marL="742950" lvl="1" indent="-285750">
              <a:buFont typeface="Arial" panose="020B0604020202020204" pitchFamily="34" charset="0"/>
              <a:buChar char="•"/>
            </a:pPr>
            <a:r>
              <a:rPr lang="en-US" dirty="0"/>
              <a:t>Reduces words to their root form by removing prefixes and suffixes.</a:t>
            </a:r>
          </a:p>
          <a:p>
            <a:pPr marL="742950" lvl="1" indent="-285750">
              <a:buFont typeface="Arial" panose="020B0604020202020204" pitchFamily="34" charset="0"/>
              <a:buChar char="•"/>
            </a:pPr>
            <a:r>
              <a:rPr lang="en-US" b="1" dirty="0"/>
              <a:t>Example:</a:t>
            </a:r>
            <a:r>
              <a:rPr lang="en-US" dirty="0"/>
              <a:t> The words "running," "runner," and "ran" might all be reduced to "run."</a:t>
            </a:r>
          </a:p>
          <a:p>
            <a:pPr marL="742950" lvl="1" indent="-285750">
              <a:buFont typeface="Arial" panose="020B0604020202020204" pitchFamily="34" charset="0"/>
              <a:buChar char="•"/>
            </a:pPr>
            <a:r>
              <a:rPr lang="en-US" b="1" dirty="0"/>
              <a:t>Consideration:</a:t>
            </a:r>
            <a:r>
              <a:rPr lang="en-US" dirty="0"/>
              <a:t> Can sometimes produce non-dictionary forms, like "</a:t>
            </a:r>
            <a:r>
              <a:rPr lang="en-US" dirty="0" err="1"/>
              <a:t>runn</a:t>
            </a:r>
            <a:r>
              <a:rPr lang="en-US" dirty="0"/>
              <a:t>" instead of "run."</a:t>
            </a:r>
          </a:p>
          <a:p>
            <a:pPr>
              <a:buFont typeface="Arial" panose="020B0604020202020204" pitchFamily="34" charset="0"/>
              <a:buChar char="•"/>
            </a:pPr>
            <a:r>
              <a:rPr lang="en-US" b="1" dirty="0"/>
              <a:t>Lemmatization:</a:t>
            </a:r>
            <a:endParaRPr lang="en-US" dirty="0"/>
          </a:p>
          <a:p>
            <a:pPr marL="742950" lvl="1" indent="-285750">
              <a:buFont typeface="Arial" panose="020B0604020202020204" pitchFamily="34" charset="0"/>
              <a:buChar char="•"/>
            </a:pPr>
            <a:r>
              <a:rPr lang="en-US" dirty="0"/>
              <a:t>Converts words to their base or dictionary form.</a:t>
            </a:r>
          </a:p>
          <a:p>
            <a:pPr marL="742950" lvl="1" indent="-285750">
              <a:buFont typeface="Arial" panose="020B0604020202020204" pitchFamily="34" charset="0"/>
              <a:buChar char="•"/>
            </a:pPr>
            <a:r>
              <a:rPr lang="en-US" b="1" dirty="0"/>
              <a:t>Example:</a:t>
            </a:r>
            <a:r>
              <a:rPr lang="en-US" dirty="0"/>
              <a:t> "Running," "runner," and "ran" are all converted to "run."</a:t>
            </a:r>
          </a:p>
          <a:p>
            <a:pPr marL="742950" lvl="1" indent="-285750">
              <a:buFont typeface="Arial" panose="020B0604020202020204" pitchFamily="34" charset="0"/>
              <a:buChar char="•"/>
            </a:pPr>
            <a:r>
              <a:rPr lang="en-US" b="1" dirty="0"/>
              <a:t>Advantage:</a:t>
            </a:r>
            <a:r>
              <a:rPr lang="en-US" dirty="0"/>
              <a:t> Ensures more accurate transformations compared to stemming.</a:t>
            </a:r>
          </a:p>
          <a:p>
            <a:pPr>
              <a:buFont typeface="Arial" panose="020B0604020202020204" pitchFamily="34" charset="0"/>
              <a:buChar char="•"/>
            </a:pPr>
            <a:r>
              <a:rPr lang="en-US" b="1" dirty="0"/>
              <a:t>POS Tagging (Part-of-Speech Tagging):</a:t>
            </a:r>
            <a:endParaRPr lang="en-US" dirty="0"/>
          </a:p>
          <a:p>
            <a:pPr marL="742950" lvl="1" indent="-285750">
              <a:buFont typeface="Arial" panose="020B0604020202020204" pitchFamily="34" charset="0"/>
              <a:buChar char="•"/>
            </a:pPr>
            <a:r>
              <a:rPr lang="en-US" dirty="0"/>
              <a:t>Labels each word in a sentence with its part of speech, such as noun, verb, adjective, etc.</a:t>
            </a:r>
          </a:p>
          <a:p>
            <a:pPr marL="742950" lvl="1" indent="-285750">
              <a:buFont typeface="Arial" panose="020B0604020202020204" pitchFamily="34" charset="0"/>
              <a:buChar char="•"/>
            </a:pPr>
            <a:r>
              <a:rPr lang="en-US" b="1" dirty="0"/>
              <a:t>Example:</a:t>
            </a:r>
            <a:r>
              <a:rPr lang="en-US" dirty="0"/>
              <a:t> In the sentence "The quick brown fox jumps over the lazy dog," each word would be tagged: [The/DT quick/JJ brown/JJ fox/NN jumps/VBZ over/IN the/DT lazy/JJ dog/NN].</a:t>
            </a:r>
          </a:p>
          <a:p>
            <a:pPr>
              <a:buFont typeface="Arial" panose="020B0604020202020204" pitchFamily="34" charset="0"/>
              <a:buChar char="•"/>
            </a:pPr>
            <a:r>
              <a:rPr lang="en-US" b="1" dirty="0"/>
              <a:t>Parsing:</a:t>
            </a:r>
            <a:endParaRPr lang="en-US" dirty="0"/>
          </a:p>
          <a:p>
            <a:pPr marL="742950" lvl="1" indent="-285750">
              <a:buFont typeface="Arial" panose="020B0604020202020204" pitchFamily="34" charset="0"/>
              <a:buChar char="•"/>
            </a:pPr>
            <a:r>
              <a:rPr lang="en-US" dirty="0"/>
              <a:t>Analyzes the grammatical structure of a sentence to understand its syntactic relationships.</a:t>
            </a:r>
          </a:p>
          <a:p>
            <a:pPr marL="742950" lvl="1" indent="-285750">
              <a:buFont typeface="Arial" panose="020B0604020202020204" pitchFamily="34" charset="0"/>
              <a:buChar char="•"/>
            </a:pPr>
            <a:r>
              <a:rPr lang="en-US" b="1" dirty="0"/>
              <a:t>Example:</a:t>
            </a:r>
            <a:r>
              <a:rPr lang="en-US" dirty="0"/>
              <a:t> In the sentence "The cat sat on the mat," parsing identifies: "The cat" as the subject, "sat" as the verb, "on the mat" as the prepositional phrase describing the location.</a:t>
            </a:r>
          </a:p>
          <a:p>
            <a:pPr>
              <a:buFont typeface="Arial" panose="020B0604020202020204" pitchFamily="34" charset="0"/>
              <a:buChar char="•"/>
            </a:pPr>
            <a:r>
              <a:rPr lang="en-US" b="1" dirty="0"/>
              <a:t>Sentiment Analysis:</a:t>
            </a:r>
            <a:endParaRPr lang="en-US" dirty="0"/>
          </a:p>
          <a:p>
            <a:pPr marL="742950" lvl="1" indent="-285750">
              <a:buFont typeface="Arial" panose="020B0604020202020204" pitchFamily="34" charset="0"/>
              <a:buChar char="•"/>
            </a:pPr>
            <a:r>
              <a:rPr lang="en-US" dirty="0"/>
              <a:t>Determines the sentiment or emotion expressed in a text.</a:t>
            </a:r>
          </a:p>
          <a:p>
            <a:pPr marL="742950" lvl="1" indent="-285750">
              <a:buFont typeface="Arial" panose="020B0604020202020204" pitchFamily="34" charset="0"/>
              <a:buChar char="•"/>
            </a:pPr>
            <a:r>
              <a:rPr lang="en-US" b="1" dirty="0"/>
              <a:t>Examples:</a:t>
            </a:r>
            <a:r>
              <a:rPr lang="en-US" dirty="0"/>
              <a:t> "I love this product!" (positive sentiment), "I hate this product" (negative sentiment).</a:t>
            </a:r>
          </a:p>
          <a:p>
            <a:pPr marL="742950" lvl="1" indent="-285750">
              <a:buFont typeface="Arial" panose="020B0604020202020204" pitchFamily="34" charset="0"/>
              <a:buChar char="•"/>
            </a:pPr>
            <a:r>
              <a:rPr lang="en-US" b="1" dirty="0"/>
              <a:t>Usage:</a:t>
            </a:r>
            <a:r>
              <a:rPr lang="en-US" dirty="0"/>
              <a:t> Widely used in customer feedback analysis and social media monitoring.</a:t>
            </a:r>
          </a:p>
          <a:p>
            <a:endParaRPr lang="en-US" dirty="0"/>
          </a:p>
          <a:p>
            <a:r>
              <a:rPr lang="en-US" dirty="0"/>
              <a:t>These techniques are essential in various NLP applications, including text analysis, machine translation, information retrieval, and more.</a:t>
            </a:r>
          </a:p>
        </p:txBody>
      </p:sp>
      <p:sp>
        <p:nvSpPr>
          <p:cNvPr id="4" name="Slide Number Placeholder 3"/>
          <p:cNvSpPr>
            <a:spLocks noGrp="1"/>
          </p:cNvSpPr>
          <p:nvPr>
            <p:ph type="sldNum" sz="quarter" idx="5"/>
          </p:nvPr>
        </p:nvSpPr>
        <p:spPr/>
        <p:txBody>
          <a:bodyPr/>
          <a:lstStyle/>
          <a:p>
            <a:fld id="{433B60B0-1DC3-0D4A-A3FA-F1C84AA2F0B8}" type="slidenum">
              <a:rPr lang="en-US" smtClean="0"/>
              <a:t>12</a:t>
            </a:fld>
            <a:endParaRPr lang="en-US"/>
          </a:p>
        </p:txBody>
      </p:sp>
    </p:spTree>
    <p:extLst>
      <p:ext uri="{BB962C8B-B14F-4D97-AF65-F5344CB8AC3E}">
        <p14:creationId xmlns:p14="http://schemas.microsoft.com/office/powerpoint/2010/main" val="28880381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an understanding of various NLP techniques, it's important to see how these techniques are integrated within the layered structure of Large Language Models (LLMs).</a:t>
            </a:r>
          </a:p>
          <a:p>
            <a:r>
              <a:rPr lang="en-US" b="1" dirty="0"/>
              <a:t>Layered Structure of LLMs:</a:t>
            </a:r>
            <a:br>
              <a:rPr lang="en-US" dirty="0"/>
            </a:br>
            <a:r>
              <a:rPr lang="en-US" dirty="0"/>
              <a:t>Large Language Models are composed of multiple layers, each designed to handle different aspects of language processing. This multi-layered approach allows the model to build a comprehensive understanding of the input by gradually refining the information at each stage.</a:t>
            </a:r>
          </a:p>
          <a:p>
            <a:r>
              <a:rPr lang="en-US" b="1" dirty="0"/>
              <a:t>Function and Interaction of Layers:</a:t>
            </a:r>
            <a:br>
              <a:rPr lang="en-US" dirty="0"/>
            </a:br>
            <a:r>
              <a:rPr lang="en-US" dirty="0"/>
              <a:t>As data moves through these layers, it is processed incrementally. Each layer focuses on specific tasks: some layers might detect basic features like words and phrases, while others handle more complex structures like syntax and semantics. By the time the data reaches the final layer, the model has built a detailed representation of the input, enabling it to generate accurate and contextually appropriate responses.</a:t>
            </a:r>
          </a:p>
          <a:p>
            <a:r>
              <a:rPr lang="en-US" b="1" dirty="0"/>
              <a:t>Significance of Layered Processing:</a:t>
            </a:r>
            <a:br>
              <a:rPr lang="en-US" dirty="0"/>
            </a:br>
            <a:r>
              <a:rPr lang="en-US" dirty="0"/>
              <a:t>This structured processing is crucial for tasks that require precise language understanding, such as translation and creative writing. The layered design ensures that each aspect of the language is carefully analyzed and interpreted. This method enhances the model's ability to manage complex linguistic patterns, leading to more detailed and accurate outputs.</a:t>
            </a:r>
          </a:p>
        </p:txBody>
      </p:sp>
      <p:sp>
        <p:nvSpPr>
          <p:cNvPr id="4" name="Slide Number Placeholder 3"/>
          <p:cNvSpPr>
            <a:spLocks noGrp="1"/>
          </p:cNvSpPr>
          <p:nvPr>
            <p:ph type="sldNum" sz="quarter" idx="5"/>
          </p:nvPr>
        </p:nvSpPr>
        <p:spPr/>
        <p:txBody>
          <a:bodyPr/>
          <a:lstStyle/>
          <a:p>
            <a:fld id="{433B60B0-1DC3-0D4A-A3FA-F1C84AA2F0B8}" type="slidenum">
              <a:rPr lang="en-US" smtClean="0"/>
              <a:t>13</a:t>
            </a:fld>
            <a:endParaRPr lang="en-US"/>
          </a:p>
        </p:txBody>
      </p:sp>
    </p:spTree>
    <p:extLst>
      <p:ext uri="{BB962C8B-B14F-4D97-AF65-F5344CB8AC3E}">
        <p14:creationId xmlns:p14="http://schemas.microsoft.com/office/powerpoint/2010/main" val="39844204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t>Understanding the layered structure and roles within Large Language Models (LLMs) leads us to explore the data requirements and sourcing that make these models effective.</a:t>
            </a:r>
          </a:p>
          <a:p>
            <a:pPr algn="l"/>
            <a:endParaRPr lang="en-US" b="0" i="0" dirty="0">
              <a:solidFill>
                <a:srgbClr val="0D0D0D"/>
              </a:solidFill>
              <a:effectLst/>
              <a:highlight>
                <a:srgbClr val="FFFFFF"/>
              </a:highlight>
              <a:latin typeface="Söhne"/>
            </a:endParaRPr>
          </a:p>
          <a:p>
            <a:pPr algn="l"/>
            <a:r>
              <a:rPr lang="en-US" b="1" dirty="0"/>
              <a:t>Diversity of Training Data:</a:t>
            </a:r>
            <a:r>
              <a:rPr lang="en-US" dirty="0"/>
              <a:t> To perform well across a wide range of language tasks, LLMs require diverse training data. This means the data must come from various sources, including books, articles, websites, and social media. The diversity ensures that the model can understand and generate text in different contexts, styles, and tones. For example, training data might include scientific papers, literary works, everyday conversations, and technical manuals. This variety helps the model generalize better, making it more versatile and effective in handling different language tasks..</a:t>
            </a:r>
          </a:p>
          <a:p>
            <a:pPr algn="l"/>
            <a:endParaRPr lang="en-US" b="0" i="0" dirty="0">
              <a:solidFill>
                <a:srgbClr val="0D0D0D"/>
              </a:solidFill>
              <a:effectLst/>
              <a:highlight>
                <a:srgbClr val="FFFFFF"/>
              </a:highlight>
              <a:latin typeface="Söhne"/>
            </a:endParaRPr>
          </a:p>
          <a:p>
            <a:pPr algn="l"/>
            <a:r>
              <a:rPr lang="en-US" b="1" dirty="0"/>
              <a:t>Ethical Data Sourcing:</a:t>
            </a:r>
            <a:r>
              <a:rPr lang="en-US" dirty="0"/>
              <a:t> Ethical data sourcing involves ensuring the data collected respects privacy, copyright, and consent. Data must be collected from publicly available and legally permissible sources, with efforts to anonymize personal information to protect privacy. Including diverse voices and perspectives in the training data is essential to avoid biases. Bias in data can lead to unfair or inaccurate outcomes, so it's important to have representation from different demographics, cultures, and viewpoints. Transparent data sourcing practices help build trust and ensure the responsible development and use of LLMs. By addressing these ethical considerations, we can create models that are fairer and more inclusive, contributing to more equitable AI applications.</a:t>
            </a:r>
            <a:endParaRPr lang="en-US" b="0" i="0" dirty="0">
              <a:solidFill>
                <a:srgbClr val="0D0D0D"/>
              </a:solidFill>
              <a:effectLst/>
              <a:highlight>
                <a:srgbClr val="FFFFFF"/>
              </a:highlight>
              <a:latin typeface="Söhne"/>
            </a:endParaRPr>
          </a:p>
        </p:txBody>
      </p:sp>
      <p:sp>
        <p:nvSpPr>
          <p:cNvPr id="4" name="Slide Number Placeholder 3"/>
          <p:cNvSpPr>
            <a:spLocks noGrp="1"/>
          </p:cNvSpPr>
          <p:nvPr>
            <p:ph type="sldNum" sz="quarter" idx="5"/>
          </p:nvPr>
        </p:nvSpPr>
        <p:spPr/>
        <p:txBody>
          <a:bodyPr/>
          <a:lstStyle/>
          <a:p>
            <a:fld id="{433B60B0-1DC3-0D4A-A3FA-F1C84AA2F0B8}" type="slidenum">
              <a:rPr lang="en-US" smtClean="0"/>
              <a:t>14</a:t>
            </a:fld>
            <a:endParaRPr lang="en-US"/>
          </a:p>
        </p:txBody>
      </p:sp>
    </p:spTree>
    <p:extLst>
      <p:ext uri="{BB962C8B-B14F-4D97-AF65-F5344CB8AC3E}">
        <p14:creationId xmlns:p14="http://schemas.microsoft.com/office/powerpoint/2010/main" val="5930496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t>Moving on to the model training process for Large Language Models (LLMs), which involves pre-training and fine-tuning</a:t>
            </a:r>
          </a:p>
          <a:p>
            <a:pPr algn="l"/>
            <a:endParaRPr lang="en-US" b="0" i="0" dirty="0">
              <a:solidFill>
                <a:srgbClr val="0D0D0D"/>
              </a:solidFill>
              <a:effectLst/>
              <a:highlight>
                <a:srgbClr val="FFFFFF"/>
              </a:highlight>
              <a:latin typeface="Söhne"/>
            </a:endParaRPr>
          </a:p>
          <a:p>
            <a:pPr marL="0" indent="0" algn="l">
              <a:buFont typeface="Arial" panose="020B0604020202020204" pitchFamily="34" charset="0"/>
              <a:buNone/>
            </a:pPr>
            <a:r>
              <a:rPr lang="en-US" b="1" dirty="0"/>
              <a:t>Model Training Process:</a:t>
            </a:r>
            <a:r>
              <a:rPr lang="en-US" dirty="0"/>
              <a:t> Training an LLM involves two main steps: pre-training and fine-tuning.</a:t>
            </a:r>
          </a:p>
          <a:p>
            <a:pPr marL="171450" lvl="0" indent="-171450">
              <a:buFont typeface="Arial" panose="020B0604020202020204" pitchFamily="34" charset="0"/>
              <a:buChar char="•"/>
            </a:pPr>
            <a:r>
              <a:rPr lang="en-US" b="1" dirty="0"/>
              <a:t>Pre-Training:</a:t>
            </a:r>
            <a:r>
              <a:rPr lang="en-US" dirty="0"/>
              <a:t> Pre-training is the first step where the model learns from a massive amount of text data. During this phase, the model tries to predict the next word in a sentence, helping it understand grammar, facts about the world, and some level of reasoning. Think of it like reading a vast library of books to gain general knowledge about language and information. For example, if the model reads sentences like "The cat sat on the...," it learns to predict that "mat" might be the next word.</a:t>
            </a:r>
          </a:p>
          <a:p>
            <a:pPr marL="171450" lvl="0" indent="-171450">
              <a:buFont typeface="Arial" panose="020B0604020202020204" pitchFamily="34" charset="0"/>
              <a:buChar char="•"/>
            </a:pPr>
            <a:r>
              <a:rPr lang="en-US" b="1" dirty="0"/>
              <a:t>Fine-Tuning:</a:t>
            </a:r>
            <a:r>
              <a:rPr lang="en-US" dirty="0"/>
              <a:t> Fine-tuning is the second step where the model is trained on a smaller, more specific dataset tailored to tasks or industries. This is like taking the general knowledge from the vast library and then focusing on specific subjects, like biology or history, to become an expert in those areas. For instance, a model pre-trained on general text might be fine-tuned with medical texts to help it understand and generate medical information accurately.</a:t>
            </a:r>
          </a:p>
          <a:p>
            <a:endParaRPr lang="en-US" b="1" dirty="0"/>
          </a:p>
          <a:p>
            <a:r>
              <a:rPr lang="en-US" b="1" dirty="0"/>
              <a:t>Examples to Illustrate:</a:t>
            </a:r>
            <a:endParaRPr lang="en-US" dirty="0"/>
          </a:p>
          <a:p>
            <a:pPr marL="171450" indent="-171450">
              <a:buFont typeface="Arial" panose="020B0604020202020204" pitchFamily="34" charset="0"/>
              <a:buChar char="•"/>
            </a:pPr>
            <a:r>
              <a:rPr lang="en-US" b="1" dirty="0"/>
              <a:t>Pre-Training Example:</a:t>
            </a:r>
            <a:r>
              <a:rPr lang="en-US" dirty="0"/>
              <a:t> Imagine you want to become a chef. First, you learn general cooking techniques by reading a variety of cookbooks and practicing different recipes (pre-training). You get a broad understanding of how to cook various dishes.</a:t>
            </a:r>
          </a:p>
          <a:p>
            <a:pPr marL="171450" indent="-171450">
              <a:buFont typeface="Arial" panose="020B0604020202020204" pitchFamily="34" charset="0"/>
              <a:buChar char="•"/>
            </a:pPr>
            <a:r>
              <a:rPr lang="en-US" b="1" dirty="0"/>
              <a:t>Fine-Tuning Example:</a:t>
            </a:r>
            <a:r>
              <a:rPr lang="en-US" dirty="0"/>
              <a:t> After becoming familiar with general cooking, you decide to specialize in baking. You focus on baking-specific books and practice baking techniques (fine-tuning). Now, you're not just a general chef but a baking expert.</a:t>
            </a:r>
          </a:p>
          <a:p>
            <a:pPr algn="l"/>
            <a:endParaRPr lang="en-US" b="0" i="0" dirty="0">
              <a:solidFill>
                <a:srgbClr val="0D0D0D"/>
              </a:solidFill>
              <a:effectLst/>
              <a:highlight>
                <a:srgbClr val="FFFFFF"/>
              </a:highlight>
              <a:latin typeface="Söhne"/>
            </a:endParaRPr>
          </a:p>
        </p:txBody>
      </p:sp>
      <p:sp>
        <p:nvSpPr>
          <p:cNvPr id="4" name="Slide Number Placeholder 3"/>
          <p:cNvSpPr>
            <a:spLocks noGrp="1"/>
          </p:cNvSpPr>
          <p:nvPr>
            <p:ph type="sldNum" sz="quarter" idx="5"/>
          </p:nvPr>
        </p:nvSpPr>
        <p:spPr/>
        <p:txBody>
          <a:bodyPr/>
          <a:lstStyle/>
          <a:p>
            <a:fld id="{433B60B0-1DC3-0D4A-A3FA-F1C84AA2F0B8}" type="slidenum">
              <a:rPr lang="en-US" smtClean="0"/>
              <a:t>15</a:t>
            </a:fld>
            <a:endParaRPr lang="en-US"/>
          </a:p>
        </p:txBody>
      </p:sp>
    </p:spTree>
    <p:extLst>
      <p:ext uri="{BB962C8B-B14F-4D97-AF65-F5344CB8AC3E}">
        <p14:creationId xmlns:p14="http://schemas.microsoft.com/office/powerpoint/2010/main" val="31441594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Large Language Models (LLMs) requires substantial computational resources. </a:t>
            </a:r>
          </a:p>
          <a:p>
            <a:r>
              <a:rPr lang="en-US" dirty="0"/>
              <a:t>High-performance GPUs are essential as they handle the immense parallel computations needed for processing large datasets efficiently. </a:t>
            </a:r>
          </a:p>
          <a:p>
            <a:r>
              <a:rPr lang="en-US" dirty="0"/>
              <a:t>Extensive storage solutions, often petabyte-scale, are necessary to keep all that data organized and accessible. </a:t>
            </a:r>
          </a:p>
          <a:p>
            <a:r>
              <a:rPr lang="en-US" dirty="0"/>
              <a:t>Powerful CPUs also play a crucial role in supporting overall system performance, managing data preprocessing, and other tasks to maintain a smooth training pipeline.</a:t>
            </a:r>
          </a:p>
        </p:txBody>
      </p:sp>
      <p:sp>
        <p:nvSpPr>
          <p:cNvPr id="4" name="Slide Number Placeholder 3"/>
          <p:cNvSpPr>
            <a:spLocks noGrp="1"/>
          </p:cNvSpPr>
          <p:nvPr>
            <p:ph type="sldNum" sz="quarter" idx="5"/>
          </p:nvPr>
        </p:nvSpPr>
        <p:spPr/>
        <p:txBody>
          <a:bodyPr/>
          <a:lstStyle/>
          <a:p>
            <a:fld id="{433B60B0-1DC3-0D4A-A3FA-F1C84AA2F0B8}" type="slidenum">
              <a:rPr lang="en-US" smtClean="0"/>
              <a:t>16</a:t>
            </a:fld>
            <a:endParaRPr lang="en-US"/>
          </a:p>
        </p:txBody>
      </p:sp>
    </p:spTree>
    <p:extLst>
      <p:ext uri="{BB962C8B-B14F-4D97-AF65-F5344CB8AC3E}">
        <p14:creationId xmlns:p14="http://schemas.microsoft.com/office/powerpoint/2010/main" val="15063363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cost implications of training LLMs are also significant. </a:t>
            </a:r>
          </a:p>
          <a:p>
            <a:r>
              <a:rPr lang="en-US" dirty="0"/>
              <a:t>One of the biggest expenses is energy consumption, as running these computations requires a lot of electricity, leading to substantial costs. </a:t>
            </a:r>
          </a:p>
          <a:p>
            <a:r>
              <a:rPr lang="en-US" dirty="0"/>
              <a:t>Maintenance of hardware and software systems requires regular attention and resources. </a:t>
            </a:r>
          </a:p>
          <a:p>
            <a:r>
              <a:rPr lang="en-US" dirty="0"/>
              <a:t>Ongoing updates and model improvements demand additional computational resources, further increasing costs.</a:t>
            </a:r>
          </a:p>
        </p:txBody>
      </p:sp>
      <p:sp>
        <p:nvSpPr>
          <p:cNvPr id="4" name="Slide Number Placeholder 3"/>
          <p:cNvSpPr>
            <a:spLocks noGrp="1"/>
          </p:cNvSpPr>
          <p:nvPr>
            <p:ph type="sldNum" sz="quarter" idx="5"/>
          </p:nvPr>
        </p:nvSpPr>
        <p:spPr/>
        <p:txBody>
          <a:bodyPr/>
          <a:lstStyle/>
          <a:p>
            <a:fld id="{433B60B0-1DC3-0D4A-A3FA-F1C84AA2F0B8}" type="slidenum">
              <a:rPr lang="en-US" smtClean="0"/>
              <a:t>17</a:t>
            </a:fld>
            <a:endParaRPr lang="en-US"/>
          </a:p>
        </p:txBody>
      </p:sp>
    </p:spTree>
    <p:extLst>
      <p:ext uri="{BB962C8B-B14F-4D97-AF65-F5344CB8AC3E}">
        <p14:creationId xmlns:p14="http://schemas.microsoft.com/office/powerpoint/2010/main" val="16443754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Scalability is a key aspect when discussing computational resources for LLMs. </a:t>
            </a:r>
          </a:p>
          <a:p>
            <a:r>
              <a:rPr lang="en-US" dirty="0"/>
              <a:t>Cloud computing offers a flexible solution, allowing resources to be scaled up or down based on demand, which helps manage costs and ensures efficient use of resources. </a:t>
            </a:r>
          </a:p>
          <a:p>
            <a:r>
              <a:rPr lang="en-US" dirty="0"/>
              <a:t>Efficient cluster management of GPUs and CPUs maximizes resource utilization and investment. </a:t>
            </a:r>
          </a:p>
          <a:p>
            <a:r>
              <a:rPr lang="en-US" dirty="0"/>
              <a:t>Exploring cost-effective hardware options and energy-efficient practices can help reduce the overall financial burden.</a:t>
            </a:r>
          </a:p>
        </p:txBody>
      </p:sp>
      <p:sp>
        <p:nvSpPr>
          <p:cNvPr id="4" name="Slide Number Placeholder 3"/>
          <p:cNvSpPr>
            <a:spLocks noGrp="1"/>
          </p:cNvSpPr>
          <p:nvPr>
            <p:ph type="sldNum" sz="quarter" idx="5"/>
          </p:nvPr>
        </p:nvSpPr>
        <p:spPr/>
        <p:txBody>
          <a:bodyPr/>
          <a:lstStyle/>
          <a:p>
            <a:fld id="{433B60B0-1DC3-0D4A-A3FA-F1C84AA2F0B8}" type="slidenum">
              <a:rPr lang="en-US" smtClean="0"/>
              <a:t>18</a:t>
            </a:fld>
            <a:endParaRPr lang="en-US"/>
          </a:p>
        </p:txBody>
      </p:sp>
    </p:spTree>
    <p:extLst>
      <p:ext uri="{BB962C8B-B14F-4D97-AF65-F5344CB8AC3E}">
        <p14:creationId xmlns:p14="http://schemas.microsoft.com/office/powerpoint/2010/main" val="16168638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environmental impact of training LLMs is another important consideration. </a:t>
            </a:r>
          </a:p>
          <a:p>
            <a:r>
              <a:rPr lang="en-US" dirty="0"/>
              <a:t>Using energy-efficient hardware, such as the latest GPUs and CPUs designed to consume less power, can reduce the carbon footprint. </a:t>
            </a:r>
          </a:p>
          <a:p>
            <a:r>
              <a:rPr lang="en-US" dirty="0"/>
              <a:t>Implementing sustainable practices in data centers, like using renewable energy sources, is another positive step. </a:t>
            </a:r>
          </a:p>
          <a:p>
            <a:r>
              <a:rPr lang="en-US" dirty="0"/>
              <a:t>Participating in carbon offset programs can also help mitigate the environmental impact, ensuring that advancements in AI do not come at the cost of the planet.</a:t>
            </a:r>
          </a:p>
        </p:txBody>
      </p:sp>
      <p:sp>
        <p:nvSpPr>
          <p:cNvPr id="4" name="Slide Number Placeholder 3"/>
          <p:cNvSpPr>
            <a:spLocks noGrp="1"/>
          </p:cNvSpPr>
          <p:nvPr>
            <p:ph type="sldNum" sz="quarter" idx="5"/>
          </p:nvPr>
        </p:nvSpPr>
        <p:spPr/>
        <p:txBody>
          <a:bodyPr/>
          <a:lstStyle/>
          <a:p>
            <a:fld id="{433B60B0-1DC3-0D4A-A3FA-F1C84AA2F0B8}" type="slidenum">
              <a:rPr lang="en-US" smtClean="0"/>
              <a:t>19</a:t>
            </a:fld>
            <a:endParaRPr lang="en-US"/>
          </a:p>
        </p:txBody>
      </p:sp>
    </p:spTree>
    <p:extLst>
      <p:ext uri="{BB962C8B-B14F-4D97-AF65-F5344CB8AC3E}">
        <p14:creationId xmlns:p14="http://schemas.microsoft.com/office/powerpoint/2010/main" val="9629838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n-US"/>
              <a:t>Click to edit Master title style</a:t>
            </a:r>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8B9EBBA-996F-894A-B54A-D6246ED52CEA}" type="datetimeFigureOut">
              <a:rPr lang="en-US" dirty="0"/>
              <a:pPr/>
              <a:t>7/27/2024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n-US"/>
              <a:t>Click to edit Master title style</a:t>
            </a:r>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B3A1323-8D79-1946-B0D7-40001CF92E9D}" type="datetimeFigureOut">
              <a:rPr lang="en-US" dirty="0"/>
              <a:pPr/>
              <a:t>7/27/2024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a:t>Click to edit Master title style</a:t>
            </a:r>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7/27/2024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7302355-E14B-8545-A8F8-0FE83CC9D524}" type="datetimeFigureOut">
              <a:rPr lang="en-US" dirty="0"/>
              <a:pPr/>
              <a:t>7/27/2024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2640F58-564D-2B4F-AE67-E407BA4FCF45}" type="datetimeFigureOut">
              <a:rPr lang="en-US" dirty="0"/>
              <a:pPr/>
              <a:t>7/27/2024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13A34C8-038E-2045-AF43-DF7DBB8E0E9E}" type="datetimeFigureOut">
              <a:rPr lang="en-US" dirty="0"/>
              <a:pPr/>
              <a:t>7/27/2024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18C68F-D26B-8F47-958C-23B49CF8A634}" type="datetimeFigureOut">
              <a:rPr lang="en-US" dirty="0"/>
              <a:pPr/>
              <a:t>7/27/2024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855633" y="446088"/>
            <a:ext cx="6252633" cy="54149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DF5E60-9974-AC48-9591-99C2BB44B7CF}" type="datetimeFigureOut">
              <a:rPr lang="en-US" dirty="0"/>
              <a:pPr/>
              <a:t>7/27/2024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a:t>Click to edit Master title style</a:t>
            </a:r>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a:t>Click icon to add picture</a:t>
            </a:r>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18C79C5D-2A6F-F04D-97DA-BEF2467B64E4}" type="datetimeFigureOut">
              <a:rPr lang="en-US" dirty="0"/>
              <a:pPr/>
              <a:t>7/27/2024</a:t>
            </a:fld>
            <a:endParaRPr lang="en-US"/>
          </a:p>
        </p:txBody>
      </p:sp>
      <p:sp>
        <p:nvSpPr>
          <p:cNvPr id="6" name="Footer Placeholder 5"/>
          <p:cNvSpPr>
            <a:spLocks noGrp="1"/>
          </p:cNvSpPr>
          <p:nvPr>
            <p:ph type="ftr" sz="quarter" idx="11"/>
          </p:nvPr>
        </p:nvSpPr>
        <p:spPr>
          <a:xfrm>
            <a:off x="590396" y="6041362"/>
            <a:ext cx="3295413" cy="365125"/>
          </a:xfrm>
        </p:spPr>
        <p:txBody>
          <a:bodyPr/>
          <a:lstStyle/>
          <a:p>
            <a:endParaRPr lang="en-US"/>
          </a:p>
        </p:txBody>
      </p:sp>
      <p:sp>
        <p:nvSpPr>
          <p:cNvPr id="7" name="Slide Number Placeholder 6"/>
          <p:cNvSpPr>
            <a:spLocks noGrp="1"/>
          </p:cNvSpPr>
          <p:nvPr>
            <p:ph type="sldNum" sz="quarter" idx="12"/>
          </p:nvPr>
        </p:nvSpPr>
        <p:spPr>
          <a:xfrm>
            <a:off x="4862689" y="5915888"/>
            <a:ext cx="1062155" cy="490599"/>
          </a:xfrm>
        </p:spPr>
        <p:txBody>
          <a:bodyPr/>
          <a:lstStyle/>
          <a:p>
            <a:fld id="{D57F1E4F-1CFF-5643-939E-217C01CDF565}" type="slidenum">
              <a:rPr lang="en-US" dirty="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a:t>Click to edit Master title style</a:t>
            </a:r>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US"/>
              <a:t>Click icon to add picture</a:t>
            </a:r>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C79C5D-2A6F-F04D-97DA-BEF2467B64E4}" type="datetimeFigureOut">
              <a:rPr lang="en-US" dirty="0"/>
              <a:pPr/>
              <a:t>7/27/2024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a:t>Click to edit Master title style</a:t>
            </a:r>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7/27/2024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a:t>Click to edit Master title style</a:t>
            </a:r>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a:t>Click to edit Master text styles</a:t>
            </a:r>
          </a:p>
        </p:txBody>
      </p:sp>
      <p:sp>
        <p:nvSpPr>
          <p:cNvPr id="2" name="Date Placeholder 1"/>
          <p:cNvSpPr>
            <a:spLocks noGrp="1"/>
          </p:cNvSpPr>
          <p:nvPr>
            <p:ph type="dt" sz="half" idx="10"/>
          </p:nvPr>
        </p:nvSpPr>
        <p:spPr/>
        <p:txBody>
          <a:bodyPr/>
          <a:lstStyle/>
          <a:p>
            <a:fld id="{FBF54567-0DE4-3F47-BF90-CB84690072F9}" type="datetimeFigureOut">
              <a:rPr lang="en-US" dirty="0"/>
              <a:pPr/>
              <a:t>7/27/2024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6C52C72-DE31-F449-A4ED-4C594FD91407}" type="datetimeFigureOut">
              <a:rPr lang="en-US" dirty="0"/>
              <a:pPr/>
              <a:t>7/27/2024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D62726E-379B-B349-9EED-81ED093FA806}" type="datetimeFigureOut">
              <a:rPr lang="en-US" dirty="0"/>
              <a:pPr/>
              <a:t>7/27/2024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a:t>Click to edit Master title style</a:t>
            </a:r>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09B482E8-6E0E-1B4F-B1FD-C69DB9E858D9}" type="datetimeFigureOut">
              <a:rPr lang="en-US" dirty="0"/>
              <a:pPr/>
              <a:t>7/27/2024</a:t>
            </a:fld>
            <a:endParaRPr lang="en-US"/>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D57F1E4F-1CFF-5643-939E-217C01CDF565}" type="slidenum">
              <a:rPr lang="en-US" dirty="0"/>
              <a:pPr/>
              <a:t>‹#›</a:t>
            </a:fld>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3" r:id="rId9"/>
    <p:sldLayoutId id="2147483657" r:id="rId10"/>
    <p:sldLayoutId id="2147483666" r:id="rId11"/>
    <p:sldLayoutId id="2147483661" r:id="rId12"/>
    <p:sldLayoutId id="2147483658" r:id="rId13"/>
    <p:sldLayoutId id="2147483659" r:id="rId14"/>
  </p:sldLayoutIdLst>
  <p:hf sldNum="0" hdr="0" ftr="0" dt="0"/>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jpeg"/><Relationship Id="rId7" Type="http://schemas.openxmlformats.org/officeDocument/2006/relationships/diagramColors" Target="../diagrams/colors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189F9-FFD7-8F7B-5911-3F414BB34A13}"/>
              </a:ext>
            </a:extLst>
          </p:cNvPr>
          <p:cNvSpPr>
            <a:spLocks noGrp="1"/>
          </p:cNvSpPr>
          <p:nvPr>
            <p:ph type="ctrTitle"/>
          </p:nvPr>
        </p:nvSpPr>
        <p:spPr/>
        <p:txBody>
          <a:bodyPr/>
          <a:lstStyle/>
          <a:p>
            <a:r>
              <a:rPr lang="en-US" dirty="0"/>
              <a:t>AI FUNDAMENTALS</a:t>
            </a:r>
          </a:p>
        </p:txBody>
      </p:sp>
      <p:sp>
        <p:nvSpPr>
          <p:cNvPr id="3" name="Subtitle 2">
            <a:extLst>
              <a:ext uri="{FF2B5EF4-FFF2-40B4-BE49-F238E27FC236}">
                <a16:creationId xmlns:a16="http://schemas.microsoft.com/office/drawing/2014/main" id="{9468B62C-DA01-3A8A-38DA-398E7EB5E307}"/>
              </a:ext>
            </a:extLst>
          </p:cNvPr>
          <p:cNvSpPr>
            <a:spLocks noGrp="1"/>
          </p:cNvSpPr>
          <p:nvPr>
            <p:ph type="subTitle" idx="1"/>
          </p:nvPr>
        </p:nvSpPr>
        <p:spPr/>
        <p:txBody>
          <a:bodyPr/>
          <a:lstStyle/>
          <a:p>
            <a:r>
              <a:rPr lang="en-US" b="1" dirty="0"/>
              <a:t>Madison College</a:t>
            </a:r>
          </a:p>
        </p:txBody>
      </p:sp>
      <p:sp>
        <p:nvSpPr>
          <p:cNvPr id="5" name="Subtitle 2">
            <a:extLst>
              <a:ext uri="{FF2B5EF4-FFF2-40B4-BE49-F238E27FC236}">
                <a16:creationId xmlns:a16="http://schemas.microsoft.com/office/drawing/2014/main" id="{090AE86B-FABD-CA0B-1247-AE81F01FC885}"/>
              </a:ext>
            </a:extLst>
          </p:cNvPr>
          <p:cNvSpPr txBox="1">
            <a:spLocks/>
          </p:cNvSpPr>
          <p:nvPr/>
        </p:nvSpPr>
        <p:spPr>
          <a:xfrm>
            <a:off x="810001" y="5829756"/>
            <a:ext cx="10572000" cy="746714"/>
          </a:xfrm>
          <a:prstGeom prst="rect">
            <a:avLst/>
          </a:prstGeom>
          <a:effectLst>
            <a:outerShdw blurRad="50800" dir="14400000">
              <a:srgbClr val="000000">
                <a:alpha val="40000"/>
              </a:srgbClr>
            </a:outerShdw>
          </a:effectLst>
        </p:spPr>
        <p:txBody>
          <a:bodyPr vert="horz" lIns="91440" tIns="45720" rIns="91440" bIns="45720" rtlCol="0" anchor="t">
            <a:normAutofit lnSpcReduction="10000"/>
          </a:bodyPr>
          <a:lstStyle>
            <a:lvl1pPr marL="0" indent="0" algn="l" defTabSz="457200" rtl="0" eaLnBrk="1" latinLnBrk="0" hangingPunct="1">
              <a:spcBef>
                <a:spcPct val="20000"/>
              </a:spcBef>
              <a:spcAft>
                <a:spcPts val="600"/>
              </a:spcAft>
              <a:buClr>
                <a:schemeClr val="accent1"/>
              </a:buClr>
              <a:buFont typeface="Wingdings 2" charset="2"/>
              <a:buNone/>
              <a:defRPr sz="1800" kern="1200">
                <a:solidFill>
                  <a:schemeClr val="tx1"/>
                </a:solidFill>
                <a:latin typeface="+mn-lt"/>
                <a:ea typeface="+mn-ea"/>
                <a:cs typeface="+mn-cs"/>
              </a:defRPr>
            </a:lvl1pPr>
            <a:lvl2pPr marL="457200" indent="0" algn="ctr" defTabSz="457200" rtl="0" eaLnBrk="1" latinLnBrk="0" hangingPunct="1">
              <a:spcBef>
                <a:spcPct val="20000"/>
              </a:spcBef>
              <a:spcAft>
                <a:spcPts val="600"/>
              </a:spcAft>
              <a:buClr>
                <a:schemeClr val="accent1"/>
              </a:buClr>
              <a:buFont typeface="Wingdings 2"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9pPr>
          </a:lstStyle>
          <a:p>
            <a:r>
              <a:rPr lang="en-US" b="1" dirty="0"/>
              <a:t>Week 04</a:t>
            </a:r>
            <a:r>
              <a:rPr lang="en-US" dirty="0"/>
              <a:t> </a:t>
            </a:r>
          </a:p>
          <a:p>
            <a:r>
              <a:rPr lang="en-US" dirty="0">
                <a:solidFill>
                  <a:srgbClr val="FFFF00"/>
                </a:solidFill>
              </a:rPr>
              <a:t>Large Language Models (LLMs)</a:t>
            </a:r>
          </a:p>
        </p:txBody>
      </p:sp>
    </p:spTree>
    <p:extLst>
      <p:ext uri="{BB962C8B-B14F-4D97-AF65-F5344CB8AC3E}">
        <p14:creationId xmlns:p14="http://schemas.microsoft.com/office/powerpoint/2010/main" val="3716767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250"/>
                                  </p:stCondLst>
                                  <p:iterate type="lt">
                                    <p:tmPct val="10000"/>
                                  </p:iterate>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nodeType="withEffect">
                                  <p:stCondLst>
                                    <p:cond delay="250"/>
                                  </p:stCondLst>
                                  <p:iterate type="lt">
                                    <p:tmPct val="10000"/>
                                  </p:iterate>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Freeform 6">
            <a:extLst>
              <a:ext uri="{FF2B5EF4-FFF2-40B4-BE49-F238E27FC236}">
                <a16:creationId xmlns:a16="http://schemas.microsoft.com/office/drawing/2014/main" id="{DA9A1ACB-4ECA-4EAE-AEAB-CE9C8C01EE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6="http://schemas.microsoft.com/office/drawing/2014/main" xmlns:p14="http://schemas.microsoft.com/office/powerpoint/2010/main"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3F7D26C8-96ED-46E3-BD94-C1608C54C3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23">
            <a:extLst>
              <a:ext uri="{FF2B5EF4-FFF2-40B4-BE49-F238E27FC236}">
                <a16:creationId xmlns:a16="http://schemas.microsoft.com/office/drawing/2014/main" id="{13EEA0A9-F720-41ED-8EBA-2A10A664FD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59E7F0D-51D3-3F20-A3FE-B9C7BC8E5F06}"/>
              </a:ext>
            </a:extLst>
          </p:cNvPr>
          <p:cNvSpPr>
            <a:spLocks noGrp="1"/>
          </p:cNvSpPr>
          <p:nvPr>
            <p:ph type="title"/>
          </p:nvPr>
        </p:nvSpPr>
        <p:spPr>
          <a:xfrm>
            <a:off x="810001" y="447188"/>
            <a:ext cx="3413084" cy="1559412"/>
          </a:xfrm>
        </p:spPr>
        <p:txBody>
          <a:bodyPr vert="horz" lIns="91440" tIns="45720" rIns="91440" bIns="45720" rtlCol="0" anchor="b">
            <a:normAutofit/>
          </a:bodyPr>
          <a:lstStyle/>
          <a:p>
            <a:r>
              <a:rPr lang="en-US" sz="3200" dirty="0"/>
              <a:t>TOPICS</a:t>
            </a:r>
          </a:p>
        </p:txBody>
      </p:sp>
      <p:sp>
        <p:nvSpPr>
          <p:cNvPr id="4" name="Text Placeholder 3">
            <a:extLst>
              <a:ext uri="{FF2B5EF4-FFF2-40B4-BE49-F238E27FC236}">
                <a16:creationId xmlns:a16="http://schemas.microsoft.com/office/drawing/2014/main" id="{BFFA63A0-0298-70F0-F643-5B8F10E17C58}"/>
              </a:ext>
            </a:extLst>
          </p:cNvPr>
          <p:cNvSpPr>
            <a:spLocks noGrp="1"/>
          </p:cNvSpPr>
          <p:nvPr>
            <p:ph type="body" sz="half" idx="2"/>
          </p:nvPr>
        </p:nvSpPr>
        <p:spPr>
          <a:xfrm>
            <a:off x="818713" y="2413000"/>
            <a:ext cx="3404372" cy="3632200"/>
          </a:xfrm>
        </p:spPr>
        <p:txBody>
          <a:bodyPr vert="horz" lIns="91440" tIns="45720" rIns="91440" bIns="45720" rtlCol="0" anchor="ctr">
            <a:normAutofit/>
          </a:bodyPr>
          <a:lstStyle/>
          <a:p>
            <a:pPr marL="285750" indent="-285750">
              <a:buFont typeface="Arial" panose="020B0604020202020204" pitchFamily="34" charset="0"/>
              <a:buChar char="•"/>
            </a:pPr>
            <a:r>
              <a:rPr lang="en-US" dirty="0"/>
              <a:t>Introduction to Large Language Models (LLMs)</a:t>
            </a:r>
          </a:p>
          <a:p>
            <a:pPr marL="285750" indent="-285750">
              <a:buFont typeface="Arial" panose="020B0604020202020204" pitchFamily="34" charset="0"/>
              <a:buChar char="•"/>
            </a:pPr>
            <a:r>
              <a:rPr lang="en-US" dirty="0"/>
              <a:t>Architecture and Construction of LLMs</a:t>
            </a:r>
          </a:p>
          <a:p>
            <a:pPr marL="285750" indent="-285750">
              <a:buFont typeface="Arial" panose="020B0604020202020204" pitchFamily="34" charset="0"/>
              <a:buChar char="•"/>
            </a:pPr>
            <a:r>
              <a:rPr lang="en-US" dirty="0"/>
              <a:t>Functionalities of LLMs</a:t>
            </a:r>
          </a:p>
          <a:p>
            <a:pPr marL="285750" indent="-285750">
              <a:buFont typeface="Arial" panose="020B0604020202020204" pitchFamily="34" charset="0"/>
              <a:buChar char="•"/>
            </a:pPr>
            <a:r>
              <a:rPr lang="en-US" dirty="0"/>
              <a:t>Data Requirements for LLMs</a:t>
            </a:r>
          </a:p>
          <a:p>
            <a:pPr marL="285750" indent="-285750">
              <a:buFont typeface="Arial" panose="020B0604020202020204" pitchFamily="34" charset="0"/>
              <a:buChar char="•"/>
            </a:pPr>
            <a:r>
              <a:rPr lang="en-US" dirty="0"/>
              <a:t>Model Training Processes</a:t>
            </a:r>
          </a:p>
          <a:p>
            <a:pPr marL="285750" indent="-285750">
              <a:buFont typeface="Arial" panose="020B0604020202020204" pitchFamily="34" charset="0"/>
              <a:buChar char="•"/>
            </a:pPr>
            <a:r>
              <a:rPr lang="en-US" dirty="0"/>
              <a:t>Resources Needed for LLMs</a:t>
            </a:r>
          </a:p>
        </p:txBody>
      </p:sp>
      <p:sp>
        <p:nvSpPr>
          <p:cNvPr id="17" name="Rounded Rectangle 17">
            <a:extLst>
              <a:ext uri="{FF2B5EF4-FFF2-40B4-BE49-F238E27FC236}">
                <a16:creationId xmlns:a16="http://schemas.microsoft.com/office/drawing/2014/main" id="{03B27569-6089-4DC0-93E0-F3F6E1E93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78945" y="958640"/>
            <a:ext cx="6269591" cy="4945244"/>
          </a:xfrm>
          <a:prstGeom prst="roundRect">
            <a:avLst>
              <a:gd name="adj" fmla="val 3513"/>
            </a:avLst>
          </a:prstGeom>
          <a:solidFill>
            <a:schemeClr val="tx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a:extLst>
              <a:ext uri="{FF2B5EF4-FFF2-40B4-BE49-F238E27FC236}">
                <a16:creationId xmlns:a16="http://schemas.microsoft.com/office/drawing/2014/main" id="{C9D9D211-7099-D4B0-E2A3-9BF0B3E044AC}"/>
              </a:ext>
            </a:extLst>
          </p:cNvPr>
          <p:cNvPicPr>
            <a:picLocks noGrp="1" noChangeAspect="1"/>
          </p:cNvPicPr>
          <p:nvPr>
            <p:ph idx="1"/>
          </p:nvPr>
        </p:nvPicPr>
        <p:blipFill>
          <a:blip r:embed="rId3"/>
          <a:srcRect l="12794" r="12794"/>
          <a:stretch/>
        </p:blipFill>
        <p:spPr>
          <a:xfrm>
            <a:off x="5603706" y="1258529"/>
            <a:ext cx="5638853" cy="4330205"/>
          </a:xfrm>
          <a:prstGeom prst="rect">
            <a:avLst/>
          </a:prstGeom>
        </p:spPr>
      </p:pic>
    </p:spTree>
    <p:extLst>
      <p:ext uri="{BB962C8B-B14F-4D97-AF65-F5344CB8AC3E}">
        <p14:creationId xmlns:p14="http://schemas.microsoft.com/office/powerpoint/2010/main" val="1749137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416E3E5-5186-46A4-AFBD-337387D316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3" y="0"/>
            <a:ext cx="1218742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23">
            <a:extLst>
              <a:ext uri="{FF2B5EF4-FFF2-40B4-BE49-F238E27FC236}">
                <a16:creationId xmlns:a16="http://schemas.microsoft.com/office/drawing/2014/main" id="{7B8FAACC-353E-4F84-BA62-A5514185D9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flipH="1">
            <a:off x="7554995"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solidFill>
            <a:srgbClr val="212121"/>
          </a:solidFill>
          <a:ln>
            <a:noFill/>
            <a:headEnd/>
            <a:tailEnd/>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5" name="Title 4">
            <a:extLst>
              <a:ext uri="{FF2B5EF4-FFF2-40B4-BE49-F238E27FC236}">
                <a16:creationId xmlns:a16="http://schemas.microsoft.com/office/drawing/2014/main" id="{D975EEFD-B530-1DF3-BA62-A8CBEC627F26}"/>
              </a:ext>
            </a:extLst>
          </p:cNvPr>
          <p:cNvSpPr>
            <a:spLocks noGrp="1"/>
          </p:cNvSpPr>
          <p:nvPr>
            <p:ph type="title"/>
          </p:nvPr>
        </p:nvSpPr>
        <p:spPr>
          <a:xfrm>
            <a:off x="8164749" y="457201"/>
            <a:ext cx="3575737" cy="1332688"/>
          </a:xfrm>
        </p:spPr>
        <p:txBody>
          <a:bodyPr anchor="b">
            <a:normAutofit/>
          </a:bodyPr>
          <a:lstStyle/>
          <a:p>
            <a:pPr algn="ctr">
              <a:lnSpc>
                <a:spcPct val="90000"/>
              </a:lnSpc>
            </a:pPr>
            <a:r>
              <a:rPr lang="en-US" sz="3000">
                <a:solidFill>
                  <a:srgbClr val="FFFFFF"/>
                </a:solidFill>
              </a:rPr>
              <a:t>What are Large Language Models?</a:t>
            </a:r>
          </a:p>
        </p:txBody>
      </p:sp>
      <p:pic>
        <p:nvPicPr>
          <p:cNvPr id="10" name="Picture 9" descr="A computer generated image of a brain&#10;&#10;Description automatically generated">
            <a:extLst>
              <a:ext uri="{FF2B5EF4-FFF2-40B4-BE49-F238E27FC236}">
                <a16:creationId xmlns:a16="http://schemas.microsoft.com/office/drawing/2014/main" id="{5356818D-DFAB-DEAD-5C0C-2D1B0114D789}"/>
              </a:ext>
            </a:extLst>
          </p:cNvPr>
          <p:cNvPicPr>
            <a:picLocks noChangeAspect="1"/>
          </p:cNvPicPr>
          <p:nvPr/>
        </p:nvPicPr>
        <p:blipFill>
          <a:blip r:embed="rId3"/>
          <a:stretch>
            <a:fillRect/>
          </a:stretch>
        </p:blipFill>
        <p:spPr>
          <a:xfrm>
            <a:off x="978308" y="457201"/>
            <a:ext cx="5584161" cy="5584161"/>
          </a:xfrm>
          <a:prstGeom prst="roundRect">
            <a:avLst>
              <a:gd name="adj" fmla="val 3876"/>
            </a:avLst>
          </a:prstGeom>
          <a:ln>
            <a:solidFill>
              <a:schemeClr val="accent1"/>
            </a:solidFill>
          </a:ln>
          <a:effectLst/>
        </p:spPr>
      </p:pic>
      <p:sp>
        <p:nvSpPr>
          <p:cNvPr id="6" name="Content Placeholder 5">
            <a:extLst>
              <a:ext uri="{FF2B5EF4-FFF2-40B4-BE49-F238E27FC236}">
                <a16:creationId xmlns:a16="http://schemas.microsoft.com/office/drawing/2014/main" id="{FD007C6F-7BD9-22F5-19C0-091DCE42D645}"/>
              </a:ext>
            </a:extLst>
          </p:cNvPr>
          <p:cNvSpPr>
            <a:spLocks noGrp="1"/>
          </p:cNvSpPr>
          <p:nvPr>
            <p:ph idx="1"/>
          </p:nvPr>
        </p:nvSpPr>
        <p:spPr>
          <a:xfrm>
            <a:off x="8164749" y="2024743"/>
            <a:ext cx="3575737" cy="4016619"/>
          </a:xfrm>
        </p:spPr>
        <p:txBody>
          <a:bodyPr>
            <a:normAutofit/>
          </a:bodyPr>
          <a:lstStyle/>
          <a:p>
            <a:pPr>
              <a:buFont typeface="Arial" panose="020B0604020202020204" pitchFamily="34" charset="0"/>
              <a:buChar char="•"/>
            </a:pPr>
            <a:r>
              <a:rPr lang="en-US" sz="1600" dirty="0">
                <a:solidFill>
                  <a:srgbClr val="FFFFFF"/>
                </a:solidFill>
              </a:rPr>
              <a:t>Definition</a:t>
            </a:r>
          </a:p>
          <a:p>
            <a:pPr>
              <a:buFont typeface="Arial" panose="020B0604020202020204" pitchFamily="34" charset="0"/>
              <a:buChar char="•"/>
            </a:pPr>
            <a:r>
              <a:rPr lang="en-US" sz="1600" dirty="0">
                <a:solidFill>
                  <a:srgbClr val="FFFFFF"/>
                </a:solidFill>
              </a:rPr>
              <a:t>LLMs vs Traditional Models</a:t>
            </a:r>
          </a:p>
          <a:p>
            <a:pPr>
              <a:buFont typeface="Arial" panose="020B0604020202020204" pitchFamily="34" charset="0"/>
              <a:buChar char="•"/>
            </a:pPr>
            <a:r>
              <a:rPr lang="en-US" sz="1600" dirty="0">
                <a:solidFill>
                  <a:srgbClr val="FFFFFF"/>
                </a:solidFill>
              </a:rPr>
              <a:t>LLMs vs Generative Models</a:t>
            </a:r>
          </a:p>
        </p:txBody>
      </p:sp>
    </p:spTree>
    <p:extLst>
      <p:ext uri="{BB962C8B-B14F-4D97-AF65-F5344CB8AC3E}">
        <p14:creationId xmlns:p14="http://schemas.microsoft.com/office/powerpoint/2010/main" val="4224806057"/>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D0D45553-91A4-480A-9577-0E0FC0D919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3" y="0"/>
            <a:ext cx="12187427"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23">
            <a:extLst>
              <a:ext uri="{FF2B5EF4-FFF2-40B4-BE49-F238E27FC236}">
                <a16:creationId xmlns:a16="http://schemas.microsoft.com/office/drawing/2014/main" id="{D240F8A8-FEA1-42C2-B259-27A9351279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blipFill>
            <a:blip r:embed="rId3">
              <a:duotone>
                <a:schemeClr val="accent1">
                  <a:tint val="98000"/>
                  <a:lumMod val="102000"/>
                </a:schemeClr>
                <a:schemeClr val="accent1">
                  <a:shade val="98000"/>
                  <a:lumMod val="98000"/>
                </a:schemeClr>
              </a:duotone>
            </a:blip>
            <a:tile tx="0" ty="0" sx="100000" sy="100000" flip="none" algn="tl"/>
          </a:blipFill>
          <a:ln>
            <a:headEnd/>
            <a:tailEnd/>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2527088-87AB-5ECB-2498-07838CBABADE}"/>
              </a:ext>
            </a:extLst>
          </p:cNvPr>
          <p:cNvSpPr>
            <a:spLocks noGrp="1"/>
          </p:cNvSpPr>
          <p:nvPr>
            <p:ph type="title"/>
          </p:nvPr>
        </p:nvSpPr>
        <p:spPr>
          <a:xfrm>
            <a:off x="556591" y="1741714"/>
            <a:ext cx="3518452" cy="4117749"/>
          </a:xfrm>
        </p:spPr>
        <p:txBody>
          <a:bodyPr anchor="t">
            <a:normAutofit/>
          </a:bodyPr>
          <a:lstStyle/>
          <a:p>
            <a:r>
              <a:rPr lang="en-US" dirty="0"/>
              <a:t>Applications of LLMs in Daily Life</a:t>
            </a:r>
          </a:p>
        </p:txBody>
      </p:sp>
      <p:graphicFrame>
        <p:nvGraphicFramePr>
          <p:cNvPr id="22" name="Content Placeholder 2">
            <a:extLst>
              <a:ext uri="{FF2B5EF4-FFF2-40B4-BE49-F238E27FC236}">
                <a16:creationId xmlns:a16="http://schemas.microsoft.com/office/drawing/2014/main" id="{69EC481A-B45A-EB0F-19B9-D2CD8E689C36}"/>
              </a:ext>
            </a:extLst>
          </p:cNvPr>
          <p:cNvGraphicFramePr>
            <a:graphicFrameLocks noGrp="1"/>
          </p:cNvGraphicFramePr>
          <p:nvPr>
            <p:ph idx="1"/>
            <p:extLst>
              <p:ext uri="{D42A27DB-BD31-4B8C-83A1-F6EECF244321}">
                <p14:modId xmlns:p14="http://schemas.microsoft.com/office/powerpoint/2010/main" val="129798283"/>
              </p:ext>
            </p:extLst>
          </p:nvPr>
        </p:nvGraphicFramePr>
        <p:xfrm>
          <a:off x="5466523" y="1172818"/>
          <a:ext cx="5906328" cy="468664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970240755"/>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9A69AF-D57B-49B4-886C-D4A5DC1944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CABDC08D-6093-4397-92D4-54D00E2BB1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a:off x="-650724" y="650724"/>
            <a:ext cx="6858000" cy="5556552"/>
          </a:xfrm>
          <a:custGeom>
            <a:avLst/>
            <a:gdLst>
              <a:gd name="connsiteX0" fmla="*/ 6858000 w 6858000"/>
              <a:gd name="connsiteY0" fmla="*/ 3445704 h 5556552"/>
              <a:gd name="connsiteX1" fmla="*/ 3829242 w 6858000"/>
              <a:gd name="connsiteY1" fmla="*/ 5433322 h 5556552"/>
              <a:gd name="connsiteX2" fmla="*/ 3827369 w 6858000"/>
              <a:gd name="connsiteY2" fmla="*/ 5434867 h 5556552"/>
              <a:gd name="connsiteX3" fmla="*/ 3824583 w 6858000"/>
              <a:gd name="connsiteY3" fmla="*/ 5436378 h 5556552"/>
              <a:gd name="connsiteX4" fmla="*/ 3798693 w 6858000"/>
              <a:gd name="connsiteY4" fmla="*/ 5453370 h 5556552"/>
              <a:gd name="connsiteX5" fmla="*/ 3785011 w 6858000"/>
              <a:gd name="connsiteY5" fmla="*/ 5457858 h 5556552"/>
              <a:gd name="connsiteX6" fmla="*/ 3706339 w 6858000"/>
              <a:gd name="connsiteY6" fmla="*/ 5500559 h 5556552"/>
              <a:gd name="connsiteX7" fmla="*/ 3428998 w 6858000"/>
              <a:gd name="connsiteY7" fmla="*/ 5556552 h 5556552"/>
              <a:gd name="connsiteX8" fmla="*/ 3151658 w 6858000"/>
              <a:gd name="connsiteY8" fmla="*/ 5500559 h 5556552"/>
              <a:gd name="connsiteX9" fmla="*/ 3072996 w 6858000"/>
              <a:gd name="connsiteY9" fmla="*/ 5457863 h 5556552"/>
              <a:gd name="connsiteX10" fmla="*/ 3059298 w 6858000"/>
              <a:gd name="connsiteY10" fmla="*/ 5453370 h 5556552"/>
              <a:gd name="connsiteX11" fmla="*/ 3033383 w 6858000"/>
              <a:gd name="connsiteY11" fmla="*/ 5436362 h 5556552"/>
              <a:gd name="connsiteX12" fmla="*/ 3030627 w 6858000"/>
              <a:gd name="connsiteY12" fmla="*/ 5434867 h 5556552"/>
              <a:gd name="connsiteX13" fmla="*/ 3028775 w 6858000"/>
              <a:gd name="connsiteY13" fmla="*/ 5433338 h 5556552"/>
              <a:gd name="connsiteX14" fmla="*/ 0 w 6858000"/>
              <a:gd name="connsiteY14" fmla="*/ 3445704 h 5556552"/>
              <a:gd name="connsiteX15" fmla="*/ 6858000 w 6858000"/>
              <a:gd name="connsiteY15" fmla="*/ 0 h 5556552"/>
              <a:gd name="connsiteX16" fmla="*/ 6858000 w 6858000"/>
              <a:gd name="connsiteY16" fmla="*/ 349336 h 5556552"/>
              <a:gd name="connsiteX17" fmla="*/ 6858000 w 6858000"/>
              <a:gd name="connsiteY17" fmla="*/ 3445703 h 5556552"/>
              <a:gd name="connsiteX18" fmla="*/ 0 w 6858000"/>
              <a:gd name="connsiteY18" fmla="*/ 3445703 h 5556552"/>
              <a:gd name="connsiteX19" fmla="*/ 0 w 6858000"/>
              <a:gd name="connsiteY19" fmla="*/ 0 h 5556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858000" h="5556552">
                <a:moveTo>
                  <a:pt x="6858000" y="3445704"/>
                </a:moveTo>
                <a:lnTo>
                  <a:pt x="3829242" y="5433322"/>
                </a:lnTo>
                <a:lnTo>
                  <a:pt x="3827369" y="5434867"/>
                </a:lnTo>
                <a:lnTo>
                  <a:pt x="3824583" y="5436378"/>
                </a:lnTo>
                <a:lnTo>
                  <a:pt x="3798693" y="5453370"/>
                </a:lnTo>
                <a:lnTo>
                  <a:pt x="3785011" y="5457858"/>
                </a:lnTo>
                <a:lnTo>
                  <a:pt x="3706339" y="5500559"/>
                </a:lnTo>
                <a:cubicBezTo>
                  <a:pt x="3621096" y="5536614"/>
                  <a:pt x="3527375" y="5556552"/>
                  <a:pt x="3428998" y="5556552"/>
                </a:cubicBezTo>
                <a:cubicBezTo>
                  <a:pt x="3330621" y="5556552"/>
                  <a:pt x="3236901" y="5536614"/>
                  <a:pt x="3151658" y="5500559"/>
                </a:cubicBezTo>
                <a:lnTo>
                  <a:pt x="3072996" y="5457863"/>
                </a:lnTo>
                <a:lnTo>
                  <a:pt x="3059298" y="5453370"/>
                </a:lnTo>
                <a:lnTo>
                  <a:pt x="3033383" y="5436362"/>
                </a:lnTo>
                <a:lnTo>
                  <a:pt x="3030627" y="5434867"/>
                </a:lnTo>
                <a:lnTo>
                  <a:pt x="3028775" y="5433338"/>
                </a:lnTo>
                <a:lnTo>
                  <a:pt x="0" y="3445704"/>
                </a:lnTo>
                <a:close/>
                <a:moveTo>
                  <a:pt x="6858000" y="0"/>
                </a:moveTo>
                <a:lnTo>
                  <a:pt x="6858000" y="349336"/>
                </a:lnTo>
                <a:lnTo>
                  <a:pt x="6858000" y="3445703"/>
                </a:lnTo>
                <a:lnTo>
                  <a:pt x="0" y="3445703"/>
                </a:lnTo>
                <a:lnTo>
                  <a:pt x="0" y="0"/>
                </a:lnTo>
                <a:close/>
              </a:path>
            </a:pathLst>
          </a:custGeom>
          <a:ln>
            <a:noFill/>
          </a:ln>
          <a:effectLst/>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12527088-87AB-5ECB-2498-07838CBABADE}"/>
              </a:ext>
            </a:extLst>
          </p:cNvPr>
          <p:cNvSpPr>
            <a:spLocks noGrp="1"/>
          </p:cNvSpPr>
          <p:nvPr>
            <p:ph type="title"/>
          </p:nvPr>
        </p:nvSpPr>
        <p:spPr>
          <a:xfrm>
            <a:off x="451515" y="1734857"/>
            <a:ext cx="3765483" cy="3388287"/>
          </a:xfrm>
        </p:spPr>
        <p:txBody>
          <a:bodyPr anchor="ctr">
            <a:normAutofit/>
          </a:bodyPr>
          <a:lstStyle/>
          <a:p>
            <a:r>
              <a:rPr lang="en-US" dirty="0"/>
              <a:t>Some LLM’s</a:t>
            </a:r>
          </a:p>
        </p:txBody>
      </p:sp>
      <p:sp>
        <p:nvSpPr>
          <p:cNvPr id="3" name="Content Placeholder 2">
            <a:extLst>
              <a:ext uri="{FF2B5EF4-FFF2-40B4-BE49-F238E27FC236}">
                <a16:creationId xmlns:a16="http://schemas.microsoft.com/office/drawing/2014/main" id="{813F9270-A2A8-623E-CA9C-311C44E20192}"/>
              </a:ext>
            </a:extLst>
          </p:cNvPr>
          <p:cNvSpPr>
            <a:spLocks noGrp="1"/>
          </p:cNvSpPr>
          <p:nvPr>
            <p:ph idx="1"/>
          </p:nvPr>
        </p:nvSpPr>
        <p:spPr>
          <a:xfrm>
            <a:off x="6008068" y="978993"/>
            <a:ext cx="5365218" cy="4900014"/>
          </a:xfrm>
          <a:effectLst/>
        </p:spPr>
        <p:txBody>
          <a:bodyPr>
            <a:normAutofit/>
          </a:bodyPr>
          <a:lstStyle/>
          <a:p>
            <a:r>
              <a:rPr lang="en-US" sz="2000" dirty="0"/>
              <a:t>GPT-4o by OpenAI</a:t>
            </a:r>
          </a:p>
          <a:p>
            <a:r>
              <a:rPr lang="en-US" sz="2000" dirty="0"/>
              <a:t>BERT by Google</a:t>
            </a:r>
          </a:p>
          <a:p>
            <a:r>
              <a:rPr lang="en-US" sz="2000" dirty="0" err="1"/>
              <a:t>RoBERTa</a:t>
            </a:r>
            <a:r>
              <a:rPr lang="en-US" sz="2000" dirty="0"/>
              <a:t> by Meta</a:t>
            </a:r>
          </a:p>
          <a:p>
            <a:r>
              <a:rPr lang="en-US" sz="2000" dirty="0"/>
              <a:t>T5 by Google</a:t>
            </a:r>
          </a:p>
          <a:p>
            <a:r>
              <a:rPr lang="en-US" sz="2000" dirty="0"/>
              <a:t>BART by Meta</a:t>
            </a:r>
          </a:p>
          <a:p>
            <a:r>
              <a:rPr lang="en-US" sz="2000" dirty="0"/>
              <a:t>BLOOM by </a:t>
            </a:r>
            <a:r>
              <a:rPr lang="en-US" sz="2000" dirty="0" err="1"/>
              <a:t>BigScience</a:t>
            </a:r>
            <a:endParaRPr lang="en-US" sz="2000" dirty="0"/>
          </a:p>
          <a:p>
            <a:r>
              <a:rPr lang="en-US" sz="2000" dirty="0"/>
              <a:t>ERNIE by Baidu</a:t>
            </a:r>
          </a:p>
          <a:p>
            <a:r>
              <a:rPr lang="en-US" sz="2000" dirty="0" err="1"/>
              <a:t>DeBERTa</a:t>
            </a:r>
            <a:r>
              <a:rPr lang="en-US" sz="2000" dirty="0"/>
              <a:t> by Microsoft</a:t>
            </a:r>
          </a:p>
          <a:p>
            <a:r>
              <a:rPr lang="en-US" sz="2000" dirty="0"/>
              <a:t>ALBERT by Google</a:t>
            </a:r>
          </a:p>
          <a:p>
            <a:r>
              <a:rPr lang="en-US" sz="2000" dirty="0" err="1"/>
              <a:t>LLaMA</a:t>
            </a:r>
            <a:r>
              <a:rPr lang="en-US" sz="2000" dirty="0"/>
              <a:t> by Meta</a:t>
            </a:r>
          </a:p>
        </p:txBody>
      </p:sp>
    </p:spTree>
    <p:extLst>
      <p:ext uri="{BB962C8B-B14F-4D97-AF65-F5344CB8AC3E}">
        <p14:creationId xmlns:p14="http://schemas.microsoft.com/office/powerpoint/2010/main" val="2017654930"/>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F93A0-9389-ABBF-707E-AF6BC8FE178C}"/>
              </a:ext>
            </a:extLst>
          </p:cNvPr>
          <p:cNvSpPr>
            <a:spLocks noGrp="1"/>
          </p:cNvSpPr>
          <p:nvPr>
            <p:ph type="title"/>
          </p:nvPr>
        </p:nvSpPr>
        <p:spPr>
          <a:xfrm>
            <a:off x="810000" y="447188"/>
            <a:ext cx="10571998" cy="970450"/>
          </a:xfrm>
        </p:spPr>
        <p:txBody>
          <a:bodyPr>
            <a:normAutofit/>
          </a:bodyPr>
          <a:lstStyle/>
          <a:p>
            <a:r>
              <a:rPr lang="en-US" dirty="0"/>
              <a:t>GPT Series by OpenAI</a:t>
            </a:r>
          </a:p>
        </p:txBody>
      </p:sp>
      <p:sp>
        <p:nvSpPr>
          <p:cNvPr id="3" name="Content Placeholder 2">
            <a:extLst>
              <a:ext uri="{FF2B5EF4-FFF2-40B4-BE49-F238E27FC236}">
                <a16:creationId xmlns:a16="http://schemas.microsoft.com/office/drawing/2014/main" id="{525BF507-4A65-5C7E-7087-9E7F1EF9C5E6}"/>
              </a:ext>
            </a:extLst>
          </p:cNvPr>
          <p:cNvSpPr>
            <a:spLocks noGrp="1"/>
          </p:cNvSpPr>
          <p:nvPr>
            <p:ph idx="1"/>
          </p:nvPr>
        </p:nvSpPr>
        <p:spPr>
          <a:xfrm>
            <a:off x="818713" y="2413000"/>
            <a:ext cx="4283138" cy="3632200"/>
          </a:xfrm>
        </p:spPr>
        <p:txBody>
          <a:bodyPr>
            <a:normAutofit/>
          </a:bodyPr>
          <a:lstStyle/>
          <a:p>
            <a:r>
              <a:rPr lang="en-US" sz="1600" dirty="0"/>
              <a:t>Introduction to GPT series</a:t>
            </a:r>
          </a:p>
          <a:p>
            <a:r>
              <a:rPr lang="en-US" sz="1600" b="1" u="sng" dirty="0">
                <a:solidFill>
                  <a:schemeClr val="accent6"/>
                </a:solidFill>
              </a:rPr>
              <a:t>G</a:t>
            </a:r>
            <a:r>
              <a:rPr lang="en-US" sz="1600" dirty="0"/>
              <a:t>enerated </a:t>
            </a:r>
            <a:r>
              <a:rPr lang="en-US" sz="1600" b="1" u="sng" dirty="0">
                <a:solidFill>
                  <a:schemeClr val="accent6"/>
                </a:solidFill>
              </a:rPr>
              <a:t>P</a:t>
            </a:r>
            <a:r>
              <a:rPr lang="en-US" sz="1600" dirty="0"/>
              <a:t>re-trained </a:t>
            </a:r>
            <a:r>
              <a:rPr lang="en-US" sz="1600" b="1" u="sng" dirty="0">
                <a:solidFill>
                  <a:schemeClr val="accent6"/>
                </a:solidFill>
              </a:rPr>
              <a:t>T</a:t>
            </a:r>
            <a:r>
              <a:rPr lang="en-US" sz="1600" dirty="0"/>
              <a:t>ransformer</a:t>
            </a:r>
          </a:p>
          <a:p>
            <a:r>
              <a:rPr lang="en-US" sz="1600" dirty="0"/>
              <a:t>Emphasis on GPT-4o</a:t>
            </a:r>
          </a:p>
          <a:p>
            <a:r>
              <a:rPr lang="en-US" sz="1600" dirty="0"/>
              <a:t>Developed by OpenAI</a:t>
            </a:r>
          </a:p>
        </p:txBody>
      </p:sp>
      <p:pic>
        <p:nvPicPr>
          <p:cNvPr id="5" name="Picture 4" descr="A fireworks in the sky&#10;&#10;Description automatically generated">
            <a:extLst>
              <a:ext uri="{FF2B5EF4-FFF2-40B4-BE49-F238E27FC236}">
                <a16:creationId xmlns:a16="http://schemas.microsoft.com/office/drawing/2014/main" id="{F73D4B00-003F-5AAE-9E76-992F173E2D55}"/>
              </a:ext>
            </a:extLst>
          </p:cNvPr>
          <p:cNvPicPr>
            <a:picLocks noChangeAspect="1"/>
          </p:cNvPicPr>
          <p:nvPr/>
        </p:nvPicPr>
        <p:blipFill>
          <a:blip r:embed="rId3"/>
          <a:stretch>
            <a:fillRect/>
          </a:stretch>
        </p:blipFill>
        <p:spPr>
          <a:xfrm>
            <a:off x="5101851" y="2474278"/>
            <a:ext cx="6277349" cy="3593782"/>
          </a:xfrm>
          <a:prstGeom prst="roundRect">
            <a:avLst>
              <a:gd name="adj" fmla="val 3876"/>
            </a:avLst>
          </a:prstGeom>
          <a:ln>
            <a:solidFill>
              <a:schemeClr val="accent1"/>
            </a:solidFill>
          </a:ln>
          <a:effectLst/>
        </p:spPr>
      </p:pic>
    </p:spTree>
    <p:extLst>
      <p:ext uri="{BB962C8B-B14F-4D97-AF65-F5344CB8AC3E}">
        <p14:creationId xmlns:p14="http://schemas.microsoft.com/office/powerpoint/2010/main" val="17931327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F93A0-9389-ABBF-707E-AF6BC8FE178C}"/>
              </a:ext>
            </a:extLst>
          </p:cNvPr>
          <p:cNvSpPr>
            <a:spLocks noGrp="1"/>
          </p:cNvSpPr>
          <p:nvPr>
            <p:ph type="title"/>
          </p:nvPr>
        </p:nvSpPr>
        <p:spPr>
          <a:xfrm>
            <a:off x="810000" y="447188"/>
            <a:ext cx="5359921" cy="970450"/>
          </a:xfrm>
        </p:spPr>
        <p:txBody>
          <a:bodyPr>
            <a:normAutofit/>
          </a:bodyPr>
          <a:lstStyle/>
          <a:p>
            <a:r>
              <a:rPr lang="en-US" dirty="0" err="1"/>
              <a:t>LLaMA</a:t>
            </a:r>
            <a:r>
              <a:rPr lang="en-US" dirty="0"/>
              <a:t> by Meta</a:t>
            </a:r>
          </a:p>
        </p:txBody>
      </p:sp>
      <p:sp>
        <p:nvSpPr>
          <p:cNvPr id="3" name="Content Placeholder 2">
            <a:extLst>
              <a:ext uri="{FF2B5EF4-FFF2-40B4-BE49-F238E27FC236}">
                <a16:creationId xmlns:a16="http://schemas.microsoft.com/office/drawing/2014/main" id="{525BF507-4A65-5C7E-7087-9E7F1EF9C5E6}"/>
              </a:ext>
            </a:extLst>
          </p:cNvPr>
          <p:cNvSpPr>
            <a:spLocks noGrp="1"/>
          </p:cNvSpPr>
          <p:nvPr>
            <p:ph idx="1"/>
          </p:nvPr>
        </p:nvSpPr>
        <p:spPr>
          <a:xfrm>
            <a:off x="818712" y="2222287"/>
            <a:ext cx="5351209" cy="3636511"/>
          </a:xfrm>
        </p:spPr>
        <p:txBody>
          <a:bodyPr>
            <a:normAutofit/>
          </a:bodyPr>
          <a:lstStyle/>
          <a:p>
            <a:r>
              <a:rPr lang="en-US" dirty="0"/>
              <a:t>Developed by Meta</a:t>
            </a:r>
          </a:p>
          <a:p>
            <a:r>
              <a:rPr lang="en-US" dirty="0"/>
              <a:t>Versatility in language tasks</a:t>
            </a:r>
          </a:p>
          <a:p>
            <a:r>
              <a:rPr lang="en-US" dirty="0"/>
              <a:t>Used in commercial and academic sectors</a:t>
            </a:r>
          </a:p>
        </p:txBody>
      </p:sp>
      <p:sp>
        <p:nvSpPr>
          <p:cNvPr id="10" name="Rectangle 9">
            <a:extLst>
              <a:ext uri="{FF2B5EF4-FFF2-40B4-BE49-F238E27FC236}">
                <a16:creationId xmlns:a16="http://schemas.microsoft.com/office/drawing/2014/main" id="{1C524A27-B6C0-41EA-ABCB-AA2E61FC0F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75898" y="0"/>
            <a:ext cx="571305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7">
            <a:extLst>
              <a:ext uri="{FF2B5EF4-FFF2-40B4-BE49-F238E27FC236}">
                <a16:creationId xmlns:a16="http://schemas.microsoft.com/office/drawing/2014/main" id="{F3FCE8DC-E7A6-4A8F-BB57-A87EC4B84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28932" y="958640"/>
            <a:ext cx="4419604" cy="4945244"/>
          </a:xfrm>
          <a:prstGeom prst="roundRect">
            <a:avLst>
              <a:gd name="adj" fmla="val 3513"/>
            </a:avLst>
          </a:prstGeom>
          <a:solidFill>
            <a:schemeClr val="tx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F73D4B00-003F-5AAE-9E76-992F173E2D55}"/>
              </a:ext>
            </a:extLst>
          </p:cNvPr>
          <p:cNvPicPr>
            <a:picLocks noChangeAspect="1"/>
          </p:cNvPicPr>
          <p:nvPr/>
        </p:nvPicPr>
        <p:blipFill rotWithShape="1">
          <a:blip r:embed="rId3"/>
          <a:srcRect l="5582" r="5926" b="5"/>
          <a:stretch/>
        </p:blipFill>
        <p:spPr>
          <a:xfrm>
            <a:off x="7410517" y="1258529"/>
            <a:ext cx="3832042" cy="4330205"/>
          </a:xfrm>
          <a:prstGeom prst="rect">
            <a:avLst/>
          </a:prstGeom>
        </p:spPr>
      </p:pic>
    </p:spTree>
    <p:extLst>
      <p:ext uri="{BB962C8B-B14F-4D97-AF65-F5344CB8AC3E}">
        <p14:creationId xmlns:p14="http://schemas.microsoft.com/office/powerpoint/2010/main" val="4606920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Picture 4" descr="A planet earth surrounded by symbols&#10;&#10;Description automatically generated">
            <a:extLst>
              <a:ext uri="{FF2B5EF4-FFF2-40B4-BE49-F238E27FC236}">
                <a16:creationId xmlns:a16="http://schemas.microsoft.com/office/drawing/2014/main" id="{F73D4B00-003F-5AAE-9E76-992F173E2D55}"/>
              </a:ext>
            </a:extLst>
          </p:cNvPr>
          <p:cNvPicPr>
            <a:picLocks noChangeAspect="1"/>
          </p:cNvPicPr>
          <p:nvPr/>
        </p:nvPicPr>
        <p:blipFill rotWithShape="1">
          <a:blip r:embed="rId3"/>
          <a:srcRect t="23464" r="9091" b="25400"/>
          <a:stretch/>
        </p:blipFill>
        <p:spPr>
          <a:xfrm>
            <a:off x="20" y="10"/>
            <a:ext cx="12191980" cy="6857989"/>
          </a:xfrm>
          <a:prstGeom prst="rect">
            <a:avLst/>
          </a:prstGeom>
        </p:spPr>
      </p:pic>
      <p:sp>
        <p:nvSpPr>
          <p:cNvPr id="18" name="Freeform 9">
            <a:extLst>
              <a:ext uri="{FF2B5EF4-FFF2-40B4-BE49-F238E27FC236}">
                <a16:creationId xmlns:a16="http://schemas.microsoft.com/office/drawing/2014/main" id="{72319FFA-0E4F-4E0B-BEBA-A9DD4B41A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6485467" cy="6858000"/>
          </a:xfrm>
          <a:custGeom>
            <a:avLst/>
            <a:gdLst>
              <a:gd name="connsiteX0" fmla="*/ 0 w 6485467"/>
              <a:gd name="connsiteY0" fmla="*/ 0 h 6858000"/>
              <a:gd name="connsiteX1" fmla="*/ 6485467 w 6485467"/>
              <a:gd name="connsiteY1" fmla="*/ 0 h 6858000"/>
              <a:gd name="connsiteX2" fmla="*/ 6485467 w 6485467"/>
              <a:gd name="connsiteY2" fmla="*/ 1900238 h 6858000"/>
              <a:gd name="connsiteX3" fmla="*/ 6115051 w 6485467"/>
              <a:gd name="connsiteY3" fmla="*/ 2178050 h 6858000"/>
              <a:gd name="connsiteX4" fmla="*/ 6110817 w 6485467"/>
              <a:gd name="connsiteY4" fmla="*/ 2184400 h 6858000"/>
              <a:gd name="connsiteX5" fmla="*/ 6104467 w 6485467"/>
              <a:gd name="connsiteY5" fmla="*/ 2193925 h 6858000"/>
              <a:gd name="connsiteX6" fmla="*/ 6098117 w 6485467"/>
              <a:gd name="connsiteY6" fmla="*/ 2201863 h 6858000"/>
              <a:gd name="connsiteX7" fmla="*/ 6098117 w 6485467"/>
              <a:gd name="connsiteY7" fmla="*/ 2211388 h 6858000"/>
              <a:gd name="connsiteX8" fmla="*/ 6098117 w 6485467"/>
              <a:gd name="connsiteY8" fmla="*/ 2220913 h 6858000"/>
              <a:gd name="connsiteX9" fmla="*/ 6104467 w 6485467"/>
              <a:gd name="connsiteY9" fmla="*/ 2228850 h 6858000"/>
              <a:gd name="connsiteX10" fmla="*/ 6110817 w 6485467"/>
              <a:gd name="connsiteY10" fmla="*/ 2238375 h 6858000"/>
              <a:gd name="connsiteX11" fmla="*/ 6115051 w 6485467"/>
              <a:gd name="connsiteY11" fmla="*/ 2244725 h 6858000"/>
              <a:gd name="connsiteX12" fmla="*/ 6485467 w 6485467"/>
              <a:gd name="connsiteY12" fmla="*/ 2522538 h 6858000"/>
              <a:gd name="connsiteX13" fmla="*/ 6485467 w 6485467"/>
              <a:gd name="connsiteY13" fmla="*/ 6858000 h 6858000"/>
              <a:gd name="connsiteX14" fmla="*/ 0 w 6485467"/>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85467" h="6858000">
                <a:moveTo>
                  <a:pt x="0" y="0"/>
                </a:moveTo>
                <a:lnTo>
                  <a:pt x="6485467" y="0"/>
                </a:lnTo>
                <a:lnTo>
                  <a:pt x="6485467" y="1900238"/>
                </a:lnTo>
                <a:lnTo>
                  <a:pt x="6115051" y="2178050"/>
                </a:lnTo>
                <a:lnTo>
                  <a:pt x="6110817" y="2184400"/>
                </a:lnTo>
                <a:lnTo>
                  <a:pt x="6104467" y="2193925"/>
                </a:lnTo>
                <a:lnTo>
                  <a:pt x="6098117" y="2201863"/>
                </a:lnTo>
                <a:lnTo>
                  <a:pt x="6098117" y="2211388"/>
                </a:lnTo>
                <a:lnTo>
                  <a:pt x="6098117" y="2220913"/>
                </a:lnTo>
                <a:lnTo>
                  <a:pt x="6104467" y="2228850"/>
                </a:lnTo>
                <a:lnTo>
                  <a:pt x="6110817" y="2238375"/>
                </a:lnTo>
                <a:lnTo>
                  <a:pt x="6115051" y="2244725"/>
                </a:lnTo>
                <a:lnTo>
                  <a:pt x="6485467" y="2522538"/>
                </a:lnTo>
                <a:lnTo>
                  <a:pt x="6485467" y="6858000"/>
                </a:lnTo>
                <a:lnTo>
                  <a:pt x="0" y="6858000"/>
                </a:lnTo>
                <a:close/>
              </a:path>
            </a:pathLst>
          </a:custGeom>
          <a:solidFill>
            <a:schemeClr val="bg1">
              <a:lumMod val="85000"/>
              <a:lumOff val="15000"/>
              <a:alpha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DF93A0-9389-ABBF-707E-AF6BC8FE178C}"/>
              </a:ext>
            </a:extLst>
          </p:cNvPr>
          <p:cNvSpPr>
            <a:spLocks noGrp="1"/>
          </p:cNvSpPr>
          <p:nvPr>
            <p:ph type="title"/>
          </p:nvPr>
        </p:nvSpPr>
        <p:spPr>
          <a:xfrm>
            <a:off x="810000" y="447188"/>
            <a:ext cx="4930400" cy="1559412"/>
          </a:xfrm>
        </p:spPr>
        <p:txBody>
          <a:bodyPr>
            <a:normAutofit/>
          </a:bodyPr>
          <a:lstStyle/>
          <a:p>
            <a:r>
              <a:rPr lang="en-US" dirty="0"/>
              <a:t>BLOOM by Hugging Face</a:t>
            </a:r>
          </a:p>
        </p:txBody>
      </p:sp>
      <p:sp>
        <p:nvSpPr>
          <p:cNvPr id="3" name="Content Placeholder 2">
            <a:extLst>
              <a:ext uri="{FF2B5EF4-FFF2-40B4-BE49-F238E27FC236}">
                <a16:creationId xmlns:a16="http://schemas.microsoft.com/office/drawing/2014/main" id="{525BF507-4A65-5C7E-7087-9E7F1EF9C5E6}"/>
              </a:ext>
            </a:extLst>
          </p:cNvPr>
          <p:cNvSpPr>
            <a:spLocks noGrp="1"/>
          </p:cNvSpPr>
          <p:nvPr>
            <p:ph idx="1"/>
          </p:nvPr>
        </p:nvSpPr>
        <p:spPr>
          <a:xfrm>
            <a:off x="818712" y="2413000"/>
            <a:ext cx="4921687" cy="3632200"/>
          </a:xfrm>
        </p:spPr>
        <p:txBody>
          <a:bodyPr>
            <a:normAutofit/>
          </a:bodyPr>
          <a:lstStyle/>
          <a:p>
            <a:r>
              <a:rPr lang="en-US" dirty="0"/>
              <a:t>By Hugging Face</a:t>
            </a:r>
          </a:p>
          <a:p>
            <a:r>
              <a:rPr lang="en-US" dirty="0"/>
              <a:t>Multilingual capabilities</a:t>
            </a:r>
          </a:p>
          <a:p>
            <a:r>
              <a:rPr lang="en-US" dirty="0"/>
              <a:t>Open-source and accessible</a:t>
            </a:r>
          </a:p>
        </p:txBody>
      </p:sp>
    </p:spTree>
    <p:extLst>
      <p:ext uri="{BB962C8B-B14F-4D97-AF65-F5344CB8AC3E}">
        <p14:creationId xmlns:p14="http://schemas.microsoft.com/office/powerpoint/2010/main" val="19675605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940F547-7206-4401-94FB-F8421915D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computer generated image of a structure&#10;&#10;Description automatically generated with medium confidence">
            <a:extLst>
              <a:ext uri="{FF2B5EF4-FFF2-40B4-BE49-F238E27FC236}">
                <a16:creationId xmlns:a16="http://schemas.microsoft.com/office/drawing/2014/main" id="{A052A0CE-3271-2C79-28BE-5177E2AF3236}"/>
              </a:ext>
            </a:extLst>
          </p:cNvPr>
          <p:cNvPicPr>
            <a:picLocks noChangeAspect="1"/>
          </p:cNvPicPr>
          <p:nvPr/>
        </p:nvPicPr>
        <p:blipFill rotWithShape="1">
          <a:blip r:embed="rId3">
            <a:alphaModFix amt="40000"/>
          </a:blip>
          <a:srcRect t="18303" b="25448"/>
          <a:stretch/>
        </p:blipFill>
        <p:spPr>
          <a:xfrm>
            <a:off x="20" y="10"/>
            <a:ext cx="12191980" cy="6857990"/>
          </a:xfrm>
          <a:prstGeom prst="rect">
            <a:avLst/>
          </a:prstGeom>
        </p:spPr>
      </p:pic>
      <p:sp>
        <p:nvSpPr>
          <p:cNvPr id="2" name="Title 1">
            <a:extLst>
              <a:ext uri="{FF2B5EF4-FFF2-40B4-BE49-F238E27FC236}">
                <a16:creationId xmlns:a16="http://schemas.microsoft.com/office/drawing/2014/main" id="{AF2C943C-47B3-E88D-2C1C-C54BB6E7BCCE}"/>
              </a:ext>
            </a:extLst>
          </p:cNvPr>
          <p:cNvSpPr>
            <a:spLocks noGrp="1"/>
          </p:cNvSpPr>
          <p:nvPr>
            <p:ph type="title"/>
          </p:nvPr>
        </p:nvSpPr>
        <p:spPr>
          <a:xfrm>
            <a:off x="810000" y="447188"/>
            <a:ext cx="10571998" cy="970450"/>
          </a:xfrm>
        </p:spPr>
        <p:txBody>
          <a:bodyPr>
            <a:normAutofit/>
          </a:bodyPr>
          <a:lstStyle/>
          <a:p>
            <a:r>
              <a:rPr lang="en-US" dirty="0"/>
              <a:t>Transformer Architecture</a:t>
            </a:r>
          </a:p>
        </p:txBody>
      </p:sp>
      <p:sp>
        <p:nvSpPr>
          <p:cNvPr id="3" name="Content Placeholder 2">
            <a:extLst>
              <a:ext uri="{FF2B5EF4-FFF2-40B4-BE49-F238E27FC236}">
                <a16:creationId xmlns:a16="http://schemas.microsoft.com/office/drawing/2014/main" id="{4B1110D3-EAE3-1617-5109-281EDAEFEF7B}"/>
              </a:ext>
            </a:extLst>
          </p:cNvPr>
          <p:cNvSpPr>
            <a:spLocks noGrp="1"/>
          </p:cNvSpPr>
          <p:nvPr>
            <p:ph idx="1"/>
          </p:nvPr>
        </p:nvSpPr>
        <p:spPr>
          <a:xfrm>
            <a:off x="818712" y="2222287"/>
            <a:ext cx="10554574" cy="3636511"/>
          </a:xfrm>
        </p:spPr>
        <p:txBody>
          <a:bodyPr>
            <a:normAutofit/>
          </a:bodyPr>
          <a:lstStyle/>
          <a:p>
            <a:r>
              <a:rPr lang="en-US" dirty="0"/>
              <a:t>Where did transformers originate?</a:t>
            </a:r>
          </a:p>
          <a:p>
            <a:r>
              <a:rPr lang="en-US" dirty="0"/>
              <a:t>Understanding Transformer Architecture</a:t>
            </a:r>
          </a:p>
          <a:p>
            <a:r>
              <a:rPr lang="en-US" dirty="0"/>
              <a:t>Importance of Transformers</a:t>
            </a:r>
          </a:p>
        </p:txBody>
      </p:sp>
    </p:spTree>
    <p:extLst>
      <p:ext uri="{BB962C8B-B14F-4D97-AF65-F5344CB8AC3E}">
        <p14:creationId xmlns:p14="http://schemas.microsoft.com/office/powerpoint/2010/main" val="32273565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416E3E5-5186-46A4-AFBD-337387D316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3" y="0"/>
            <a:ext cx="1218742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23">
            <a:extLst>
              <a:ext uri="{FF2B5EF4-FFF2-40B4-BE49-F238E27FC236}">
                <a16:creationId xmlns:a16="http://schemas.microsoft.com/office/drawing/2014/main" id="{7B8FAACC-353E-4F84-BA62-A5514185D9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flipH="1">
            <a:off x="7554995"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solidFill>
            <a:srgbClr val="212121"/>
          </a:solidFill>
          <a:ln>
            <a:noFill/>
            <a:headEnd/>
            <a:tailEnd/>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08032AC-AB1A-732B-20D0-09021287C478}"/>
              </a:ext>
            </a:extLst>
          </p:cNvPr>
          <p:cNvSpPr>
            <a:spLocks noGrp="1"/>
          </p:cNvSpPr>
          <p:nvPr>
            <p:ph type="title"/>
          </p:nvPr>
        </p:nvSpPr>
        <p:spPr>
          <a:xfrm>
            <a:off x="8164749" y="457201"/>
            <a:ext cx="3575737" cy="1332688"/>
          </a:xfrm>
        </p:spPr>
        <p:txBody>
          <a:bodyPr anchor="b">
            <a:normAutofit/>
          </a:bodyPr>
          <a:lstStyle/>
          <a:p>
            <a:pPr algn="ctr"/>
            <a:r>
              <a:rPr lang="en-US" sz="3200" dirty="0">
                <a:solidFill>
                  <a:srgbClr val="FFFFFF"/>
                </a:solidFill>
              </a:rPr>
              <a:t>Attention Mechanisms</a:t>
            </a:r>
          </a:p>
        </p:txBody>
      </p:sp>
      <p:pic>
        <p:nvPicPr>
          <p:cNvPr id="5" name="Picture 4" descr="A circular structure with many colored circles and text&#10;&#10;Description automatically generated with medium confidence">
            <a:extLst>
              <a:ext uri="{FF2B5EF4-FFF2-40B4-BE49-F238E27FC236}">
                <a16:creationId xmlns:a16="http://schemas.microsoft.com/office/drawing/2014/main" id="{E05EBA7E-C954-CD5C-5509-50457CE73065}"/>
              </a:ext>
            </a:extLst>
          </p:cNvPr>
          <p:cNvPicPr>
            <a:picLocks noChangeAspect="1"/>
          </p:cNvPicPr>
          <p:nvPr/>
        </p:nvPicPr>
        <p:blipFill>
          <a:blip r:embed="rId3"/>
          <a:stretch>
            <a:fillRect/>
          </a:stretch>
        </p:blipFill>
        <p:spPr>
          <a:xfrm>
            <a:off x="978308" y="457201"/>
            <a:ext cx="5584161" cy="5584161"/>
          </a:xfrm>
          <a:prstGeom prst="roundRect">
            <a:avLst>
              <a:gd name="adj" fmla="val 3876"/>
            </a:avLst>
          </a:prstGeom>
          <a:ln>
            <a:solidFill>
              <a:schemeClr val="accent1"/>
            </a:solidFill>
          </a:ln>
          <a:effectLst/>
        </p:spPr>
      </p:pic>
      <p:sp>
        <p:nvSpPr>
          <p:cNvPr id="3" name="Content Placeholder 2">
            <a:extLst>
              <a:ext uri="{FF2B5EF4-FFF2-40B4-BE49-F238E27FC236}">
                <a16:creationId xmlns:a16="http://schemas.microsoft.com/office/drawing/2014/main" id="{CC60DE5F-58C8-0B82-AFC4-E158B705E0AC}"/>
              </a:ext>
            </a:extLst>
          </p:cNvPr>
          <p:cNvSpPr>
            <a:spLocks noGrp="1"/>
          </p:cNvSpPr>
          <p:nvPr>
            <p:ph idx="1"/>
          </p:nvPr>
        </p:nvSpPr>
        <p:spPr>
          <a:xfrm>
            <a:off x="8164749" y="2024743"/>
            <a:ext cx="3575737" cy="4016619"/>
          </a:xfrm>
        </p:spPr>
        <p:txBody>
          <a:bodyPr>
            <a:normAutofit/>
          </a:bodyPr>
          <a:lstStyle/>
          <a:p>
            <a:r>
              <a:rPr lang="en-US" sz="1600">
                <a:solidFill>
                  <a:srgbClr val="FFFFFF"/>
                </a:solidFill>
              </a:rPr>
              <a:t>Cornerstone</a:t>
            </a:r>
            <a:r>
              <a:rPr lang="en-US" sz="1600" dirty="0">
                <a:solidFill>
                  <a:srgbClr val="FFFFFF"/>
                </a:solidFill>
              </a:rPr>
              <a:t> of LLM processing</a:t>
            </a:r>
          </a:p>
          <a:p>
            <a:r>
              <a:rPr lang="en-US" sz="1600" dirty="0">
                <a:solidFill>
                  <a:srgbClr val="FFFFFF"/>
                </a:solidFill>
              </a:rPr>
              <a:t>Facilitates context understanding</a:t>
            </a:r>
          </a:p>
          <a:p>
            <a:r>
              <a:rPr lang="en-US" sz="1600" dirty="0">
                <a:solidFill>
                  <a:srgbClr val="FFFFFF"/>
                </a:solidFill>
              </a:rPr>
              <a:t>Enhances text relevance</a:t>
            </a:r>
          </a:p>
        </p:txBody>
      </p:sp>
    </p:spTree>
    <p:extLst>
      <p:ext uri="{BB962C8B-B14F-4D97-AF65-F5344CB8AC3E}">
        <p14:creationId xmlns:p14="http://schemas.microsoft.com/office/powerpoint/2010/main" val="3088330061"/>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416E3E5-5186-46A4-AFBD-337387D316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3" y="0"/>
            <a:ext cx="1218742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23">
            <a:extLst>
              <a:ext uri="{FF2B5EF4-FFF2-40B4-BE49-F238E27FC236}">
                <a16:creationId xmlns:a16="http://schemas.microsoft.com/office/drawing/2014/main" id="{7B8FAACC-353E-4F84-BA62-A5514185D9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flipH="1">
            <a:off x="7554995"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solidFill>
            <a:srgbClr val="212121"/>
          </a:solidFill>
          <a:ln>
            <a:noFill/>
            <a:headEnd/>
            <a:tailEnd/>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8E82D68-0F4F-5AC1-2460-561E9D6C29BC}"/>
              </a:ext>
            </a:extLst>
          </p:cNvPr>
          <p:cNvSpPr>
            <a:spLocks noGrp="1"/>
          </p:cNvSpPr>
          <p:nvPr>
            <p:ph type="title"/>
          </p:nvPr>
        </p:nvSpPr>
        <p:spPr>
          <a:xfrm>
            <a:off x="8164749" y="457201"/>
            <a:ext cx="3575737" cy="1332688"/>
          </a:xfrm>
        </p:spPr>
        <p:txBody>
          <a:bodyPr anchor="b">
            <a:normAutofit/>
          </a:bodyPr>
          <a:lstStyle/>
          <a:p>
            <a:pPr algn="ctr">
              <a:lnSpc>
                <a:spcPct val="90000"/>
              </a:lnSpc>
            </a:pPr>
            <a:r>
              <a:rPr lang="en-US" sz="3000">
                <a:solidFill>
                  <a:srgbClr val="FFFFFF"/>
                </a:solidFill>
              </a:rPr>
              <a:t>ILLUSTRATING ATTENTION MECHANISMS</a:t>
            </a:r>
          </a:p>
        </p:txBody>
      </p:sp>
      <p:pic>
        <p:nvPicPr>
          <p:cNvPr id="5" name="Picture 4" descr="A person standing in front of a group of people in a computer lab&#10;&#10;Description automatically generated">
            <a:extLst>
              <a:ext uri="{FF2B5EF4-FFF2-40B4-BE49-F238E27FC236}">
                <a16:creationId xmlns:a16="http://schemas.microsoft.com/office/drawing/2014/main" id="{C3FE6A00-30CE-0801-39C5-95D604D63022}"/>
              </a:ext>
            </a:extLst>
          </p:cNvPr>
          <p:cNvPicPr>
            <a:picLocks noChangeAspect="1"/>
          </p:cNvPicPr>
          <p:nvPr/>
        </p:nvPicPr>
        <p:blipFill>
          <a:blip r:embed="rId3"/>
          <a:stretch>
            <a:fillRect/>
          </a:stretch>
        </p:blipFill>
        <p:spPr>
          <a:xfrm>
            <a:off x="978308" y="457201"/>
            <a:ext cx="5584161" cy="5584161"/>
          </a:xfrm>
          <a:prstGeom prst="roundRect">
            <a:avLst>
              <a:gd name="adj" fmla="val 3876"/>
            </a:avLst>
          </a:prstGeom>
          <a:ln>
            <a:solidFill>
              <a:schemeClr val="accent1"/>
            </a:solidFill>
          </a:ln>
          <a:effectLst/>
        </p:spPr>
      </p:pic>
      <p:sp>
        <p:nvSpPr>
          <p:cNvPr id="3" name="Content Placeholder 2">
            <a:extLst>
              <a:ext uri="{FF2B5EF4-FFF2-40B4-BE49-F238E27FC236}">
                <a16:creationId xmlns:a16="http://schemas.microsoft.com/office/drawing/2014/main" id="{EE426B1D-1716-4866-08BF-2D11DCF28931}"/>
              </a:ext>
            </a:extLst>
          </p:cNvPr>
          <p:cNvSpPr>
            <a:spLocks noGrp="1"/>
          </p:cNvSpPr>
          <p:nvPr>
            <p:ph idx="1"/>
          </p:nvPr>
        </p:nvSpPr>
        <p:spPr>
          <a:xfrm>
            <a:off x="8164749" y="2024743"/>
            <a:ext cx="3575737" cy="4016619"/>
          </a:xfrm>
        </p:spPr>
        <p:txBody>
          <a:bodyPr>
            <a:normAutofit/>
          </a:bodyPr>
          <a:lstStyle/>
          <a:p>
            <a:r>
              <a:rPr lang="en-US" sz="1600" dirty="0">
                <a:solidFill>
                  <a:srgbClr val="FFFFFF"/>
                </a:solidFill>
              </a:rPr>
              <a:t>Classroom Analogy</a:t>
            </a:r>
          </a:p>
          <a:p>
            <a:r>
              <a:rPr lang="en-US" sz="1600" dirty="0">
                <a:solidFill>
                  <a:srgbClr val="FFFFFF"/>
                </a:solidFill>
              </a:rPr>
              <a:t>Attention Mechanisms in LLMs</a:t>
            </a:r>
          </a:p>
        </p:txBody>
      </p:sp>
    </p:spTree>
    <p:extLst>
      <p:ext uri="{BB962C8B-B14F-4D97-AF65-F5344CB8AC3E}">
        <p14:creationId xmlns:p14="http://schemas.microsoft.com/office/powerpoint/2010/main" val="2281485029"/>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032AC-AB1A-732B-20D0-09021287C478}"/>
              </a:ext>
            </a:extLst>
          </p:cNvPr>
          <p:cNvSpPr>
            <a:spLocks noGrp="1"/>
          </p:cNvSpPr>
          <p:nvPr>
            <p:ph type="title"/>
          </p:nvPr>
        </p:nvSpPr>
        <p:spPr>
          <a:xfrm>
            <a:off x="810000" y="447188"/>
            <a:ext cx="5359921" cy="970450"/>
          </a:xfrm>
        </p:spPr>
        <p:txBody>
          <a:bodyPr>
            <a:normAutofit/>
          </a:bodyPr>
          <a:lstStyle/>
          <a:p>
            <a:r>
              <a:rPr lang="en-US"/>
              <a:t>NLP Techniques</a:t>
            </a:r>
          </a:p>
        </p:txBody>
      </p:sp>
      <p:sp>
        <p:nvSpPr>
          <p:cNvPr id="3" name="Content Placeholder 2">
            <a:extLst>
              <a:ext uri="{FF2B5EF4-FFF2-40B4-BE49-F238E27FC236}">
                <a16:creationId xmlns:a16="http://schemas.microsoft.com/office/drawing/2014/main" id="{CC60DE5F-58C8-0B82-AFC4-E158B705E0AC}"/>
              </a:ext>
            </a:extLst>
          </p:cNvPr>
          <p:cNvSpPr>
            <a:spLocks noGrp="1"/>
          </p:cNvSpPr>
          <p:nvPr>
            <p:ph idx="1"/>
          </p:nvPr>
        </p:nvSpPr>
        <p:spPr>
          <a:xfrm>
            <a:off x="818712" y="2222287"/>
            <a:ext cx="5351209" cy="3636511"/>
          </a:xfrm>
        </p:spPr>
        <p:txBody>
          <a:bodyPr>
            <a:normAutofit/>
          </a:bodyPr>
          <a:lstStyle/>
          <a:p>
            <a:r>
              <a:rPr lang="en-US"/>
              <a:t>Tokenization</a:t>
            </a:r>
          </a:p>
          <a:p>
            <a:r>
              <a:rPr lang="en-US"/>
              <a:t>Stemming</a:t>
            </a:r>
          </a:p>
          <a:p>
            <a:r>
              <a:rPr lang="en-US"/>
              <a:t>Lemmatization</a:t>
            </a:r>
          </a:p>
          <a:p>
            <a:r>
              <a:rPr lang="en-US"/>
              <a:t>POS Tagging</a:t>
            </a:r>
          </a:p>
          <a:p>
            <a:r>
              <a:rPr lang="en-US"/>
              <a:t>Parsing</a:t>
            </a:r>
          </a:p>
          <a:p>
            <a:r>
              <a:rPr lang="en-US"/>
              <a:t>Sentiment Analysis</a:t>
            </a:r>
          </a:p>
        </p:txBody>
      </p:sp>
      <p:sp>
        <p:nvSpPr>
          <p:cNvPr id="18" name="Rectangle 17">
            <a:extLst>
              <a:ext uri="{FF2B5EF4-FFF2-40B4-BE49-F238E27FC236}">
                <a16:creationId xmlns:a16="http://schemas.microsoft.com/office/drawing/2014/main" id="{1C524A27-B6C0-41EA-ABCB-AA2E61FC0F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75898" y="0"/>
            <a:ext cx="571305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ed Rectangle 17">
            <a:extLst>
              <a:ext uri="{FF2B5EF4-FFF2-40B4-BE49-F238E27FC236}">
                <a16:creationId xmlns:a16="http://schemas.microsoft.com/office/drawing/2014/main" id="{F3FCE8DC-E7A6-4A8F-BB57-A87EC4B84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28932" y="958640"/>
            <a:ext cx="4419604" cy="4945244"/>
          </a:xfrm>
          <a:prstGeom prst="roundRect">
            <a:avLst>
              <a:gd name="adj" fmla="val 3513"/>
            </a:avLst>
          </a:prstGeom>
          <a:solidFill>
            <a:schemeClr val="tx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E05EBA7E-C954-CD5C-5509-50457CE73065}"/>
              </a:ext>
            </a:extLst>
          </p:cNvPr>
          <p:cNvPicPr>
            <a:picLocks noChangeAspect="1"/>
          </p:cNvPicPr>
          <p:nvPr/>
        </p:nvPicPr>
        <p:blipFill rotWithShape="1">
          <a:blip r:embed="rId3"/>
          <a:srcRect l="5690" r="5818" b="5"/>
          <a:stretch/>
        </p:blipFill>
        <p:spPr>
          <a:xfrm>
            <a:off x="7410517" y="1258529"/>
            <a:ext cx="3832042" cy="4330205"/>
          </a:xfrm>
          <a:prstGeom prst="rect">
            <a:avLst/>
          </a:prstGeom>
        </p:spPr>
      </p:pic>
    </p:spTree>
    <p:extLst>
      <p:ext uri="{BB962C8B-B14F-4D97-AF65-F5344CB8AC3E}">
        <p14:creationId xmlns:p14="http://schemas.microsoft.com/office/powerpoint/2010/main" val="24440368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FF242-046C-E2CC-F68D-B9118F0B01F9}"/>
              </a:ext>
            </a:extLst>
          </p:cNvPr>
          <p:cNvSpPr>
            <a:spLocks noGrp="1"/>
          </p:cNvSpPr>
          <p:nvPr>
            <p:ph type="title"/>
          </p:nvPr>
        </p:nvSpPr>
        <p:spPr>
          <a:xfrm>
            <a:off x="810000" y="447188"/>
            <a:ext cx="10571998" cy="970450"/>
          </a:xfrm>
        </p:spPr>
        <p:txBody>
          <a:bodyPr>
            <a:normAutofit/>
          </a:bodyPr>
          <a:lstStyle/>
          <a:p>
            <a:r>
              <a:rPr lang="en-US" dirty="0"/>
              <a:t>LLM Layers and Roles</a:t>
            </a:r>
          </a:p>
        </p:txBody>
      </p:sp>
      <p:sp>
        <p:nvSpPr>
          <p:cNvPr id="3" name="Content Placeholder 2">
            <a:extLst>
              <a:ext uri="{FF2B5EF4-FFF2-40B4-BE49-F238E27FC236}">
                <a16:creationId xmlns:a16="http://schemas.microsoft.com/office/drawing/2014/main" id="{3DCABF53-B57F-1818-D728-61374F3E579C}"/>
              </a:ext>
            </a:extLst>
          </p:cNvPr>
          <p:cNvSpPr>
            <a:spLocks noGrp="1"/>
          </p:cNvSpPr>
          <p:nvPr>
            <p:ph idx="1"/>
          </p:nvPr>
        </p:nvSpPr>
        <p:spPr>
          <a:xfrm>
            <a:off x="818713" y="2413000"/>
            <a:ext cx="4332407" cy="3632200"/>
          </a:xfrm>
        </p:spPr>
        <p:txBody>
          <a:bodyPr>
            <a:normAutofit/>
          </a:bodyPr>
          <a:lstStyle/>
          <a:p>
            <a:r>
              <a:rPr lang="en-US" sz="1600" dirty="0"/>
              <a:t>Layered Structure of LLMs</a:t>
            </a:r>
          </a:p>
          <a:p>
            <a:r>
              <a:rPr lang="en-US" sz="1600" dirty="0"/>
              <a:t>Function &amp; Interaction of Layers</a:t>
            </a:r>
          </a:p>
          <a:p>
            <a:r>
              <a:rPr lang="en-US" sz="1600" dirty="0"/>
              <a:t>Significance of Layered Processing</a:t>
            </a:r>
          </a:p>
        </p:txBody>
      </p:sp>
      <p:pic>
        <p:nvPicPr>
          <p:cNvPr id="5" name="Picture 4" descr="A computer generated image of a structure&#10;&#10;Description automatically generated with medium confidence">
            <a:extLst>
              <a:ext uri="{FF2B5EF4-FFF2-40B4-BE49-F238E27FC236}">
                <a16:creationId xmlns:a16="http://schemas.microsoft.com/office/drawing/2014/main" id="{EA31FE24-BF56-C451-EAB6-AC39D6BF0F99}"/>
              </a:ext>
            </a:extLst>
          </p:cNvPr>
          <p:cNvPicPr>
            <a:picLocks noChangeAspect="1"/>
          </p:cNvPicPr>
          <p:nvPr/>
        </p:nvPicPr>
        <p:blipFill>
          <a:blip r:embed="rId3"/>
          <a:stretch>
            <a:fillRect/>
          </a:stretch>
        </p:blipFill>
        <p:spPr>
          <a:xfrm>
            <a:off x="6382356" y="2413000"/>
            <a:ext cx="3716338" cy="3716338"/>
          </a:xfrm>
          <a:prstGeom prst="roundRect">
            <a:avLst>
              <a:gd name="adj" fmla="val 3876"/>
            </a:avLst>
          </a:prstGeom>
          <a:ln>
            <a:solidFill>
              <a:schemeClr val="accent1"/>
            </a:solidFill>
          </a:ln>
          <a:effectLst/>
        </p:spPr>
      </p:pic>
    </p:spTree>
    <p:extLst>
      <p:ext uri="{BB962C8B-B14F-4D97-AF65-F5344CB8AC3E}">
        <p14:creationId xmlns:p14="http://schemas.microsoft.com/office/powerpoint/2010/main" val="28533685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E2264E67-6F59-4D8D-8E5F-8245B0FEA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3" y="0"/>
            <a:ext cx="1218742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23">
            <a:extLst>
              <a:ext uri="{FF2B5EF4-FFF2-40B4-BE49-F238E27FC236}">
                <a16:creationId xmlns:a16="http://schemas.microsoft.com/office/drawing/2014/main" id="{158E1C6E-D299-4F5D-B15B-155EBF7F62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solidFill>
            <a:srgbClr val="212121"/>
          </a:solidFill>
          <a:ln>
            <a:noFill/>
            <a:headEnd/>
            <a:tailEnd/>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3FE91F8-EC5F-00D0-6337-BC4EAAA778F0}"/>
              </a:ext>
            </a:extLst>
          </p:cNvPr>
          <p:cNvSpPr>
            <a:spLocks noGrp="1"/>
          </p:cNvSpPr>
          <p:nvPr>
            <p:ph type="title"/>
          </p:nvPr>
        </p:nvSpPr>
        <p:spPr>
          <a:xfrm>
            <a:off x="451514" y="457201"/>
            <a:ext cx="3575737" cy="1332688"/>
          </a:xfrm>
        </p:spPr>
        <p:txBody>
          <a:bodyPr anchor="b">
            <a:normAutofit fontScale="90000"/>
          </a:bodyPr>
          <a:lstStyle/>
          <a:p>
            <a:pPr algn="ctr"/>
            <a:r>
              <a:rPr lang="en-US" sz="3200" dirty="0">
                <a:solidFill>
                  <a:srgbClr val="FFFFFF"/>
                </a:solidFill>
              </a:rPr>
              <a:t>Data Requirements and Sourcing</a:t>
            </a:r>
          </a:p>
        </p:txBody>
      </p:sp>
      <p:sp>
        <p:nvSpPr>
          <p:cNvPr id="3" name="Content Placeholder 2">
            <a:extLst>
              <a:ext uri="{FF2B5EF4-FFF2-40B4-BE49-F238E27FC236}">
                <a16:creationId xmlns:a16="http://schemas.microsoft.com/office/drawing/2014/main" id="{133CC5BC-B949-EED8-627A-F9776CA79406}"/>
              </a:ext>
            </a:extLst>
          </p:cNvPr>
          <p:cNvSpPr>
            <a:spLocks noGrp="1"/>
          </p:cNvSpPr>
          <p:nvPr>
            <p:ph idx="1"/>
          </p:nvPr>
        </p:nvSpPr>
        <p:spPr>
          <a:xfrm>
            <a:off x="451514" y="2046514"/>
            <a:ext cx="3575737" cy="3994848"/>
          </a:xfrm>
        </p:spPr>
        <p:txBody>
          <a:bodyPr>
            <a:normAutofit/>
          </a:bodyPr>
          <a:lstStyle/>
          <a:p>
            <a:r>
              <a:rPr lang="en-US" sz="1600" dirty="0">
                <a:solidFill>
                  <a:srgbClr val="FFFFFF"/>
                </a:solidFill>
              </a:rPr>
              <a:t>Diversity of training data</a:t>
            </a:r>
          </a:p>
          <a:p>
            <a:r>
              <a:rPr lang="en-US" sz="1600" dirty="0">
                <a:solidFill>
                  <a:srgbClr val="FFFFFF"/>
                </a:solidFill>
              </a:rPr>
              <a:t>Ethical data sourcing</a:t>
            </a:r>
          </a:p>
        </p:txBody>
      </p:sp>
      <p:pic>
        <p:nvPicPr>
          <p:cNvPr id="10" name="Picture 9" descr="A pile of books and scrolls&#10;&#10;Description automatically generated">
            <a:extLst>
              <a:ext uri="{FF2B5EF4-FFF2-40B4-BE49-F238E27FC236}">
                <a16:creationId xmlns:a16="http://schemas.microsoft.com/office/drawing/2014/main" id="{B0A92B7C-1DC2-75EF-F8B7-41D34745B547}"/>
              </a:ext>
            </a:extLst>
          </p:cNvPr>
          <p:cNvPicPr>
            <a:picLocks noChangeAspect="1"/>
          </p:cNvPicPr>
          <p:nvPr/>
        </p:nvPicPr>
        <p:blipFill>
          <a:blip r:embed="rId3"/>
          <a:stretch>
            <a:fillRect/>
          </a:stretch>
        </p:blipFill>
        <p:spPr>
          <a:xfrm>
            <a:off x="5778451" y="643467"/>
            <a:ext cx="5272421" cy="5272421"/>
          </a:xfrm>
          <a:prstGeom prst="roundRect">
            <a:avLst>
              <a:gd name="adj" fmla="val 3876"/>
            </a:avLst>
          </a:prstGeom>
          <a:ln>
            <a:solidFill>
              <a:schemeClr val="accent1"/>
            </a:solidFill>
          </a:ln>
          <a:effectLst/>
        </p:spPr>
      </p:pic>
      <p:sp>
        <p:nvSpPr>
          <p:cNvPr id="7" name="AutoShape 6" descr="An artistic depiction of a serene gathering of diverse data sources. This scene includes leather-bound books, rolled-up scholarly articles, and streams of digital data. The books are neatly stacked, the articles are elegantly displayed as if unfurling, and the digital data is visualized as shimmering, light blue streams, weaving through the other elements. This arrangement represents a peaceful and balanced blend of traditional and digital information, all converging in a calm, orderly fashion, embodying the idea of data integration in the digital age.">
            <a:extLst>
              <a:ext uri="{FF2B5EF4-FFF2-40B4-BE49-F238E27FC236}">
                <a16:creationId xmlns:a16="http://schemas.microsoft.com/office/drawing/2014/main" id="{A4904EE9-E4BA-6E2F-CB41-63FBBE3CBA51}"/>
              </a:ext>
            </a:extLst>
          </p:cNvPr>
          <p:cNvSpPr>
            <a:spLocks noChangeAspect="1" noChangeArrowheads="1"/>
          </p:cNvSpPr>
          <p:nvPr/>
        </p:nvSpPr>
        <p:spPr bwMode="auto">
          <a:xfrm>
            <a:off x="5943599" y="3276599"/>
            <a:ext cx="3827721" cy="382772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8" descr="An artistic depiction of a serene gathering of diverse data sources. This scene includes leather-bound books, rolled-up scholarly articles, and streams of digital data. The books are neatly stacked, the articles are elegantly displayed as if unfurling, and the digital data is visualized as shimmering, light blue streams, weaving through the other elements. This arrangement represents a peaceful and balanced blend of traditional and digital information, all converging in a calm, orderly fashion, embodying the idea of data integration in the digital age.">
            <a:extLst>
              <a:ext uri="{FF2B5EF4-FFF2-40B4-BE49-F238E27FC236}">
                <a16:creationId xmlns:a16="http://schemas.microsoft.com/office/drawing/2014/main" id="{513C1C23-7E4E-BFE2-2229-56C3F417D4B7}"/>
              </a:ext>
            </a:extLst>
          </p:cNvPr>
          <p:cNvSpPr>
            <a:spLocks noChangeAspect="1" noChangeArrowheads="1"/>
          </p:cNvSpPr>
          <p:nvPr/>
        </p:nvSpPr>
        <p:spPr bwMode="auto">
          <a:xfrm>
            <a:off x="9466520" y="824365"/>
            <a:ext cx="1397922" cy="139792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991081970"/>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4F551-6F87-0C63-DAE3-6C6F0C07C6E7}"/>
              </a:ext>
            </a:extLst>
          </p:cNvPr>
          <p:cNvSpPr>
            <a:spLocks noGrp="1"/>
          </p:cNvSpPr>
          <p:nvPr>
            <p:ph type="title"/>
          </p:nvPr>
        </p:nvSpPr>
        <p:spPr>
          <a:xfrm>
            <a:off x="810000" y="447188"/>
            <a:ext cx="5359921" cy="970450"/>
          </a:xfrm>
        </p:spPr>
        <p:txBody>
          <a:bodyPr>
            <a:normAutofit/>
          </a:bodyPr>
          <a:lstStyle/>
          <a:p>
            <a:pPr>
              <a:lnSpc>
                <a:spcPct val="90000"/>
              </a:lnSpc>
            </a:pPr>
            <a:r>
              <a:rPr lang="en-US" sz="3100" dirty="0"/>
              <a:t>Model Training Processes</a:t>
            </a:r>
          </a:p>
        </p:txBody>
      </p:sp>
      <p:sp>
        <p:nvSpPr>
          <p:cNvPr id="3" name="Content Placeholder 2">
            <a:extLst>
              <a:ext uri="{FF2B5EF4-FFF2-40B4-BE49-F238E27FC236}">
                <a16:creationId xmlns:a16="http://schemas.microsoft.com/office/drawing/2014/main" id="{2656E843-0C2C-563B-90A0-81ABF4780372}"/>
              </a:ext>
            </a:extLst>
          </p:cNvPr>
          <p:cNvSpPr>
            <a:spLocks noGrp="1"/>
          </p:cNvSpPr>
          <p:nvPr>
            <p:ph idx="1"/>
          </p:nvPr>
        </p:nvSpPr>
        <p:spPr>
          <a:xfrm>
            <a:off x="818712" y="2222287"/>
            <a:ext cx="5351209" cy="3636511"/>
          </a:xfrm>
        </p:spPr>
        <p:txBody>
          <a:bodyPr>
            <a:normAutofit/>
          </a:bodyPr>
          <a:lstStyle/>
          <a:p>
            <a:r>
              <a:rPr lang="en-US" dirty="0"/>
              <a:t>Model Training Process</a:t>
            </a:r>
          </a:p>
          <a:p>
            <a:pPr lvl="1"/>
            <a:r>
              <a:rPr lang="en-US" dirty="0"/>
              <a:t>Pre-training</a:t>
            </a:r>
          </a:p>
          <a:p>
            <a:pPr lvl="1"/>
            <a:r>
              <a:rPr lang="en-US" dirty="0"/>
              <a:t>Fine-tuning: Tailoring for specific tasks</a:t>
            </a:r>
          </a:p>
          <a:p>
            <a:r>
              <a:rPr lang="en-US" dirty="0"/>
              <a:t>Examples</a:t>
            </a:r>
          </a:p>
        </p:txBody>
      </p:sp>
      <p:sp>
        <p:nvSpPr>
          <p:cNvPr id="18" name="Rectangle 17">
            <a:extLst>
              <a:ext uri="{FF2B5EF4-FFF2-40B4-BE49-F238E27FC236}">
                <a16:creationId xmlns:a16="http://schemas.microsoft.com/office/drawing/2014/main" id="{1C524A27-B6C0-41EA-ABCB-AA2E61FC0F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75898" y="0"/>
            <a:ext cx="571305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ed Rectangle 17">
            <a:extLst>
              <a:ext uri="{FF2B5EF4-FFF2-40B4-BE49-F238E27FC236}">
                <a16:creationId xmlns:a16="http://schemas.microsoft.com/office/drawing/2014/main" id="{F3FCE8DC-E7A6-4A8F-BB57-A87EC4B84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28932" y="958640"/>
            <a:ext cx="4419604" cy="4945244"/>
          </a:xfrm>
          <a:prstGeom prst="roundRect">
            <a:avLst>
              <a:gd name="adj" fmla="val 3513"/>
            </a:avLst>
          </a:prstGeom>
          <a:solidFill>
            <a:schemeClr val="tx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colorful graph with lines and lines&#10;&#10;Description automatically generated with medium confidence">
            <a:extLst>
              <a:ext uri="{FF2B5EF4-FFF2-40B4-BE49-F238E27FC236}">
                <a16:creationId xmlns:a16="http://schemas.microsoft.com/office/drawing/2014/main" id="{57A3C857-BB36-80E5-1927-9897EA6BF86A}"/>
              </a:ext>
            </a:extLst>
          </p:cNvPr>
          <p:cNvPicPr>
            <a:picLocks noChangeAspect="1"/>
          </p:cNvPicPr>
          <p:nvPr/>
        </p:nvPicPr>
        <p:blipFill rotWithShape="1">
          <a:blip r:embed="rId3"/>
          <a:srcRect l="11504" r="5" b="5"/>
          <a:stretch/>
        </p:blipFill>
        <p:spPr>
          <a:xfrm>
            <a:off x="7410517" y="1258529"/>
            <a:ext cx="3832042" cy="4330205"/>
          </a:xfrm>
          <a:prstGeom prst="rect">
            <a:avLst/>
          </a:prstGeom>
        </p:spPr>
      </p:pic>
    </p:spTree>
    <p:extLst>
      <p:ext uri="{BB962C8B-B14F-4D97-AF65-F5344CB8AC3E}">
        <p14:creationId xmlns:p14="http://schemas.microsoft.com/office/powerpoint/2010/main" val="16031841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EA0C3AC-2A72-484B-B07D-F2CC519F12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6">
            <a:extLst>
              <a:ext uri="{FF2B5EF4-FFF2-40B4-BE49-F238E27FC236}">
                <a16:creationId xmlns:a16="http://schemas.microsoft.com/office/drawing/2014/main" id="{986477EF-3991-4D07-9F11-9E887C340C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0" y="4672012"/>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rgbClr val="212121"/>
          </a:solid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B0A69F9F-DF02-29B5-93DE-0A7845168E5A}"/>
              </a:ext>
            </a:extLst>
          </p:cNvPr>
          <p:cNvSpPr>
            <a:spLocks noGrp="1"/>
          </p:cNvSpPr>
          <p:nvPr>
            <p:ph type="title"/>
          </p:nvPr>
        </p:nvSpPr>
        <p:spPr>
          <a:xfrm>
            <a:off x="810000" y="5154307"/>
            <a:ext cx="10571998" cy="970450"/>
          </a:xfrm>
        </p:spPr>
        <p:txBody>
          <a:bodyPr>
            <a:normAutofit/>
          </a:bodyPr>
          <a:lstStyle/>
          <a:p>
            <a:r>
              <a:rPr lang="en-US" dirty="0"/>
              <a:t>Resources Needed, Part I</a:t>
            </a:r>
          </a:p>
        </p:txBody>
      </p:sp>
      <p:pic>
        <p:nvPicPr>
          <p:cNvPr id="5" name="Picture 4" descr="A computer server room with many servers&#10;&#10;Description automatically generated with medium confidence">
            <a:extLst>
              <a:ext uri="{FF2B5EF4-FFF2-40B4-BE49-F238E27FC236}">
                <a16:creationId xmlns:a16="http://schemas.microsoft.com/office/drawing/2014/main" id="{D664B439-03D1-03F7-1C6E-F0A3DB1BECF7}"/>
              </a:ext>
            </a:extLst>
          </p:cNvPr>
          <p:cNvPicPr>
            <a:picLocks noChangeAspect="1"/>
          </p:cNvPicPr>
          <p:nvPr/>
        </p:nvPicPr>
        <p:blipFill rotWithShape="1">
          <a:blip r:embed="rId3"/>
          <a:srcRect l="9745" r="9970" b="1"/>
          <a:stretch/>
        </p:blipFill>
        <p:spPr>
          <a:xfrm>
            <a:off x="969041" y="810000"/>
            <a:ext cx="2918624" cy="3635292"/>
          </a:xfrm>
          <a:prstGeom prst="roundRect">
            <a:avLst>
              <a:gd name="adj" fmla="val 3876"/>
            </a:avLst>
          </a:prstGeom>
          <a:ln>
            <a:solidFill>
              <a:schemeClr val="accent1"/>
            </a:solidFill>
          </a:ln>
          <a:effectLst/>
        </p:spPr>
      </p:pic>
      <p:sp>
        <p:nvSpPr>
          <p:cNvPr id="3" name="Content Placeholder 2">
            <a:extLst>
              <a:ext uri="{FF2B5EF4-FFF2-40B4-BE49-F238E27FC236}">
                <a16:creationId xmlns:a16="http://schemas.microsoft.com/office/drawing/2014/main" id="{7593ED68-15D7-CE00-5E64-3F9A922DD6B9}"/>
              </a:ext>
            </a:extLst>
          </p:cNvPr>
          <p:cNvSpPr>
            <a:spLocks noGrp="1"/>
          </p:cNvSpPr>
          <p:nvPr>
            <p:ph idx="1"/>
          </p:nvPr>
        </p:nvSpPr>
        <p:spPr>
          <a:xfrm>
            <a:off x="4405192" y="810001"/>
            <a:ext cx="6968094" cy="3580281"/>
          </a:xfrm>
          <a:effectLst/>
        </p:spPr>
        <p:txBody>
          <a:bodyPr>
            <a:normAutofit/>
          </a:bodyPr>
          <a:lstStyle/>
          <a:p>
            <a:r>
              <a:rPr lang="en-US" b="1"/>
              <a:t>Hardware Requirements</a:t>
            </a:r>
            <a:endParaRPr lang="en-US"/>
          </a:p>
          <a:p>
            <a:pPr lvl="1"/>
            <a:r>
              <a:rPr lang="en-US" b="1"/>
              <a:t>High-Performance GPUs:</a:t>
            </a:r>
            <a:r>
              <a:rPr lang="en-US"/>
              <a:t> Essential for handling the massive computations required during training. GPUs like NVIDIA's A100 or V100 are commonly used.</a:t>
            </a:r>
          </a:p>
          <a:p>
            <a:pPr lvl="1"/>
            <a:r>
              <a:rPr lang="en-US" b="1"/>
              <a:t>Extensive Storage:</a:t>
            </a:r>
            <a:r>
              <a:rPr lang="en-US"/>
              <a:t> Petabyte-scale storage solutions are necessary to manage the vast datasets LLMs require.</a:t>
            </a:r>
          </a:p>
          <a:p>
            <a:pPr lvl="1"/>
            <a:r>
              <a:rPr lang="en-US" b="1"/>
              <a:t>Powerful Processing Units:</a:t>
            </a:r>
            <a:r>
              <a:rPr lang="en-US"/>
              <a:t> High-end CPUs to support the overall system performance and manage data preprocessing and other tasks.</a:t>
            </a:r>
          </a:p>
        </p:txBody>
      </p:sp>
      <p:sp>
        <p:nvSpPr>
          <p:cNvPr id="14" name="Title 3">
            <a:extLst>
              <a:ext uri="{FF2B5EF4-FFF2-40B4-BE49-F238E27FC236}">
                <a16:creationId xmlns:a16="http://schemas.microsoft.com/office/drawing/2014/main" id="{EDA40B90-E281-4108-8CC2-959D5F95070A}"/>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0000" y="5154307"/>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US" dirty="0">
              <a:solidFill>
                <a:srgbClr val="FFFFFF"/>
              </a:solidFill>
            </a:endParaRPr>
          </a:p>
        </p:txBody>
      </p:sp>
    </p:spTree>
    <p:extLst>
      <p:ext uri="{BB962C8B-B14F-4D97-AF65-F5344CB8AC3E}">
        <p14:creationId xmlns:p14="http://schemas.microsoft.com/office/powerpoint/2010/main" val="3129390098"/>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69F9F-DF02-29B5-93DE-0A7845168E5A}"/>
              </a:ext>
            </a:extLst>
          </p:cNvPr>
          <p:cNvSpPr>
            <a:spLocks noGrp="1"/>
          </p:cNvSpPr>
          <p:nvPr>
            <p:ph type="title"/>
          </p:nvPr>
        </p:nvSpPr>
        <p:spPr>
          <a:xfrm>
            <a:off x="810000" y="447188"/>
            <a:ext cx="10571998" cy="970450"/>
          </a:xfrm>
        </p:spPr>
        <p:txBody>
          <a:bodyPr>
            <a:normAutofit/>
          </a:bodyPr>
          <a:lstStyle/>
          <a:p>
            <a:r>
              <a:rPr lang="en-US" dirty="0"/>
              <a:t>Resources Needed, Part II</a:t>
            </a:r>
          </a:p>
        </p:txBody>
      </p:sp>
      <p:pic>
        <p:nvPicPr>
          <p:cNvPr id="21" name="Picture 20" descr="Sphere of mesh and nodes">
            <a:extLst>
              <a:ext uri="{FF2B5EF4-FFF2-40B4-BE49-F238E27FC236}">
                <a16:creationId xmlns:a16="http://schemas.microsoft.com/office/drawing/2014/main" id="{2E7B13EE-F7D2-2513-E89B-F391C07C55A6}"/>
              </a:ext>
            </a:extLst>
          </p:cNvPr>
          <p:cNvPicPr>
            <a:picLocks noChangeAspect="1"/>
          </p:cNvPicPr>
          <p:nvPr/>
        </p:nvPicPr>
        <p:blipFill rotWithShape="1">
          <a:blip r:embed="rId3"/>
          <a:srcRect l="19892" r="19896" b="4"/>
          <a:stretch/>
        </p:blipFill>
        <p:spPr>
          <a:xfrm>
            <a:off x="960438" y="2413000"/>
            <a:ext cx="2913062" cy="3628362"/>
          </a:xfrm>
          <a:prstGeom prst="roundRect">
            <a:avLst>
              <a:gd name="adj" fmla="val 3876"/>
            </a:avLst>
          </a:prstGeom>
          <a:ln>
            <a:solidFill>
              <a:schemeClr val="accent1"/>
            </a:solidFill>
          </a:ln>
          <a:effectLst/>
        </p:spPr>
      </p:pic>
      <p:sp>
        <p:nvSpPr>
          <p:cNvPr id="3" name="Content Placeholder 2">
            <a:extLst>
              <a:ext uri="{FF2B5EF4-FFF2-40B4-BE49-F238E27FC236}">
                <a16:creationId xmlns:a16="http://schemas.microsoft.com/office/drawing/2014/main" id="{7593ED68-15D7-CE00-5E64-3F9A922DD6B9}"/>
              </a:ext>
            </a:extLst>
          </p:cNvPr>
          <p:cNvSpPr>
            <a:spLocks noGrp="1"/>
          </p:cNvSpPr>
          <p:nvPr>
            <p:ph idx="1"/>
          </p:nvPr>
        </p:nvSpPr>
        <p:spPr>
          <a:xfrm>
            <a:off x="4330699" y="2413000"/>
            <a:ext cx="7052733" cy="3632200"/>
          </a:xfrm>
        </p:spPr>
        <p:txBody>
          <a:bodyPr>
            <a:normAutofit/>
          </a:bodyPr>
          <a:lstStyle/>
          <a:p>
            <a:r>
              <a:rPr lang="en-US" b="1"/>
              <a:t>Cost Implications</a:t>
            </a:r>
          </a:p>
          <a:p>
            <a:pPr lvl="1"/>
            <a:r>
              <a:rPr lang="en-US" b="1"/>
              <a:t>Energy Consumption: </a:t>
            </a:r>
            <a:r>
              <a:rPr lang="en-US"/>
              <a:t>Training LLMs is energy-intensive, often leading to significant electricity costs.</a:t>
            </a:r>
          </a:p>
          <a:p>
            <a:pPr lvl="1"/>
            <a:r>
              <a:rPr lang="en-US" b="1"/>
              <a:t>Maintenance:</a:t>
            </a:r>
            <a:r>
              <a:rPr lang="en-US"/>
              <a:t> Regular upkeep of hardware and software systems to ensure optimal performance.</a:t>
            </a:r>
          </a:p>
          <a:p>
            <a:pPr lvl="1"/>
            <a:r>
              <a:rPr lang="en-US" b="1"/>
              <a:t>Ongoing Updates:</a:t>
            </a:r>
            <a:r>
              <a:rPr lang="en-US"/>
              <a:t> Continuous improvements and updates to the models, requiring additional computational resources.</a:t>
            </a:r>
          </a:p>
          <a:p>
            <a:endParaRPr lang="en-US"/>
          </a:p>
        </p:txBody>
      </p:sp>
    </p:spTree>
    <p:extLst>
      <p:ext uri="{BB962C8B-B14F-4D97-AF65-F5344CB8AC3E}">
        <p14:creationId xmlns:p14="http://schemas.microsoft.com/office/powerpoint/2010/main" val="33789702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0B9607A7-C194-45C1-9EA4-D513E02DCF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6">
            <a:extLst>
              <a:ext uri="{FF2B5EF4-FFF2-40B4-BE49-F238E27FC236}">
                <a16:creationId xmlns:a16="http://schemas.microsoft.com/office/drawing/2014/main" id="{CBFF659F-D040-4A67-B951-3D6D61BB1F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rgbClr val="000000"/>
          </a:solid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B0A69F9F-DF02-29B5-93DE-0A7845168E5A}"/>
              </a:ext>
            </a:extLst>
          </p:cNvPr>
          <p:cNvSpPr>
            <a:spLocks noGrp="1"/>
          </p:cNvSpPr>
          <p:nvPr>
            <p:ph type="title"/>
          </p:nvPr>
        </p:nvSpPr>
        <p:spPr>
          <a:xfrm>
            <a:off x="810000" y="447188"/>
            <a:ext cx="10571998" cy="970450"/>
          </a:xfrm>
          <a:effectLst/>
        </p:spPr>
        <p:txBody>
          <a:bodyPr>
            <a:normAutofit/>
          </a:bodyPr>
          <a:lstStyle/>
          <a:p>
            <a:r>
              <a:rPr lang="en-US" dirty="0"/>
              <a:t>Resources Needed, Part III</a:t>
            </a:r>
          </a:p>
        </p:txBody>
      </p:sp>
      <p:sp>
        <p:nvSpPr>
          <p:cNvPr id="3" name="Content Placeholder 2">
            <a:extLst>
              <a:ext uri="{FF2B5EF4-FFF2-40B4-BE49-F238E27FC236}">
                <a16:creationId xmlns:a16="http://schemas.microsoft.com/office/drawing/2014/main" id="{7593ED68-15D7-CE00-5E64-3F9A922DD6B9}"/>
              </a:ext>
            </a:extLst>
          </p:cNvPr>
          <p:cNvSpPr>
            <a:spLocks noGrp="1"/>
          </p:cNvSpPr>
          <p:nvPr>
            <p:ph idx="1"/>
          </p:nvPr>
        </p:nvSpPr>
        <p:spPr>
          <a:xfrm>
            <a:off x="863882" y="2185988"/>
            <a:ext cx="7954627" cy="3636511"/>
          </a:xfrm>
          <a:effectLst/>
        </p:spPr>
        <p:txBody>
          <a:bodyPr>
            <a:normAutofit/>
          </a:bodyPr>
          <a:lstStyle/>
          <a:p>
            <a:r>
              <a:rPr lang="en-US" sz="2000" b="1"/>
              <a:t>Scalability Considerations</a:t>
            </a:r>
          </a:p>
          <a:p>
            <a:pPr lvl="1"/>
            <a:r>
              <a:rPr lang="en-US" sz="2000" b="1"/>
              <a:t>Cloud Computing</a:t>
            </a:r>
            <a:r>
              <a:rPr lang="en-US" sz="2000"/>
              <a:t>: Leveraging cloud services to scale resources up or down based on demand.</a:t>
            </a:r>
          </a:p>
          <a:p>
            <a:pPr lvl="1"/>
            <a:r>
              <a:rPr lang="en-US" sz="2000" b="1"/>
              <a:t>Cluster Management</a:t>
            </a:r>
            <a:r>
              <a:rPr lang="en-US" sz="2000"/>
              <a:t>: Efficiently managing clusters of GPUs and CPUs to maximize resource utilization.</a:t>
            </a:r>
          </a:p>
          <a:p>
            <a:pPr lvl="1"/>
            <a:r>
              <a:rPr lang="en-US" sz="2000" b="1"/>
              <a:t>Cost-Effective Solutions</a:t>
            </a:r>
            <a:r>
              <a:rPr lang="en-US" sz="2000"/>
              <a:t>: Exploring cost-effective hardware options and energy-efficient practices.ll financial burden.</a:t>
            </a:r>
          </a:p>
          <a:p>
            <a:pPr lvl="1"/>
            <a:endParaRPr lang="en-US" sz="2000" b="1"/>
          </a:p>
        </p:txBody>
      </p:sp>
    </p:spTree>
    <p:extLst>
      <p:ext uri="{BB962C8B-B14F-4D97-AF65-F5344CB8AC3E}">
        <p14:creationId xmlns:p14="http://schemas.microsoft.com/office/powerpoint/2010/main" val="521093945"/>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A5BA3AE5-0FB8-4948-A421-5CEE1A5E8A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9">
            <a:extLst>
              <a:ext uri="{FF2B5EF4-FFF2-40B4-BE49-F238E27FC236}">
                <a16:creationId xmlns:a16="http://schemas.microsoft.com/office/drawing/2014/main" id="{615FFFBF-F0D2-4BB8-BB9E-3ADC47E3B6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6485467" cy="6858000"/>
          </a:xfrm>
          <a:custGeom>
            <a:avLst/>
            <a:gdLst>
              <a:gd name="connsiteX0" fmla="*/ 0 w 6485467"/>
              <a:gd name="connsiteY0" fmla="*/ 0 h 6858000"/>
              <a:gd name="connsiteX1" fmla="*/ 6485467 w 6485467"/>
              <a:gd name="connsiteY1" fmla="*/ 0 h 6858000"/>
              <a:gd name="connsiteX2" fmla="*/ 6485467 w 6485467"/>
              <a:gd name="connsiteY2" fmla="*/ 1900238 h 6858000"/>
              <a:gd name="connsiteX3" fmla="*/ 6115051 w 6485467"/>
              <a:gd name="connsiteY3" fmla="*/ 2178050 h 6858000"/>
              <a:gd name="connsiteX4" fmla="*/ 6110817 w 6485467"/>
              <a:gd name="connsiteY4" fmla="*/ 2184400 h 6858000"/>
              <a:gd name="connsiteX5" fmla="*/ 6104467 w 6485467"/>
              <a:gd name="connsiteY5" fmla="*/ 2193925 h 6858000"/>
              <a:gd name="connsiteX6" fmla="*/ 6098117 w 6485467"/>
              <a:gd name="connsiteY6" fmla="*/ 2201863 h 6858000"/>
              <a:gd name="connsiteX7" fmla="*/ 6098117 w 6485467"/>
              <a:gd name="connsiteY7" fmla="*/ 2211388 h 6858000"/>
              <a:gd name="connsiteX8" fmla="*/ 6098117 w 6485467"/>
              <a:gd name="connsiteY8" fmla="*/ 2220913 h 6858000"/>
              <a:gd name="connsiteX9" fmla="*/ 6104467 w 6485467"/>
              <a:gd name="connsiteY9" fmla="*/ 2228850 h 6858000"/>
              <a:gd name="connsiteX10" fmla="*/ 6110817 w 6485467"/>
              <a:gd name="connsiteY10" fmla="*/ 2238375 h 6858000"/>
              <a:gd name="connsiteX11" fmla="*/ 6115051 w 6485467"/>
              <a:gd name="connsiteY11" fmla="*/ 2244725 h 6858000"/>
              <a:gd name="connsiteX12" fmla="*/ 6485467 w 6485467"/>
              <a:gd name="connsiteY12" fmla="*/ 2522538 h 6858000"/>
              <a:gd name="connsiteX13" fmla="*/ 6485467 w 6485467"/>
              <a:gd name="connsiteY13" fmla="*/ 6858000 h 6858000"/>
              <a:gd name="connsiteX14" fmla="*/ 0 w 6485467"/>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85467" h="6858000">
                <a:moveTo>
                  <a:pt x="0" y="0"/>
                </a:moveTo>
                <a:lnTo>
                  <a:pt x="6485467" y="0"/>
                </a:lnTo>
                <a:lnTo>
                  <a:pt x="6485467" y="1900238"/>
                </a:lnTo>
                <a:lnTo>
                  <a:pt x="6115051" y="2178050"/>
                </a:lnTo>
                <a:lnTo>
                  <a:pt x="6110817" y="2184400"/>
                </a:lnTo>
                <a:lnTo>
                  <a:pt x="6104467" y="2193925"/>
                </a:lnTo>
                <a:lnTo>
                  <a:pt x="6098117" y="2201863"/>
                </a:lnTo>
                <a:lnTo>
                  <a:pt x="6098117" y="2211388"/>
                </a:lnTo>
                <a:lnTo>
                  <a:pt x="6098117" y="2220913"/>
                </a:lnTo>
                <a:lnTo>
                  <a:pt x="6104467" y="2228850"/>
                </a:lnTo>
                <a:lnTo>
                  <a:pt x="6110817" y="2238375"/>
                </a:lnTo>
                <a:lnTo>
                  <a:pt x="6115051" y="2244725"/>
                </a:lnTo>
                <a:lnTo>
                  <a:pt x="6485467" y="2522538"/>
                </a:lnTo>
                <a:lnTo>
                  <a:pt x="6485467" y="6858000"/>
                </a:lnTo>
                <a:lnTo>
                  <a:pt x="0" y="6858000"/>
                </a:lnTo>
                <a:close/>
              </a:path>
            </a:pathLst>
          </a:cu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A69F9F-DF02-29B5-93DE-0A7845168E5A}"/>
              </a:ext>
            </a:extLst>
          </p:cNvPr>
          <p:cNvSpPr>
            <a:spLocks noGrp="1"/>
          </p:cNvSpPr>
          <p:nvPr>
            <p:ph type="title"/>
          </p:nvPr>
        </p:nvSpPr>
        <p:spPr>
          <a:xfrm>
            <a:off x="810000" y="447188"/>
            <a:ext cx="5039035" cy="1559412"/>
          </a:xfrm>
        </p:spPr>
        <p:txBody>
          <a:bodyPr>
            <a:normAutofit/>
          </a:bodyPr>
          <a:lstStyle/>
          <a:p>
            <a:r>
              <a:rPr lang="en-US" dirty="0"/>
              <a:t>Resources </a:t>
            </a:r>
            <a:br>
              <a:rPr lang="en-US" dirty="0"/>
            </a:br>
            <a:r>
              <a:rPr lang="en-US" dirty="0"/>
              <a:t>Needed, Part IV</a:t>
            </a:r>
          </a:p>
        </p:txBody>
      </p:sp>
      <p:sp>
        <p:nvSpPr>
          <p:cNvPr id="3" name="Content Placeholder 2">
            <a:extLst>
              <a:ext uri="{FF2B5EF4-FFF2-40B4-BE49-F238E27FC236}">
                <a16:creationId xmlns:a16="http://schemas.microsoft.com/office/drawing/2014/main" id="{7593ED68-15D7-CE00-5E64-3F9A922DD6B9}"/>
              </a:ext>
            </a:extLst>
          </p:cNvPr>
          <p:cNvSpPr>
            <a:spLocks noGrp="1"/>
          </p:cNvSpPr>
          <p:nvPr>
            <p:ph idx="1"/>
          </p:nvPr>
        </p:nvSpPr>
        <p:spPr>
          <a:xfrm>
            <a:off x="818712" y="2413000"/>
            <a:ext cx="5016259" cy="3632200"/>
          </a:xfrm>
        </p:spPr>
        <p:txBody>
          <a:bodyPr>
            <a:normAutofit/>
          </a:bodyPr>
          <a:lstStyle/>
          <a:p>
            <a:r>
              <a:rPr lang="en-US" b="1">
                <a:solidFill>
                  <a:srgbClr val="FFFFFF"/>
                </a:solidFill>
              </a:rPr>
              <a:t>Environmental Impact</a:t>
            </a:r>
          </a:p>
          <a:p>
            <a:pPr lvl="1"/>
            <a:r>
              <a:rPr lang="en-US" b="1">
                <a:solidFill>
                  <a:srgbClr val="FFFFFF"/>
                </a:solidFill>
              </a:rPr>
              <a:t>Energy-Efficient Hardware: </a:t>
            </a:r>
            <a:r>
              <a:rPr lang="en-US">
                <a:solidFill>
                  <a:srgbClr val="FFFFFF"/>
                </a:solidFill>
              </a:rPr>
              <a:t>Investing in more energy-efficient GPUs and CPUs to reduce carbon footprint.</a:t>
            </a:r>
          </a:p>
          <a:p>
            <a:pPr lvl="1"/>
            <a:r>
              <a:rPr lang="en-US" b="1">
                <a:solidFill>
                  <a:srgbClr val="FFFFFF"/>
                </a:solidFill>
              </a:rPr>
              <a:t>Sustainable Practices: </a:t>
            </a:r>
            <a:r>
              <a:rPr lang="en-US">
                <a:solidFill>
                  <a:srgbClr val="FFFFFF"/>
                </a:solidFill>
              </a:rPr>
              <a:t>Implementing green practices in data centers, like using renewable energy sources.</a:t>
            </a:r>
          </a:p>
          <a:p>
            <a:pPr lvl="1"/>
            <a:r>
              <a:rPr lang="en-US" b="1">
                <a:solidFill>
                  <a:srgbClr val="FFFFFF"/>
                </a:solidFill>
              </a:rPr>
              <a:t>Offset Programs: </a:t>
            </a:r>
            <a:r>
              <a:rPr lang="en-US">
                <a:solidFill>
                  <a:srgbClr val="FFFFFF"/>
                </a:solidFill>
              </a:rPr>
              <a:t>Participating in carbon offset programs to mitigate the environmental impact.</a:t>
            </a:r>
          </a:p>
          <a:p>
            <a:pPr lvl="1"/>
            <a:endParaRPr lang="en-US" b="1">
              <a:solidFill>
                <a:srgbClr val="FFFFFF"/>
              </a:solidFill>
            </a:endParaRPr>
          </a:p>
        </p:txBody>
      </p:sp>
      <p:sp>
        <p:nvSpPr>
          <p:cNvPr id="34" name="Rounded Rectangle 17">
            <a:extLst>
              <a:ext uri="{FF2B5EF4-FFF2-40B4-BE49-F238E27FC236}">
                <a16:creationId xmlns:a16="http://schemas.microsoft.com/office/drawing/2014/main" id="{FD056B7E-FBD7-4858-966D-9C4DEDA7EF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28932" y="958640"/>
            <a:ext cx="4419604" cy="4945244"/>
          </a:xfrm>
          <a:prstGeom prst="roundRect">
            <a:avLst>
              <a:gd name="adj" fmla="val 3513"/>
            </a:avLst>
          </a:prstGeom>
          <a:solidFill>
            <a:schemeClr val="bg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descr="Light bulb on green grass">
            <a:extLst>
              <a:ext uri="{FF2B5EF4-FFF2-40B4-BE49-F238E27FC236}">
                <a16:creationId xmlns:a16="http://schemas.microsoft.com/office/drawing/2014/main" id="{7CA04409-10C8-68BD-C110-9D1BC06AB86A}"/>
              </a:ext>
            </a:extLst>
          </p:cNvPr>
          <p:cNvPicPr>
            <a:picLocks noChangeAspect="1"/>
          </p:cNvPicPr>
          <p:nvPr/>
        </p:nvPicPr>
        <p:blipFill rotWithShape="1">
          <a:blip r:embed="rId3"/>
          <a:srcRect t="3272" b="12459"/>
          <a:stretch/>
        </p:blipFill>
        <p:spPr>
          <a:xfrm>
            <a:off x="7410517" y="2345878"/>
            <a:ext cx="3832042" cy="2155506"/>
          </a:xfrm>
          <a:prstGeom prst="rect">
            <a:avLst/>
          </a:prstGeom>
        </p:spPr>
      </p:pic>
    </p:spTree>
    <p:extLst>
      <p:ext uri="{BB962C8B-B14F-4D97-AF65-F5344CB8AC3E}">
        <p14:creationId xmlns:p14="http://schemas.microsoft.com/office/powerpoint/2010/main" val="3291674756"/>
      </p:ext>
    </p:extLst>
  </p:cSld>
  <p:clrMapOvr>
    <a:overrideClrMapping bg1="lt1" tx1="dk1" bg2="lt2" tx2="dk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Quotable</Template>
  <TotalTime>4545</TotalTime>
  <Words>3300</Words>
  <Application>Microsoft Office PowerPoint</Application>
  <PresentationFormat>Widescreen</PresentationFormat>
  <Paragraphs>225</Paragraphs>
  <Slides>19</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Aptos</vt:lpstr>
      <vt:lpstr>Arial</vt:lpstr>
      <vt:lpstr>Century Gothic</vt:lpstr>
      <vt:lpstr>Söhne</vt:lpstr>
      <vt:lpstr>Wingdings 2</vt:lpstr>
      <vt:lpstr>Quotable</vt:lpstr>
      <vt:lpstr>AI FUNDAMENTALS</vt:lpstr>
      <vt:lpstr>TOPICS</vt:lpstr>
      <vt:lpstr>What are Large Language Models?</vt:lpstr>
      <vt:lpstr>Applications of LLMs in Daily Life</vt:lpstr>
      <vt:lpstr>Some LLM’s</vt:lpstr>
      <vt:lpstr>GPT Series by OpenAI</vt:lpstr>
      <vt:lpstr>LLaMA by Meta</vt:lpstr>
      <vt:lpstr>BLOOM by Hugging Face</vt:lpstr>
      <vt:lpstr>Transformer Architecture</vt:lpstr>
      <vt:lpstr>Attention Mechanisms</vt:lpstr>
      <vt:lpstr>ILLUSTRATING ATTENTION MECHANISMS</vt:lpstr>
      <vt:lpstr>NLP Techniques</vt:lpstr>
      <vt:lpstr>LLM Layers and Roles</vt:lpstr>
      <vt:lpstr>Data Requirements and Sourcing</vt:lpstr>
      <vt:lpstr>Model Training Processes</vt:lpstr>
      <vt:lpstr>Resources Needed, Part I</vt:lpstr>
      <vt:lpstr>Resources Needed, Part II</vt:lpstr>
      <vt:lpstr>Resources Needed, Part III</vt:lpstr>
      <vt:lpstr>Resources  Needed, Part IV</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FUNDAMENTALS</dc:title>
  <dc:creator>Chestnut, Temple D</dc:creator>
  <cp:lastModifiedBy>Chestnut, Temple D</cp:lastModifiedBy>
  <cp:revision>3</cp:revision>
  <dcterms:created xsi:type="dcterms:W3CDTF">2024-04-06T22:53:51Z</dcterms:created>
  <dcterms:modified xsi:type="dcterms:W3CDTF">2024-07-27T16:52:15Z</dcterms:modified>
</cp:coreProperties>
</file>