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57" r:id="rId3"/>
    <p:sldId id="263" r:id="rId4"/>
    <p:sldId id="264" r:id="rId5"/>
    <p:sldId id="265" r:id="rId6"/>
    <p:sldId id="292" r:id="rId7"/>
    <p:sldId id="267" r:id="rId8"/>
    <p:sldId id="293" r:id="rId9"/>
    <p:sldId id="268" r:id="rId10"/>
    <p:sldId id="270" r:id="rId11"/>
    <p:sldId id="269" r:id="rId12"/>
    <p:sldId id="271" r:id="rId13"/>
    <p:sldId id="272" r:id="rId14"/>
    <p:sldId id="273" r:id="rId15"/>
    <p:sldId id="274" r:id="rId16"/>
    <p:sldId id="275" r:id="rId17"/>
    <p:sldId id="276" r:id="rId18"/>
    <p:sldId id="277" r:id="rId19"/>
    <p:sldId id="278" r:id="rId20"/>
    <p:sldId id="285" r:id="rId21"/>
    <p:sldId id="281" r:id="rId22"/>
    <p:sldId id="283" r:id="rId23"/>
    <p:sldId id="294" r:id="rId24"/>
    <p:sldId id="295" r:id="rId25"/>
    <p:sldId id="296" r:id="rId26"/>
    <p:sldId id="297" r:id="rId27"/>
    <p:sldId id="299" r:id="rId28"/>
    <p:sldId id="298" r:id="rId29"/>
    <p:sldId id="30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15C"/>
    <a:srgbClr val="00C6BB"/>
    <a:srgbClr val="641D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43C8D-F99D-4D8A-9F9C-F1A3FE8668DE}" v="119" dt="2024-06-24T19:34:34.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335" autoAdjust="0"/>
    <p:restoredTop sz="59279" autoAdjust="0"/>
  </p:normalViewPr>
  <p:slideViewPr>
    <p:cSldViewPr snapToGrid="0">
      <p:cViewPr varScale="1">
        <p:scale>
          <a:sx n="65" d="100"/>
          <a:sy n="6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88F006-228E-48B9-9E50-9EEDC963BD1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1C707FB-7126-411D-8CB0-49E1ADD0FB00}">
      <dgm:prSet/>
      <dgm:spPr/>
      <dgm:t>
        <a:bodyPr/>
        <a:lstStyle/>
        <a:p>
          <a:pPr>
            <a:defRPr cap="all"/>
          </a:pPr>
          <a:r>
            <a:rPr lang="en-US"/>
            <a:t>Techniques for crafting clear and concise prompts</a:t>
          </a:r>
        </a:p>
      </dgm:t>
    </dgm:pt>
    <dgm:pt modelId="{506D1A9C-2283-47B5-AF09-CB8D8D53315A}" type="parTrans" cxnId="{210C16E3-35D0-49CA-BBD0-6ED3ED0FFE4E}">
      <dgm:prSet/>
      <dgm:spPr/>
      <dgm:t>
        <a:bodyPr/>
        <a:lstStyle/>
        <a:p>
          <a:endParaRPr lang="en-US"/>
        </a:p>
      </dgm:t>
    </dgm:pt>
    <dgm:pt modelId="{A3E5245C-C0F4-48F9-8835-FFF5C80D0D30}" type="sibTrans" cxnId="{210C16E3-35D0-49CA-BBD0-6ED3ED0FFE4E}">
      <dgm:prSet/>
      <dgm:spPr/>
      <dgm:t>
        <a:bodyPr/>
        <a:lstStyle/>
        <a:p>
          <a:endParaRPr lang="en-US"/>
        </a:p>
      </dgm:t>
    </dgm:pt>
    <dgm:pt modelId="{527CF839-50D6-4B4B-872B-1083F7801DDB}">
      <dgm:prSet/>
      <dgm:spPr/>
      <dgm:t>
        <a:bodyPr/>
        <a:lstStyle/>
        <a:p>
          <a:pPr>
            <a:defRPr cap="all"/>
          </a:pPr>
          <a:r>
            <a:rPr lang="en-US"/>
            <a:t>Handling ambiguous queries</a:t>
          </a:r>
        </a:p>
      </dgm:t>
    </dgm:pt>
    <dgm:pt modelId="{EB0F8104-B6BF-48BA-9B56-E8802C75CA01}" type="parTrans" cxnId="{F4AC3164-2FEF-47D9-930F-729DE133B949}">
      <dgm:prSet/>
      <dgm:spPr/>
      <dgm:t>
        <a:bodyPr/>
        <a:lstStyle/>
        <a:p>
          <a:endParaRPr lang="en-US"/>
        </a:p>
      </dgm:t>
    </dgm:pt>
    <dgm:pt modelId="{C6F90DC0-2395-4546-A4D9-06B72EE9A6CE}" type="sibTrans" cxnId="{F4AC3164-2FEF-47D9-930F-729DE133B949}">
      <dgm:prSet/>
      <dgm:spPr/>
      <dgm:t>
        <a:bodyPr/>
        <a:lstStyle/>
        <a:p>
          <a:endParaRPr lang="en-US"/>
        </a:p>
      </dgm:t>
    </dgm:pt>
    <dgm:pt modelId="{0A563581-6AFB-4F5D-976B-27A716D91A3D}">
      <dgm:prSet/>
      <dgm:spPr/>
      <dgm:t>
        <a:bodyPr/>
        <a:lstStyle/>
        <a:p>
          <a:pPr>
            <a:defRPr cap="all"/>
          </a:pPr>
          <a:r>
            <a:rPr lang="en-US"/>
            <a:t>Incorporating user feedback into prompts</a:t>
          </a:r>
        </a:p>
      </dgm:t>
    </dgm:pt>
    <dgm:pt modelId="{4A6FFFEB-A189-4B2D-829D-B73F14E7F25F}" type="parTrans" cxnId="{317156AA-0C1F-48C9-8220-E0F181344539}">
      <dgm:prSet/>
      <dgm:spPr/>
      <dgm:t>
        <a:bodyPr/>
        <a:lstStyle/>
        <a:p>
          <a:endParaRPr lang="en-US"/>
        </a:p>
      </dgm:t>
    </dgm:pt>
    <dgm:pt modelId="{D9B65988-1122-4471-8BA7-4431DF9CC846}" type="sibTrans" cxnId="{317156AA-0C1F-48C9-8220-E0F181344539}">
      <dgm:prSet/>
      <dgm:spPr/>
      <dgm:t>
        <a:bodyPr/>
        <a:lstStyle/>
        <a:p>
          <a:endParaRPr lang="en-US"/>
        </a:p>
      </dgm:t>
    </dgm:pt>
    <dgm:pt modelId="{AD16462B-B026-4C79-AAEC-2AE5ABE91359}" type="pres">
      <dgm:prSet presAssocID="{7C88F006-228E-48B9-9E50-9EEDC963BD1B}" presName="root" presStyleCnt="0">
        <dgm:presLayoutVars>
          <dgm:dir/>
          <dgm:resizeHandles val="exact"/>
        </dgm:presLayoutVars>
      </dgm:prSet>
      <dgm:spPr/>
    </dgm:pt>
    <dgm:pt modelId="{8D47564E-1919-46BD-A800-3CE7C2D10FFF}" type="pres">
      <dgm:prSet presAssocID="{61C707FB-7126-411D-8CB0-49E1ADD0FB00}" presName="compNode" presStyleCnt="0"/>
      <dgm:spPr/>
    </dgm:pt>
    <dgm:pt modelId="{0DF2B62A-EEC1-4FF3-AFB6-01B40DD3E16D}" type="pres">
      <dgm:prSet presAssocID="{61C707FB-7126-411D-8CB0-49E1ADD0FB00}" presName="iconBgRect" presStyleLbl="bgShp" presStyleIdx="0" presStyleCnt="3"/>
      <dgm:spPr/>
    </dgm:pt>
    <dgm:pt modelId="{9FF7DFEC-9E57-4353-BA72-B113A05849F3}" type="pres">
      <dgm:prSet presAssocID="{61C707FB-7126-411D-8CB0-49E1ADD0FB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7134AEFC-3C4D-495D-9602-357C169D047B}" type="pres">
      <dgm:prSet presAssocID="{61C707FB-7126-411D-8CB0-49E1ADD0FB00}" presName="spaceRect" presStyleCnt="0"/>
      <dgm:spPr/>
    </dgm:pt>
    <dgm:pt modelId="{8230890E-B0CC-4CDF-AA23-F64F293E5983}" type="pres">
      <dgm:prSet presAssocID="{61C707FB-7126-411D-8CB0-49E1ADD0FB00}" presName="textRect" presStyleLbl="revTx" presStyleIdx="0" presStyleCnt="3">
        <dgm:presLayoutVars>
          <dgm:chMax val="1"/>
          <dgm:chPref val="1"/>
        </dgm:presLayoutVars>
      </dgm:prSet>
      <dgm:spPr/>
    </dgm:pt>
    <dgm:pt modelId="{68D33853-3878-4201-B954-EA743E2CBBDB}" type="pres">
      <dgm:prSet presAssocID="{A3E5245C-C0F4-48F9-8835-FFF5C80D0D30}" presName="sibTrans" presStyleCnt="0"/>
      <dgm:spPr/>
    </dgm:pt>
    <dgm:pt modelId="{CD4ACDB8-B442-4DCB-8452-319D3D7F7BC3}" type="pres">
      <dgm:prSet presAssocID="{527CF839-50D6-4B4B-872B-1083F7801DDB}" presName="compNode" presStyleCnt="0"/>
      <dgm:spPr/>
    </dgm:pt>
    <dgm:pt modelId="{3CA205DF-12F9-45E6-8931-9FA95195D33E}" type="pres">
      <dgm:prSet presAssocID="{527CF839-50D6-4B4B-872B-1083F7801DDB}" presName="iconBgRect" presStyleLbl="bgShp" presStyleIdx="1" presStyleCnt="3"/>
      <dgm:spPr/>
    </dgm:pt>
    <dgm:pt modelId="{079C7570-59E9-4040-A170-BDA4F476E454}" type="pres">
      <dgm:prSet presAssocID="{527CF839-50D6-4B4B-872B-1083F7801DD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9B6296C2-57BE-4EF3-B0FE-B57E211AFD9E}" type="pres">
      <dgm:prSet presAssocID="{527CF839-50D6-4B4B-872B-1083F7801DDB}" presName="spaceRect" presStyleCnt="0"/>
      <dgm:spPr/>
    </dgm:pt>
    <dgm:pt modelId="{4A6B2908-CB01-4913-8E09-BE0A970C171D}" type="pres">
      <dgm:prSet presAssocID="{527CF839-50D6-4B4B-872B-1083F7801DDB}" presName="textRect" presStyleLbl="revTx" presStyleIdx="1" presStyleCnt="3">
        <dgm:presLayoutVars>
          <dgm:chMax val="1"/>
          <dgm:chPref val="1"/>
        </dgm:presLayoutVars>
      </dgm:prSet>
      <dgm:spPr/>
    </dgm:pt>
    <dgm:pt modelId="{895C10B9-2F7E-4B88-8C48-92EB43D11CED}" type="pres">
      <dgm:prSet presAssocID="{C6F90DC0-2395-4546-A4D9-06B72EE9A6CE}" presName="sibTrans" presStyleCnt="0"/>
      <dgm:spPr/>
    </dgm:pt>
    <dgm:pt modelId="{4C611857-CD34-4ED8-85EB-95EAF0348363}" type="pres">
      <dgm:prSet presAssocID="{0A563581-6AFB-4F5D-976B-27A716D91A3D}" presName="compNode" presStyleCnt="0"/>
      <dgm:spPr/>
    </dgm:pt>
    <dgm:pt modelId="{C600FFD0-42FA-461C-9D72-DB87ABD7501C}" type="pres">
      <dgm:prSet presAssocID="{0A563581-6AFB-4F5D-976B-27A716D91A3D}" presName="iconBgRect" presStyleLbl="bgShp" presStyleIdx="2" presStyleCnt="3"/>
      <dgm:spPr/>
    </dgm:pt>
    <dgm:pt modelId="{672DC712-0DE3-44D1-8C25-25964504236F}" type="pres">
      <dgm:prSet presAssocID="{0A563581-6AFB-4F5D-976B-27A716D91A3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2C55FFA7-3D27-447E-9328-ECE1B7EDD992}" type="pres">
      <dgm:prSet presAssocID="{0A563581-6AFB-4F5D-976B-27A716D91A3D}" presName="spaceRect" presStyleCnt="0"/>
      <dgm:spPr/>
    </dgm:pt>
    <dgm:pt modelId="{F38EE3A6-A96F-4C6A-A031-CA27F193D530}" type="pres">
      <dgm:prSet presAssocID="{0A563581-6AFB-4F5D-976B-27A716D91A3D}" presName="textRect" presStyleLbl="revTx" presStyleIdx="2" presStyleCnt="3">
        <dgm:presLayoutVars>
          <dgm:chMax val="1"/>
          <dgm:chPref val="1"/>
        </dgm:presLayoutVars>
      </dgm:prSet>
      <dgm:spPr/>
    </dgm:pt>
  </dgm:ptLst>
  <dgm:cxnLst>
    <dgm:cxn modelId="{84B75824-8151-4FD2-B7E8-401926DCD032}" type="presOf" srcId="{527CF839-50D6-4B4B-872B-1083F7801DDB}" destId="{4A6B2908-CB01-4913-8E09-BE0A970C171D}" srcOrd="0" destOrd="0" presId="urn:microsoft.com/office/officeart/2018/5/layout/IconCircleLabelList"/>
    <dgm:cxn modelId="{F4AC3164-2FEF-47D9-930F-729DE133B949}" srcId="{7C88F006-228E-48B9-9E50-9EEDC963BD1B}" destId="{527CF839-50D6-4B4B-872B-1083F7801DDB}" srcOrd="1" destOrd="0" parTransId="{EB0F8104-B6BF-48BA-9B56-E8802C75CA01}" sibTransId="{C6F90DC0-2395-4546-A4D9-06B72EE9A6CE}"/>
    <dgm:cxn modelId="{5FA9AC54-C1FE-4945-9E1E-DAB4F47920E5}" type="presOf" srcId="{7C88F006-228E-48B9-9E50-9EEDC963BD1B}" destId="{AD16462B-B026-4C79-AAEC-2AE5ABE91359}" srcOrd="0" destOrd="0" presId="urn:microsoft.com/office/officeart/2018/5/layout/IconCircleLabelList"/>
    <dgm:cxn modelId="{317156AA-0C1F-48C9-8220-E0F181344539}" srcId="{7C88F006-228E-48B9-9E50-9EEDC963BD1B}" destId="{0A563581-6AFB-4F5D-976B-27A716D91A3D}" srcOrd="2" destOrd="0" parTransId="{4A6FFFEB-A189-4B2D-829D-B73F14E7F25F}" sibTransId="{D9B65988-1122-4471-8BA7-4431DF9CC846}"/>
    <dgm:cxn modelId="{599478AD-E5B5-4A9A-9877-1D269D1AEC0E}" type="presOf" srcId="{0A563581-6AFB-4F5D-976B-27A716D91A3D}" destId="{F38EE3A6-A96F-4C6A-A031-CA27F193D530}" srcOrd="0" destOrd="0" presId="urn:microsoft.com/office/officeart/2018/5/layout/IconCircleLabelList"/>
    <dgm:cxn modelId="{F8E3BFBF-A76F-407F-BBF0-950C6414D6B4}" type="presOf" srcId="{61C707FB-7126-411D-8CB0-49E1ADD0FB00}" destId="{8230890E-B0CC-4CDF-AA23-F64F293E5983}" srcOrd="0" destOrd="0" presId="urn:microsoft.com/office/officeart/2018/5/layout/IconCircleLabelList"/>
    <dgm:cxn modelId="{210C16E3-35D0-49CA-BBD0-6ED3ED0FFE4E}" srcId="{7C88F006-228E-48B9-9E50-9EEDC963BD1B}" destId="{61C707FB-7126-411D-8CB0-49E1ADD0FB00}" srcOrd="0" destOrd="0" parTransId="{506D1A9C-2283-47B5-AF09-CB8D8D53315A}" sibTransId="{A3E5245C-C0F4-48F9-8835-FFF5C80D0D30}"/>
    <dgm:cxn modelId="{B0FDDD2D-AC32-4098-9690-8A700AE16427}" type="presParOf" srcId="{AD16462B-B026-4C79-AAEC-2AE5ABE91359}" destId="{8D47564E-1919-46BD-A800-3CE7C2D10FFF}" srcOrd="0" destOrd="0" presId="urn:microsoft.com/office/officeart/2018/5/layout/IconCircleLabelList"/>
    <dgm:cxn modelId="{C78EAD00-2123-47E4-99FF-0854D0D65DE9}" type="presParOf" srcId="{8D47564E-1919-46BD-A800-3CE7C2D10FFF}" destId="{0DF2B62A-EEC1-4FF3-AFB6-01B40DD3E16D}" srcOrd="0" destOrd="0" presId="urn:microsoft.com/office/officeart/2018/5/layout/IconCircleLabelList"/>
    <dgm:cxn modelId="{E8A4FAD0-CFB5-4696-823A-89780D122869}" type="presParOf" srcId="{8D47564E-1919-46BD-A800-3CE7C2D10FFF}" destId="{9FF7DFEC-9E57-4353-BA72-B113A05849F3}" srcOrd="1" destOrd="0" presId="urn:microsoft.com/office/officeart/2018/5/layout/IconCircleLabelList"/>
    <dgm:cxn modelId="{1040BB7D-52F5-4668-8587-81A09E1A6FD4}" type="presParOf" srcId="{8D47564E-1919-46BD-A800-3CE7C2D10FFF}" destId="{7134AEFC-3C4D-495D-9602-357C169D047B}" srcOrd="2" destOrd="0" presId="urn:microsoft.com/office/officeart/2018/5/layout/IconCircleLabelList"/>
    <dgm:cxn modelId="{F9D5C139-0ABB-4307-88AC-0159680304EE}" type="presParOf" srcId="{8D47564E-1919-46BD-A800-3CE7C2D10FFF}" destId="{8230890E-B0CC-4CDF-AA23-F64F293E5983}" srcOrd="3" destOrd="0" presId="urn:microsoft.com/office/officeart/2018/5/layout/IconCircleLabelList"/>
    <dgm:cxn modelId="{6169090A-DD8A-43A1-92D7-C336C6D9A998}" type="presParOf" srcId="{AD16462B-B026-4C79-AAEC-2AE5ABE91359}" destId="{68D33853-3878-4201-B954-EA743E2CBBDB}" srcOrd="1" destOrd="0" presId="urn:microsoft.com/office/officeart/2018/5/layout/IconCircleLabelList"/>
    <dgm:cxn modelId="{96873317-4768-4493-8A54-E55F7D0351D9}" type="presParOf" srcId="{AD16462B-B026-4C79-AAEC-2AE5ABE91359}" destId="{CD4ACDB8-B442-4DCB-8452-319D3D7F7BC3}" srcOrd="2" destOrd="0" presId="urn:microsoft.com/office/officeart/2018/5/layout/IconCircleLabelList"/>
    <dgm:cxn modelId="{9E39EC0F-6DD2-4510-B130-43ED225E5C95}" type="presParOf" srcId="{CD4ACDB8-B442-4DCB-8452-319D3D7F7BC3}" destId="{3CA205DF-12F9-45E6-8931-9FA95195D33E}" srcOrd="0" destOrd="0" presId="urn:microsoft.com/office/officeart/2018/5/layout/IconCircleLabelList"/>
    <dgm:cxn modelId="{33137618-3F6F-4113-888F-5878357CB20D}" type="presParOf" srcId="{CD4ACDB8-B442-4DCB-8452-319D3D7F7BC3}" destId="{079C7570-59E9-4040-A170-BDA4F476E454}" srcOrd="1" destOrd="0" presId="urn:microsoft.com/office/officeart/2018/5/layout/IconCircleLabelList"/>
    <dgm:cxn modelId="{752E1E01-3C4A-4A14-84B6-6D1C05403AD2}" type="presParOf" srcId="{CD4ACDB8-B442-4DCB-8452-319D3D7F7BC3}" destId="{9B6296C2-57BE-4EF3-B0FE-B57E211AFD9E}" srcOrd="2" destOrd="0" presId="urn:microsoft.com/office/officeart/2018/5/layout/IconCircleLabelList"/>
    <dgm:cxn modelId="{A3924BF5-4FCA-4648-A0CD-D8C870CBC0D2}" type="presParOf" srcId="{CD4ACDB8-B442-4DCB-8452-319D3D7F7BC3}" destId="{4A6B2908-CB01-4913-8E09-BE0A970C171D}" srcOrd="3" destOrd="0" presId="urn:microsoft.com/office/officeart/2018/5/layout/IconCircleLabelList"/>
    <dgm:cxn modelId="{CEB083D2-1F9E-4774-A33A-B2948FDF094C}" type="presParOf" srcId="{AD16462B-B026-4C79-AAEC-2AE5ABE91359}" destId="{895C10B9-2F7E-4B88-8C48-92EB43D11CED}" srcOrd="3" destOrd="0" presId="urn:microsoft.com/office/officeart/2018/5/layout/IconCircleLabelList"/>
    <dgm:cxn modelId="{22B01945-99E1-4F9E-838B-26053A43BAA2}" type="presParOf" srcId="{AD16462B-B026-4C79-AAEC-2AE5ABE91359}" destId="{4C611857-CD34-4ED8-85EB-95EAF0348363}" srcOrd="4" destOrd="0" presId="urn:microsoft.com/office/officeart/2018/5/layout/IconCircleLabelList"/>
    <dgm:cxn modelId="{2BD61DBC-7340-40CD-8FA6-92D3B5F71C1B}" type="presParOf" srcId="{4C611857-CD34-4ED8-85EB-95EAF0348363}" destId="{C600FFD0-42FA-461C-9D72-DB87ABD7501C}" srcOrd="0" destOrd="0" presId="urn:microsoft.com/office/officeart/2018/5/layout/IconCircleLabelList"/>
    <dgm:cxn modelId="{462AA87D-A838-4BA0-A79F-3A573E380161}" type="presParOf" srcId="{4C611857-CD34-4ED8-85EB-95EAF0348363}" destId="{672DC712-0DE3-44D1-8C25-25964504236F}" srcOrd="1" destOrd="0" presId="urn:microsoft.com/office/officeart/2018/5/layout/IconCircleLabelList"/>
    <dgm:cxn modelId="{031402E1-59B2-48C0-A74B-4BF704CB6FBC}" type="presParOf" srcId="{4C611857-CD34-4ED8-85EB-95EAF0348363}" destId="{2C55FFA7-3D27-447E-9328-ECE1B7EDD992}" srcOrd="2" destOrd="0" presId="urn:microsoft.com/office/officeart/2018/5/layout/IconCircleLabelList"/>
    <dgm:cxn modelId="{9708B0D5-9D22-43B1-875C-E0A838B9ABF4}" type="presParOf" srcId="{4C611857-CD34-4ED8-85EB-95EAF0348363}" destId="{F38EE3A6-A96F-4C6A-A031-CA27F193D53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F2FDFA-6B52-491C-8E69-8CE63BE85C5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385AC6C-4AE0-4DFF-A28F-250419ABE589}">
      <dgm:prSet/>
      <dgm:spPr/>
      <dgm:t>
        <a:bodyPr/>
        <a:lstStyle/>
        <a:p>
          <a:r>
            <a:rPr lang="en-US"/>
            <a:t>Informational Queries</a:t>
          </a:r>
        </a:p>
      </dgm:t>
    </dgm:pt>
    <dgm:pt modelId="{8BC454D5-A8B7-4AB2-8D9D-950999FD76EE}" type="parTrans" cxnId="{5E08EC62-714B-4E48-A19A-4463FEBAD99C}">
      <dgm:prSet/>
      <dgm:spPr/>
      <dgm:t>
        <a:bodyPr/>
        <a:lstStyle/>
        <a:p>
          <a:endParaRPr lang="en-US"/>
        </a:p>
      </dgm:t>
    </dgm:pt>
    <dgm:pt modelId="{92FF7067-0361-424D-ADAF-FAE66596DC8C}" type="sibTrans" cxnId="{5E08EC62-714B-4E48-A19A-4463FEBAD99C}">
      <dgm:prSet/>
      <dgm:spPr/>
      <dgm:t>
        <a:bodyPr/>
        <a:lstStyle/>
        <a:p>
          <a:endParaRPr lang="en-US"/>
        </a:p>
      </dgm:t>
    </dgm:pt>
    <dgm:pt modelId="{66D9B26F-85C2-4442-8470-8ACF9D5817D7}">
      <dgm:prSet/>
      <dgm:spPr/>
      <dgm:t>
        <a:bodyPr/>
        <a:lstStyle/>
        <a:p>
          <a:r>
            <a:rPr lang="en-US"/>
            <a:t>Creative Writing</a:t>
          </a:r>
        </a:p>
      </dgm:t>
    </dgm:pt>
    <dgm:pt modelId="{2223ADF0-12DD-4E1C-B671-EE8EF0A09088}" type="parTrans" cxnId="{ED27DF04-D90D-46BD-8674-9EF0A699604D}">
      <dgm:prSet/>
      <dgm:spPr/>
      <dgm:t>
        <a:bodyPr/>
        <a:lstStyle/>
        <a:p>
          <a:endParaRPr lang="en-US"/>
        </a:p>
      </dgm:t>
    </dgm:pt>
    <dgm:pt modelId="{CACA41EC-4A29-4361-81DB-751ACED4CBD0}" type="sibTrans" cxnId="{ED27DF04-D90D-46BD-8674-9EF0A699604D}">
      <dgm:prSet/>
      <dgm:spPr/>
      <dgm:t>
        <a:bodyPr/>
        <a:lstStyle/>
        <a:p>
          <a:endParaRPr lang="en-US"/>
        </a:p>
      </dgm:t>
    </dgm:pt>
    <dgm:pt modelId="{547BAA99-C257-456D-B14F-C19FAADC8D2D}">
      <dgm:prSet/>
      <dgm:spPr/>
      <dgm:t>
        <a:bodyPr/>
        <a:lstStyle/>
        <a:p>
          <a:r>
            <a:rPr lang="en-US"/>
            <a:t>Conversational Engagements</a:t>
          </a:r>
        </a:p>
      </dgm:t>
    </dgm:pt>
    <dgm:pt modelId="{412042A2-6F0C-4BC0-AD75-5155B90CAD5E}" type="parTrans" cxnId="{50CEF1F8-40CF-4468-A870-39566C7E48F5}">
      <dgm:prSet/>
      <dgm:spPr/>
      <dgm:t>
        <a:bodyPr/>
        <a:lstStyle/>
        <a:p>
          <a:endParaRPr lang="en-US"/>
        </a:p>
      </dgm:t>
    </dgm:pt>
    <dgm:pt modelId="{A72B48ED-8589-4F68-9B1F-32664001ECAA}" type="sibTrans" cxnId="{50CEF1F8-40CF-4468-A870-39566C7E48F5}">
      <dgm:prSet/>
      <dgm:spPr/>
      <dgm:t>
        <a:bodyPr/>
        <a:lstStyle/>
        <a:p>
          <a:endParaRPr lang="en-US"/>
        </a:p>
      </dgm:t>
    </dgm:pt>
    <dgm:pt modelId="{69EE80F2-EB66-487E-A0B0-CC101DF49660}">
      <dgm:prSet/>
      <dgm:spPr/>
      <dgm:t>
        <a:bodyPr/>
        <a:lstStyle/>
        <a:p>
          <a:r>
            <a:rPr lang="en-US"/>
            <a:t>Technical Assistance</a:t>
          </a:r>
        </a:p>
      </dgm:t>
    </dgm:pt>
    <dgm:pt modelId="{0FFA21DB-5A5B-4562-8764-45532889BDA2}" type="parTrans" cxnId="{6698EC82-CF8B-41A4-A8A6-F47499DC0A3C}">
      <dgm:prSet/>
      <dgm:spPr/>
      <dgm:t>
        <a:bodyPr/>
        <a:lstStyle/>
        <a:p>
          <a:endParaRPr lang="en-US"/>
        </a:p>
      </dgm:t>
    </dgm:pt>
    <dgm:pt modelId="{64289AEF-D04B-4C24-902D-37AF823B54AD}" type="sibTrans" cxnId="{6698EC82-CF8B-41A4-A8A6-F47499DC0A3C}">
      <dgm:prSet/>
      <dgm:spPr/>
      <dgm:t>
        <a:bodyPr/>
        <a:lstStyle/>
        <a:p>
          <a:endParaRPr lang="en-US"/>
        </a:p>
      </dgm:t>
    </dgm:pt>
    <dgm:pt modelId="{39D5384D-3288-4EB7-89D1-FAD4511E20F9}">
      <dgm:prSet/>
      <dgm:spPr/>
      <dgm:t>
        <a:bodyPr/>
        <a:lstStyle/>
        <a:p>
          <a:r>
            <a:rPr lang="en-US"/>
            <a:t>Instructional Guidance</a:t>
          </a:r>
        </a:p>
      </dgm:t>
    </dgm:pt>
    <dgm:pt modelId="{6ADB5F11-68A9-4415-9A57-CAFEE9EA6C75}" type="parTrans" cxnId="{C0253483-1DD2-4A6A-8569-7087D51E25C1}">
      <dgm:prSet/>
      <dgm:spPr/>
      <dgm:t>
        <a:bodyPr/>
        <a:lstStyle/>
        <a:p>
          <a:endParaRPr lang="en-US"/>
        </a:p>
      </dgm:t>
    </dgm:pt>
    <dgm:pt modelId="{760AA3AB-6D8A-4C04-8B0B-1A87456C7936}" type="sibTrans" cxnId="{C0253483-1DD2-4A6A-8569-7087D51E25C1}">
      <dgm:prSet/>
      <dgm:spPr/>
      <dgm:t>
        <a:bodyPr/>
        <a:lstStyle/>
        <a:p>
          <a:endParaRPr lang="en-US"/>
        </a:p>
      </dgm:t>
    </dgm:pt>
    <dgm:pt modelId="{4CA5E868-279D-4F0A-AB1F-714455C3ABF8}" type="pres">
      <dgm:prSet presAssocID="{B8F2FDFA-6B52-491C-8E69-8CE63BE85C5C}" presName="root" presStyleCnt="0">
        <dgm:presLayoutVars>
          <dgm:dir/>
          <dgm:resizeHandles val="exact"/>
        </dgm:presLayoutVars>
      </dgm:prSet>
      <dgm:spPr/>
    </dgm:pt>
    <dgm:pt modelId="{E6881251-E5E5-4E70-87B1-973E9FF709FD}" type="pres">
      <dgm:prSet presAssocID="{E385AC6C-4AE0-4DFF-A28F-250419ABE589}" presName="compNode" presStyleCnt="0"/>
      <dgm:spPr/>
    </dgm:pt>
    <dgm:pt modelId="{09EBE4CC-B0AC-4020-8509-6EE42F3B00BD}" type="pres">
      <dgm:prSet presAssocID="{E385AC6C-4AE0-4DFF-A28F-250419ABE589}" presName="bgRect" presStyleLbl="bgShp" presStyleIdx="0" presStyleCnt="5"/>
      <dgm:spPr/>
    </dgm:pt>
    <dgm:pt modelId="{3FDE8926-9639-4E31-8668-B78F2BFF7DCE}" type="pres">
      <dgm:prSet presAssocID="{E385AC6C-4AE0-4DFF-A28F-250419ABE58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1915887F-42FF-4BAF-AC84-1EEBA6D71585}" type="pres">
      <dgm:prSet presAssocID="{E385AC6C-4AE0-4DFF-A28F-250419ABE589}" presName="spaceRect" presStyleCnt="0"/>
      <dgm:spPr/>
    </dgm:pt>
    <dgm:pt modelId="{471A1AC5-08FC-4CF8-8DD0-1A866A488C79}" type="pres">
      <dgm:prSet presAssocID="{E385AC6C-4AE0-4DFF-A28F-250419ABE589}" presName="parTx" presStyleLbl="revTx" presStyleIdx="0" presStyleCnt="5">
        <dgm:presLayoutVars>
          <dgm:chMax val="0"/>
          <dgm:chPref val="0"/>
        </dgm:presLayoutVars>
      </dgm:prSet>
      <dgm:spPr/>
    </dgm:pt>
    <dgm:pt modelId="{26884D26-6774-4045-A12F-988E935E01F4}" type="pres">
      <dgm:prSet presAssocID="{92FF7067-0361-424D-ADAF-FAE66596DC8C}" presName="sibTrans" presStyleCnt="0"/>
      <dgm:spPr/>
    </dgm:pt>
    <dgm:pt modelId="{32EA04DA-206E-436D-8571-DAB2FF5B81A8}" type="pres">
      <dgm:prSet presAssocID="{66D9B26F-85C2-4442-8470-8ACF9D5817D7}" presName="compNode" presStyleCnt="0"/>
      <dgm:spPr/>
    </dgm:pt>
    <dgm:pt modelId="{C7091F37-512C-4B9D-A468-09EAEE03161D}" type="pres">
      <dgm:prSet presAssocID="{66D9B26F-85C2-4442-8470-8ACF9D5817D7}" presName="bgRect" presStyleLbl="bgShp" presStyleIdx="1" presStyleCnt="5"/>
      <dgm:spPr/>
    </dgm:pt>
    <dgm:pt modelId="{71A219F3-0921-4BFC-AC7E-F0BF462C2C04}" type="pres">
      <dgm:prSet presAssocID="{66D9B26F-85C2-4442-8470-8ACF9D5817D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D22B6DD0-6E79-44DF-B731-596966869E55}" type="pres">
      <dgm:prSet presAssocID="{66D9B26F-85C2-4442-8470-8ACF9D5817D7}" presName="spaceRect" presStyleCnt="0"/>
      <dgm:spPr/>
    </dgm:pt>
    <dgm:pt modelId="{8CF24A0B-ED10-4EFB-ADAF-6A3D83794128}" type="pres">
      <dgm:prSet presAssocID="{66D9B26F-85C2-4442-8470-8ACF9D5817D7}" presName="parTx" presStyleLbl="revTx" presStyleIdx="1" presStyleCnt="5">
        <dgm:presLayoutVars>
          <dgm:chMax val="0"/>
          <dgm:chPref val="0"/>
        </dgm:presLayoutVars>
      </dgm:prSet>
      <dgm:spPr/>
    </dgm:pt>
    <dgm:pt modelId="{954F023C-BE25-468B-AB74-8C6AE0BC4760}" type="pres">
      <dgm:prSet presAssocID="{CACA41EC-4A29-4361-81DB-751ACED4CBD0}" presName="sibTrans" presStyleCnt="0"/>
      <dgm:spPr/>
    </dgm:pt>
    <dgm:pt modelId="{E6F55AE6-94BC-4FEC-AC2B-95313E564447}" type="pres">
      <dgm:prSet presAssocID="{547BAA99-C257-456D-B14F-C19FAADC8D2D}" presName="compNode" presStyleCnt="0"/>
      <dgm:spPr/>
    </dgm:pt>
    <dgm:pt modelId="{8C31B2FF-8D4F-4039-847E-1727ADD1BE71}" type="pres">
      <dgm:prSet presAssocID="{547BAA99-C257-456D-B14F-C19FAADC8D2D}" presName="bgRect" presStyleLbl="bgShp" presStyleIdx="2" presStyleCnt="5"/>
      <dgm:spPr/>
    </dgm:pt>
    <dgm:pt modelId="{C5F3FA17-B51C-4E2C-9942-6E2679798B07}" type="pres">
      <dgm:prSet presAssocID="{547BAA99-C257-456D-B14F-C19FAADC8D2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8BB1296F-E1BE-424F-84AE-5F935E39FD7F}" type="pres">
      <dgm:prSet presAssocID="{547BAA99-C257-456D-B14F-C19FAADC8D2D}" presName="spaceRect" presStyleCnt="0"/>
      <dgm:spPr/>
    </dgm:pt>
    <dgm:pt modelId="{E3250F12-5E23-4CDD-8EC6-15DDE512990D}" type="pres">
      <dgm:prSet presAssocID="{547BAA99-C257-456D-B14F-C19FAADC8D2D}" presName="parTx" presStyleLbl="revTx" presStyleIdx="2" presStyleCnt="5">
        <dgm:presLayoutVars>
          <dgm:chMax val="0"/>
          <dgm:chPref val="0"/>
        </dgm:presLayoutVars>
      </dgm:prSet>
      <dgm:spPr/>
    </dgm:pt>
    <dgm:pt modelId="{209DE7F4-10EA-4A4D-A3F3-408C740E72C7}" type="pres">
      <dgm:prSet presAssocID="{A72B48ED-8589-4F68-9B1F-32664001ECAA}" presName="sibTrans" presStyleCnt="0"/>
      <dgm:spPr/>
    </dgm:pt>
    <dgm:pt modelId="{7C140A58-0AC6-4CB3-B647-68876C98BBC5}" type="pres">
      <dgm:prSet presAssocID="{69EE80F2-EB66-487E-A0B0-CC101DF49660}" presName="compNode" presStyleCnt="0"/>
      <dgm:spPr/>
    </dgm:pt>
    <dgm:pt modelId="{6051EBF4-244E-4F2B-AD0F-F4DB63199952}" type="pres">
      <dgm:prSet presAssocID="{69EE80F2-EB66-487E-A0B0-CC101DF49660}" presName="bgRect" presStyleLbl="bgShp" presStyleIdx="3" presStyleCnt="5"/>
      <dgm:spPr/>
    </dgm:pt>
    <dgm:pt modelId="{EEE4D05E-7E1E-4152-AD5E-B25179EDAB31}" type="pres">
      <dgm:prSet presAssocID="{69EE80F2-EB66-487E-A0B0-CC101DF4966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l center"/>
        </a:ext>
      </dgm:extLst>
    </dgm:pt>
    <dgm:pt modelId="{0EEAD531-87F8-48C7-89B7-25E9A86FE8A0}" type="pres">
      <dgm:prSet presAssocID="{69EE80F2-EB66-487E-A0B0-CC101DF49660}" presName="spaceRect" presStyleCnt="0"/>
      <dgm:spPr/>
    </dgm:pt>
    <dgm:pt modelId="{80A82CDC-C2BC-4B8E-BE41-56ABE31E2300}" type="pres">
      <dgm:prSet presAssocID="{69EE80F2-EB66-487E-A0B0-CC101DF49660}" presName="parTx" presStyleLbl="revTx" presStyleIdx="3" presStyleCnt="5">
        <dgm:presLayoutVars>
          <dgm:chMax val="0"/>
          <dgm:chPref val="0"/>
        </dgm:presLayoutVars>
      </dgm:prSet>
      <dgm:spPr/>
    </dgm:pt>
    <dgm:pt modelId="{3CA74D6D-B54B-431F-895E-472228360E1C}" type="pres">
      <dgm:prSet presAssocID="{64289AEF-D04B-4C24-902D-37AF823B54AD}" presName="sibTrans" presStyleCnt="0"/>
      <dgm:spPr/>
    </dgm:pt>
    <dgm:pt modelId="{23E17FF5-3684-45E8-B664-BBDE19EE6E47}" type="pres">
      <dgm:prSet presAssocID="{39D5384D-3288-4EB7-89D1-FAD4511E20F9}" presName="compNode" presStyleCnt="0"/>
      <dgm:spPr/>
    </dgm:pt>
    <dgm:pt modelId="{E9870DF3-8F8F-43F7-8FEC-CD0FF53EBBC0}" type="pres">
      <dgm:prSet presAssocID="{39D5384D-3288-4EB7-89D1-FAD4511E20F9}" presName="bgRect" presStyleLbl="bgShp" presStyleIdx="4" presStyleCnt="5"/>
      <dgm:spPr/>
    </dgm:pt>
    <dgm:pt modelId="{4886D9CD-0729-431C-9068-E0D43240B37E}" type="pres">
      <dgm:prSet presAssocID="{39D5384D-3288-4EB7-89D1-FAD4511E20F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eacher"/>
        </a:ext>
      </dgm:extLst>
    </dgm:pt>
    <dgm:pt modelId="{E9A0A1C8-DEBC-4967-8E60-BCC9E29E28EE}" type="pres">
      <dgm:prSet presAssocID="{39D5384D-3288-4EB7-89D1-FAD4511E20F9}" presName="spaceRect" presStyleCnt="0"/>
      <dgm:spPr/>
    </dgm:pt>
    <dgm:pt modelId="{96D6F566-252C-4A4A-BD8C-5387DA68AE15}" type="pres">
      <dgm:prSet presAssocID="{39D5384D-3288-4EB7-89D1-FAD4511E20F9}" presName="parTx" presStyleLbl="revTx" presStyleIdx="4" presStyleCnt="5">
        <dgm:presLayoutVars>
          <dgm:chMax val="0"/>
          <dgm:chPref val="0"/>
        </dgm:presLayoutVars>
      </dgm:prSet>
      <dgm:spPr/>
    </dgm:pt>
  </dgm:ptLst>
  <dgm:cxnLst>
    <dgm:cxn modelId="{ED27DF04-D90D-46BD-8674-9EF0A699604D}" srcId="{B8F2FDFA-6B52-491C-8E69-8CE63BE85C5C}" destId="{66D9B26F-85C2-4442-8470-8ACF9D5817D7}" srcOrd="1" destOrd="0" parTransId="{2223ADF0-12DD-4E1C-B671-EE8EF0A09088}" sibTransId="{CACA41EC-4A29-4361-81DB-751ACED4CBD0}"/>
    <dgm:cxn modelId="{58AF0E24-8294-4F15-8A4B-A31E35269E3F}" type="presOf" srcId="{39D5384D-3288-4EB7-89D1-FAD4511E20F9}" destId="{96D6F566-252C-4A4A-BD8C-5387DA68AE15}" srcOrd="0" destOrd="0" presId="urn:microsoft.com/office/officeart/2018/2/layout/IconVerticalSolidList"/>
    <dgm:cxn modelId="{7B847F2D-1CDB-48F5-95A3-B48676968B3B}" type="presOf" srcId="{66D9B26F-85C2-4442-8470-8ACF9D5817D7}" destId="{8CF24A0B-ED10-4EFB-ADAF-6A3D83794128}" srcOrd="0" destOrd="0" presId="urn:microsoft.com/office/officeart/2018/2/layout/IconVerticalSolidList"/>
    <dgm:cxn modelId="{3B98A437-6322-4BCA-A695-C175CCC7C53D}" type="presOf" srcId="{69EE80F2-EB66-487E-A0B0-CC101DF49660}" destId="{80A82CDC-C2BC-4B8E-BE41-56ABE31E2300}" srcOrd="0" destOrd="0" presId="urn:microsoft.com/office/officeart/2018/2/layout/IconVerticalSolidList"/>
    <dgm:cxn modelId="{1AF9695C-9BB9-4842-BD6F-FE1ECCB62579}" type="presOf" srcId="{E385AC6C-4AE0-4DFF-A28F-250419ABE589}" destId="{471A1AC5-08FC-4CF8-8DD0-1A866A488C79}" srcOrd="0" destOrd="0" presId="urn:microsoft.com/office/officeart/2018/2/layout/IconVerticalSolidList"/>
    <dgm:cxn modelId="{5E08EC62-714B-4E48-A19A-4463FEBAD99C}" srcId="{B8F2FDFA-6B52-491C-8E69-8CE63BE85C5C}" destId="{E385AC6C-4AE0-4DFF-A28F-250419ABE589}" srcOrd="0" destOrd="0" parTransId="{8BC454D5-A8B7-4AB2-8D9D-950999FD76EE}" sibTransId="{92FF7067-0361-424D-ADAF-FAE66596DC8C}"/>
    <dgm:cxn modelId="{6698EC82-CF8B-41A4-A8A6-F47499DC0A3C}" srcId="{B8F2FDFA-6B52-491C-8E69-8CE63BE85C5C}" destId="{69EE80F2-EB66-487E-A0B0-CC101DF49660}" srcOrd="3" destOrd="0" parTransId="{0FFA21DB-5A5B-4562-8764-45532889BDA2}" sibTransId="{64289AEF-D04B-4C24-902D-37AF823B54AD}"/>
    <dgm:cxn modelId="{C0253483-1DD2-4A6A-8569-7087D51E25C1}" srcId="{B8F2FDFA-6B52-491C-8E69-8CE63BE85C5C}" destId="{39D5384D-3288-4EB7-89D1-FAD4511E20F9}" srcOrd="4" destOrd="0" parTransId="{6ADB5F11-68A9-4415-9A57-CAFEE9EA6C75}" sibTransId="{760AA3AB-6D8A-4C04-8B0B-1A87456C7936}"/>
    <dgm:cxn modelId="{0744DA89-85CD-42BE-AF4C-F95F67530BE9}" type="presOf" srcId="{547BAA99-C257-456D-B14F-C19FAADC8D2D}" destId="{E3250F12-5E23-4CDD-8EC6-15DDE512990D}" srcOrd="0" destOrd="0" presId="urn:microsoft.com/office/officeart/2018/2/layout/IconVerticalSolidList"/>
    <dgm:cxn modelId="{833E348E-B952-4318-AF18-E9F213727E02}" type="presOf" srcId="{B8F2FDFA-6B52-491C-8E69-8CE63BE85C5C}" destId="{4CA5E868-279D-4F0A-AB1F-714455C3ABF8}" srcOrd="0" destOrd="0" presId="urn:microsoft.com/office/officeart/2018/2/layout/IconVerticalSolidList"/>
    <dgm:cxn modelId="{50CEF1F8-40CF-4468-A870-39566C7E48F5}" srcId="{B8F2FDFA-6B52-491C-8E69-8CE63BE85C5C}" destId="{547BAA99-C257-456D-B14F-C19FAADC8D2D}" srcOrd="2" destOrd="0" parTransId="{412042A2-6F0C-4BC0-AD75-5155B90CAD5E}" sibTransId="{A72B48ED-8589-4F68-9B1F-32664001ECAA}"/>
    <dgm:cxn modelId="{C3F6CF14-2B7F-4467-955F-859B98855467}" type="presParOf" srcId="{4CA5E868-279D-4F0A-AB1F-714455C3ABF8}" destId="{E6881251-E5E5-4E70-87B1-973E9FF709FD}" srcOrd="0" destOrd="0" presId="urn:microsoft.com/office/officeart/2018/2/layout/IconVerticalSolidList"/>
    <dgm:cxn modelId="{2C061CEF-9BD7-48BB-8A89-D6E44767847A}" type="presParOf" srcId="{E6881251-E5E5-4E70-87B1-973E9FF709FD}" destId="{09EBE4CC-B0AC-4020-8509-6EE42F3B00BD}" srcOrd="0" destOrd="0" presId="urn:microsoft.com/office/officeart/2018/2/layout/IconVerticalSolidList"/>
    <dgm:cxn modelId="{CA3AFCAA-B840-48CE-A9B2-D28A7A4157D1}" type="presParOf" srcId="{E6881251-E5E5-4E70-87B1-973E9FF709FD}" destId="{3FDE8926-9639-4E31-8668-B78F2BFF7DCE}" srcOrd="1" destOrd="0" presId="urn:microsoft.com/office/officeart/2018/2/layout/IconVerticalSolidList"/>
    <dgm:cxn modelId="{8CE4B6CD-82C2-47CF-81B2-BD0BB324E492}" type="presParOf" srcId="{E6881251-E5E5-4E70-87B1-973E9FF709FD}" destId="{1915887F-42FF-4BAF-AC84-1EEBA6D71585}" srcOrd="2" destOrd="0" presId="urn:microsoft.com/office/officeart/2018/2/layout/IconVerticalSolidList"/>
    <dgm:cxn modelId="{3E3AA33B-2524-4865-B403-ED89E2751AD0}" type="presParOf" srcId="{E6881251-E5E5-4E70-87B1-973E9FF709FD}" destId="{471A1AC5-08FC-4CF8-8DD0-1A866A488C79}" srcOrd="3" destOrd="0" presId="urn:microsoft.com/office/officeart/2018/2/layout/IconVerticalSolidList"/>
    <dgm:cxn modelId="{C4B73520-4C7A-4984-9D21-8CB174ADC5D5}" type="presParOf" srcId="{4CA5E868-279D-4F0A-AB1F-714455C3ABF8}" destId="{26884D26-6774-4045-A12F-988E935E01F4}" srcOrd="1" destOrd="0" presId="urn:microsoft.com/office/officeart/2018/2/layout/IconVerticalSolidList"/>
    <dgm:cxn modelId="{FDB85C1E-1186-4224-84A5-7D73F4B5CDD8}" type="presParOf" srcId="{4CA5E868-279D-4F0A-AB1F-714455C3ABF8}" destId="{32EA04DA-206E-436D-8571-DAB2FF5B81A8}" srcOrd="2" destOrd="0" presId="urn:microsoft.com/office/officeart/2018/2/layout/IconVerticalSolidList"/>
    <dgm:cxn modelId="{776D2B33-D060-4639-9F5D-9E7E665B24E4}" type="presParOf" srcId="{32EA04DA-206E-436D-8571-DAB2FF5B81A8}" destId="{C7091F37-512C-4B9D-A468-09EAEE03161D}" srcOrd="0" destOrd="0" presId="urn:microsoft.com/office/officeart/2018/2/layout/IconVerticalSolidList"/>
    <dgm:cxn modelId="{003B6D5B-CF8D-4352-B47C-383C2FC99991}" type="presParOf" srcId="{32EA04DA-206E-436D-8571-DAB2FF5B81A8}" destId="{71A219F3-0921-4BFC-AC7E-F0BF462C2C04}" srcOrd="1" destOrd="0" presId="urn:microsoft.com/office/officeart/2018/2/layout/IconVerticalSolidList"/>
    <dgm:cxn modelId="{46B51F51-79AC-4DEE-97DF-DD1DBB85E347}" type="presParOf" srcId="{32EA04DA-206E-436D-8571-DAB2FF5B81A8}" destId="{D22B6DD0-6E79-44DF-B731-596966869E55}" srcOrd="2" destOrd="0" presId="urn:microsoft.com/office/officeart/2018/2/layout/IconVerticalSolidList"/>
    <dgm:cxn modelId="{DC3BD143-663A-4D02-A412-240E774FF5F7}" type="presParOf" srcId="{32EA04DA-206E-436D-8571-DAB2FF5B81A8}" destId="{8CF24A0B-ED10-4EFB-ADAF-6A3D83794128}" srcOrd="3" destOrd="0" presId="urn:microsoft.com/office/officeart/2018/2/layout/IconVerticalSolidList"/>
    <dgm:cxn modelId="{DC633708-F548-415B-B691-A80C7CF94A37}" type="presParOf" srcId="{4CA5E868-279D-4F0A-AB1F-714455C3ABF8}" destId="{954F023C-BE25-468B-AB74-8C6AE0BC4760}" srcOrd="3" destOrd="0" presId="urn:microsoft.com/office/officeart/2018/2/layout/IconVerticalSolidList"/>
    <dgm:cxn modelId="{8B691B34-4BDD-4B2C-82CD-0B1EEDAB3D3A}" type="presParOf" srcId="{4CA5E868-279D-4F0A-AB1F-714455C3ABF8}" destId="{E6F55AE6-94BC-4FEC-AC2B-95313E564447}" srcOrd="4" destOrd="0" presId="urn:microsoft.com/office/officeart/2018/2/layout/IconVerticalSolidList"/>
    <dgm:cxn modelId="{5CECDDC2-F4D9-4861-A771-8E49826F8FD4}" type="presParOf" srcId="{E6F55AE6-94BC-4FEC-AC2B-95313E564447}" destId="{8C31B2FF-8D4F-4039-847E-1727ADD1BE71}" srcOrd="0" destOrd="0" presId="urn:microsoft.com/office/officeart/2018/2/layout/IconVerticalSolidList"/>
    <dgm:cxn modelId="{7652DDAF-A463-4957-8378-0BF11797BBAE}" type="presParOf" srcId="{E6F55AE6-94BC-4FEC-AC2B-95313E564447}" destId="{C5F3FA17-B51C-4E2C-9942-6E2679798B07}" srcOrd="1" destOrd="0" presId="urn:microsoft.com/office/officeart/2018/2/layout/IconVerticalSolidList"/>
    <dgm:cxn modelId="{A197062D-642A-44BA-82CC-369816483AC4}" type="presParOf" srcId="{E6F55AE6-94BC-4FEC-AC2B-95313E564447}" destId="{8BB1296F-E1BE-424F-84AE-5F935E39FD7F}" srcOrd="2" destOrd="0" presId="urn:microsoft.com/office/officeart/2018/2/layout/IconVerticalSolidList"/>
    <dgm:cxn modelId="{396C5C8A-BCED-4D71-BC43-7884C396FEF4}" type="presParOf" srcId="{E6F55AE6-94BC-4FEC-AC2B-95313E564447}" destId="{E3250F12-5E23-4CDD-8EC6-15DDE512990D}" srcOrd="3" destOrd="0" presId="urn:microsoft.com/office/officeart/2018/2/layout/IconVerticalSolidList"/>
    <dgm:cxn modelId="{0B0DADA2-8E0C-4810-B0D3-5C40B87E3E12}" type="presParOf" srcId="{4CA5E868-279D-4F0A-AB1F-714455C3ABF8}" destId="{209DE7F4-10EA-4A4D-A3F3-408C740E72C7}" srcOrd="5" destOrd="0" presId="urn:microsoft.com/office/officeart/2018/2/layout/IconVerticalSolidList"/>
    <dgm:cxn modelId="{BA9CB869-DCB7-4EAE-A9E0-A5E967376387}" type="presParOf" srcId="{4CA5E868-279D-4F0A-AB1F-714455C3ABF8}" destId="{7C140A58-0AC6-4CB3-B647-68876C98BBC5}" srcOrd="6" destOrd="0" presId="urn:microsoft.com/office/officeart/2018/2/layout/IconVerticalSolidList"/>
    <dgm:cxn modelId="{DC8B2D8B-D2E2-4EDC-AEFC-0E35BD61FD6A}" type="presParOf" srcId="{7C140A58-0AC6-4CB3-B647-68876C98BBC5}" destId="{6051EBF4-244E-4F2B-AD0F-F4DB63199952}" srcOrd="0" destOrd="0" presId="urn:microsoft.com/office/officeart/2018/2/layout/IconVerticalSolidList"/>
    <dgm:cxn modelId="{5BA2841A-6151-4E80-AF60-8A69B6C9C9AC}" type="presParOf" srcId="{7C140A58-0AC6-4CB3-B647-68876C98BBC5}" destId="{EEE4D05E-7E1E-4152-AD5E-B25179EDAB31}" srcOrd="1" destOrd="0" presId="urn:microsoft.com/office/officeart/2018/2/layout/IconVerticalSolidList"/>
    <dgm:cxn modelId="{D65BF053-C8EB-4ABA-88FB-AA124AF6C706}" type="presParOf" srcId="{7C140A58-0AC6-4CB3-B647-68876C98BBC5}" destId="{0EEAD531-87F8-48C7-89B7-25E9A86FE8A0}" srcOrd="2" destOrd="0" presId="urn:microsoft.com/office/officeart/2018/2/layout/IconVerticalSolidList"/>
    <dgm:cxn modelId="{621C5AD2-92C5-444F-9C67-C2134F200F59}" type="presParOf" srcId="{7C140A58-0AC6-4CB3-B647-68876C98BBC5}" destId="{80A82CDC-C2BC-4B8E-BE41-56ABE31E2300}" srcOrd="3" destOrd="0" presId="urn:microsoft.com/office/officeart/2018/2/layout/IconVerticalSolidList"/>
    <dgm:cxn modelId="{6D6134AB-FD21-4B31-A4DE-DFB1B979A6F1}" type="presParOf" srcId="{4CA5E868-279D-4F0A-AB1F-714455C3ABF8}" destId="{3CA74D6D-B54B-431F-895E-472228360E1C}" srcOrd="7" destOrd="0" presId="urn:microsoft.com/office/officeart/2018/2/layout/IconVerticalSolidList"/>
    <dgm:cxn modelId="{91A4E677-903C-465C-B0C6-4D7BE625DFE6}" type="presParOf" srcId="{4CA5E868-279D-4F0A-AB1F-714455C3ABF8}" destId="{23E17FF5-3684-45E8-B664-BBDE19EE6E47}" srcOrd="8" destOrd="0" presId="urn:microsoft.com/office/officeart/2018/2/layout/IconVerticalSolidList"/>
    <dgm:cxn modelId="{2D42F4AE-2D59-44CB-83B3-1A8F3F6BD998}" type="presParOf" srcId="{23E17FF5-3684-45E8-B664-BBDE19EE6E47}" destId="{E9870DF3-8F8F-43F7-8FEC-CD0FF53EBBC0}" srcOrd="0" destOrd="0" presId="urn:microsoft.com/office/officeart/2018/2/layout/IconVerticalSolidList"/>
    <dgm:cxn modelId="{CFDBA908-DDD4-4A55-97FE-36870FCC7336}" type="presParOf" srcId="{23E17FF5-3684-45E8-B664-BBDE19EE6E47}" destId="{4886D9CD-0729-431C-9068-E0D43240B37E}" srcOrd="1" destOrd="0" presId="urn:microsoft.com/office/officeart/2018/2/layout/IconVerticalSolidList"/>
    <dgm:cxn modelId="{1E6CED50-A267-496D-9048-5F3DC8F1C54A}" type="presParOf" srcId="{23E17FF5-3684-45E8-B664-BBDE19EE6E47}" destId="{E9A0A1C8-DEBC-4967-8E60-BCC9E29E28EE}" srcOrd="2" destOrd="0" presId="urn:microsoft.com/office/officeart/2018/2/layout/IconVerticalSolidList"/>
    <dgm:cxn modelId="{616D2F76-4FB1-404D-9E9E-AA37071CED01}" type="presParOf" srcId="{23E17FF5-3684-45E8-B664-BBDE19EE6E47}" destId="{96D6F566-252C-4A4A-BD8C-5387DA68AE1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176E2F-8EFC-402A-8A4A-405C125D223F}" type="doc">
      <dgm:prSet loTypeId="urn:microsoft.com/office/officeart/2005/8/layout/hierarchy3" loCatId="hierarchy" qsTypeId="urn:microsoft.com/office/officeart/2005/8/quickstyle/simple4" qsCatId="simple" csTypeId="urn:microsoft.com/office/officeart/2005/8/colors/colorful5" csCatId="colorful"/>
      <dgm:spPr/>
      <dgm:t>
        <a:bodyPr/>
        <a:lstStyle/>
        <a:p>
          <a:endParaRPr lang="en-US"/>
        </a:p>
      </dgm:t>
    </dgm:pt>
    <dgm:pt modelId="{DF18F725-967D-49D5-99AE-5B3D36DB996E}">
      <dgm:prSet/>
      <dgm:spPr/>
      <dgm:t>
        <a:bodyPr/>
        <a:lstStyle/>
        <a:p>
          <a:r>
            <a:rPr lang="en-US"/>
            <a:t>Avoiding</a:t>
          </a:r>
        </a:p>
      </dgm:t>
    </dgm:pt>
    <dgm:pt modelId="{1ED5596A-5794-45FD-8849-A27C65090387}" type="parTrans" cxnId="{DB7AED14-8AAD-49EB-94C9-BCB9FCE1EE50}">
      <dgm:prSet/>
      <dgm:spPr/>
      <dgm:t>
        <a:bodyPr/>
        <a:lstStyle/>
        <a:p>
          <a:endParaRPr lang="en-US"/>
        </a:p>
      </dgm:t>
    </dgm:pt>
    <dgm:pt modelId="{0C9AC165-1477-400B-B42E-2254159C7288}" type="sibTrans" cxnId="{DB7AED14-8AAD-49EB-94C9-BCB9FCE1EE50}">
      <dgm:prSet/>
      <dgm:spPr/>
      <dgm:t>
        <a:bodyPr/>
        <a:lstStyle/>
        <a:p>
          <a:endParaRPr lang="en-US"/>
        </a:p>
      </dgm:t>
    </dgm:pt>
    <dgm:pt modelId="{18CBA484-6792-4B74-A1E2-02BE0FD236B8}">
      <dgm:prSet/>
      <dgm:spPr/>
      <dgm:t>
        <a:bodyPr/>
        <a:lstStyle/>
        <a:p>
          <a:r>
            <a:rPr lang="en-US"/>
            <a:t>Avoiding Ambiguity</a:t>
          </a:r>
        </a:p>
      </dgm:t>
    </dgm:pt>
    <dgm:pt modelId="{EB14C8E1-2023-43C4-8DC1-CAA47906BAA4}" type="parTrans" cxnId="{0E6BB180-D3C9-43E6-A386-E6E497C986C0}">
      <dgm:prSet/>
      <dgm:spPr/>
      <dgm:t>
        <a:bodyPr/>
        <a:lstStyle/>
        <a:p>
          <a:endParaRPr lang="en-US"/>
        </a:p>
      </dgm:t>
    </dgm:pt>
    <dgm:pt modelId="{B6D6EB9B-2890-495E-86FB-14D47D3FC137}" type="sibTrans" cxnId="{0E6BB180-D3C9-43E6-A386-E6E497C986C0}">
      <dgm:prSet/>
      <dgm:spPr/>
      <dgm:t>
        <a:bodyPr/>
        <a:lstStyle/>
        <a:p>
          <a:endParaRPr lang="en-US"/>
        </a:p>
      </dgm:t>
    </dgm:pt>
    <dgm:pt modelId="{16B209CA-73C8-4A4C-AD9E-CB89065A6094}">
      <dgm:prSet/>
      <dgm:spPr/>
      <dgm:t>
        <a:bodyPr/>
        <a:lstStyle/>
        <a:p>
          <a:r>
            <a:rPr lang="en-US"/>
            <a:t>Incorporating</a:t>
          </a:r>
        </a:p>
      </dgm:t>
    </dgm:pt>
    <dgm:pt modelId="{6D5C329B-D14E-4FD4-A341-728AE892B73F}" type="parTrans" cxnId="{416122DA-FCED-4660-8C68-9C0999D2BBAC}">
      <dgm:prSet/>
      <dgm:spPr/>
      <dgm:t>
        <a:bodyPr/>
        <a:lstStyle/>
        <a:p>
          <a:endParaRPr lang="en-US"/>
        </a:p>
      </dgm:t>
    </dgm:pt>
    <dgm:pt modelId="{212DB159-A89E-4460-8DCE-D28E2BB3B625}" type="sibTrans" cxnId="{416122DA-FCED-4660-8C68-9C0999D2BBAC}">
      <dgm:prSet/>
      <dgm:spPr/>
      <dgm:t>
        <a:bodyPr/>
        <a:lstStyle/>
        <a:p>
          <a:endParaRPr lang="en-US"/>
        </a:p>
      </dgm:t>
    </dgm:pt>
    <dgm:pt modelId="{A05E5BA9-60C4-418D-BF43-2CA1929E2966}">
      <dgm:prSet/>
      <dgm:spPr/>
      <dgm:t>
        <a:bodyPr/>
        <a:lstStyle/>
        <a:p>
          <a:r>
            <a:rPr lang="en-US"/>
            <a:t>Incorporating Context</a:t>
          </a:r>
        </a:p>
      </dgm:t>
    </dgm:pt>
    <dgm:pt modelId="{AB4685FB-5FCB-4AB0-BBE0-1A9BACAE79EA}" type="parTrans" cxnId="{331CA80B-1469-4FDB-9FA9-9228133119A0}">
      <dgm:prSet/>
      <dgm:spPr/>
      <dgm:t>
        <a:bodyPr/>
        <a:lstStyle/>
        <a:p>
          <a:endParaRPr lang="en-US"/>
        </a:p>
      </dgm:t>
    </dgm:pt>
    <dgm:pt modelId="{958E198E-EA00-477C-A611-000252328DF7}" type="sibTrans" cxnId="{331CA80B-1469-4FDB-9FA9-9228133119A0}">
      <dgm:prSet/>
      <dgm:spPr/>
      <dgm:t>
        <a:bodyPr/>
        <a:lstStyle/>
        <a:p>
          <a:endParaRPr lang="en-US"/>
        </a:p>
      </dgm:t>
    </dgm:pt>
    <dgm:pt modelId="{E1ED28A9-1C40-4517-87BE-9A0563FA7434}">
      <dgm:prSet/>
      <dgm:spPr/>
      <dgm:t>
        <a:bodyPr/>
        <a:lstStyle/>
        <a:p>
          <a:r>
            <a:rPr lang="en-US"/>
            <a:t>Tailoring</a:t>
          </a:r>
        </a:p>
      </dgm:t>
    </dgm:pt>
    <dgm:pt modelId="{013EC9E5-91B8-470C-A46E-946D13FC314E}" type="parTrans" cxnId="{67B413C7-A4F3-4450-A40A-D1C6D32EB8F9}">
      <dgm:prSet/>
      <dgm:spPr/>
      <dgm:t>
        <a:bodyPr/>
        <a:lstStyle/>
        <a:p>
          <a:endParaRPr lang="en-US"/>
        </a:p>
      </dgm:t>
    </dgm:pt>
    <dgm:pt modelId="{4FD11AF8-D831-492E-9F8F-C0A2478EFD5B}" type="sibTrans" cxnId="{67B413C7-A4F3-4450-A40A-D1C6D32EB8F9}">
      <dgm:prSet/>
      <dgm:spPr/>
      <dgm:t>
        <a:bodyPr/>
        <a:lstStyle/>
        <a:p>
          <a:endParaRPr lang="en-US"/>
        </a:p>
      </dgm:t>
    </dgm:pt>
    <dgm:pt modelId="{166362C4-76AB-497C-9E4D-CF93517F10FA}">
      <dgm:prSet/>
      <dgm:spPr/>
      <dgm:t>
        <a:bodyPr/>
        <a:lstStyle/>
        <a:p>
          <a:r>
            <a:rPr lang="en-US"/>
            <a:t>Tailoring Prompt Length</a:t>
          </a:r>
        </a:p>
      </dgm:t>
    </dgm:pt>
    <dgm:pt modelId="{EAD7D3F6-086C-46D2-BBB9-B69031249D11}" type="parTrans" cxnId="{9B2D8280-9425-4965-9B03-F92FD6211B58}">
      <dgm:prSet/>
      <dgm:spPr/>
      <dgm:t>
        <a:bodyPr/>
        <a:lstStyle/>
        <a:p>
          <a:endParaRPr lang="en-US"/>
        </a:p>
      </dgm:t>
    </dgm:pt>
    <dgm:pt modelId="{A32C6F4B-3BC2-4BA7-A21C-190674C3B572}" type="sibTrans" cxnId="{9B2D8280-9425-4965-9B03-F92FD6211B58}">
      <dgm:prSet/>
      <dgm:spPr/>
      <dgm:t>
        <a:bodyPr/>
        <a:lstStyle/>
        <a:p>
          <a:endParaRPr lang="en-US"/>
        </a:p>
      </dgm:t>
    </dgm:pt>
    <dgm:pt modelId="{5C0B13AD-42F3-47E6-904E-E962F0178E0D}">
      <dgm:prSet/>
      <dgm:spPr/>
      <dgm:t>
        <a:bodyPr/>
        <a:lstStyle/>
        <a:p>
          <a:r>
            <a:rPr lang="en-US"/>
            <a:t>Specifying</a:t>
          </a:r>
        </a:p>
      </dgm:t>
    </dgm:pt>
    <dgm:pt modelId="{EB50E3E9-FADF-4133-9ED3-7B8C2E56DA52}" type="parTrans" cxnId="{15B3985A-4DF6-402D-8F46-0E62580DBB61}">
      <dgm:prSet/>
      <dgm:spPr/>
      <dgm:t>
        <a:bodyPr/>
        <a:lstStyle/>
        <a:p>
          <a:endParaRPr lang="en-US"/>
        </a:p>
      </dgm:t>
    </dgm:pt>
    <dgm:pt modelId="{614CC128-FB4D-40A4-959B-B11A61782A73}" type="sibTrans" cxnId="{15B3985A-4DF6-402D-8F46-0E62580DBB61}">
      <dgm:prSet/>
      <dgm:spPr/>
      <dgm:t>
        <a:bodyPr/>
        <a:lstStyle/>
        <a:p>
          <a:endParaRPr lang="en-US"/>
        </a:p>
      </dgm:t>
    </dgm:pt>
    <dgm:pt modelId="{7519A62C-D42B-4D3A-9D4A-CEBA66BB3B16}">
      <dgm:prSet/>
      <dgm:spPr/>
      <dgm:t>
        <a:bodyPr/>
        <a:lstStyle/>
        <a:p>
          <a:r>
            <a:rPr lang="en-US"/>
            <a:t>Specifying the Desired Format</a:t>
          </a:r>
        </a:p>
      </dgm:t>
    </dgm:pt>
    <dgm:pt modelId="{DE47C74B-06A8-400C-8768-634E76B6EFA7}" type="parTrans" cxnId="{50372EA1-1899-4384-8DC6-D947A1DC9BEC}">
      <dgm:prSet/>
      <dgm:spPr/>
      <dgm:t>
        <a:bodyPr/>
        <a:lstStyle/>
        <a:p>
          <a:endParaRPr lang="en-US"/>
        </a:p>
      </dgm:t>
    </dgm:pt>
    <dgm:pt modelId="{4172F2FC-2DCF-4A0D-BC28-310B2C8595D2}" type="sibTrans" cxnId="{50372EA1-1899-4384-8DC6-D947A1DC9BEC}">
      <dgm:prSet/>
      <dgm:spPr/>
      <dgm:t>
        <a:bodyPr/>
        <a:lstStyle/>
        <a:p>
          <a:endParaRPr lang="en-US"/>
        </a:p>
      </dgm:t>
    </dgm:pt>
    <dgm:pt modelId="{382306AB-5814-4A42-A1FF-F52861877C82}">
      <dgm:prSet/>
      <dgm:spPr/>
      <dgm:t>
        <a:bodyPr/>
        <a:lstStyle/>
        <a:p>
          <a:r>
            <a:rPr lang="en-US"/>
            <a:t>Using</a:t>
          </a:r>
        </a:p>
      </dgm:t>
    </dgm:pt>
    <dgm:pt modelId="{2FBD3CAF-20B8-485B-9A2B-5D465875A65D}" type="parTrans" cxnId="{EDBED88D-5BE8-490D-AF75-72F1DD7CE9E2}">
      <dgm:prSet/>
      <dgm:spPr/>
      <dgm:t>
        <a:bodyPr/>
        <a:lstStyle/>
        <a:p>
          <a:endParaRPr lang="en-US"/>
        </a:p>
      </dgm:t>
    </dgm:pt>
    <dgm:pt modelId="{B141FC74-E04F-44B5-9B5C-294502A3BBE2}" type="sibTrans" cxnId="{EDBED88D-5BE8-490D-AF75-72F1DD7CE9E2}">
      <dgm:prSet/>
      <dgm:spPr/>
      <dgm:t>
        <a:bodyPr/>
        <a:lstStyle/>
        <a:p>
          <a:endParaRPr lang="en-US"/>
        </a:p>
      </dgm:t>
    </dgm:pt>
    <dgm:pt modelId="{6E57B145-E810-4734-A813-448CB3A9F2B4}">
      <dgm:prSet/>
      <dgm:spPr/>
      <dgm:t>
        <a:bodyPr/>
        <a:lstStyle/>
        <a:p>
          <a:r>
            <a:rPr lang="en-US"/>
            <a:t>Using Precise Vocabulary</a:t>
          </a:r>
        </a:p>
      </dgm:t>
    </dgm:pt>
    <dgm:pt modelId="{BBF44861-5AC2-4E5C-B366-A64A9B362DFB}" type="parTrans" cxnId="{E0D91535-ED87-46A0-8B28-7EE5B9919E65}">
      <dgm:prSet/>
      <dgm:spPr/>
      <dgm:t>
        <a:bodyPr/>
        <a:lstStyle/>
        <a:p>
          <a:endParaRPr lang="en-US"/>
        </a:p>
      </dgm:t>
    </dgm:pt>
    <dgm:pt modelId="{71AC0EF5-E35E-4A7F-9E99-BF6C18A5BCAD}" type="sibTrans" cxnId="{E0D91535-ED87-46A0-8B28-7EE5B9919E65}">
      <dgm:prSet/>
      <dgm:spPr/>
      <dgm:t>
        <a:bodyPr/>
        <a:lstStyle/>
        <a:p>
          <a:endParaRPr lang="en-US"/>
        </a:p>
      </dgm:t>
    </dgm:pt>
    <dgm:pt modelId="{6DC42E71-3371-4119-86D6-B69E750777CB}" type="pres">
      <dgm:prSet presAssocID="{23176E2F-8EFC-402A-8A4A-405C125D223F}" presName="diagram" presStyleCnt="0">
        <dgm:presLayoutVars>
          <dgm:chPref val="1"/>
          <dgm:dir/>
          <dgm:animOne val="branch"/>
          <dgm:animLvl val="lvl"/>
          <dgm:resizeHandles/>
        </dgm:presLayoutVars>
      </dgm:prSet>
      <dgm:spPr/>
    </dgm:pt>
    <dgm:pt modelId="{A7711116-ABD0-40F3-8AC6-9B43B6A9B11D}" type="pres">
      <dgm:prSet presAssocID="{DF18F725-967D-49D5-99AE-5B3D36DB996E}" presName="root" presStyleCnt="0"/>
      <dgm:spPr/>
    </dgm:pt>
    <dgm:pt modelId="{D1C3AA13-3B80-43A4-8F6A-038C405B9873}" type="pres">
      <dgm:prSet presAssocID="{DF18F725-967D-49D5-99AE-5B3D36DB996E}" presName="rootComposite" presStyleCnt="0"/>
      <dgm:spPr/>
    </dgm:pt>
    <dgm:pt modelId="{24FC10E8-64A7-40F2-8E56-50C4EA4D54C6}" type="pres">
      <dgm:prSet presAssocID="{DF18F725-967D-49D5-99AE-5B3D36DB996E}" presName="rootText" presStyleLbl="node1" presStyleIdx="0" presStyleCnt="5"/>
      <dgm:spPr/>
    </dgm:pt>
    <dgm:pt modelId="{E52682E2-E45B-4265-AE01-0479277E1129}" type="pres">
      <dgm:prSet presAssocID="{DF18F725-967D-49D5-99AE-5B3D36DB996E}" presName="rootConnector" presStyleLbl="node1" presStyleIdx="0" presStyleCnt="5"/>
      <dgm:spPr/>
    </dgm:pt>
    <dgm:pt modelId="{688E44A7-4FB7-46E4-92EB-F5A96CA7CC03}" type="pres">
      <dgm:prSet presAssocID="{DF18F725-967D-49D5-99AE-5B3D36DB996E}" presName="childShape" presStyleCnt="0"/>
      <dgm:spPr/>
    </dgm:pt>
    <dgm:pt modelId="{2F32CF9D-80D9-4286-9EA5-8923CD8F9896}" type="pres">
      <dgm:prSet presAssocID="{EB14C8E1-2023-43C4-8DC1-CAA47906BAA4}" presName="Name13" presStyleLbl="parChTrans1D2" presStyleIdx="0" presStyleCnt="5"/>
      <dgm:spPr/>
    </dgm:pt>
    <dgm:pt modelId="{B597CC97-3097-46AB-8C85-A5C557668B08}" type="pres">
      <dgm:prSet presAssocID="{18CBA484-6792-4B74-A1E2-02BE0FD236B8}" presName="childText" presStyleLbl="bgAcc1" presStyleIdx="0" presStyleCnt="5">
        <dgm:presLayoutVars>
          <dgm:bulletEnabled val="1"/>
        </dgm:presLayoutVars>
      </dgm:prSet>
      <dgm:spPr/>
    </dgm:pt>
    <dgm:pt modelId="{DA5ECC03-64F3-491C-A686-DEC8B12E96BB}" type="pres">
      <dgm:prSet presAssocID="{16B209CA-73C8-4A4C-AD9E-CB89065A6094}" presName="root" presStyleCnt="0"/>
      <dgm:spPr/>
    </dgm:pt>
    <dgm:pt modelId="{7AC165FE-C0E4-4E11-9AFD-0D19BAC0D558}" type="pres">
      <dgm:prSet presAssocID="{16B209CA-73C8-4A4C-AD9E-CB89065A6094}" presName="rootComposite" presStyleCnt="0"/>
      <dgm:spPr/>
    </dgm:pt>
    <dgm:pt modelId="{B2588A7F-3899-4A69-9B70-1B09CCCACCCA}" type="pres">
      <dgm:prSet presAssocID="{16B209CA-73C8-4A4C-AD9E-CB89065A6094}" presName="rootText" presStyleLbl="node1" presStyleIdx="1" presStyleCnt="5"/>
      <dgm:spPr/>
    </dgm:pt>
    <dgm:pt modelId="{CADCB7EA-9199-4601-9744-0EB6FFF1D9D2}" type="pres">
      <dgm:prSet presAssocID="{16B209CA-73C8-4A4C-AD9E-CB89065A6094}" presName="rootConnector" presStyleLbl="node1" presStyleIdx="1" presStyleCnt="5"/>
      <dgm:spPr/>
    </dgm:pt>
    <dgm:pt modelId="{61AADE72-2A03-4BDC-91D4-7DBF80DB83F3}" type="pres">
      <dgm:prSet presAssocID="{16B209CA-73C8-4A4C-AD9E-CB89065A6094}" presName="childShape" presStyleCnt="0"/>
      <dgm:spPr/>
    </dgm:pt>
    <dgm:pt modelId="{32B378A0-184D-4BAC-8F63-C7CBF805356E}" type="pres">
      <dgm:prSet presAssocID="{AB4685FB-5FCB-4AB0-BBE0-1A9BACAE79EA}" presName="Name13" presStyleLbl="parChTrans1D2" presStyleIdx="1" presStyleCnt="5"/>
      <dgm:spPr/>
    </dgm:pt>
    <dgm:pt modelId="{5CBAFF40-EBF7-41F1-9C88-8635787952B4}" type="pres">
      <dgm:prSet presAssocID="{A05E5BA9-60C4-418D-BF43-2CA1929E2966}" presName="childText" presStyleLbl="bgAcc1" presStyleIdx="1" presStyleCnt="5">
        <dgm:presLayoutVars>
          <dgm:bulletEnabled val="1"/>
        </dgm:presLayoutVars>
      </dgm:prSet>
      <dgm:spPr/>
    </dgm:pt>
    <dgm:pt modelId="{AC6462F1-E1A5-471C-B2BF-594267A51B05}" type="pres">
      <dgm:prSet presAssocID="{E1ED28A9-1C40-4517-87BE-9A0563FA7434}" presName="root" presStyleCnt="0"/>
      <dgm:spPr/>
    </dgm:pt>
    <dgm:pt modelId="{605B7E69-1482-4D30-9F39-46E6331550EB}" type="pres">
      <dgm:prSet presAssocID="{E1ED28A9-1C40-4517-87BE-9A0563FA7434}" presName="rootComposite" presStyleCnt="0"/>
      <dgm:spPr/>
    </dgm:pt>
    <dgm:pt modelId="{CA62F048-8A16-4C46-A68C-3F4FFDF4B360}" type="pres">
      <dgm:prSet presAssocID="{E1ED28A9-1C40-4517-87BE-9A0563FA7434}" presName="rootText" presStyleLbl="node1" presStyleIdx="2" presStyleCnt="5"/>
      <dgm:spPr/>
    </dgm:pt>
    <dgm:pt modelId="{38463239-79D5-4004-B506-4803A9196361}" type="pres">
      <dgm:prSet presAssocID="{E1ED28A9-1C40-4517-87BE-9A0563FA7434}" presName="rootConnector" presStyleLbl="node1" presStyleIdx="2" presStyleCnt="5"/>
      <dgm:spPr/>
    </dgm:pt>
    <dgm:pt modelId="{9FC4BEAD-8E9F-4098-B0AB-79C3CB200A1A}" type="pres">
      <dgm:prSet presAssocID="{E1ED28A9-1C40-4517-87BE-9A0563FA7434}" presName="childShape" presStyleCnt="0"/>
      <dgm:spPr/>
    </dgm:pt>
    <dgm:pt modelId="{A5B02563-A981-4BB9-97D9-5A6B8867ACE7}" type="pres">
      <dgm:prSet presAssocID="{EAD7D3F6-086C-46D2-BBB9-B69031249D11}" presName="Name13" presStyleLbl="parChTrans1D2" presStyleIdx="2" presStyleCnt="5"/>
      <dgm:spPr/>
    </dgm:pt>
    <dgm:pt modelId="{077CDC68-47D0-47BF-B1B3-F62F6CC8B554}" type="pres">
      <dgm:prSet presAssocID="{166362C4-76AB-497C-9E4D-CF93517F10FA}" presName="childText" presStyleLbl="bgAcc1" presStyleIdx="2" presStyleCnt="5">
        <dgm:presLayoutVars>
          <dgm:bulletEnabled val="1"/>
        </dgm:presLayoutVars>
      </dgm:prSet>
      <dgm:spPr/>
    </dgm:pt>
    <dgm:pt modelId="{D7AD4F66-F689-411D-9A26-BE6080CF7833}" type="pres">
      <dgm:prSet presAssocID="{5C0B13AD-42F3-47E6-904E-E962F0178E0D}" presName="root" presStyleCnt="0"/>
      <dgm:spPr/>
    </dgm:pt>
    <dgm:pt modelId="{5C119D11-0C39-4800-AA14-D32D85C7F023}" type="pres">
      <dgm:prSet presAssocID="{5C0B13AD-42F3-47E6-904E-E962F0178E0D}" presName="rootComposite" presStyleCnt="0"/>
      <dgm:spPr/>
    </dgm:pt>
    <dgm:pt modelId="{E96F3699-676D-4CE6-910F-C702094E21F7}" type="pres">
      <dgm:prSet presAssocID="{5C0B13AD-42F3-47E6-904E-E962F0178E0D}" presName="rootText" presStyleLbl="node1" presStyleIdx="3" presStyleCnt="5"/>
      <dgm:spPr/>
    </dgm:pt>
    <dgm:pt modelId="{98C28D17-60A2-41A9-B254-B9049FA7E9C9}" type="pres">
      <dgm:prSet presAssocID="{5C0B13AD-42F3-47E6-904E-E962F0178E0D}" presName="rootConnector" presStyleLbl="node1" presStyleIdx="3" presStyleCnt="5"/>
      <dgm:spPr/>
    </dgm:pt>
    <dgm:pt modelId="{EFA51E4D-308E-49FC-8947-9BEFC84EC23C}" type="pres">
      <dgm:prSet presAssocID="{5C0B13AD-42F3-47E6-904E-E962F0178E0D}" presName="childShape" presStyleCnt="0"/>
      <dgm:spPr/>
    </dgm:pt>
    <dgm:pt modelId="{EE031EBC-5DBC-4F76-B19F-2B76CCC023A4}" type="pres">
      <dgm:prSet presAssocID="{DE47C74B-06A8-400C-8768-634E76B6EFA7}" presName="Name13" presStyleLbl="parChTrans1D2" presStyleIdx="3" presStyleCnt="5"/>
      <dgm:spPr/>
    </dgm:pt>
    <dgm:pt modelId="{A5B158AD-C30C-4598-88F9-F92209FB23D2}" type="pres">
      <dgm:prSet presAssocID="{7519A62C-D42B-4D3A-9D4A-CEBA66BB3B16}" presName="childText" presStyleLbl="bgAcc1" presStyleIdx="3" presStyleCnt="5">
        <dgm:presLayoutVars>
          <dgm:bulletEnabled val="1"/>
        </dgm:presLayoutVars>
      </dgm:prSet>
      <dgm:spPr/>
    </dgm:pt>
    <dgm:pt modelId="{96FC4C4C-6D07-40F7-B15E-91A61655ED39}" type="pres">
      <dgm:prSet presAssocID="{382306AB-5814-4A42-A1FF-F52861877C82}" presName="root" presStyleCnt="0"/>
      <dgm:spPr/>
    </dgm:pt>
    <dgm:pt modelId="{F351D214-E0EA-4D70-8ADB-BA1650AE89AB}" type="pres">
      <dgm:prSet presAssocID="{382306AB-5814-4A42-A1FF-F52861877C82}" presName="rootComposite" presStyleCnt="0"/>
      <dgm:spPr/>
    </dgm:pt>
    <dgm:pt modelId="{12EEAD9F-3FC2-43BD-B98C-27322CAEC6A2}" type="pres">
      <dgm:prSet presAssocID="{382306AB-5814-4A42-A1FF-F52861877C82}" presName="rootText" presStyleLbl="node1" presStyleIdx="4" presStyleCnt="5"/>
      <dgm:spPr/>
    </dgm:pt>
    <dgm:pt modelId="{89E5B65B-8F76-4FCA-B0D9-84D3DA9AB5BE}" type="pres">
      <dgm:prSet presAssocID="{382306AB-5814-4A42-A1FF-F52861877C82}" presName="rootConnector" presStyleLbl="node1" presStyleIdx="4" presStyleCnt="5"/>
      <dgm:spPr/>
    </dgm:pt>
    <dgm:pt modelId="{73AAB9B6-49C6-40EC-8A83-6886DECAFDC2}" type="pres">
      <dgm:prSet presAssocID="{382306AB-5814-4A42-A1FF-F52861877C82}" presName="childShape" presStyleCnt="0"/>
      <dgm:spPr/>
    </dgm:pt>
    <dgm:pt modelId="{899EC7A6-D8E4-49F7-A542-E5C963B8C6F8}" type="pres">
      <dgm:prSet presAssocID="{BBF44861-5AC2-4E5C-B366-A64A9B362DFB}" presName="Name13" presStyleLbl="parChTrans1D2" presStyleIdx="4" presStyleCnt="5"/>
      <dgm:spPr/>
    </dgm:pt>
    <dgm:pt modelId="{C996EB81-7EB5-444A-900F-CD3F6606E83C}" type="pres">
      <dgm:prSet presAssocID="{6E57B145-E810-4734-A813-448CB3A9F2B4}" presName="childText" presStyleLbl="bgAcc1" presStyleIdx="4" presStyleCnt="5">
        <dgm:presLayoutVars>
          <dgm:bulletEnabled val="1"/>
        </dgm:presLayoutVars>
      </dgm:prSet>
      <dgm:spPr/>
    </dgm:pt>
  </dgm:ptLst>
  <dgm:cxnLst>
    <dgm:cxn modelId="{A610D10A-8E00-4EB9-9C4A-210B808F2507}" type="presOf" srcId="{382306AB-5814-4A42-A1FF-F52861877C82}" destId="{89E5B65B-8F76-4FCA-B0D9-84D3DA9AB5BE}" srcOrd="1" destOrd="0" presId="urn:microsoft.com/office/officeart/2005/8/layout/hierarchy3"/>
    <dgm:cxn modelId="{331CA80B-1469-4FDB-9FA9-9228133119A0}" srcId="{16B209CA-73C8-4A4C-AD9E-CB89065A6094}" destId="{A05E5BA9-60C4-418D-BF43-2CA1929E2966}" srcOrd="0" destOrd="0" parTransId="{AB4685FB-5FCB-4AB0-BBE0-1A9BACAE79EA}" sibTransId="{958E198E-EA00-477C-A611-000252328DF7}"/>
    <dgm:cxn modelId="{DB7AED14-8AAD-49EB-94C9-BCB9FCE1EE50}" srcId="{23176E2F-8EFC-402A-8A4A-405C125D223F}" destId="{DF18F725-967D-49D5-99AE-5B3D36DB996E}" srcOrd="0" destOrd="0" parTransId="{1ED5596A-5794-45FD-8849-A27C65090387}" sibTransId="{0C9AC165-1477-400B-B42E-2254159C7288}"/>
    <dgm:cxn modelId="{24FEFD16-C214-4444-9158-28B4DF7749F9}" type="presOf" srcId="{BBF44861-5AC2-4E5C-B366-A64A9B362DFB}" destId="{899EC7A6-D8E4-49F7-A542-E5C963B8C6F8}" srcOrd="0" destOrd="0" presId="urn:microsoft.com/office/officeart/2005/8/layout/hierarchy3"/>
    <dgm:cxn modelId="{FB34A61C-FC19-42B9-ACFE-464BA4F4A5B7}" type="presOf" srcId="{23176E2F-8EFC-402A-8A4A-405C125D223F}" destId="{6DC42E71-3371-4119-86D6-B69E750777CB}" srcOrd="0" destOrd="0" presId="urn:microsoft.com/office/officeart/2005/8/layout/hierarchy3"/>
    <dgm:cxn modelId="{5B22FD24-2A2B-4D31-A566-8E3107238D95}" type="presOf" srcId="{A05E5BA9-60C4-418D-BF43-2CA1929E2966}" destId="{5CBAFF40-EBF7-41F1-9C88-8635787952B4}" srcOrd="0" destOrd="0" presId="urn:microsoft.com/office/officeart/2005/8/layout/hierarchy3"/>
    <dgm:cxn modelId="{20A2192F-42FE-488A-B709-5423C2EFBE18}" type="presOf" srcId="{EAD7D3F6-086C-46D2-BBB9-B69031249D11}" destId="{A5B02563-A981-4BB9-97D9-5A6B8867ACE7}" srcOrd="0" destOrd="0" presId="urn:microsoft.com/office/officeart/2005/8/layout/hierarchy3"/>
    <dgm:cxn modelId="{344C8130-5D00-4F2A-B34A-2BEEA23DAD29}" type="presOf" srcId="{DE47C74B-06A8-400C-8768-634E76B6EFA7}" destId="{EE031EBC-5DBC-4F76-B19F-2B76CCC023A4}" srcOrd="0" destOrd="0" presId="urn:microsoft.com/office/officeart/2005/8/layout/hierarchy3"/>
    <dgm:cxn modelId="{E0D91535-ED87-46A0-8B28-7EE5B9919E65}" srcId="{382306AB-5814-4A42-A1FF-F52861877C82}" destId="{6E57B145-E810-4734-A813-448CB3A9F2B4}" srcOrd="0" destOrd="0" parTransId="{BBF44861-5AC2-4E5C-B366-A64A9B362DFB}" sibTransId="{71AC0EF5-E35E-4A7F-9E99-BF6C18A5BCAD}"/>
    <dgm:cxn modelId="{AAD0C337-BC9C-4266-85F4-2608246D459B}" type="presOf" srcId="{DF18F725-967D-49D5-99AE-5B3D36DB996E}" destId="{24FC10E8-64A7-40F2-8E56-50C4EA4D54C6}" srcOrd="0" destOrd="0" presId="urn:microsoft.com/office/officeart/2005/8/layout/hierarchy3"/>
    <dgm:cxn modelId="{ABD9343E-F205-4A22-86CC-CD5C35F3E1EE}" type="presOf" srcId="{382306AB-5814-4A42-A1FF-F52861877C82}" destId="{12EEAD9F-3FC2-43BD-B98C-27322CAEC6A2}" srcOrd="0" destOrd="0" presId="urn:microsoft.com/office/officeart/2005/8/layout/hierarchy3"/>
    <dgm:cxn modelId="{E1E56140-58F0-44F3-9805-197380E40278}" type="presOf" srcId="{5C0B13AD-42F3-47E6-904E-E962F0178E0D}" destId="{98C28D17-60A2-41A9-B254-B9049FA7E9C9}" srcOrd="1" destOrd="0" presId="urn:microsoft.com/office/officeart/2005/8/layout/hierarchy3"/>
    <dgm:cxn modelId="{15B3985A-4DF6-402D-8F46-0E62580DBB61}" srcId="{23176E2F-8EFC-402A-8A4A-405C125D223F}" destId="{5C0B13AD-42F3-47E6-904E-E962F0178E0D}" srcOrd="3" destOrd="0" parTransId="{EB50E3E9-FADF-4133-9ED3-7B8C2E56DA52}" sibTransId="{614CC128-FB4D-40A4-959B-B11A61782A73}"/>
    <dgm:cxn modelId="{9B2D8280-9425-4965-9B03-F92FD6211B58}" srcId="{E1ED28A9-1C40-4517-87BE-9A0563FA7434}" destId="{166362C4-76AB-497C-9E4D-CF93517F10FA}" srcOrd="0" destOrd="0" parTransId="{EAD7D3F6-086C-46D2-BBB9-B69031249D11}" sibTransId="{A32C6F4B-3BC2-4BA7-A21C-190674C3B572}"/>
    <dgm:cxn modelId="{0E6BB180-D3C9-43E6-A386-E6E497C986C0}" srcId="{DF18F725-967D-49D5-99AE-5B3D36DB996E}" destId="{18CBA484-6792-4B74-A1E2-02BE0FD236B8}" srcOrd="0" destOrd="0" parTransId="{EB14C8E1-2023-43C4-8DC1-CAA47906BAA4}" sibTransId="{B6D6EB9B-2890-495E-86FB-14D47D3FC137}"/>
    <dgm:cxn modelId="{EDBED88D-5BE8-490D-AF75-72F1DD7CE9E2}" srcId="{23176E2F-8EFC-402A-8A4A-405C125D223F}" destId="{382306AB-5814-4A42-A1FF-F52861877C82}" srcOrd="4" destOrd="0" parTransId="{2FBD3CAF-20B8-485B-9A2B-5D465875A65D}" sibTransId="{B141FC74-E04F-44B5-9B5C-294502A3BBE2}"/>
    <dgm:cxn modelId="{F9666390-B7CB-44E5-81EC-6D756E5C8B78}" type="presOf" srcId="{E1ED28A9-1C40-4517-87BE-9A0563FA7434}" destId="{CA62F048-8A16-4C46-A68C-3F4FFDF4B360}" srcOrd="0" destOrd="0" presId="urn:microsoft.com/office/officeart/2005/8/layout/hierarchy3"/>
    <dgm:cxn modelId="{EFD52A9B-C685-431E-A69C-75E9580484FA}" type="presOf" srcId="{EB14C8E1-2023-43C4-8DC1-CAA47906BAA4}" destId="{2F32CF9D-80D9-4286-9EA5-8923CD8F9896}" srcOrd="0" destOrd="0" presId="urn:microsoft.com/office/officeart/2005/8/layout/hierarchy3"/>
    <dgm:cxn modelId="{50372EA1-1899-4384-8DC6-D947A1DC9BEC}" srcId="{5C0B13AD-42F3-47E6-904E-E962F0178E0D}" destId="{7519A62C-D42B-4D3A-9D4A-CEBA66BB3B16}" srcOrd="0" destOrd="0" parTransId="{DE47C74B-06A8-400C-8768-634E76B6EFA7}" sibTransId="{4172F2FC-2DCF-4A0D-BC28-310B2C8595D2}"/>
    <dgm:cxn modelId="{8B326FA2-D683-4914-8A8A-AF9786038A36}" type="presOf" srcId="{16B209CA-73C8-4A4C-AD9E-CB89065A6094}" destId="{CADCB7EA-9199-4601-9744-0EB6FFF1D9D2}" srcOrd="1" destOrd="0" presId="urn:microsoft.com/office/officeart/2005/8/layout/hierarchy3"/>
    <dgm:cxn modelId="{8151BAA3-9C45-4566-A55A-90A64B09EC36}" type="presOf" srcId="{DF18F725-967D-49D5-99AE-5B3D36DB996E}" destId="{E52682E2-E45B-4265-AE01-0479277E1129}" srcOrd="1" destOrd="0" presId="urn:microsoft.com/office/officeart/2005/8/layout/hierarchy3"/>
    <dgm:cxn modelId="{8E5B1EAE-A672-4915-8669-B622451282D2}" type="presOf" srcId="{6E57B145-E810-4734-A813-448CB3A9F2B4}" destId="{C996EB81-7EB5-444A-900F-CD3F6606E83C}" srcOrd="0" destOrd="0" presId="urn:microsoft.com/office/officeart/2005/8/layout/hierarchy3"/>
    <dgm:cxn modelId="{A58162B4-BAD5-41C8-A091-0BE435565D8C}" type="presOf" srcId="{7519A62C-D42B-4D3A-9D4A-CEBA66BB3B16}" destId="{A5B158AD-C30C-4598-88F9-F92209FB23D2}" srcOrd="0" destOrd="0" presId="urn:microsoft.com/office/officeart/2005/8/layout/hierarchy3"/>
    <dgm:cxn modelId="{0FE33EBC-EAE4-475D-A276-B757C6BBE457}" type="presOf" srcId="{166362C4-76AB-497C-9E4D-CF93517F10FA}" destId="{077CDC68-47D0-47BF-B1B3-F62F6CC8B554}" srcOrd="0" destOrd="0" presId="urn:microsoft.com/office/officeart/2005/8/layout/hierarchy3"/>
    <dgm:cxn modelId="{309381BF-BA90-44A8-8C8C-16C919967E4F}" type="presOf" srcId="{5C0B13AD-42F3-47E6-904E-E962F0178E0D}" destId="{E96F3699-676D-4CE6-910F-C702094E21F7}" srcOrd="0" destOrd="0" presId="urn:microsoft.com/office/officeart/2005/8/layout/hierarchy3"/>
    <dgm:cxn modelId="{67B413C7-A4F3-4450-A40A-D1C6D32EB8F9}" srcId="{23176E2F-8EFC-402A-8A4A-405C125D223F}" destId="{E1ED28A9-1C40-4517-87BE-9A0563FA7434}" srcOrd="2" destOrd="0" parTransId="{013EC9E5-91B8-470C-A46E-946D13FC314E}" sibTransId="{4FD11AF8-D831-492E-9F8F-C0A2478EFD5B}"/>
    <dgm:cxn modelId="{416122DA-FCED-4660-8C68-9C0999D2BBAC}" srcId="{23176E2F-8EFC-402A-8A4A-405C125D223F}" destId="{16B209CA-73C8-4A4C-AD9E-CB89065A6094}" srcOrd="1" destOrd="0" parTransId="{6D5C329B-D14E-4FD4-A341-728AE892B73F}" sibTransId="{212DB159-A89E-4460-8DCE-D28E2BB3B625}"/>
    <dgm:cxn modelId="{A26397DF-A297-45B6-BF51-4D09BD4C0FBB}" type="presOf" srcId="{E1ED28A9-1C40-4517-87BE-9A0563FA7434}" destId="{38463239-79D5-4004-B506-4803A9196361}" srcOrd="1" destOrd="0" presId="urn:microsoft.com/office/officeart/2005/8/layout/hierarchy3"/>
    <dgm:cxn modelId="{1A292EE1-842C-481C-B5FC-6159EFE004C4}" type="presOf" srcId="{AB4685FB-5FCB-4AB0-BBE0-1A9BACAE79EA}" destId="{32B378A0-184D-4BAC-8F63-C7CBF805356E}" srcOrd="0" destOrd="0" presId="urn:microsoft.com/office/officeart/2005/8/layout/hierarchy3"/>
    <dgm:cxn modelId="{8CAAE5F1-E46A-4069-9973-7652561C59A3}" type="presOf" srcId="{18CBA484-6792-4B74-A1E2-02BE0FD236B8}" destId="{B597CC97-3097-46AB-8C85-A5C557668B08}" srcOrd="0" destOrd="0" presId="urn:microsoft.com/office/officeart/2005/8/layout/hierarchy3"/>
    <dgm:cxn modelId="{B46E32F9-D81A-4C3E-BCA6-267B24ED8E57}" type="presOf" srcId="{16B209CA-73C8-4A4C-AD9E-CB89065A6094}" destId="{B2588A7F-3899-4A69-9B70-1B09CCCACCCA}" srcOrd="0" destOrd="0" presId="urn:microsoft.com/office/officeart/2005/8/layout/hierarchy3"/>
    <dgm:cxn modelId="{50976145-F521-4ADE-BA42-A4940B3A6D53}" type="presParOf" srcId="{6DC42E71-3371-4119-86D6-B69E750777CB}" destId="{A7711116-ABD0-40F3-8AC6-9B43B6A9B11D}" srcOrd="0" destOrd="0" presId="urn:microsoft.com/office/officeart/2005/8/layout/hierarchy3"/>
    <dgm:cxn modelId="{DFCE1137-2EC9-4704-9E6B-3EAEEB24CDFE}" type="presParOf" srcId="{A7711116-ABD0-40F3-8AC6-9B43B6A9B11D}" destId="{D1C3AA13-3B80-43A4-8F6A-038C405B9873}" srcOrd="0" destOrd="0" presId="urn:microsoft.com/office/officeart/2005/8/layout/hierarchy3"/>
    <dgm:cxn modelId="{47679172-6922-4EAC-B708-F1693CF55D11}" type="presParOf" srcId="{D1C3AA13-3B80-43A4-8F6A-038C405B9873}" destId="{24FC10E8-64A7-40F2-8E56-50C4EA4D54C6}" srcOrd="0" destOrd="0" presId="urn:microsoft.com/office/officeart/2005/8/layout/hierarchy3"/>
    <dgm:cxn modelId="{509D8D57-D4DB-4384-8E69-9E7C93283890}" type="presParOf" srcId="{D1C3AA13-3B80-43A4-8F6A-038C405B9873}" destId="{E52682E2-E45B-4265-AE01-0479277E1129}" srcOrd="1" destOrd="0" presId="urn:microsoft.com/office/officeart/2005/8/layout/hierarchy3"/>
    <dgm:cxn modelId="{F8E338DE-3DEA-4560-A359-E9E9C4E620DD}" type="presParOf" srcId="{A7711116-ABD0-40F3-8AC6-9B43B6A9B11D}" destId="{688E44A7-4FB7-46E4-92EB-F5A96CA7CC03}" srcOrd="1" destOrd="0" presId="urn:microsoft.com/office/officeart/2005/8/layout/hierarchy3"/>
    <dgm:cxn modelId="{21E7517A-25F2-4C18-ADDC-7C830E8EAA33}" type="presParOf" srcId="{688E44A7-4FB7-46E4-92EB-F5A96CA7CC03}" destId="{2F32CF9D-80D9-4286-9EA5-8923CD8F9896}" srcOrd="0" destOrd="0" presId="urn:microsoft.com/office/officeart/2005/8/layout/hierarchy3"/>
    <dgm:cxn modelId="{716BD199-6361-4585-80FA-67123DE78454}" type="presParOf" srcId="{688E44A7-4FB7-46E4-92EB-F5A96CA7CC03}" destId="{B597CC97-3097-46AB-8C85-A5C557668B08}" srcOrd="1" destOrd="0" presId="urn:microsoft.com/office/officeart/2005/8/layout/hierarchy3"/>
    <dgm:cxn modelId="{73382546-085C-481A-AE90-14F3681DD6B6}" type="presParOf" srcId="{6DC42E71-3371-4119-86D6-B69E750777CB}" destId="{DA5ECC03-64F3-491C-A686-DEC8B12E96BB}" srcOrd="1" destOrd="0" presId="urn:microsoft.com/office/officeart/2005/8/layout/hierarchy3"/>
    <dgm:cxn modelId="{08838F5C-EE73-44AC-8EBE-E9A2C3254159}" type="presParOf" srcId="{DA5ECC03-64F3-491C-A686-DEC8B12E96BB}" destId="{7AC165FE-C0E4-4E11-9AFD-0D19BAC0D558}" srcOrd="0" destOrd="0" presId="urn:microsoft.com/office/officeart/2005/8/layout/hierarchy3"/>
    <dgm:cxn modelId="{D4C1984D-2D2E-43B7-ACA1-C14711A59621}" type="presParOf" srcId="{7AC165FE-C0E4-4E11-9AFD-0D19BAC0D558}" destId="{B2588A7F-3899-4A69-9B70-1B09CCCACCCA}" srcOrd="0" destOrd="0" presId="urn:microsoft.com/office/officeart/2005/8/layout/hierarchy3"/>
    <dgm:cxn modelId="{C9DF3BF3-E9DC-45D1-BB13-323B4796279D}" type="presParOf" srcId="{7AC165FE-C0E4-4E11-9AFD-0D19BAC0D558}" destId="{CADCB7EA-9199-4601-9744-0EB6FFF1D9D2}" srcOrd="1" destOrd="0" presId="urn:microsoft.com/office/officeart/2005/8/layout/hierarchy3"/>
    <dgm:cxn modelId="{B3CED3F2-DF78-41E0-B162-8C1ABC6EBB37}" type="presParOf" srcId="{DA5ECC03-64F3-491C-A686-DEC8B12E96BB}" destId="{61AADE72-2A03-4BDC-91D4-7DBF80DB83F3}" srcOrd="1" destOrd="0" presId="urn:microsoft.com/office/officeart/2005/8/layout/hierarchy3"/>
    <dgm:cxn modelId="{3AEB45BF-5B46-4230-998F-70B080E248F5}" type="presParOf" srcId="{61AADE72-2A03-4BDC-91D4-7DBF80DB83F3}" destId="{32B378A0-184D-4BAC-8F63-C7CBF805356E}" srcOrd="0" destOrd="0" presId="urn:microsoft.com/office/officeart/2005/8/layout/hierarchy3"/>
    <dgm:cxn modelId="{9D7F0739-9857-43F9-9767-B5731945F248}" type="presParOf" srcId="{61AADE72-2A03-4BDC-91D4-7DBF80DB83F3}" destId="{5CBAFF40-EBF7-41F1-9C88-8635787952B4}" srcOrd="1" destOrd="0" presId="urn:microsoft.com/office/officeart/2005/8/layout/hierarchy3"/>
    <dgm:cxn modelId="{04ACEF17-2CE7-4642-95D5-1CD36B70F399}" type="presParOf" srcId="{6DC42E71-3371-4119-86D6-B69E750777CB}" destId="{AC6462F1-E1A5-471C-B2BF-594267A51B05}" srcOrd="2" destOrd="0" presId="urn:microsoft.com/office/officeart/2005/8/layout/hierarchy3"/>
    <dgm:cxn modelId="{EA3CF8C5-6DA2-4021-A302-30CA84873235}" type="presParOf" srcId="{AC6462F1-E1A5-471C-B2BF-594267A51B05}" destId="{605B7E69-1482-4D30-9F39-46E6331550EB}" srcOrd="0" destOrd="0" presId="urn:microsoft.com/office/officeart/2005/8/layout/hierarchy3"/>
    <dgm:cxn modelId="{DABED38C-E45E-4666-93F9-94667B4A5D41}" type="presParOf" srcId="{605B7E69-1482-4D30-9F39-46E6331550EB}" destId="{CA62F048-8A16-4C46-A68C-3F4FFDF4B360}" srcOrd="0" destOrd="0" presId="urn:microsoft.com/office/officeart/2005/8/layout/hierarchy3"/>
    <dgm:cxn modelId="{F4017139-AB5E-4E3A-A38D-1A5A989C5487}" type="presParOf" srcId="{605B7E69-1482-4D30-9F39-46E6331550EB}" destId="{38463239-79D5-4004-B506-4803A9196361}" srcOrd="1" destOrd="0" presId="urn:microsoft.com/office/officeart/2005/8/layout/hierarchy3"/>
    <dgm:cxn modelId="{70F483DF-5820-4D09-965F-5F185E46728D}" type="presParOf" srcId="{AC6462F1-E1A5-471C-B2BF-594267A51B05}" destId="{9FC4BEAD-8E9F-4098-B0AB-79C3CB200A1A}" srcOrd="1" destOrd="0" presId="urn:microsoft.com/office/officeart/2005/8/layout/hierarchy3"/>
    <dgm:cxn modelId="{5FE1AFC3-B6D0-4C86-8250-094CEA6ED4A7}" type="presParOf" srcId="{9FC4BEAD-8E9F-4098-B0AB-79C3CB200A1A}" destId="{A5B02563-A981-4BB9-97D9-5A6B8867ACE7}" srcOrd="0" destOrd="0" presId="urn:microsoft.com/office/officeart/2005/8/layout/hierarchy3"/>
    <dgm:cxn modelId="{A2757C48-3EDE-4C18-ABBB-907C7BF98730}" type="presParOf" srcId="{9FC4BEAD-8E9F-4098-B0AB-79C3CB200A1A}" destId="{077CDC68-47D0-47BF-B1B3-F62F6CC8B554}" srcOrd="1" destOrd="0" presId="urn:microsoft.com/office/officeart/2005/8/layout/hierarchy3"/>
    <dgm:cxn modelId="{0A4E72C7-7354-470B-9BCF-678CFD1C3E9C}" type="presParOf" srcId="{6DC42E71-3371-4119-86D6-B69E750777CB}" destId="{D7AD4F66-F689-411D-9A26-BE6080CF7833}" srcOrd="3" destOrd="0" presId="urn:microsoft.com/office/officeart/2005/8/layout/hierarchy3"/>
    <dgm:cxn modelId="{DA223F9B-444E-4527-A885-CAD70E12E782}" type="presParOf" srcId="{D7AD4F66-F689-411D-9A26-BE6080CF7833}" destId="{5C119D11-0C39-4800-AA14-D32D85C7F023}" srcOrd="0" destOrd="0" presId="urn:microsoft.com/office/officeart/2005/8/layout/hierarchy3"/>
    <dgm:cxn modelId="{30B8C26F-3DFA-41D9-AFCA-AF1565282EAE}" type="presParOf" srcId="{5C119D11-0C39-4800-AA14-D32D85C7F023}" destId="{E96F3699-676D-4CE6-910F-C702094E21F7}" srcOrd="0" destOrd="0" presId="urn:microsoft.com/office/officeart/2005/8/layout/hierarchy3"/>
    <dgm:cxn modelId="{A8B63984-8690-4C7E-BE53-6D0AFF2B9CA7}" type="presParOf" srcId="{5C119D11-0C39-4800-AA14-D32D85C7F023}" destId="{98C28D17-60A2-41A9-B254-B9049FA7E9C9}" srcOrd="1" destOrd="0" presId="urn:microsoft.com/office/officeart/2005/8/layout/hierarchy3"/>
    <dgm:cxn modelId="{5A7EDB32-5FEC-4406-A2A8-64A0C1DFE3F2}" type="presParOf" srcId="{D7AD4F66-F689-411D-9A26-BE6080CF7833}" destId="{EFA51E4D-308E-49FC-8947-9BEFC84EC23C}" srcOrd="1" destOrd="0" presId="urn:microsoft.com/office/officeart/2005/8/layout/hierarchy3"/>
    <dgm:cxn modelId="{24AC0E57-80F2-4B46-86BF-F64CDEEF3C24}" type="presParOf" srcId="{EFA51E4D-308E-49FC-8947-9BEFC84EC23C}" destId="{EE031EBC-5DBC-4F76-B19F-2B76CCC023A4}" srcOrd="0" destOrd="0" presId="urn:microsoft.com/office/officeart/2005/8/layout/hierarchy3"/>
    <dgm:cxn modelId="{C84CFDF8-F490-42DD-9C5E-DA23989A6A85}" type="presParOf" srcId="{EFA51E4D-308E-49FC-8947-9BEFC84EC23C}" destId="{A5B158AD-C30C-4598-88F9-F92209FB23D2}" srcOrd="1" destOrd="0" presId="urn:microsoft.com/office/officeart/2005/8/layout/hierarchy3"/>
    <dgm:cxn modelId="{39B6CBF5-1270-49E8-AFE4-57ABC92B1AF7}" type="presParOf" srcId="{6DC42E71-3371-4119-86D6-B69E750777CB}" destId="{96FC4C4C-6D07-40F7-B15E-91A61655ED39}" srcOrd="4" destOrd="0" presId="urn:microsoft.com/office/officeart/2005/8/layout/hierarchy3"/>
    <dgm:cxn modelId="{D487C487-2918-45F9-8684-63AAD78248D7}" type="presParOf" srcId="{96FC4C4C-6D07-40F7-B15E-91A61655ED39}" destId="{F351D214-E0EA-4D70-8ADB-BA1650AE89AB}" srcOrd="0" destOrd="0" presId="urn:microsoft.com/office/officeart/2005/8/layout/hierarchy3"/>
    <dgm:cxn modelId="{292A1736-A742-4C6F-86AB-B90386A4DEAA}" type="presParOf" srcId="{F351D214-E0EA-4D70-8ADB-BA1650AE89AB}" destId="{12EEAD9F-3FC2-43BD-B98C-27322CAEC6A2}" srcOrd="0" destOrd="0" presId="urn:microsoft.com/office/officeart/2005/8/layout/hierarchy3"/>
    <dgm:cxn modelId="{31FE96C4-400D-460E-B480-347CFDA66D65}" type="presParOf" srcId="{F351D214-E0EA-4D70-8ADB-BA1650AE89AB}" destId="{89E5B65B-8F76-4FCA-B0D9-84D3DA9AB5BE}" srcOrd="1" destOrd="0" presId="urn:microsoft.com/office/officeart/2005/8/layout/hierarchy3"/>
    <dgm:cxn modelId="{D2B5BA93-94E4-4356-81DE-F6B281ACCD83}" type="presParOf" srcId="{96FC4C4C-6D07-40F7-B15E-91A61655ED39}" destId="{73AAB9B6-49C6-40EC-8A83-6886DECAFDC2}" srcOrd="1" destOrd="0" presId="urn:microsoft.com/office/officeart/2005/8/layout/hierarchy3"/>
    <dgm:cxn modelId="{0E0CF995-F410-4960-AA07-CB7B7ADF6E58}" type="presParOf" srcId="{73AAB9B6-49C6-40EC-8A83-6886DECAFDC2}" destId="{899EC7A6-D8E4-49F7-A542-E5C963B8C6F8}" srcOrd="0" destOrd="0" presId="urn:microsoft.com/office/officeart/2005/8/layout/hierarchy3"/>
    <dgm:cxn modelId="{BF383318-52D0-433C-9BD9-83016909E72C}" type="presParOf" srcId="{73AAB9B6-49C6-40EC-8A83-6886DECAFDC2}" destId="{C996EB81-7EB5-444A-900F-CD3F6606E83C}"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7964F8-4AC5-4269-998B-9E6CA67FFF28}" type="doc">
      <dgm:prSet loTypeId="urn:microsoft.com/office/officeart/2018/5/layout/IconLeafLabel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1FF166CA-6E26-411C-98DB-83DBE4280523}">
      <dgm:prSet/>
      <dgm:spPr/>
      <dgm:t>
        <a:bodyPr/>
        <a:lstStyle/>
        <a:p>
          <a:pPr>
            <a:lnSpc>
              <a:spcPct val="100000"/>
            </a:lnSpc>
            <a:defRPr cap="all"/>
          </a:pPr>
          <a:r>
            <a:rPr lang="en-US"/>
            <a:t>Understanding tokens</a:t>
          </a:r>
        </a:p>
      </dgm:t>
    </dgm:pt>
    <dgm:pt modelId="{D8B1F490-8AA5-43B9-A868-603D15871983}" type="parTrans" cxnId="{78972F5A-D427-4F0A-9C37-0B859047C100}">
      <dgm:prSet/>
      <dgm:spPr/>
      <dgm:t>
        <a:bodyPr/>
        <a:lstStyle/>
        <a:p>
          <a:endParaRPr lang="en-US"/>
        </a:p>
      </dgm:t>
    </dgm:pt>
    <dgm:pt modelId="{6CD815A3-952E-4069-839A-ECA2F526A238}" type="sibTrans" cxnId="{78972F5A-D427-4F0A-9C37-0B859047C100}">
      <dgm:prSet/>
      <dgm:spPr/>
      <dgm:t>
        <a:bodyPr/>
        <a:lstStyle/>
        <a:p>
          <a:endParaRPr lang="en-US"/>
        </a:p>
      </dgm:t>
    </dgm:pt>
    <dgm:pt modelId="{4CC594CA-89F9-4E5F-8CF2-32D95CC20091}">
      <dgm:prSet/>
      <dgm:spPr/>
      <dgm:t>
        <a:bodyPr/>
        <a:lstStyle/>
        <a:p>
          <a:pPr>
            <a:lnSpc>
              <a:spcPct val="100000"/>
            </a:lnSpc>
            <a:defRPr cap="all"/>
          </a:pPr>
          <a:r>
            <a:rPr lang="en-US"/>
            <a:t>Managing complex prompts</a:t>
          </a:r>
        </a:p>
      </dgm:t>
    </dgm:pt>
    <dgm:pt modelId="{8183E7FD-6A0E-4444-8EB0-F75E32411EC9}" type="parTrans" cxnId="{AE13D8F5-A790-44BF-8982-89F68F832E35}">
      <dgm:prSet/>
      <dgm:spPr/>
      <dgm:t>
        <a:bodyPr/>
        <a:lstStyle/>
        <a:p>
          <a:endParaRPr lang="en-US"/>
        </a:p>
      </dgm:t>
    </dgm:pt>
    <dgm:pt modelId="{F152D686-B048-400D-9109-98FC095A183C}" type="sibTrans" cxnId="{AE13D8F5-A790-44BF-8982-89F68F832E35}">
      <dgm:prSet/>
      <dgm:spPr/>
      <dgm:t>
        <a:bodyPr/>
        <a:lstStyle/>
        <a:p>
          <a:endParaRPr lang="en-US"/>
        </a:p>
      </dgm:t>
    </dgm:pt>
    <dgm:pt modelId="{F4488277-5DAF-4933-830A-B7883BC2AD2E}">
      <dgm:prSet/>
      <dgm:spPr/>
      <dgm:t>
        <a:bodyPr/>
        <a:lstStyle/>
        <a:p>
          <a:pPr>
            <a:lnSpc>
              <a:spcPct val="100000"/>
            </a:lnSpc>
            <a:defRPr cap="all"/>
          </a:pPr>
          <a:r>
            <a:rPr lang="en-US"/>
            <a:t>Segmenting large tasks</a:t>
          </a:r>
        </a:p>
      </dgm:t>
    </dgm:pt>
    <dgm:pt modelId="{FAADC18D-FD43-446E-AB28-F47D6B3FBFDE}" type="parTrans" cxnId="{3F9483BF-3D14-4B05-9A2E-87A94C4184EC}">
      <dgm:prSet/>
      <dgm:spPr/>
      <dgm:t>
        <a:bodyPr/>
        <a:lstStyle/>
        <a:p>
          <a:endParaRPr lang="en-US"/>
        </a:p>
      </dgm:t>
    </dgm:pt>
    <dgm:pt modelId="{1D56C89A-CE22-41CE-B54E-BC562E15EBE9}" type="sibTrans" cxnId="{3F9483BF-3D14-4B05-9A2E-87A94C4184EC}">
      <dgm:prSet/>
      <dgm:spPr/>
      <dgm:t>
        <a:bodyPr/>
        <a:lstStyle/>
        <a:p>
          <a:endParaRPr lang="en-US"/>
        </a:p>
      </dgm:t>
    </dgm:pt>
    <dgm:pt modelId="{613AF6F1-1E8D-4700-953E-30BC860B8748}" type="pres">
      <dgm:prSet presAssocID="{8D7964F8-4AC5-4269-998B-9E6CA67FFF28}" presName="root" presStyleCnt="0">
        <dgm:presLayoutVars>
          <dgm:dir/>
          <dgm:resizeHandles val="exact"/>
        </dgm:presLayoutVars>
      </dgm:prSet>
      <dgm:spPr/>
    </dgm:pt>
    <dgm:pt modelId="{726AAC8F-7DA6-442C-B1B3-F5B1DAF14FCA}" type="pres">
      <dgm:prSet presAssocID="{1FF166CA-6E26-411C-98DB-83DBE4280523}" presName="compNode" presStyleCnt="0"/>
      <dgm:spPr/>
    </dgm:pt>
    <dgm:pt modelId="{87C21196-2558-4BA2-BDA0-E718E46F01BD}" type="pres">
      <dgm:prSet presAssocID="{1FF166CA-6E26-411C-98DB-83DBE4280523}" presName="iconBgRect" presStyleLbl="bgShp" presStyleIdx="0" presStyleCnt="3"/>
      <dgm:spPr>
        <a:prstGeom prst="round2DiagRect">
          <a:avLst>
            <a:gd name="adj1" fmla="val 29727"/>
            <a:gd name="adj2" fmla="val 0"/>
          </a:avLst>
        </a:prstGeom>
      </dgm:spPr>
    </dgm:pt>
    <dgm:pt modelId="{EDC4AA68-3FE1-476D-B211-FFC7E3E236DC}" type="pres">
      <dgm:prSet presAssocID="{1FF166CA-6E26-411C-98DB-83DBE42805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7725274B-73E5-4B06-8F3F-DD0A7252FC0D}" type="pres">
      <dgm:prSet presAssocID="{1FF166CA-6E26-411C-98DB-83DBE4280523}" presName="spaceRect" presStyleCnt="0"/>
      <dgm:spPr/>
    </dgm:pt>
    <dgm:pt modelId="{A9CE3B2A-899A-4266-BA03-069CD83A6D8C}" type="pres">
      <dgm:prSet presAssocID="{1FF166CA-6E26-411C-98DB-83DBE4280523}" presName="textRect" presStyleLbl="revTx" presStyleIdx="0" presStyleCnt="3">
        <dgm:presLayoutVars>
          <dgm:chMax val="1"/>
          <dgm:chPref val="1"/>
        </dgm:presLayoutVars>
      </dgm:prSet>
      <dgm:spPr/>
    </dgm:pt>
    <dgm:pt modelId="{AE6313B1-B1DB-40E5-8B64-0FE888B01014}" type="pres">
      <dgm:prSet presAssocID="{6CD815A3-952E-4069-839A-ECA2F526A238}" presName="sibTrans" presStyleCnt="0"/>
      <dgm:spPr/>
    </dgm:pt>
    <dgm:pt modelId="{E1F81BDC-11DC-4125-8326-45549B76868F}" type="pres">
      <dgm:prSet presAssocID="{4CC594CA-89F9-4E5F-8CF2-32D95CC20091}" presName="compNode" presStyleCnt="0"/>
      <dgm:spPr/>
    </dgm:pt>
    <dgm:pt modelId="{32F8FAC9-B57F-4B7D-BFE0-A3F9589A171E}" type="pres">
      <dgm:prSet presAssocID="{4CC594CA-89F9-4E5F-8CF2-32D95CC20091}" presName="iconBgRect" presStyleLbl="bgShp" presStyleIdx="1" presStyleCnt="3"/>
      <dgm:spPr>
        <a:prstGeom prst="round2DiagRect">
          <a:avLst>
            <a:gd name="adj1" fmla="val 29727"/>
            <a:gd name="adj2" fmla="val 0"/>
          </a:avLst>
        </a:prstGeom>
      </dgm:spPr>
    </dgm:pt>
    <dgm:pt modelId="{FD2D8CE0-3689-47B8-8568-EFCC517A31BA}" type="pres">
      <dgm:prSet presAssocID="{4CC594CA-89F9-4E5F-8CF2-32D95CC200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EF2FFBA-0477-485A-B247-ECFCDDA960F0}" type="pres">
      <dgm:prSet presAssocID="{4CC594CA-89F9-4E5F-8CF2-32D95CC20091}" presName="spaceRect" presStyleCnt="0"/>
      <dgm:spPr/>
    </dgm:pt>
    <dgm:pt modelId="{F29E70F6-7C7A-4432-B90C-5E58FD820ABC}" type="pres">
      <dgm:prSet presAssocID="{4CC594CA-89F9-4E5F-8CF2-32D95CC20091}" presName="textRect" presStyleLbl="revTx" presStyleIdx="1" presStyleCnt="3">
        <dgm:presLayoutVars>
          <dgm:chMax val="1"/>
          <dgm:chPref val="1"/>
        </dgm:presLayoutVars>
      </dgm:prSet>
      <dgm:spPr/>
    </dgm:pt>
    <dgm:pt modelId="{8357785D-EBFF-4842-932B-E889E80E0D4E}" type="pres">
      <dgm:prSet presAssocID="{F152D686-B048-400D-9109-98FC095A183C}" presName="sibTrans" presStyleCnt="0"/>
      <dgm:spPr/>
    </dgm:pt>
    <dgm:pt modelId="{E368E8D2-0943-4CBD-B866-3CA79FD096F1}" type="pres">
      <dgm:prSet presAssocID="{F4488277-5DAF-4933-830A-B7883BC2AD2E}" presName="compNode" presStyleCnt="0"/>
      <dgm:spPr/>
    </dgm:pt>
    <dgm:pt modelId="{8AB047CC-1EC2-40FA-9537-A0E7852F62A0}" type="pres">
      <dgm:prSet presAssocID="{F4488277-5DAF-4933-830A-B7883BC2AD2E}" presName="iconBgRect" presStyleLbl="bgShp" presStyleIdx="2" presStyleCnt="3"/>
      <dgm:spPr>
        <a:prstGeom prst="round2DiagRect">
          <a:avLst>
            <a:gd name="adj1" fmla="val 29727"/>
            <a:gd name="adj2" fmla="val 0"/>
          </a:avLst>
        </a:prstGeom>
      </dgm:spPr>
    </dgm:pt>
    <dgm:pt modelId="{1C00B5E2-7FB7-43D0-93C8-E3CF7E2CACD2}" type="pres">
      <dgm:prSet presAssocID="{F4488277-5DAF-4933-830A-B7883BC2AD2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79ED5921-79BC-40C3-B810-169C46AB537E}" type="pres">
      <dgm:prSet presAssocID="{F4488277-5DAF-4933-830A-B7883BC2AD2E}" presName="spaceRect" presStyleCnt="0"/>
      <dgm:spPr/>
    </dgm:pt>
    <dgm:pt modelId="{3B1C1150-5406-45F4-92AC-399CA3A94027}" type="pres">
      <dgm:prSet presAssocID="{F4488277-5DAF-4933-830A-B7883BC2AD2E}" presName="textRect" presStyleLbl="revTx" presStyleIdx="2" presStyleCnt="3">
        <dgm:presLayoutVars>
          <dgm:chMax val="1"/>
          <dgm:chPref val="1"/>
        </dgm:presLayoutVars>
      </dgm:prSet>
      <dgm:spPr/>
    </dgm:pt>
  </dgm:ptLst>
  <dgm:cxnLst>
    <dgm:cxn modelId="{A0EC5227-302B-402A-AFB6-38FED13FC1E7}" type="presOf" srcId="{8D7964F8-4AC5-4269-998B-9E6CA67FFF28}" destId="{613AF6F1-1E8D-4700-953E-30BC860B8748}" srcOrd="0" destOrd="0" presId="urn:microsoft.com/office/officeart/2018/5/layout/IconLeafLabelList"/>
    <dgm:cxn modelId="{695F4C4B-BE4E-444F-82B7-6F166282ABBA}" type="presOf" srcId="{F4488277-5DAF-4933-830A-B7883BC2AD2E}" destId="{3B1C1150-5406-45F4-92AC-399CA3A94027}" srcOrd="0" destOrd="0" presId="urn:microsoft.com/office/officeart/2018/5/layout/IconLeafLabelList"/>
    <dgm:cxn modelId="{22AC4B77-2A2C-4962-BAD7-966FB33BCBBB}" type="presOf" srcId="{4CC594CA-89F9-4E5F-8CF2-32D95CC20091}" destId="{F29E70F6-7C7A-4432-B90C-5E58FD820ABC}" srcOrd="0" destOrd="0" presId="urn:microsoft.com/office/officeart/2018/5/layout/IconLeafLabelList"/>
    <dgm:cxn modelId="{78972F5A-D427-4F0A-9C37-0B859047C100}" srcId="{8D7964F8-4AC5-4269-998B-9E6CA67FFF28}" destId="{1FF166CA-6E26-411C-98DB-83DBE4280523}" srcOrd="0" destOrd="0" parTransId="{D8B1F490-8AA5-43B9-A868-603D15871983}" sibTransId="{6CD815A3-952E-4069-839A-ECA2F526A238}"/>
    <dgm:cxn modelId="{B8AF8487-DF4D-4942-9E77-E45D260C7E4F}" type="presOf" srcId="{1FF166CA-6E26-411C-98DB-83DBE4280523}" destId="{A9CE3B2A-899A-4266-BA03-069CD83A6D8C}" srcOrd="0" destOrd="0" presId="urn:microsoft.com/office/officeart/2018/5/layout/IconLeafLabelList"/>
    <dgm:cxn modelId="{3F9483BF-3D14-4B05-9A2E-87A94C4184EC}" srcId="{8D7964F8-4AC5-4269-998B-9E6CA67FFF28}" destId="{F4488277-5DAF-4933-830A-B7883BC2AD2E}" srcOrd="2" destOrd="0" parTransId="{FAADC18D-FD43-446E-AB28-F47D6B3FBFDE}" sibTransId="{1D56C89A-CE22-41CE-B54E-BC562E15EBE9}"/>
    <dgm:cxn modelId="{AE13D8F5-A790-44BF-8982-89F68F832E35}" srcId="{8D7964F8-4AC5-4269-998B-9E6CA67FFF28}" destId="{4CC594CA-89F9-4E5F-8CF2-32D95CC20091}" srcOrd="1" destOrd="0" parTransId="{8183E7FD-6A0E-4444-8EB0-F75E32411EC9}" sibTransId="{F152D686-B048-400D-9109-98FC095A183C}"/>
    <dgm:cxn modelId="{8837967D-2018-449E-B0E7-8D09AF17907D}" type="presParOf" srcId="{613AF6F1-1E8D-4700-953E-30BC860B8748}" destId="{726AAC8F-7DA6-442C-B1B3-F5B1DAF14FCA}" srcOrd="0" destOrd="0" presId="urn:microsoft.com/office/officeart/2018/5/layout/IconLeafLabelList"/>
    <dgm:cxn modelId="{644B1AB9-F40F-4F42-A049-88108AF5D1B7}" type="presParOf" srcId="{726AAC8F-7DA6-442C-B1B3-F5B1DAF14FCA}" destId="{87C21196-2558-4BA2-BDA0-E718E46F01BD}" srcOrd="0" destOrd="0" presId="urn:microsoft.com/office/officeart/2018/5/layout/IconLeafLabelList"/>
    <dgm:cxn modelId="{15D7F239-A789-44C6-9338-81FC3C4D0512}" type="presParOf" srcId="{726AAC8F-7DA6-442C-B1B3-F5B1DAF14FCA}" destId="{EDC4AA68-3FE1-476D-B211-FFC7E3E236DC}" srcOrd="1" destOrd="0" presId="urn:microsoft.com/office/officeart/2018/5/layout/IconLeafLabelList"/>
    <dgm:cxn modelId="{B5EB2F41-614B-4352-8532-E0AD254E73A6}" type="presParOf" srcId="{726AAC8F-7DA6-442C-B1B3-F5B1DAF14FCA}" destId="{7725274B-73E5-4B06-8F3F-DD0A7252FC0D}" srcOrd="2" destOrd="0" presId="urn:microsoft.com/office/officeart/2018/5/layout/IconLeafLabelList"/>
    <dgm:cxn modelId="{56B43267-6352-477E-9B87-8A0D2563FCF7}" type="presParOf" srcId="{726AAC8F-7DA6-442C-B1B3-F5B1DAF14FCA}" destId="{A9CE3B2A-899A-4266-BA03-069CD83A6D8C}" srcOrd="3" destOrd="0" presId="urn:microsoft.com/office/officeart/2018/5/layout/IconLeafLabelList"/>
    <dgm:cxn modelId="{7EFB5A35-ABE5-4B3B-BB8E-CC61EA36CEBA}" type="presParOf" srcId="{613AF6F1-1E8D-4700-953E-30BC860B8748}" destId="{AE6313B1-B1DB-40E5-8B64-0FE888B01014}" srcOrd="1" destOrd="0" presId="urn:microsoft.com/office/officeart/2018/5/layout/IconLeafLabelList"/>
    <dgm:cxn modelId="{AD393781-6F7D-406B-922C-CBEDEE586834}" type="presParOf" srcId="{613AF6F1-1E8D-4700-953E-30BC860B8748}" destId="{E1F81BDC-11DC-4125-8326-45549B76868F}" srcOrd="2" destOrd="0" presId="urn:microsoft.com/office/officeart/2018/5/layout/IconLeafLabelList"/>
    <dgm:cxn modelId="{6CDCA033-B1A7-451A-935A-DF3307348114}" type="presParOf" srcId="{E1F81BDC-11DC-4125-8326-45549B76868F}" destId="{32F8FAC9-B57F-4B7D-BFE0-A3F9589A171E}" srcOrd="0" destOrd="0" presId="urn:microsoft.com/office/officeart/2018/5/layout/IconLeafLabelList"/>
    <dgm:cxn modelId="{8B01066B-8FD2-4AF4-A739-CB62AE37E553}" type="presParOf" srcId="{E1F81BDC-11DC-4125-8326-45549B76868F}" destId="{FD2D8CE0-3689-47B8-8568-EFCC517A31BA}" srcOrd="1" destOrd="0" presId="urn:microsoft.com/office/officeart/2018/5/layout/IconLeafLabelList"/>
    <dgm:cxn modelId="{9DC7A4ED-E497-40A2-9AE1-E9075681B51D}" type="presParOf" srcId="{E1F81BDC-11DC-4125-8326-45549B76868F}" destId="{2EF2FFBA-0477-485A-B247-ECFCDDA960F0}" srcOrd="2" destOrd="0" presId="urn:microsoft.com/office/officeart/2018/5/layout/IconLeafLabelList"/>
    <dgm:cxn modelId="{A21C6ED8-4D27-483B-AEA0-1EF5EA1FF298}" type="presParOf" srcId="{E1F81BDC-11DC-4125-8326-45549B76868F}" destId="{F29E70F6-7C7A-4432-B90C-5E58FD820ABC}" srcOrd="3" destOrd="0" presId="urn:microsoft.com/office/officeart/2018/5/layout/IconLeafLabelList"/>
    <dgm:cxn modelId="{C988A9DD-452E-4C9E-87B6-63467DF38A10}" type="presParOf" srcId="{613AF6F1-1E8D-4700-953E-30BC860B8748}" destId="{8357785D-EBFF-4842-932B-E889E80E0D4E}" srcOrd="3" destOrd="0" presId="urn:microsoft.com/office/officeart/2018/5/layout/IconLeafLabelList"/>
    <dgm:cxn modelId="{5B1641C6-36B3-4E08-9F90-104E826772CB}" type="presParOf" srcId="{613AF6F1-1E8D-4700-953E-30BC860B8748}" destId="{E368E8D2-0943-4CBD-B866-3CA79FD096F1}" srcOrd="4" destOrd="0" presId="urn:microsoft.com/office/officeart/2018/5/layout/IconLeafLabelList"/>
    <dgm:cxn modelId="{FA58CA6E-D5F2-4B3F-B768-B5AAFD499D6A}" type="presParOf" srcId="{E368E8D2-0943-4CBD-B866-3CA79FD096F1}" destId="{8AB047CC-1EC2-40FA-9537-A0E7852F62A0}" srcOrd="0" destOrd="0" presId="urn:microsoft.com/office/officeart/2018/5/layout/IconLeafLabelList"/>
    <dgm:cxn modelId="{CC7F0A85-B423-47C7-B6CD-A2B869F3B0FF}" type="presParOf" srcId="{E368E8D2-0943-4CBD-B866-3CA79FD096F1}" destId="{1C00B5E2-7FB7-43D0-93C8-E3CF7E2CACD2}" srcOrd="1" destOrd="0" presId="urn:microsoft.com/office/officeart/2018/5/layout/IconLeafLabelList"/>
    <dgm:cxn modelId="{A37E931F-947E-4901-BB90-1D4C9EDEF5A8}" type="presParOf" srcId="{E368E8D2-0943-4CBD-B866-3CA79FD096F1}" destId="{79ED5921-79BC-40C3-B810-169C46AB537E}" srcOrd="2" destOrd="0" presId="urn:microsoft.com/office/officeart/2018/5/layout/IconLeafLabelList"/>
    <dgm:cxn modelId="{4F137243-2D42-4A51-BE40-EDF07C62E4C1}" type="presParOf" srcId="{E368E8D2-0943-4CBD-B866-3CA79FD096F1}" destId="{3B1C1150-5406-45F4-92AC-399CA3A9402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2B62A-EEC1-4FF3-AFB6-01B40DD3E16D}">
      <dsp:nvSpPr>
        <dsp:cNvPr id="0" name=""/>
        <dsp:cNvSpPr/>
      </dsp:nvSpPr>
      <dsp:spPr>
        <a:xfrm>
          <a:off x="614850" y="62370"/>
          <a:ext cx="1921500" cy="1921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F7DFEC-9E57-4353-BA72-B113A05849F3}">
      <dsp:nvSpPr>
        <dsp:cNvPr id="0" name=""/>
        <dsp:cNvSpPr/>
      </dsp:nvSpPr>
      <dsp:spPr>
        <a:xfrm>
          <a:off x="1024350" y="471870"/>
          <a:ext cx="1102500" cy="1102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30890E-B0CC-4CDF-AA23-F64F293E5983}">
      <dsp:nvSpPr>
        <dsp:cNvPr id="0" name=""/>
        <dsp:cNvSpPr/>
      </dsp:nvSpPr>
      <dsp:spPr>
        <a:xfrm>
          <a:off x="60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Techniques for crafting clear and concise prompts</a:t>
          </a:r>
        </a:p>
      </dsp:txBody>
      <dsp:txXfrm>
        <a:off x="600" y="2582370"/>
        <a:ext cx="3150000" cy="720000"/>
      </dsp:txXfrm>
    </dsp:sp>
    <dsp:sp modelId="{3CA205DF-12F9-45E6-8931-9FA95195D33E}">
      <dsp:nvSpPr>
        <dsp:cNvPr id="0" name=""/>
        <dsp:cNvSpPr/>
      </dsp:nvSpPr>
      <dsp:spPr>
        <a:xfrm>
          <a:off x="4316100" y="62370"/>
          <a:ext cx="1921500" cy="1921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9C7570-59E9-4040-A170-BDA4F476E454}">
      <dsp:nvSpPr>
        <dsp:cNvPr id="0" name=""/>
        <dsp:cNvSpPr/>
      </dsp:nvSpPr>
      <dsp:spPr>
        <a:xfrm>
          <a:off x="4725600" y="471870"/>
          <a:ext cx="1102500" cy="1102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6B2908-CB01-4913-8E09-BE0A970C171D}">
      <dsp:nvSpPr>
        <dsp:cNvPr id="0" name=""/>
        <dsp:cNvSpPr/>
      </dsp:nvSpPr>
      <dsp:spPr>
        <a:xfrm>
          <a:off x="370185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Handling ambiguous queries</a:t>
          </a:r>
        </a:p>
      </dsp:txBody>
      <dsp:txXfrm>
        <a:off x="3701850" y="2582370"/>
        <a:ext cx="3150000" cy="720000"/>
      </dsp:txXfrm>
    </dsp:sp>
    <dsp:sp modelId="{C600FFD0-42FA-461C-9D72-DB87ABD7501C}">
      <dsp:nvSpPr>
        <dsp:cNvPr id="0" name=""/>
        <dsp:cNvSpPr/>
      </dsp:nvSpPr>
      <dsp:spPr>
        <a:xfrm>
          <a:off x="8017350" y="62370"/>
          <a:ext cx="1921500" cy="19215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2DC712-0DE3-44D1-8C25-25964504236F}">
      <dsp:nvSpPr>
        <dsp:cNvPr id="0" name=""/>
        <dsp:cNvSpPr/>
      </dsp:nvSpPr>
      <dsp:spPr>
        <a:xfrm>
          <a:off x="8426850" y="471870"/>
          <a:ext cx="1102500" cy="1102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38EE3A6-A96F-4C6A-A031-CA27F193D530}">
      <dsp:nvSpPr>
        <dsp:cNvPr id="0" name=""/>
        <dsp:cNvSpPr/>
      </dsp:nvSpPr>
      <dsp:spPr>
        <a:xfrm>
          <a:off x="740310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Incorporating user feedback into prompts</a:t>
          </a:r>
        </a:p>
      </dsp:txBody>
      <dsp:txXfrm>
        <a:off x="7403100" y="2582370"/>
        <a:ext cx="315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BE4CC-B0AC-4020-8509-6EE42F3B00BD}">
      <dsp:nvSpPr>
        <dsp:cNvPr id="0" name=""/>
        <dsp:cNvSpPr/>
      </dsp:nvSpPr>
      <dsp:spPr>
        <a:xfrm>
          <a:off x="0" y="3380"/>
          <a:ext cx="5816600" cy="7201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E8926-9639-4E31-8668-B78F2BFF7DCE}">
      <dsp:nvSpPr>
        <dsp:cNvPr id="0" name=""/>
        <dsp:cNvSpPr/>
      </dsp:nvSpPr>
      <dsp:spPr>
        <a:xfrm>
          <a:off x="217838" y="165409"/>
          <a:ext cx="396069" cy="3960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1A1AC5-08FC-4CF8-8DD0-1A866A488C79}">
      <dsp:nvSpPr>
        <dsp:cNvPr id="0" name=""/>
        <dsp:cNvSpPr/>
      </dsp:nvSpPr>
      <dsp:spPr>
        <a:xfrm>
          <a:off x="831746" y="3380"/>
          <a:ext cx="4984853" cy="72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13" tIns="76213" rIns="76213" bIns="76213" numCol="1" spcCol="1270" anchor="ctr" anchorCtr="0">
          <a:noAutofit/>
        </a:bodyPr>
        <a:lstStyle/>
        <a:p>
          <a:pPr marL="0" lvl="0" indent="0" algn="l" defTabSz="844550">
            <a:lnSpc>
              <a:spcPct val="90000"/>
            </a:lnSpc>
            <a:spcBef>
              <a:spcPct val="0"/>
            </a:spcBef>
            <a:spcAft>
              <a:spcPct val="35000"/>
            </a:spcAft>
            <a:buNone/>
          </a:pPr>
          <a:r>
            <a:rPr lang="en-US" sz="1900" kern="1200"/>
            <a:t>Informational Queries</a:t>
          </a:r>
        </a:p>
      </dsp:txBody>
      <dsp:txXfrm>
        <a:off x="831746" y="3380"/>
        <a:ext cx="4984853" cy="720127"/>
      </dsp:txXfrm>
    </dsp:sp>
    <dsp:sp modelId="{C7091F37-512C-4B9D-A468-09EAEE03161D}">
      <dsp:nvSpPr>
        <dsp:cNvPr id="0" name=""/>
        <dsp:cNvSpPr/>
      </dsp:nvSpPr>
      <dsp:spPr>
        <a:xfrm>
          <a:off x="0" y="903539"/>
          <a:ext cx="5816600" cy="7201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A219F3-0921-4BFC-AC7E-F0BF462C2C04}">
      <dsp:nvSpPr>
        <dsp:cNvPr id="0" name=""/>
        <dsp:cNvSpPr/>
      </dsp:nvSpPr>
      <dsp:spPr>
        <a:xfrm>
          <a:off x="217838" y="1065568"/>
          <a:ext cx="396069" cy="3960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CF24A0B-ED10-4EFB-ADAF-6A3D83794128}">
      <dsp:nvSpPr>
        <dsp:cNvPr id="0" name=""/>
        <dsp:cNvSpPr/>
      </dsp:nvSpPr>
      <dsp:spPr>
        <a:xfrm>
          <a:off x="831746" y="903539"/>
          <a:ext cx="4984853" cy="72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13" tIns="76213" rIns="76213" bIns="76213" numCol="1" spcCol="1270" anchor="ctr" anchorCtr="0">
          <a:noAutofit/>
        </a:bodyPr>
        <a:lstStyle/>
        <a:p>
          <a:pPr marL="0" lvl="0" indent="0" algn="l" defTabSz="844550">
            <a:lnSpc>
              <a:spcPct val="90000"/>
            </a:lnSpc>
            <a:spcBef>
              <a:spcPct val="0"/>
            </a:spcBef>
            <a:spcAft>
              <a:spcPct val="35000"/>
            </a:spcAft>
            <a:buNone/>
          </a:pPr>
          <a:r>
            <a:rPr lang="en-US" sz="1900" kern="1200"/>
            <a:t>Creative Writing</a:t>
          </a:r>
        </a:p>
      </dsp:txBody>
      <dsp:txXfrm>
        <a:off x="831746" y="903539"/>
        <a:ext cx="4984853" cy="720127"/>
      </dsp:txXfrm>
    </dsp:sp>
    <dsp:sp modelId="{8C31B2FF-8D4F-4039-847E-1727ADD1BE71}">
      <dsp:nvSpPr>
        <dsp:cNvPr id="0" name=""/>
        <dsp:cNvSpPr/>
      </dsp:nvSpPr>
      <dsp:spPr>
        <a:xfrm>
          <a:off x="0" y="1803698"/>
          <a:ext cx="5816600" cy="7201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F3FA17-B51C-4E2C-9942-6E2679798B07}">
      <dsp:nvSpPr>
        <dsp:cNvPr id="0" name=""/>
        <dsp:cNvSpPr/>
      </dsp:nvSpPr>
      <dsp:spPr>
        <a:xfrm>
          <a:off x="217838" y="1965727"/>
          <a:ext cx="396069" cy="3960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250F12-5E23-4CDD-8EC6-15DDE512990D}">
      <dsp:nvSpPr>
        <dsp:cNvPr id="0" name=""/>
        <dsp:cNvSpPr/>
      </dsp:nvSpPr>
      <dsp:spPr>
        <a:xfrm>
          <a:off x="831746" y="1803698"/>
          <a:ext cx="4984853" cy="72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13" tIns="76213" rIns="76213" bIns="76213" numCol="1" spcCol="1270" anchor="ctr" anchorCtr="0">
          <a:noAutofit/>
        </a:bodyPr>
        <a:lstStyle/>
        <a:p>
          <a:pPr marL="0" lvl="0" indent="0" algn="l" defTabSz="844550">
            <a:lnSpc>
              <a:spcPct val="90000"/>
            </a:lnSpc>
            <a:spcBef>
              <a:spcPct val="0"/>
            </a:spcBef>
            <a:spcAft>
              <a:spcPct val="35000"/>
            </a:spcAft>
            <a:buNone/>
          </a:pPr>
          <a:r>
            <a:rPr lang="en-US" sz="1900" kern="1200"/>
            <a:t>Conversational Engagements</a:t>
          </a:r>
        </a:p>
      </dsp:txBody>
      <dsp:txXfrm>
        <a:off x="831746" y="1803698"/>
        <a:ext cx="4984853" cy="720127"/>
      </dsp:txXfrm>
    </dsp:sp>
    <dsp:sp modelId="{6051EBF4-244E-4F2B-AD0F-F4DB63199952}">
      <dsp:nvSpPr>
        <dsp:cNvPr id="0" name=""/>
        <dsp:cNvSpPr/>
      </dsp:nvSpPr>
      <dsp:spPr>
        <a:xfrm>
          <a:off x="0" y="2703857"/>
          <a:ext cx="5816600" cy="7201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E4D05E-7E1E-4152-AD5E-B25179EDAB31}">
      <dsp:nvSpPr>
        <dsp:cNvPr id="0" name=""/>
        <dsp:cNvSpPr/>
      </dsp:nvSpPr>
      <dsp:spPr>
        <a:xfrm>
          <a:off x="217838" y="2865886"/>
          <a:ext cx="396069" cy="3960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0A82CDC-C2BC-4B8E-BE41-56ABE31E2300}">
      <dsp:nvSpPr>
        <dsp:cNvPr id="0" name=""/>
        <dsp:cNvSpPr/>
      </dsp:nvSpPr>
      <dsp:spPr>
        <a:xfrm>
          <a:off x="831746" y="2703857"/>
          <a:ext cx="4984853" cy="72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13" tIns="76213" rIns="76213" bIns="76213" numCol="1" spcCol="1270" anchor="ctr" anchorCtr="0">
          <a:noAutofit/>
        </a:bodyPr>
        <a:lstStyle/>
        <a:p>
          <a:pPr marL="0" lvl="0" indent="0" algn="l" defTabSz="844550">
            <a:lnSpc>
              <a:spcPct val="90000"/>
            </a:lnSpc>
            <a:spcBef>
              <a:spcPct val="0"/>
            </a:spcBef>
            <a:spcAft>
              <a:spcPct val="35000"/>
            </a:spcAft>
            <a:buNone/>
          </a:pPr>
          <a:r>
            <a:rPr lang="en-US" sz="1900" kern="1200"/>
            <a:t>Technical Assistance</a:t>
          </a:r>
        </a:p>
      </dsp:txBody>
      <dsp:txXfrm>
        <a:off x="831746" y="2703857"/>
        <a:ext cx="4984853" cy="720127"/>
      </dsp:txXfrm>
    </dsp:sp>
    <dsp:sp modelId="{E9870DF3-8F8F-43F7-8FEC-CD0FF53EBBC0}">
      <dsp:nvSpPr>
        <dsp:cNvPr id="0" name=""/>
        <dsp:cNvSpPr/>
      </dsp:nvSpPr>
      <dsp:spPr>
        <a:xfrm>
          <a:off x="0" y="3604016"/>
          <a:ext cx="5816600" cy="7201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6D9CD-0729-431C-9068-E0D43240B37E}">
      <dsp:nvSpPr>
        <dsp:cNvPr id="0" name=""/>
        <dsp:cNvSpPr/>
      </dsp:nvSpPr>
      <dsp:spPr>
        <a:xfrm>
          <a:off x="217838" y="3766045"/>
          <a:ext cx="396069" cy="3960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6D6F566-252C-4A4A-BD8C-5387DA68AE15}">
      <dsp:nvSpPr>
        <dsp:cNvPr id="0" name=""/>
        <dsp:cNvSpPr/>
      </dsp:nvSpPr>
      <dsp:spPr>
        <a:xfrm>
          <a:off x="831746" y="3604016"/>
          <a:ext cx="4984853" cy="72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13" tIns="76213" rIns="76213" bIns="76213" numCol="1" spcCol="1270" anchor="ctr" anchorCtr="0">
          <a:noAutofit/>
        </a:bodyPr>
        <a:lstStyle/>
        <a:p>
          <a:pPr marL="0" lvl="0" indent="0" algn="l" defTabSz="844550">
            <a:lnSpc>
              <a:spcPct val="90000"/>
            </a:lnSpc>
            <a:spcBef>
              <a:spcPct val="0"/>
            </a:spcBef>
            <a:spcAft>
              <a:spcPct val="35000"/>
            </a:spcAft>
            <a:buNone/>
          </a:pPr>
          <a:r>
            <a:rPr lang="en-US" sz="1900" kern="1200"/>
            <a:t>Instructional Guidance</a:t>
          </a:r>
        </a:p>
      </dsp:txBody>
      <dsp:txXfrm>
        <a:off x="831746" y="3604016"/>
        <a:ext cx="4984853" cy="7201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C10E8-64A7-40F2-8E56-50C4EA4D54C6}">
      <dsp:nvSpPr>
        <dsp:cNvPr id="0" name=""/>
        <dsp:cNvSpPr/>
      </dsp:nvSpPr>
      <dsp:spPr>
        <a:xfrm>
          <a:off x="5153" y="693927"/>
          <a:ext cx="1757232" cy="878616"/>
        </a:xfrm>
        <a:prstGeom prst="roundRect">
          <a:avLst>
            <a:gd name="adj" fmla="val 10000"/>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Avoiding</a:t>
          </a:r>
        </a:p>
      </dsp:txBody>
      <dsp:txXfrm>
        <a:off x="30887" y="719661"/>
        <a:ext cx="1705764" cy="827148"/>
      </dsp:txXfrm>
    </dsp:sp>
    <dsp:sp modelId="{2F32CF9D-80D9-4286-9EA5-8923CD8F9896}">
      <dsp:nvSpPr>
        <dsp:cNvPr id="0" name=""/>
        <dsp:cNvSpPr/>
      </dsp:nvSpPr>
      <dsp:spPr>
        <a:xfrm>
          <a:off x="180876" y="1572543"/>
          <a:ext cx="175723" cy="658962"/>
        </a:xfrm>
        <a:custGeom>
          <a:avLst/>
          <a:gdLst/>
          <a:ahLst/>
          <a:cxnLst/>
          <a:rect l="0" t="0" r="0" b="0"/>
          <a:pathLst>
            <a:path>
              <a:moveTo>
                <a:pt x="0" y="0"/>
              </a:moveTo>
              <a:lnTo>
                <a:pt x="0" y="658962"/>
              </a:lnTo>
              <a:lnTo>
                <a:pt x="175723" y="658962"/>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597CC97-3097-46AB-8C85-A5C557668B08}">
      <dsp:nvSpPr>
        <dsp:cNvPr id="0" name=""/>
        <dsp:cNvSpPr/>
      </dsp:nvSpPr>
      <dsp:spPr>
        <a:xfrm>
          <a:off x="356599" y="1792197"/>
          <a:ext cx="1405785" cy="878616"/>
        </a:xfrm>
        <a:prstGeom prst="roundRect">
          <a:avLst>
            <a:gd name="adj" fmla="val 10000"/>
          </a:avLst>
        </a:prstGeom>
        <a:solidFill>
          <a:schemeClr val="lt1">
            <a:alpha val="90000"/>
            <a:hueOff val="0"/>
            <a:satOff val="0"/>
            <a:lumOff val="0"/>
            <a:alphaOff val="0"/>
          </a:schemeClr>
        </a:solidFill>
        <a:ln w="9525" cap="rnd"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Avoiding Ambiguity</a:t>
          </a:r>
        </a:p>
      </dsp:txBody>
      <dsp:txXfrm>
        <a:off x="382333" y="1817931"/>
        <a:ext cx="1354317" cy="827148"/>
      </dsp:txXfrm>
    </dsp:sp>
    <dsp:sp modelId="{B2588A7F-3899-4A69-9B70-1B09CCCACCCA}">
      <dsp:nvSpPr>
        <dsp:cNvPr id="0" name=""/>
        <dsp:cNvSpPr/>
      </dsp:nvSpPr>
      <dsp:spPr>
        <a:xfrm>
          <a:off x="2201693" y="693927"/>
          <a:ext cx="1757232" cy="878616"/>
        </a:xfrm>
        <a:prstGeom prst="roundRect">
          <a:avLst>
            <a:gd name="adj" fmla="val 10000"/>
          </a:avLst>
        </a:prstGeom>
        <a:blipFill rotWithShape="1">
          <a:blip xmlns:r="http://schemas.openxmlformats.org/officeDocument/2006/relationships" r:embed="rId1">
            <a:duotone>
              <a:schemeClr val="accent5">
                <a:hueOff val="5199046"/>
                <a:satOff val="-142"/>
                <a:lumOff val="-785"/>
                <a:alphaOff val="0"/>
                <a:tint val="98000"/>
                <a:lumMod val="102000"/>
              </a:schemeClr>
              <a:schemeClr val="accent5">
                <a:hueOff val="5199046"/>
                <a:satOff val="-142"/>
                <a:lumOff val="-785"/>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Incorporating</a:t>
          </a:r>
        </a:p>
      </dsp:txBody>
      <dsp:txXfrm>
        <a:off x="2227427" y="719661"/>
        <a:ext cx="1705764" cy="827148"/>
      </dsp:txXfrm>
    </dsp:sp>
    <dsp:sp modelId="{32B378A0-184D-4BAC-8F63-C7CBF805356E}">
      <dsp:nvSpPr>
        <dsp:cNvPr id="0" name=""/>
        <dsp:cNvSpPr/>
      </dsp:nvSpPr>
      <dsp:spPr>
        <a:xfrm>
          <a:off x="2377416" y="1572543"/>
          <a:ext cx="175723" cy="658962"/>
        </a:xfrm>
        <a:custGeom>
          <a:avLst/>
          <a:gdLst/>
          <a:ahLst/>
          <a:cxnLst/>
          <a:rect l="0" t="0" r="0" b="0"/>
          <a:pathLst>
            <a:path>
              <a:moveTo>
                <a:pt x="0" y="0"/>
              </a:moveTo>
              <a:lnTo>
                <a:pt x="0" y="658962"/>
              </a:lnTo>
              <a:lnTo>
                <a:pt x="175723" y="658962"/>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CBAFF40-EBF7-41F1-9C88-8635787952B4}">
      <dsp:nvSpPr>
        <dsp:cNvPr id="0" name=""/>
        <dsp:cNvSpPr/>
      </dsp:nvSpPr>
      <dsp:spPr>
        <a:xfrm>
          <a:off x="2553139" y="1792197"/>
          <a:ext cx="1405785" cy="878616"/>
        </a:xfrm>
        <a:prstGeom prst="roundRect">
          <a:avLst>
            <a:gd name="adj" fmla="val 10000"/>
          </a:avLst>
        </a:prstGeom>
        <a:solidFill>
          <a:schemeClr val="lt1">
            <a:alpha val="90000"/>
            <a:hueOff val="0"/>
            <a:satOff val="0"/>
            <a:lumOff val="0"/>
            <a:alphaOff val="0"/>
          </a:schemeClr>
        </a:solidFill>
        <a:ln w="9525" cap="rnd" cmpd="sng" algn="ctr">
          <a:solidFill>
            <a:schemeClr val="accent5">
              <a:hueOff val="5199046"/>
              <a:satOff val="-142"/>
              <a:lumOff val="-78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Incorporating Context</a:t>
          </a:r>
        </a:p>
      </dsp:txBody>
      <dsp:txXfrm>
        <a:off x="2578873" y="1817931"/>
        <a:ext cx="1354317" cy="827148"/>
      </dsp:txXfrm>
    </dsp:sp>
    <dsp:sp modelId="{CA62F048-8A16-4C46-A68C-3F4FFDF4B360}">
      <dsp:nvSpPr>
        <dsp:cNvPr id="0" name=""/>
        <dsp:cNvSpPr/>
      </dsp:nvSpPr>
      <dsp:spPr>
        <a:xfrm>
          <a:off x="4398233" y="693927"/>
          <a:ext cx="1757232" cy="878616"/>
        </a:xfrm>
        <a:prstGeom prst="roundRect">
          <a:avLst>
            <a:gd name="adj" fmla="val 10000"/>
          </a:avLst>
        </a:prstGeom>
        <a:blipFill rotWithShape="1">
          <a:blip xmlns:r="http://schemas.openxmlformats.org/officeDocument/2006/relationships" r:embed="rId1">
            <a:duotone>
              <a:schemeClr val="accent5">
                <a:hueOff val="10398092"/>
                <a:satOff val="-284"/>
                <a:lumOff val="-1569"/>
                <a:alphaOff val="0"/>
                <a:tint val="98000"/>
                <a:lumMod val="102000"/>
              </a:schemeClr>
              <a:schemeClr val="accent5">
                <a:hueOff val="10398092"/>
                <a:satOff val="-284"/>
                <a:lumOff val="-1569"/>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Tailoring</a:t>
          </a:r>
        </a:p>
      </dsp:txBody>
      <dsp:txXfrm>
        <a:off x="4423967" y="719661"/>
        <a:ext cx="1705764" cy="827148"/>
      </dsp:txXfrm>
    </dsp:sp>
    <dsp:sp modelId="{A5B02563-A981-4BB9-97D9-5A6B8867ACE7}">
      <dsp:nvSpPr>
        <dsp:cNvPr id="0" name=""/>
        <dsp:cNvSpPr/>
      </dsp:nvSpPr>
      <dsp:spPr>
        <a:xfrm>
          <a:off x="4573957" y="1572543"/>
          <a:ext cx="175723" cy="658962"/>
        </a:xfrm>
        <a:custGeom>
          <a:avLst/>
          <a:gdLst/>
          <a:ahLst/>
          <a:cxnLst/>
          <a:rect l="0" t="0" r="0" b="0"/>
          <a:pathLst>
            <a:path>
              <a:moveTo>
                <a:pt x="0" y="0"/>
              </a:moveTo>
              <a:lnTo>
                <a:pt x="0" y="658962"/>
              </a:lnTo>
              <a:lnTo>
                <a:pt x="175723" y="658962"/>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77CDC68-47D0-47BF-B1B3-F62F6CC8B554}">
      <dsp:nvSpPr>
        <dsp:cNvPr id="0" name=""/>
        <dsp:cNvSpPr/>
      </dsp:nvSpPr>
      <dsp:spPr>
        <a:xfrm>
          <a:off x="4749680" y="1792197"/>
          <a:ext cx="1405785" cy="878616"/>
        </a:xfrm>
        <a:prstGeom prst="roundRect">
          <a:avLst>
            <a:gd name="adj" fmla="val 10000"/>
          </a:avLst>
        </a:prstGeom>
        <a:solidFill>
          <a:schemeClr val="lt1">
            <a:alpha val="90000"/>
            <a:hueOff val="0"/>
            <a:satOff val="0"/>
            <a:lumOff val="0"/>
            <a:alphaOff val="0"/>
          </a:schemeClr>
        </a:solidFill>
        <a:ln w="9525" cap="rnd" cmpd="sng" algn="ctr">
          <a:solidFill>
            <a:schemeClr val="accent5">
              <a:hueOff val="10398092"/>
              <a:satOff val="-284"/>
              <a:lumOff val="-15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Tailoring Prompt Length</a:t>
          </a:r>
        </a:p>
      </dsp:txBody>
      <dsp:txXfrm>
        <a:off x="4775414" y="1817931"/>
        <a:ext cx="1354317" cy="827148"/>
      </dsp:txXfrm>
    </dsp:sp>
    <dsp:sp modelId="{E96F3699-676D-4CE6-910F-C702094E21F7}">
      <dsp:nvSpPr>
        <dsp:cNvPr id="0" name=""/>
        <dsp:cNvSpPr/>
      </dsp:nvSpPr>
      <dsp:spPr>
        <a:xfrm>
          <a:off x="6594774" y="693927"/>
          <a:ext cx="1757232" cy="878616"/>
        </a:xfrm>
        <a:prstGeom prst="roundRect">
          <a:avLst>
            <a:gd name="adj" fmla="val 10000"/>
          </a:avLst>
        </a:prstGeom>
        <a:blipFill rotWithShape="1">
          <a:blip xmlns:r="http://schemas.openxmlformats.org/officeDocument/2006/relationships" r:embed="rId1">
            <a:duotone>
              <a:schemeClr val="accent5">
                <a:hueOff val="15597138"/>
                <a:satOff val="-426"/>
                <a:lumOff val="-2354"/>
                <a:alphaOff val="0"/>
                <a:tint val="98000"/>
                <a:lumMod val="102000"/>
              </a:schemeClr>
              <a:schemeClr val="accent5">
                <a:hueOff val="15597138"/>
                <a:satOff val="-426"/>
                <a:lumOff val="-2354"/>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Specifying</a:t>
          </a:r>
        </a:p>
      </dsp:txBody>
      <dsp:txXfrm>
        <a:off x="6620508" y="719661"/>
        <a:ext cx="1705764" cy="827148"/>
      </dsp:txXfrm>
    </dsp:sp>
    <dsp:sp modelId="{EE031EBC-5DBC-4F76-B19F-2B76CCC023A4}">
      <dsp:nvSpPr>
        <dsp:cNvPr id="0" name=""/>
        <dsp:cNvSpPr/>
      </dsp:nvSpPr>
      <dsp:spPr>
        <a:xfrm>
          <a:off x="6770497" y="1572543"/>
          <a:ext cx="175723" cy="658962"/>
        </a:xfrm>
        <a:custGeom>
          <a:avLst/>
          <a:gdLst/>
          <a:ahLst/>
          <a:cxnLst/>
          <a:rect l="0" t="0" r="0" b="0"/>
          <a:pathLst>
            <a:path>
              <a:moveTo>
                <a:pt x="0" y="0"/>
              </a:moveTo>
              <a:lnTo>
                <a:pt x="0" y="658962"/>
              </a:lnTo>
              <a:lnTo>
                <a:pt x="175723" y="658962"/>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5B158AD-C30C-4598-88F9-F92209FB23D2}">
      <dsp:nvSpPr>
        <dsp:cNvPr id="0" name=""/>
        <dsp:cNvSpPr/>
      </dsp:nvSpPr>
      <dsp:spPr>
        <a:xfrm>
          <a:off x="6946220" y="1792197"/>
          <a:ext cx="1405785" cy="878616"/>
        </a:xfrm>
        <a:prstGeom prst="roundRect">
          <a:avLst>
            <a:gd name="adj" fmla="val 10000"/>
          </a:avLst>
        </a:prstGeom>
        <a:solidFill>
          <a:schemeClr val="lt1">
            <a:alpha val="90000"/>
            <a:hueOff val="0"/>
            <a:satOff val="0"/>
            <a:lumOff val="0"/>
            <a:alphaOff val="0"/>
          </a:schemeClr>
        </a:solidFill>
        <a:ln w="9525" cap="rnd" cmpd="sng" algn="ctr">
          <a:solidFill>
            <a:schemeClr val="accent5">
              <a:hueOff val="15597138"/>
              <a:satOff val="-426"/>
              <a:lumOff val="-235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Specifying the Desired Format</a:t>
          </a:r>
        </a:p>
      </dsp:txBody>
      <dsp:txXfrm>
        <a:off x="6971954" y="1817931"/>
        <a:ext cx="1354317" cy="827148"/>
      </dsp:txXfrm>
    </dsp:sp>
    <dsp:sp modelId="{12EEAD9F-3FC2-43BD-B98C-27322CAEC6A2}">
      <dsp:nvSpPr>
        <dsp:cNvPr id="0" name=""/>
        <dsp:cNvSpPr/>
      </dsp:nvSpPr>
      <dsp:spPr>
        <a:xfrm>
          <a:off x="8791314" y="693927"/>
          <a:ext cx="1757232" cy="878616"/>
        </a:xfrm>
        <a:prstGeom prst="roundRect">
          <a:avLst>
            <a:gd name="adj" fmla="val 10000"/>
          </a:avLst>
        </a:prstGeom>
        <a:blipFill rotWithShape="1">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Using</a:t>
          </a:r>
        </a:p>
      </dsp:txBody>
      <dsp:txXfrm>
        <a:off x="8817048" y="719661"/>
        <a:ext cx="1705764" cy="827148"/>
      </dsp:txXfrm>
    </dsp:sp>
    <dsp:sp modelId="{899EC7A6-D8E4-49F7-A542-E5C963B8C6F8}">
      <dsp:nvSpPr>
        <dsp:cNvPr id="0" name=""/>
        <dsp:cNvSpPr/>
      </dsp:nvSpPr>
      <dsp:spPr>
        <a:xfrm>
          <a:off x="8967037" y="1572543"/>
          <a:ext cx="175723" cy="658962"/>
        </a:xfrm>
        <a:custGeom>
          <a:avLst/>
          <a:gdLst/>
          <a:ahLst/>
          <a:cxnLst/>
          <a:rect l="0" t="0" r="0" b="0"/>
          <a:pathLst>
            <a:path>
              <a:moveTo>
                <a:pt x="0" y="0"/>
              </a:moveTo>
              <a:lnTo>
                <a:pt x="0" y="658962"/>
              </a:lnTo>
              <a:lnTo>
                <a:pt x="175723" y="658962"/>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996EB81-7EB5-444A-900F-CD3F6606E83C}">
      <dsp:nvSpPr>
        <dsp:cNvPr id="0" name=""/>
        <dsp:cNvSpPr/>
      </dsp:nvSpPr>
      <dsp:spPr>
        <a:xfrm>
          <a:off x="9142761" y="1792197"/>
          <a:ext cx="1405785" cy="878616"/>
        </a:xfrm>
        <a:prstGeom prst="roundRect">
          <a:avLst>
            <a:gd name="adj" fmla="val 10000"/>
          </a:avLst>
        </a:prstGeom>
        <a:solidFill>
          <a:schemeClr val="lt1">
            <a:alpha val="90000"/>
            <a:hueOff val="0"/>
            <a:satOff val="0"/>
            <a:lumOff val="0"/>
            <a:alphaOff val="0"/>
          </a:schemeClr>
        </a:solidFill>
        <a:ln w="9525" cap="rnd" cmpd="sng" algn="ctr">
          <a:solidFill>
            <a:schemeClr val="accent5">
              <a:hueOff val="20796183"/>
              <a:satOff val="-568"/>
              <a:lumOff val="-313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Using Precise Vocabulary</a:t>
          </a:r>
        </a:p>
      </dsp:txBody>
      <dsp:txXfrm>
        <a:off x="9168495" y="1817931"/>
        <a:ext cx="1354317" cy="8271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21196-2558-4BA2-BDA0-E718E46F01BD}">
      <dsp:nvSpPr>
        <dsp:cNvPr id="0" name=""/>
        <dsp:cNvSpPr/>
      </dsp:nvSpPr>
      <dsp:spPr>
        <a:xfrm>
          <a:off x="340557" y="1122785"/>
          <a:ext cx="1058326" cy="1058326"/>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C4AA68-3FE1-476D-B211-FFC7E3E236DC}">
      <dsp:nvSpPr>
        <dsp:cNvPr id="0" name=""/>
        <dsp:cNvSpPr/>
      </dsp:nvSpPr>
      <dsp:spPr>
        <a:xfrm>
          <a:off x="566102" y="1348330"/>
          <a:ext cx="607236" cy="60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CE3B2A-899A-4266-BA03-069CD83A6D8C}">
      <dsp:nvSpPr>
        <dsp:cNvPr id="0" name=""/>
        <dsp:cNvSpPr/>
      </dsp:nvSpPr>
      <dsp:spPr>
        <a:xfrm>
          <a:off x="2240" y="2510754"/>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t>Understanding tokens</a:t>
          </a:r>
        </a:p>
      </dsp:txBody>
      <dsp:txXfrm>
        <a:off x="2240" y="2510754"/>
        <a:ext cx="1734960" cy="693984"/>
      </dsp:txXfrm>
    </dsp:sp>
    <dsp:sp modelId="{32F8FAC9-B57F-4B7D-BFE0-A3F9589A171E}">
      <dsp:nvSpPr>
        <dsp:cNvPr id="0" name=""/>
        <dsp:cNvSpPr/>
      </dsp:nvSpPr>
      <dsp:spPr>
        <a:xfrm>
          <a:off x="2379136" y="1122785"/>
          <a:ext cx="1058326" cy="1058326"/>
        </a:xfrm>
        <a:prstGeom prst="round2DiagRect">
          <a:avLst>
            <a:gd name="adj1" fmla="val 29727"/>
            <a:gd name="adj2" fmla="val 0"/>
          </a:avLst>
        </a:prstGeom>
        <a:solidFill>
          <a:schemeClr val="accent5">
            <a:hueOff val="10398092"/>
            <a:satOff val="-284"/>
            <a:lumOff val="-1569"/>
            <a:alphaOff val="0"/>
          </a:schemeClr>
        </a:solidFill>
        <a:ln>
          <a:noFill/>
        </a:ln>
        <a:effectLst/>
      </dsp:spPr>
      <dsp:style>
        <a:lnRef idx="0">
          <a:scrgbClr r="0" g="0" b="0"/>
        </a:lnRef>
        <a:fillRef idx="1">
          <a:scrgbClr r="0" g="0" b="0"/>
        </a:fillRef>
        <a:effectRef idx="0">
          <a:scrgbClr r="0" g="0" b="0"/>
        </a:effectRef>
        <a:fontRef idx="minor"/>
      </dsp:style>
    </dsp:sp>
    <dsp:sp modelId="{FD2D8CE0-3689-47B8-8568-EFCC517A31BA}">
      <dsp:nvSpPr>
        <dsp:cNvPr id="0" name=""/>
        <dsp:cNvSpPr/>
      </dsp:nvSpPr>
      <dsp:spPr>
        <a:xfrm>
          <a:off x="2604681" y="1348330"/>
          <a:ext cx="607236" cy="60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29E70F6-7C7A-4432-B90C-5E58FD820ABC}">
      <dsp:nvSpPr>
        <dsp:cNvPr id="0" name=""/>
        <dsp:cNvSpPr/>
      </dsp:nvSpPr>
      <dsp:spPr>
        <a:xfrm>
          <a:off x="2040819" y="2510754"/>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t>Managing complex prompts</a:t>
          </a:r>
        </a:p>
      </dsp:txBody>
      <dsp:txXfrm>
        <a:off x="2040819" y="2510754"/>
        <a:ext cx="1734960" cy="693984"/>
      </dsp:txXfrm>
    </dsp:sp>
    <dsp:sp modelId="{8AB047CC-1EC2-40FA-9537-A0E7852F62A0}">
      <dsp:nvSpPr>
        <dsp:cNvPr id="0" name=""/>
        <dsp:cNvSpPr/>
      </dsp:nvSpPr>
      <dsp:spPr>
        <a:xfrm>
          <a:off x="4417716" y="1122785"/>
          <a:ext cx="1058326" cy="1058326"/>
        </a:xfrm>
        <a:prstGeom prst="round2DiagRect">
          <a:avLst>
            <a:gd name="adj1" fmla="val 29727"/>
            <a:gd name="adj2" fmla="val 0"/>
          </a:avLst>
        </a:prstGeom>
        <a:solidFill>
          <a:schemeClr val="accent5">
            <a:hueOff val="20796183"/>
            <a:satOff val="-568"/>
            <a:lumOff val="-3138"/>
            <a:alphaOff val="0"/>
          </a:schemeClr>
        </a:solidFill>
        <a:ln>
          <a:noFill/>
        </a:ln>
        <a:effectLst/>
      </dsp:spPr>
      <dsp:style>
        <a:lnRef idx="0">
          <a:scrgbClr r="0" g="0" b="0"/>
        </a:lnRef>
        <a:fillRef idx="1">
          <a:scrgbClr r="0" g="0" b="0"/>
        </a:fillRef>
        <a:effectRef idx="0">
          <a:scrgbClr r="0" g="0" b="0"/>
        </a:effectRef>
        <a:fontRef idx="minor"/>
      </dsp:style>
    </dsp:sp>
    <dsp:sp modelId="{1C00B5E2-7FB7-43D0-93C8-E3CF7E2CACD2}">
      <dsp:nvSpPr>
        <dsp:cNvPr id="0" name=""/>
        <dsp:cNvSpPr/>
      </dsp:nvSpPr>
      <dsp:spPr>
        <a:xfrm>
          <a:off x="4643260" y="1348330"/>
          <a:ext cx="607236" cy="60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B1C1150-5406-45F4-92AC-399CA3A94027}">
      <dsp:nvSpPr>
        <dsp:cNvPr id="0" name=""/>
        <dsp:cNvSpPr/>
      </dsp:nvSpPr>
      <dsp:spPr>
        <a:xfrm>
          <a:off x="4079398" y="2510754"/>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t>Segmenting large tasks</a:t>
          </a:r>
        </a:p>
      </dsp:txBody>
      <dsp:txXfrm>
        <a:off x="4079398" y="2510754"/>
        <a:ext cx="1734960" cy="69398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5B65D-1318-B745-939E-95855B17DEAB}" type="datetimeFigureOut">
              <a:rPr lang="en-US" smtClean="0"/>
              <a:t>7/27/2024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B60B0-1DC3-0D4A-A3FA-F1C84AA2F0B8}" type="slidenum">
              <a:rPr lang="en-US" smtClean="0"/>
              <a:t>‹#›</a:t>
            </a:fld>
            <a:endParaRPr lang="en-US"/>
          </a:p>
        </p:txBody>
      </p:sp>
    </p:spTree>
    <p:extLst>
      <p:ext uri="{BB962C8B-B14F-4D97-AF65-F5344CB8AC3E}">
        <p14:creationId xmlns:p14="http://schemas.microsoft.com/office/powerpoint/2010/main" val="357395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PART 1:</a:t>
            </a:r>
          </a:p>
          <a:p>
            <a:r>
              <a:rPr lang="en-US" dirty="0"/>
              <a:t>In Part 1 of the lecture on Large Language Models, I covered the fundamental concepts behind an LLM. I discussed their architecture, the training processes involved, the diverse data requirements, and the significant computational resources necessary for their development and deployment.</a:t>
            </a:r>
          </a:p>
          <a:p>
            <a:endParaRPr lang="en-US" dirty="0"/>
          </a:p>
          <a:p>
            <a:r>
              <a:rPr lang="en-US" b="1" dirty="0"/>
              <a:t>PART 2:</a:t>
            </a:r>
          </a:p>
          <a:p>
            <a:r>
              <a:rPr lang="en-US" dirty="0"/>
              <a:t>Now we will shift the focus from theoretical aspects to practical application. Specifically, we will show how to interact with and utilize these powerful models effectively.  From understanding the importance of crafting effective prompts, to the basics of creating prompts, and some advanced techniques for using them.</a:t>
            </a:r>
          </a:p>
        </p:txBody>
      </p:sp>
      <p:sp>
        <p:nvSpPr>
          <p:cNvPr id="4" name="Slide Number Placeholder 3"/>
          <p:cNvSpPr>
            <a:spLocks noGrp="1"/>
          </p:cNvSpPr>
          <p:nvPr>
            <p:ph type="sldNum" sz="quarter" idx="5"/>
          </p:nvPr>
        </p:nvSpPr>
        <p:spPr/>
        <p:txBody>
          <a:bodyPr/>
          <a:lstStyle/>
          <a:p>
            <a:fld id="{433B60B0-1DC3-0D4A-A3FA-F1C84AA2F0B8}" type="slidenum">
              <a:rPr lang="en-US" smtClean="0"/>
              <a:t>1</a:t>
            </a:fld>
            <a:endParaRPr lang="en-US"/>
          </a:p>
        </p:txBody>
      </p:sp>
    </p:spTree>
    <p:extLst>
      <p:ext uri="{BB962C8B-B14F-4D97-AF65-F5344CB8AC3E}">
        <p14:creationId xmlns:p14="http://schemas.microsoft.com/office/powerpoint/2010/main" val="298829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Crafting the right prompt directly affects the quality of responses from a Large Language Model. I</a:t>
            </a:r>
            <a:r>
              <a:rPr lang="en-US" b="1" dirty="0"/>
              <a:t> </a:t>
            </a:r>
            <a:r>
              <a:rPr lang="en-US" dirty="0"/>
              <a:t>will cover the basics of creating prompts. Including understanding their structure and how to form them correctly to get the desired output. I will show techniques for writing clear and concise prompts that lead to more accurate and relevant responses.</a:t>
            </a:r>
          </a:p>
          <a:p>
            <a:endParaRPr lang="en-US" b="1" dirty="0"/>
          </a:p>
          <a:p>
            <a:r>
              <a:rPr lang="en-US" dirty="0"/>
              <a:t>I will also show methods for handling complex tasks and guiding the model to produce more detailed responses.</a:t>
            </a:r>
          </a:p>
          <a:p>
            <a:endParaRPr lang="en-US" dirty="0"/>
          </a:p>
          <a:p>
            <a:r>
              <a:rPr lang="en-US" dirty="0"/>
              <a:t>The effectiveness of your interactions with an LLM depends on how you structure your prompts. The clarity and specificity of your prompt guide the model in generating accurate and relevant responses. Properly structured prompts provide the context and detail needed for the model to understand and address your queries effectively.</a:t>
            </a:r>
          </a:p>
        </p:txBody>
      </p:sp>
      <p:sp>
        <p:nvSpPr>
          <p:cNvPr id="4" name="Slide Number Placeholder 3"/>
          <p:cNvSpPr>
            <a:spLocks noGrp="1"/>
          </p:cNvSpPr>
          <p:nvPr>
            <p:ph type="sldNum" sz="quarter" idx="5"/>
          </p:nvPr>
        </p:nvSpPr>
        <p:spPr/>
        <p:txBody>
          <a:bodyPr/>
          <a:lstStyle/>
          <a:p>
            <a:fld id="{433B60B0-1DC3-0D4A-A3FA-F1C84AA2F0B8}" type="slidenum">
              <a:rPr lang="en-US" smtClean="0"/>
              <a:t>2</a:t>
            </a:fld>
            <a:endParaRPr lang="en-US"/>
          </a:p>
        </p:txBody>
      </p:sp>
    </p:spTree>
    <p:extLst>
      <p:ext uri="{BB962C8B-B14F-4D97-AF65-F5344CB8AC3E}">
        <p14:creationId xmlns:p14="http://schemas.microsoft.com/office/powerpoint/2010/main" val="3939372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Prompt Design Matters:</a:t>
            </a:r>
            <a:r>
              <a:rPr lang="en-US" dirty="0"/>
              <a:t> The design of your prompt directly affects the quality of responses from a Large Language Model. A well-designed prompt guides the model to understand your query accurately and provide relevant answers. For example, a prompt like "Explain the benefits of regular exercise" is more effective than a vague prompt like "Tell me something about exercise."</a:t>
            </a:r>
          </a:p>
          <a:p>
            <a:endParaRPr lang="en-US" b="1" dirty="0"/>
          </a:p>
          <a:p>
            <a:r>
              <a:rPr lang="en-US" b="1" dirty="0"/>
              <a:t>Techniques for Crafting Clear and Concise Prompts:</a:t>
            </a:r>
            <a:r>
              <a:rPr lang="en-US" dirty="0"/>
              <a:t> Clear and concise prompts are essential for getting accurate responses. Use simple language and direct questions. For instance, instead of asking "Can you give me information about climate change and its impact on global weather patterns?" you can ask "What are the main effects of climate change on weather patterns?" This approach reduces ambiguity and focuses the model's response.</a:t>
            </a:r>
          </a:p>
          <a:p>
            <a:endParaRPr lang="en-US" b="1" dirty="0"/>
          </a:p>
          <a:p>
            <a:r>
              <a:rPr lang="en-US" b="1" dirty="0"/>
              <a:t>Utilizing Context to Improve Responses:</a:t>
            </a:r>
            <a:r>
              <a:rPr lang="en-US" dirty="0"/>
              <a:t> Providing context within your prompts helps the model understand the background and specifics of your query. For example, instead of asking "What is the capital?" you can ask "What is the capital of France?" Including the context ensures that the model provides a relevant and accurate answer.</a:t>
            </a:r>
          </a:p>
        </p:txBody>
      </p:sp>
      <p:sp>
        <p:nvSpPr>
          <p:cNvPr id="4" name="Slide Number Placeholder 3"/>
          <p:cNvSpPr>
            <a:spLocks noGrp="1"/>
          </p:cNvSpPr>
          <p:nvPr>
            <p:ph type="sldNum" sz="quarter" idx="5"/>
          </p:nvPr>
        </p:nvSpPr>
        <p:spPr/>
        <p:txBody>
          <a:bodyPr/>
          <a:lstStyle/>
          <a:p>
            <a:fld id="{433B60B0-1DC3-0D4A-A3FA-F1C84AA2F0B8}" type="slidenum">
              <a:rPr lang="en-US" smtClean="0"/>
              <a:t>3</a:t>
            </a:fld>
            <a:endParaRPr lang="en-US"/>
          </a:p>
        </p:txBody>
      </p:sp>
    </p:spTree>
    <p:extLst>
      <p:ext uri="{BB962C8B-B14F-4D97-AF65-F5344CB8AC3E}">
        <p14:creationId xmlns:p14="http://schemas.microsoft.com/office/powerpoint/2010/main" val="2579935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Understanding Prompts and Their Structure:</a:t>
            </a:r>
            <a:r>
              <a:rPr lang="en-US" dirty="0"/>
              <a:t> A prompt's structure is crucial for effective communication with an LLM. A well-structured prompt includes a clear question or command and, if necessary, additional context to guide the model's response. For example, "Describe the process of photosynthesis in plants" is a clear and structured prompt that leads to a specific response.</a:t>
            </a:r>
          </a:p>
          <a:p>
            <a:endParaRPr lang="en-US" b="1" dirty="0"/>
          </a:p>
          <a:p>
            <a:r>
              <a:rPr lang="en-US" b="1" dirty="0"/>
              <a:t>Examples of Basic Prompts and Their Outputs:</a:t>
            </a:r>
            <a:r>
              <a:rPr lang="en-US" dirty="0"/>
              <a:t> </a:t>
            </a:r>
          </a:p>
          <a:p>
            <a:r>
              <a:rPr lang="en-US" dirty="0"/>
              <a:t>Look at a few examples of basic prompts and the responses they generate:</a:t>
            </a:r>
          </a:p>
          <a:p>
            <a:pPr>
              <a:buFont typeface="Arial" panose="020B0604020202020204" pitchFamily="34" charset="0"/>
              <a:buChar char="•"/>
            </a:pPr>
            <a:r>
              <a:rPr lang="en-US" b="1" dirty="0"/>
              <a:t>   Prompt:</a:t>
            </a:r>
            <a:r>
              <a:rPr lang="en-US" dirty="0"/>
              <a:t> "What is the capital of Japan?" </a:t>
            </a:r>
          </a:p>
          <a:p>
            <a:pPr lvl="1">
              <a:buFont typeface="Arial" panose="020B0604020202020204" pitchFamily="34" charset="0"/>
              <a:buChar char="•"/>
            </a:pPr>
            <a:r>
              <a:rPr lang="en-US" b="1" dirty="0"/>
              <a:t>   Output:</a:t>
            </a:r>
            <a:r>
              <a:rPr lang="en-US" dirty="0"/>
              <a:t> "The capital of Japan is Tokyo."</a:t>
            </a:r>
          </a:p>
          <a:p>
            <a:pPr>
              <a:buFont typeface="Arial" panose="020B0604020202020204" pitchFamily="34" charset="0"/>
              <a:buChar char="•"/>
            </a:pPr>
            <a:r>
              <a:rPr lang="en-US" b="1" dirty="0"/>
              <a:t>   Prompt:</a:t>
            </a:r>
            <a:r>
              <a:rPr lang="en-US" dirty="0"/>
              <a:t> "Summarize the plot of 'To Kill a Mockingbird’.” </a:t>
            </a:r>
          </a:p>
          <a:p>
            <a:pPr lvl="1">
              <a:buFont typeface="Arial" panose="020B0604020202020204" pitchFamily="34" charset="0"/>
              <a:buChar char="•"/>
            </a:pPr>
            <a:r>
              <a:rPr lang="en-US" b="1" dirty="0"/>
              <a:t>   Output:</a:t>
            </a:r>
            <a:r>
              <a:rPr lang="en-US" dirty="0"/>
              <a:t> "'To Kill a Mockingbird' is a novel by Harper Lee that deals with serious issues such as racial inequality and rape in the American South through the eyes of a young girl named Scout Finch."</a:t>
            </a:r>
          </a:p>
          <a:p>
            <a:pPr>
              <a:buFont typeface="Arial" panose="020B0604020202020204" pitchFamily="34" charset="0"/>
              <a:buChar char="•"/>
            </a:pPr>
            <a:r>
              <a:rPr lang="en-US" b="1" dirty="0"/>
              <a:t>   Prompt:</a:t>
            </a:r>
            <a:r>
              <a:rPr lang="en-US" dirty="0"/>
              <a:t> "Explain the significance of the Battle of Gettysburg." </a:t>
            </a:r>
          </a:p>
          <a:p>
            <a:pPr lvl="1">
              <a:buFont typeface="Arial" panose="020B0604020202020204" pitchFamily="34" charset="0"/>
              <a:buChar char="•"/>
            </a:pPr>
            <a:r>
              <a:rPr lang="en-US" b="1" dirty="0"/>
              <a:t>   Output:</a:t>
            </a:r>
            <a:r>
              <a:rPr lang="en-US" dirty="0"/>
              <a:t> "The Battle of Gettysburg, fought in 1863, was a turning point in the American Civil War. It was the largest battle of the war and resulted in a major victory for the Union, significantly weakening the Confederate forces."</a:t>
            </a:r>
          </a:p>
        </p:txBody>
      </p:sp>
      <p:sp>
        <p:nvSpPr>
          <p:cNvPr id="4" name="Slide Number Placeholder 3"/>
          <p:cNvSpPr>
            <a:spLocks noGrp="1"/>
          </p:cNvSpPr>
          <p:nvPr>
            <p:ph type="sldNum" sz="quarter" idx="5"/>
          </p:nvPr>
        </p:nvSpPr>
        <p:spPr/>
        <p:txBody>
          <a:bodyPr/>
          <a:lstStyle/>
          <a:p>
            <a:fld id="{433B60B0-1DC3-0D4A-A3FA-F1C84AA2F0B8}" type="slidenum">
              <a:rPr lang="en-US" smtClean="0"/>
              <a:t>4</a:t>
            </a:fld>
            <a:endParaRPr lang="en-US"/>
          </a:p>
        </p:txBody>
      </p:sp>
    </p:spTree>
    <p:extLst>
      <p:ext uri="{BB962C8B-B14F-4D97-AF65-F5344CB8AC3E}">
        <p14:creationId xmlns:p14="http://schemas.microsoft.com/office/powerpoint/2010/main" val="432071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Techniques for Crafting Clear and Concise Prompts:</a:t>
            </a:r>
            <a:r>
              <a:rPr lang="en-US" dirty="0"/>
              <a:t> Writing clear and concise prompts is essential for obtaining accurate responses. Use simple language and avoid unnecessary details. For example, instead of asking "Can you provide detailed information about the implications of climate change on global agricultural practices?" ask "How does climate change affect agriculture?"</a:t>
            </a:r>
          </a:p>
          <a:p>
            <a:endParaRPr lang="en-US" b="1" dirty="0"/>
          </a:p>
          <a:p>
            <a:r>
              <a:rPr lang="en-US" b="1" dirty="0"/>
              <a:t>Handling Ambiguous Queries:</a:t>
            </a:r>
            <a:r>
              <a:rPr lang="en-US" dirty="0"/>
              <a:t> Ambiguity in prompts can lead to unclear responses. It's important to recognize and refine ambiguous queries. For instance, instead of asking "What is the result of pollution?" specify "What are the effects of air pollution on human health?" This removes ambiguity and guides the model to provide a more accurate response.</a:t>
            </a:r>
          </a:p>
          <a:p>
            <a:endParaRPr lang="en-US" b="1" dirty="0"/>
          </a:p>
          <a:p>
            <a:r>
              <a:rPr lang="en-US" b="1" dirty="0"/>
              <a:t>Incorporating User Feedback into Prompts:</a:t>
            </a:r>
            <a:r>
              <a:rPr lang="en-US" dirty="0"/>
              <a:t> Feedback can help improve the design of your prompts. If a response is not satisfactory, adjust the prompt based on the feedback. For example, if the response to "Explain photosynthesis" is too technical, revise the prompt to "Explain photosynthesis to a 10-year-old."</a:t>
            </a:r>
          </a:p>
        </p:txBody>
      </p:sp>
      <p:sp>
        <p:nvSpPr>
          <p:cNvPr id="4" name="Slide Number Placeholder 3"/>
          <p:cNvSpPr>
            <a:spLocks noGrp="1"/>
          </p:cNvSpPr>
          <p:nvPr>
            <p:ph type="sldNum" sz="quarter" idx="5"/>
          </p:nvPr>
        </p:nvSpPr>
        <p:spPr/>
        <p:txBody>
          <a:bodyPr/>
          <a:lstStyle/>
          <a:p>
            <a:fld id="{433B60B0-1DC3-0D4A-A3FA-F1C84AA2F0B8}" type="slidenum">
              <a:rPr lang="en-US" smtClean="0"/>
              <a:t>5</a:t>
            </a:fld>
            <a:endParaRPr lang="en-US"/>
          </a:p>
        </p:txBody>
      </p:sp>
    </p:spTree>
    <p:extLst>
      <p:ext uri="{BB962C8B-B14F-4D97-AF65-F5344CB8AC3E}">
        <p14:creationId xmlns:p14="http://schemas.microsoft.com/office/powerpoint/2010/main" val="3706188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Chain-of-Thought Prompting for Complex Tasks:</a:t>
            </a:r>
            <a:r>
              <a:rPr lang="en-US" dirty="0"/>
              <a:t> For complex queries, breaking down the thought process into a series of steps can help the model understand and respond more accurately. For example, instead of asking "How do you write a research paper?", you can ask:</a:t>
            </a:r>
          </a:p>
          <a:p>
            <a:pPr>
              <a:buFont typeface="+mj-lt"/>
              <a:buAutoNum type="arabicPeriod"/>
            </a:pPr>
            <a:r>
              <a:rPr lang="en-US" dirty="0"/>
              <a:t>"What are the key components of a research paper?"</a:t>
            </a:r>
          </a:p>
          <a:p>
            <a:pPr>
              <a:buFont typeface="+mj-lt"/>
              <a:buAutoNum type="arabicPeriod"/>
            </a:pPr>
            <a:r>
              <a:rPr lang="en-US" dirty="0"/>
              <a:t>"How do you choose a research topic?"</a:t>
            </a:r>
          </a:p>
          <a:p>
            <a:pPr>
              <a:buFont typeface="+mj-lt"/>
              <a:buAutoNum type="arabicPeriod"/>
            </a:pPr>
            <a:r>
              <a:rPr lang="en-US" dirty="0"/>
              <a:t>"How do you structure the introduction of a research paper?"</a:t>
            </a:r>
          </a:p>
          <a:p>
            <a:endParaRPr lang="en-US" b="1" dirty="0"/>
          </a:p>
          <a:p>
            <a:r>
              <a:rPr lang="en-US" b="1" dirty="0"/>
              <a:t>Using Prompts to Guide Narrative Style and Tone:</a:t>
            </a:r>
            <a:r>
              <a:rPr lang="en-US" dirty="0"/>
              <a:t> Adjusting the style and tone of your prompts can influence the responses. For instance, asking "Write a formal letter to a company about a product issue" will result in a different style compared to "Write a casual email to a friend about a product issue." This technique allows you to tailor the output to match your desired narrative style and tone.</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6</a:t>
            </a:fld>
            <a:endParaRPr lang="en-US"/>
          </a:p>
        </p:txBody>
      </p:sp>
    </p:spTree>
    <p:extLst>
      <p:ext uri="{BB962C8B-B14F-4D97-AF65-F5344CB8AC3E}">
        <p14:creationId xmlns:p14="http://schemas.microsoft.com/office/powerpoint/2010/main" val="2585374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Each category of prompts showcases its capabilities differently</a:t>
            </a:r>
          </a:p>
          <a:p>
            <a:r>
              <a:rPr lang="en-US" b="1" dirty="0"/>
              <a:t>Informational Queries </a:t>
            </a:r>
            <a:r>
              <a:rPr lang="en-US" dirty="0"/>
              <a:t>prompts tap into the retrieval and summarization of factual data:</a:t>
            </a:r>
          </a:p>
          <a:p>
            <a:pPr marL="628650" lvl="1" indent="-171450">
              <a:buFont typeface="Arial" panose="020B0604020202020204" pitchFamily="34" charset="0"/>
              <a:buChar char="•"/>
            </a:pPr>
            <a:r>
              <a:rPr lang="en-US" dirty="0"/>
              <a:t>"What causes the Northern Lights?"</a:t>
            </a:r>
          </a:p>
          <a:p>
            <a:pPr marL="628650" lvl="1" indent="-171450">
              <a:buFont typeface="Arial" panose="020B0604020202020204" pitchFamily="34" charset="0"/>
              <a:buChar char="•"/>
            </a:pPr>
            <a:r>
              <a:rPr lang="en-US" dirty="0"/>
              <a:t>"Explain the process of evaporation."</a:t>
            </a:r>
          </a:p>
          <a:p>
            <a:pPr marL="628650" lvl="1" indent="-171450">
              <a:buFont typeface="Arial" panose="020B0604020202020204" pitchFamily="34" charset="0"/>
              <a:buChar char="•"/>
            </a:pPr>
            <a:r>
              <a:rPr lang="en-US" dirty="0"/>
              <a:t>"What are the main functions of the human liver?"</a:t>
            </a:r>
          </a:p>
          <a:p>
            <a:endParaRPr lang="en-US" b="1" dirty="0"/>
          </a:p>
          <a:p>
            <a:r>
              <a:rPr lang="en-US" b="1" dirty="0"/>
              <a:t>Creative Writing</a:t>
            </a:r>
            <a:r>
              <a:rPr lang="en-US" dirty="0"/>
              <a:t> prompts generate creative content:</a:t>
            </a:r>
          </a:p>
          <a:p>
            <a:pPr marL="628650" lvl="1" indent="-171450">
              <a:buFont typeface="Arial" panose="020B0604020202020204" pitchFamily="34" charset="0"/>
              <a:buChar char="•"/>
            </a:pPr>
            <a:r>
              <a:rPr lang="en-US" dirty="0"/>
              <a:t>"Write a short story about a dragon who learns to fly."</a:t>
            </a:r>
          </a:p>
          <a:p>
            <a:pPr marL="628650" lvl="1" indent="-171450">
              <a:buFont typeface="Arial" panose="020B0604020202020204" pitchFamily="34" charset="0"/>
              <a:buChar char="•"/>
            </a:pPr>
            <a:r>
              <a:rPr lang="en-US" dirty="0"/>
              <a:t>"Compose a poem about the first snowfall of winter."</a:t>
            </a:r>
          </a:p>
          <a:p>
            <a:pPr marL="628650" lvl="1" indent="-171450">
              <a:buFont typeface="Arial" panose="020B0604020202020204" pitchFamily="34" charset="0"/>
              <a:buChar char="•"/>
            </a:pPr>
            <a:r>
              <a:rPr lang="en-US" dirty="0"/>
              <a:t>"Create a dialogue between two historical figures from different eras."</a:t>
            </a:r>
          </a:p>
          <a:p>
            <a:r>
              <a:rPr lang="en-US" b="1" dirty="0"/>
              <a:t>Conversational Engagements </a:t>
            </a:r>
            <a:r>
              <a:rPr lang="en-US" b="0" dirty="0"/>
              <a:t>prompts simulate conversations</a:t>
            </a:r>
            <a:r>
              <a:rPr lang="en-US" b="1" dirty="0"/>
              <a:t>:</a:t>
            </a:r>
          </a:p>
          <a:p>
            <a:pPr marL="628650" lvl="1" indent="-171450">
              <a:buFont typeface="Arial" panose="020B0604020202020204" pitchFamily="34" charset="0"/>
              <a:buChar char="•"/>
            </a:pPr>
            <a:r>
              <a:rPr lang="en-US" dirty="0"/>
              <a:t>"Simulate a customer service interaction where a customer is asking for a refund." </a:t>
            </a:r>
          </a:p>
          <a:p>
            <a:pPr marL="628650" lvl="1" indent="-171450">
              <a:buFont typeface="Arial" panose="020B0604020202020204" pitchFamily="34" charset="0"/>
              <a:buChar char="•"/>
            </a:pPr>
            <a:r>
              <a:rPr lang="en-US" dirty="0"/>
              <a:t>"Create a text exchange between a teacher and a parent discussing a student's progress." </a:t>
            </a:r>
          </a:p>
          <a:p>
            <a:pPr marL="628650" lvl="1" indent="-171450">
              <a:buFont typeface="Arial" panose="020B0604020202020204" pitchFamily="34" charset="0"/>
              <a:buChar char="•"/>
            </a:pPr>
            <a:r>
              <a:rPr lang="en-US" dirty="0"/>
              <a:t>"Generate a dialogue where two people debate the best form of renewable energy."</a:t>
            </a:r>
          </a:p>
          <a:p>
            <a:endParaRPr lang="en-US" b="1" dirty="0"/>
          </a:p>
          <a:p>
            <a:r>
              <a:rPr lang="en-US" b="1" dirty="0"/>
              <a:t>Technical Assistance </a:t>
            </a:r>
            <a:r>
              <a:rPr lang="en-US" b="0" dirty="0"/>
              <a:t>prompts provide technical help</a:t>
            </a:r>
            <a:r>
              <a:rPr lang="en-US" b="1" dirty="0"/>
              <a:t>:</a:t>
            </a:r>
            <a:r>
              <a:rPr lang="en-US" dirty="0"/>
              <a:t> </a:t>
            </a:r>
          </a:p>
          <a:p>
            <a:pPr marL="628650" lvl="1" indent="-171450">
              <a:buFont typeface="Arial" panose="020B0604020202020204" pitchFamily="34" charset="0"/>
              <a:buChar char="•"/>
            </a:pPr>
            <a:r>
              <a:rPr lang="en-US" dirty="0"/>
              <a:t>"Explain how to set up a wireless router." </a:t>
            </a:r>
          </a:p>
          <a:p>
            <a:pPr marL="628650" lvl="1" indent="-171450">
              <a:buFont typeface="Arial" panose="020B0604020202020204" pitchFamily="34" charset="0"/>
              <a:buChar char="•"/>
            </a:pPr>
            <a:r>
              <a:rPr lang="en-US" dirty="0"/>
              <a:t>"Detail the steps to create a pivot table in Excel." </a:t>
            </a:r>
          </a:p>
          <a:p>
            <a:pPr marL="628650" lvl="1" indent="-171450">
              <a:buFont typeface="Arial" panose="020B0604020202020204" pitchFamily="34" charset="0"/>
              <a:buChar char="•"/>
            </a:pPr>
            <a:r>
              <a:rPr lang="en-US" dirty="0"/>
              <a:t>"Describe the safety procedures for handling chemical spills in a laboratory."</a:t>
            </a:r>
          </a:p>
          <a:p>
            <a:endParaRPr lang="en-US" b="1" dirty="0"/>
          </a:p>
          <a:p>
            <a:r>
              <a:rPr lang="en-US" b="1" dirty="0"/>
              <a:t>Instructional Guidance </a:t>
            </a:r>
            <a:r>
              <a:rPr lang="en-US" b="0" dirty="0"/>
              <a:t>prompts provide step-by-step instructions or guides</a:t>
            </a:r>
            <a:r>
              <a:rPr lang="en-US" b="1" dirty="0"/>
              <a:t>:</a:t>
            </a:r>
            <a:r>
              <a:rPr lang="en-US" dirty="0"/>
              <a:t> </a:t>
            </a:r>
          </a:p>
          <a:p>
            <a:pPr marL="628650" lvl="1" indent="-171450">
              <a:buFont typeface="Arial" panose="020B0604020202020204" pitchFamily="34" charset="0"/>
              <a:buChar char="•"/>
            </a:pPr>
            <a:r>
              <a:rPr lang="en-US" dirty="0"/>
              <a:t>"Provide a step-by-step guide to baking a chocolate cake." </a:t>
            </a:r>
          </a:p>
          <a:p>
            <a:pPr marL="628650" lvl="1" indent="-171450">
              <a:buFont typeface="Arial" panose="020B0604020202020204" pitchFamily="34" charset="0"/>
              <a:buChar char="•"/>
            </a:pPr>
            <a:r>
              <a:rPr lang="en-US" dirty="0"/>
              <a:t>"Explain how to change a car tire, including the tools needed." </a:t>
            </a:r>
          </a:p>
          <a:p>
            <a:pPr marL="628650" lvl="1" indent="-171450">
              <a:buFont typeface="Arial" panose="020B0604020202020204" pitchFamily="34" charset="0"/>
              <a:buChar char="•"/>
            </a:pPr>
            <a:r>
              <a:rPr lang="en-US" dirty="0"/>
              <a:t>"Describe the steps to plant and care for a vegetable garden."</a:t>
            </a:r>
          </a:p>
          <a:p>
            <a:pPr algn="l"/>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7</a:t>
            </a:fld>
            <a:endParaRPr lang="en-US"/>
          </a:p>
        </p:txBody>
      </p:sp>
    </p:spTree>
    <p:extLst>
      <p:ext uri="{BB962C8B-B14F-4D97-AF65-F5344CB8AC3E}">
        <p14:creationId xmlns:p14="http://schemas.microsoft.com/office/powerpoint/2010/main" val="1970569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Task:</a:t>
            </a:r>
            <a:r>
              <a:rPr lang="en-US" dirty="0"/>
              <a:t> Clearly define the action you want the AI to perform. Use action verbs such as generate, write, analyze, explain.</a:t>
            </a:r>
          </a:p>
          <a:p>
            <a:pPr>
              <a:buFont typeface="Arial" panose="020B0604020202020204" pitchFamily="34" charset="0"/>
              <a:buChar char="•"/>
            </a:pPr>
            <a:r>
              <a:rPr lang="en-US" dirty="0"/>
              <a:t>Example: "Generate a list of the top 10 tech companies in 2023."</a:t>
            </a:r>
          </a:p>
          <a:p>
            <a:endParaRPr lang="en-US" b="1" dirty="0"/>
          </a:p>
          <a:p>
            <a:r>
              <a:rPr lang="en-US" b="1" dirty="0"/>
              <a:t>Context:</a:t>
            </a:r>
            <a:r>
              <a:rPr lang="en-US" dirty="0"/>
              <a:t> Provide relevant background information to help the AI understand the task better.</a:t>
            </a:r>
          </a:p>
          <a:p>
            <a:pPr>
              <a:buFont typeface="Arial" panose="020B0604020202020204" pitchFamily="34" charset="0"/>
              <a:buChar char="•"/>
            </a:pPr>
            <a:r>
              <a:rPr lang="en-US" dirty="0"/>
              <a:t>Example: "As a student learning about renewable energy, explain the advantages of solar power."</a:t>
            </a:r>
          </a:p>
          <a:p>
            <a:endParaRPr lang="en-US" b="1" dirty="0"/>
          </a:p>
          <a:p>
            <a:r>
              <a:rPr lang="en-US" b="1" dirty="0"/>
              <a:t>Exemplars:</a:t>
            </a:r>
            <a:r>
              <a:rPr lang="en-US" dirty="0"/>
              <a:t> Include examples or frameworks that the AI can use as a reference to produce the desired output.</a:t>
            </a:r>
          </a:p>
          <a:p>
            <a:pPr>
              <a:buFont typeface="Arial" panose="020B0604020202020204" pitchFamily="34" charset="0"/>
              <a:buChar char="•"/>
            </a:pPr>
            <a:r>
              <a:rPr lang="en-US" dirty="0"/>
              <a:t>Example: "Explain photosynthesis, similar to how it’s explained in high school biology textbooks."</a:t>
            </a:r>
          </a:p>
          <a:p>
            <a:endParaRPr lang="en-US" b="1" dirty="0"/>
          </a:p>
          <a:p>
            <a:r>
              <a:rPr lang="en-US" b="1" dirty="0"/>
              <a:t>Persona:</a:t>
            </a:r>
            <a:r>
              <a:rPr lang="en-US" dirty="0"/>
              <a:t> Specify the role or persona the AI should emulate.</a:t>
            </a:r>
          </a:p>
          <a:p>
            <a:pPr>
              <a:buFont typeface="Arial" panose="020B0604020202020204" pitchFamily="34" charset="0"/>
              <a:buChar char="•"/>
            </a:pPr>
            <a:r>
              <a:rPr lang="en-US" dirty="0"/>
              <a:t>Example: "As a financial advisor, provide investment tips for beginners."</a:t>
            </a:r>
          </a:p>
          <a:p>
            <a:endParaRPr lang="en-US" b="1" dirty="0"/>
          </a:p>
          <a:p>
            <a:r>
              <a:rPr lang="en-US" b="1" dirty="0"/>
              <a:t>Format:</a:t>
            </a:r>
            <a:r>
              <a:rPr lang="en-US" dirty="0"/>
              <a:t> Define the desired output format.</a:t>
            </a:r>
          </a:p>
          <a:p>
            <a:pPr>
              <a:buFont typeface="Arial" panose="020B0604020202020204" pitchFamily="34" charset="0"/>
              <a:buChar char="•"/>
            </a:pPr>
            <a:r>
              <a:rPr lang="en-US" dirty="0"/>
              <a:t>Example: "List the benefits of exercise in bullet points."</a:t>
            </a:r>
          </a:p>
          <a:p>
            <a:endParaRPr lang="en-US" b="1" dirty="0"/>
          </a:p>
          <a:p>
            <a:r>
              <a:rPr lang="en-US" b="1" dirty="0"/>
              <a:t>Tone:</a:t>
            </a:r>
            <a:r>
              <a:rPr lang="en-US" dirty="0"/>
              <a:t> Describe the tone you want for the output.</a:t>
            </a:r>
          </a:p>
          <a:p>
            <a:pPr>
              <a:buFont typeface="Arial" panose="020B0604020202020204" pitchFamily="34" charset="0"/>
              <a:buChar char="•"/>
            </a:pPr>
            <a:r>
              <a:rPr lang="en-US" dirty="0"/>
              <a:t>Example: "Write a formal letter requesting information about graduate programs."</a:t>
            </a:r>
          </a:p>
        </p:txBody>
      </p:sp>
      <p:sp>
        <p:nvSpPr>
          <p:cNvPr id="4" name="Slide Number Placeholder 3"/>
          <p:cNvSpPr>
            <a:spLocks noGrp="1"/>
          </p:cNvSpPr>
          <p:nvPr>
            <p:ph type="sldNum" sz="quarter" idx="5"/>
          </p:nvPr>
        </p:nvSpPr>
        <p:spPr/>
        <p:txBody>
          <a:bodyPr/>
          <a:lstStyle/>
          <a:p>
            <a:fld id="{433B60B0-1DC3-0D4A-A3FA-F1C84AA2F0B8}" type="slidenum">
              <a:rPr lang="en-US" smtClean="0"/>
              <a:t>8</a:t>
            </a:fld>
            <a:endParaRPr lang="en-US"/>
          </a:p>
        </p:txBody>
      </p:sp>
    </p:spTree>
    <p:extLst>
      <p:ext uri="{BB962C8B-B14F-4D97-AF65-F5344CB8AC3E}">
        <p14:creationId xmlns:p14="http://schemas.microsoft.com/office/powerpoint/2010/main" val="711332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Clarity in Wording:</a:t>
            </a:r>
            <a:r>
              <a:rPr lang="en-US" dirty="0"/>
              <a:t> Clear language helps the model understand your query accurately:</a:t>
            </a:r>
          </a:p>
          <a:p>
            <a:pPr>
              <a:buFont typeface="Arial" panose="020B0604020202020204" pitchFamily="34" charset="0"/>
              <a:buChar char="•"/>
            </a:pPr>
            <a:r>
              <a:rPr lang="en-US" dirty="0"/>
              <a:t>Instead of "Tell me about the weather," ask "What is the weather forecast for New York City tomorrow?"</a:t>
            </a:r>
          </a:p>
          <a:p>
            <a:pPr>
              <a:buFont typeface="Arial" panose="020B0604020202020204" pitchFamily="34" charset="0"/>
              <a:buChar char="•"/>
            </a:pPr>
            <a:r>
              <a:rPr lang="en-US" dirty="0"/>
              <a:t>Instead of "Explain flight," ask "How do airplanes stay in the air?"</a:t>
            </a:r>
          </a:p>
          <a:p>
            <a:endParaRPr lang="en-US" b="1" dirty="0"/>
          </a:p>
          <a:p>
            <a:r>
              <a:rPr lang="en-US" b="1" dirty="0"/>
              <a:t>Providing Context:</a:t>
            </a:r>
            <a:r>
              <a:rPr lang="en-US" dirty="0"/>
              <a:t> Adding context improves the relevance of responses:</a:t>
            </a:r>
          </a:p>
          <a:p>
            <a:pPr>
              <a:buFont typeface="Arial" panose="020B0604020202020204" pitchFamily="34" charset="0"/>
              <a:buChar char="•"/>
            </a:pPr>
            <a:r>
              <a:rPr lang="en-US" dirty="0"/>
              <a:t>Instead of "What is the capital?", ask "What is the capital of France?"</a:t>
            </a:r>
          </a:p>
          <a:p>
            <a:pPr>
              <a:buFont typeface="Arial" panose="020B0604020202020204" pitchFamily="34" charset="0"/>
              <a:buChar char="•"/>
            </a:pPr>
            <a:r>
              <a:rPr lang="en-US" dirty="0"/>
              <a:t>Instead of "Describe the Eiffel Tower," ask "Explain the main features of the Eiffel Tower."</a:t>
            </a:r>
          </a:p>
          <a:p>
            <a:endParaRPr lang="en-US" b="1" dirty="0"/>
          </a:p>
          <a:p>
            <a:r>
              <a:rPr lang="en-US" b="1" dirty="0"/>
              <a:t>Emphasizing Specificity:</a:t>
            </a:r>
            <a:r>
              <a:rPr lang="en-US" dirty="0"/>
              <a:t> Specific prompts lead to more precise answers:</a:t>
            </a:r>
          </a:p>
          <a:p>
            <a:pPr>
              <a:buFont typeface="Arial" panose="020B0604020202020204" pitchFamily="34" charset="0"/>
              <a:buChar char="•"/>
            </a:pPr>
            <a:r>
              <a:rPr lang="en-US" dirty="0"/>
              <a:t>Instead of "How do plants grow?", ask "What are the stages of growth in a tomato plant?"</a:t>
            </a:r>
          </a:p>
          <a:p>
            <a:pPr>
              <a:buFont typeface="Arial" panose="020B0604020202020204" pitchFamily="34" charset="0"/>
              <a:buChar char="•"/>
            </a:pPr>
            <a:r>
              <a:rPr lang="en-US" dirty="0"/>
              <a:t>Instead of "How to make bread?", ask "Describe the process of making sourdough bread."</a:t>
            </a:r>
          </a:p>
          <a:p>
            <a:endParaRPr lang="en-US" b="1" dirty="0"/>
          </a:p>
          <a:p>
            <a:r>
              <a:rPr lang="en-US" b="1" dirty="0"/>
              <a:t>Leading vs. Open-Ended Questions:</a:t>
            </a:r>
            <a:r>
              <a:rPr lang="en-US" dirty="0"/>
              <a:t> Knowing when to use leading questions versus open-ended questions is important:</a:t>
            </a:r>
          </a:p>
          <a:p>
            <a:pPr>
              <a:buFont typeface="Arial" panose="020B0604020202020204" pitchFamily="34" charset="0"/>
              <a:buChar char="•"/>
            </a:pPr>
            <a:r>
              <a:rPr lang="en-US" dirty="0"/>
              <a:t>Leading: "What are the health benefits of eating almonds daily?"</a:t>
            </a:r>
          </a:p>
          <a:p>
            <a:pPr>
              <a:buFont typeface="Arial" panose="020B0604020202020204" pitchFamily="34" charset="0"/>
              <a:buChar char="•"/>
            </a:pPr>
            <a:r>
              <a:rPr lang="en-US" dirty="0"/>
              <a:t>Open-ended: "What are the benefits of a healthy diet?“</a:t>
            </a:r>
          </a:p>
          <a:p>
            <a:pPr>
              <a:buFont typeface="Arial" panose="020B0604020202020204" pitchFamily="34" charset="0"/>
              <a:buChar char="•"/>
            </a:pPr>
            <a:endParaRPr lang="en-US" dirty="0"/>
          </a:p>
          <a:p>
            <a:r>
              <a:rPr lang="en-US" b="1" dirty="0"/>
              <a:t>Grammar and Syntax:</a:t>
            </a:r>
            <a:r>
              <a:rPr lang="en-US" dirty="0"/>
              <a:t> Well-constructed sentences with proper grammar and punctuation guide the model better.</a:t>
            </a:r>
          </a:p>
          <a:p>
            <a:pPr>
              <a:buFont typeface="Arial" panose="020B0604020202020204" pitchFamily="34" charset="0"/>
              <a:buChar char="•"/>
            </a:pPr>
            <a:r>
              <a:rPr lang="en-US" dirty="0"/>
              <a:t>Instead of "u tell me about climate change," ask "Can you tell me about climate change?"</a:t>
            </a:r>
          </a:p>
          <a:p>
            <a:pPr>
              <a:buFont typeface="Arial" panose="020B0604020202020204" pitchFamily="34" charset="0"/>
              <a:buChar char="•"/>
            </a:pPr>
            <a:r>
              <a:rPr lang="en-US" dirty="0"/>
              <a:t>Instead of "Explain, how plants grow," ask "Explain how plants grow."</a:t>
            </a:r>
          </a:p>
          <a:p>
            <a:r>
              <a:rPr lang="en-US" b="1"/>
              <a:t>Incorporating </a:t>
            </a:r>
            <a:r>
              <a:rPr lang="en-US" b="1" dirty="0"/>
              <a:t>Examples:</a:t>
            </a:r>
            <a:r>
              <a:rPr lang="en-US" dirty="0"/>
              <a:t> Including an example in the prompt can guide the model on the expected format or detail level.</a:t>
            </a:r>
          </a:p>
          <a:p>
            <a:pPr>
              <a:buFont typeface="Arial" panose="020B0604020202020204" pitchFamily="34" charset="0"/>
              <a:buChar char="•"/>
            </a:pPr>
            <a:r>
              <a:rPr lang="en-US" dirty="0"/>
              <a:t>Instead of "Explain photosynthesis," ask "Explain photosynthesis like you would to a 10-year-old."</a:t>
            </a:r>
          </a:p>
          <a:p>
            <a:pPr>
              <a:buFont typeface="Arial" panose="020B0604020202020204" pitchFamily="34" charset="0"/>
              <a:buChar char="•"/>
            </a:pPr>
            <a:r>
              <a:rPr lang="en-US" dirty="0"/>
              <a:t>Instead of "What are the benefits of exercise?", ask "What are the benefits of exercise? For example, how does it improve cardiovascular health?"</a:t>
            </a:r>
          </a:p>
          <a:p>
            <a:pPr>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9</a:t>
            </a:fld>
            <a:endParaRPr lang="en-US"/>
          </a:p>
        </p:txBody>
      </p:sp>
    </p:spTree>
    <p:extLst>
      <p:ext uri="{BB962C8B-B14F-4D97-AF65-F5344CB8AC3E}">
        <p14:creationId xmlns:p14="http://schemas.microsoft.com/office/powerpoint/2010/main" val="2486994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Avoiding Ambiguity:</a:t>
            </a:r>
            <a:r>
              <a:rPr lang="en-US" dirty="0"/>
              <a:t> Ambiguity in prompts can lead to unclear responses. It's important to recognize and refine ambiguous queries.</a:t>
            </a:r>
          </a:p>
          <a:p>
            <a:pPr>
              <a:buFont typeface="Arial" panose="020B0604020202020204" pitchFamily="34" charset="0"/>
              <a:buChar char="•"/>
            </a:pPr>
            <a:r>
              <a:rPr lang="en-US" dirty="0"/>
              <a:t>Instead of "What is its effect?", ask "What is the effect of climate change on polar bear habitats?"</a:t>
            </a:r>
          </a:p>
          <a:p>
            <a:pPr>
              <a:buFont typeface="Arial" panose="020B0604020202020204" pitchFamily="34" charset="0"/>
              <a:buChar char="•"/>
            </a:pPr>
            <a:r>
              <a:rPr lang="en-US" dirty="0"/>
              <a:t>Instead of "Describe the process," ask "Describe the process of photosynthesis in plants."</a:t>
            </a:r>
          </a:p>
          <a:p>
            <a:endParaRPr lang="en-US" b="1" dirty="0"/>
          </a:p>
          <a:p>
            <a:r>
              <a:rPr lang="en-US" b="1" dirty="0"/>
              <a:t>Incorporating Context:</a:t>
            </a:r>
            <a:r>
              <a:rPr lang="en-US" dirty="0"/>
              <a:t> Adding context helps the model understand the specifics of your query.</a:t>
            </a:r>
          </a:p>
          <a:p>
            <a:pPr>
              <a:buFont typeface="Arial" panose="020B0604020202020204" pitchFamily="34" charset="0"/>
              <a:buChar char="•"/>
            </a:pPr>
            <a:r>
              <a:rPr lang="en-US" dirty="0"/>
              <a:t>Instead of "What is the population?", ask "What is the population of Tokyo in 2023?"</a:t>
            </a:r>
          </a:p>
          <a:p>
            <a:pPr>
              <a:buFont typeface="Arial" panose="020B0604020202020204" pitchFamily="34" charset="0"/>
              <a:buChar char="•"/>
            </a:pPr>
            <a:r>
              <a:rPr lang="en-US" dirty="0"/>
              <a:t>Instead of "Explain gravity," ask "Explain the concept of gravity in the context of planetary motion."</a:t>
            </a:r>
          </a:p>
          <a:p>
            <a:endParaRPr lang="en-US" b="1" dirty="0"/>
          </a:p>
          <a:p>
            <a:r>
              <a:rPr lang="en-US" b="1" dirty="0"/>
              <a:t>Tailoring Prompt Length:</a:t>
            </a:r>
            <a:r>
              <a:rPr lang="en-US" dirty="0"/>
              <a:t> The length of your prompt can impact the response. Providing enough detail without overwhelming the model is key.</a:t>
            </a:r>
          </a:p>
          <a:p>
            <a:pPr>
              <a:buFont typeface="Arial" panose="020B0604020202020204" pitchFamily="34" charset="0"/>
              <a:buChar char="•"/>
            </a:pPr>
            <a:r>
              <a:rPr lang="en-US" dirty="0"/>
              <a:t>Instead of "Tell me about World War II," ask "Give a brief overview of the causes of World War II."</a:t>
            </a:r>
          </a:p>
          <a:p>
            <a:pPr>
              <a:buFont typeface="Arial" panose="020B0604020202020204" pitchFamily="34" charset="0"/>
              <a:buChar char="•"/>
            </a:pPr>
            <a:r>
              <a:rPr lang="en-US" dirty="0"/>
              <a:t>Instead of "How to code in Python?", ask "Explain how to write a simple 'Hello, World' program in Python."</a:t>
            </a:r>
          </a:p>
          <a:p>
            <a:endParaRPr lang="en-US" b="1" dirty="0"/>
          </a:p>
          <a:p>
            <a:r>
              <a:rPr lang="en-US" b="1" dirty="0"/>
              <a:t>Specifying the Desired Format:</a:t>
            </a:r>
            <a:r>
              <a:rPr lang="en-US" dirty="0"/>
              <a:t> Indicating the format you want the response to be in can guide the model more effectively.</a:t>
            </a:r>
          </a:p>
          <a:p>
            <a:pPr>
              <a:buFont typeface="Arial" panose="020B0604020202020204" pitchFamily="34" charset="0"/>
              <a:buChar char="•"/>
            </a:pPr>
            <a:r>
              <a:rPr lang="en-US" dirty="0"/>
              <a:t>Instead of "List some benefits of exercise," ask "List some benefits of exercise as bullet points."</a:t>
            </a:r>
          </a:p>
          <a:p>
            <a:pPr>
              <a:buFont typeface="Arial" panose="020B0604020202020204" pitchFamily="34" charset="0"/>
              <a:buChar char="•"/>
            </a:pPr>
            <a:r>
              <a:rPr lang="en-US" dirty="0"/>
              <a:t>Instead of "Explain photosynthesis," ask "Explain photosynthesis in a short paragraph."</a:t>
            </a:r>
          </a:p>
          <a:p>
            <a:endParaRPr lang="en-US" b="1" dirty="0"/>
          </a:p>
          <a:p>
            <a:r>
              <a:rPr lang="en-US" b="1" dirty="0"/>
              <a:t>Using Precise Vocabulary:</a:t>
            </a:r>
            <a:r>
              <a:rPr lang="en-US" dirty="0"/>
              <a:t> Choosing words that accurately reflect the complexity or simplicity of the response you expect.</a:t>
            </a:r>
          </a:p>
          <a:p>
            <a:pPr>
              <a:buFont typeface="Arial" panose="020B0604020202020204" pitchFamily="34" charset="0"/>
              <a:buChar char="•"/>
            </a:pPr>
            <a:r>
              <a:rPr lang="en-US" dirty="0"/>
              <a:t>Instead of "Tell me about medicine," ask "Describe the function of antibiotics in treating bacterial infections."</a:t>
            </a:r>
          </a:p>
          <a:p>
            <a:pPr>
              <a:buFont typeface="Arial" panose="020B0604020202020204" pitchFamily="34" charset="0"/>
              <a:buChar char="•"/>
            </a:pPr>
            <a:r>
              <a:rPr lang="en-US" dirty="0"/>
              <a:t>Instead of "Explain art," ask "Explain the principles of Impressionism in art."</a:t>
            </a:r>
          </a:p>
        </p:txBody>
      </p:sp>
      <p:sp>
        <p:nvSpPr>
          <p:cNvPr id="4" name="Slide Number Placeholder 3"/>
          <p:cNvSpPr>
            <a:spLocks noGrp="1"/>
          </p:cNvSpPr>
          <p:nvPr>
            <p:ph type="sldNum" sz="quarter" idx="5"/>
          </p:nvPr>
        </p:nvSpPr>
        <p:spPr/>
        <p:txBody>
          <a:bodyPr/>
          <a:lstStyle/>
          <a:p>
            <a:fld id="{433B60B0-1DC3-0D4A-A3FA-F1C84AA2F0B8}" type="slidenum">
              <a:rPr lang="en-US" smtClean="0"/>
              <a:t>10</a:t>
            </a:fld>
            <a:endParaRPr lang="en-US"/>
          </a:p>
        </p:txBody>
      </p:sp>
    </p:spTree>
    <p:extLst>
      <p:ext uri="{BB962C8B-B14F-4D97-AF65-F5344CB8AC3E}">
        <p14:creationId xmlns:p14="http://schemas.microsoft.com/office/powerpoint/2010/main" val="1766631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Understanding Tokens:</a:t>
            </a:r>
            <a:r>
              <a:rPr lang="en-US" dirty="0"/>
              <a:t> Tokens are the building blocks of GPT responses. Each token can be as short as one character or as long as one word. For instance:</a:t>
            </a:r>
          </a:p>
          <a:p>
            <a:pPr lvl="1">
              <a:buFont typeface="Arial" panose="020B0604020202020204" pitchFamily="34" charset="0"/>
              <a:buChar char="•"/>
            </a:pPr>
            <a:r>
              <a:rPr lang="en-US" dirty="0"/>
              <a:t>The word "GPT" is one token.</a:t>
            </a:r>
          </a:p>
          <a:p>
            <a:pPr lvl="1">
              <a:buFont typeface="Arial" panose="020B0604020202020204" pitchFamily="34" charset="0"/>
              <a:buChar char="•"/>
            </a:pPr>
            <a:r>
              <a:rPr lang="en-US" dirty="0"/>
              <a:t>The phrase "Large Language Models" is three tokens.</a:t>
            </a:r>
          </a:p>
          <a:p>
            <a:endParaRPr lang="en-US" b="1" dirty="0"/>
          </a:p>
          <a:p>
            <a:r>
              <a:rPr lang="en-US" b="1" dirty="0"/>
              <a:t>Managing Complex Prompts:</a:t>
            </a:r>
            <a:r>
              <a:rPr lang="en-US" dirty="0"/>
              <a:t> Complex prompts need careful management to stay within token limits. Breaking down complex prompts into simpler components can help.</a:t>
            </a:r>
          </a:p>
          <a:p>
            <a:pPr lvl="1">
              <a:buFont typeface="Arial" panose="020B0604020202020204" pitchFamily="34" charset="0"/>
              <a:buChar char="•"/>
            </a:pPr>
            <a:r>
              <a:rPr lang="en-US" dirty="0"/>
              <a:t>Instead of "Explain the history, development, and applications of artificial intelligence," ask "What is the history of artificial intelligence?" followed by "How has artificial intelligence developed over time?" and then "What are the applications of artificial intelligence?"</a:t>
            </a:r>
          </a:p>
          <a:p>
            <a:endParaRPr lang="en-US" b="1" dirty="0"/>
          </a:p>
          <a:p>
            <a:r>
              <a:rPr lang="en-US" b="1" dirty="0"/>
              <a:t>Segmenting Large Tasks:</a:t>
            </a:r>
            <a:r>
              <a:rPr lang="en-US" dirty="0"/>
              <a:t> Breaking down large tasks into smaller segments can help manage length and improve response quality.</a:t>
            </a:r>
          </a:p>
          <a:p>
            <a:pPr lvl="1">
              <a:buFont typeface="Arial" panose="020B0604020202020204" pitchFamily="34" charset="0"/>
              <a:buChar char="•"/>
            </a:pPr>
            <a:r>
              <a:rPr lang="en-US" dirty="0"/>
              <a:t>Instead of "Summarize the book 'War and Peace'," ask "Summarize the first part of 'War and Peace'," followed by "Summarize the second part of 'War and Peace'," and so on.</a:t>
            </a:r>
          </a:p>
        </p:txBody>
      </p:sp>
      <p:sp>
        <p:nvSpPr>
          <p:cNvPr id="4" name="Slide Number Placeholder 3"/>
          <p:cNvSpPr>
            <a:spLocks noGrp="1"/>
          </p:cNvSpPr>
          <p:nvPr>
            <p:ph type="sldNum" sz="quarter" idx="5"/>
          </p:nvPr>
        </p:nvSpPr>
        <p:spPr/>
        <p:txBody>
          <a:bodyPr/>
          <a:lstStyle/>
          <a:p>
            <a:fld id="{433B60B0-1DC3-0D4A-A3FA-F1C84AA2F0B8}" type="slidenum">
              <a:rPr lang="en-US" smtClean="0"/>
              <a:t>11</a:t>
            </a:fld>
            <a:endParaRPr lang="en-US"/>
          </a:p>
        </p:txBody>
      </p:sp>
    </p:spTree>
    <p:extLst>
      <p:ext uri="{BB962C8B-B14F-4D97-AF65-F5344CB8AC3E}">
        <p14:creationId xmlns:p14="http://schemas.microsoft.com/office/powerpoint/2010/main" val="647243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Nuanced Context Challenges:</a:t>
            </a:r>
            <a:r>
              <a:rPr lang="en-US" dirty="0"/>
              <a:t> GPT sometimes struggles with nuanced contexts, especially those requiring deep cultural or contextual understanding.</a:t>
            </a:r>
          </a:p>
          <a:p>
            <a:pPr>
              <a:buFont typeface="Arial" panose="020B0604020202020204" pitchFamily="34" charset="0"/>
              <a:buChar char="•"/>
            </a:pPr>
            <a:r>
              <a:rPr lang="en-US" dirty="0"/>
              <a:t>Example: Misinterpreting idiomatic expressions or culturally specific references.</a:t>
            </a:r>
          </a:p>
          <a:p>
            <a:pPr lvl="1">
              <a:buFont typeface="Arial" panose="020B0604020202020204" pitchFamily="34" charset="0"/>
              <a:buChar char="•"/>
            </a:pPr>
            <a:r>
              <a:rPr lang="en-US" dirty="0"/>
              <a:t>"It's raining cats and dogs" might be interpreted literally rather than as heavy rain.</a:t>
            </a:r>
          </a:p>
          <a:p>
            <a:pPr lvl="1">
              <a:buFont typeface="Arial" panose="020B0604020202020204" pitchFamily="34" charset="0"/>
              <a:buChar char="•"/>
            </a:pPr>
            <a:r>
              <a:rPr lang="en-US" dirty="0"/>
              <a:t>"Break a leg" might be taken as a harmful wish rather than good luck.</a:t>
            </a:r>
          </a:p>
          <a:p>
            <a:endParaRPr lang="en-US" b="1" dirty="0"/>
          </a:p>
          <a:p>
            <a:r>
              <a:rPr lang="en-US" b="1" dirty="0"/>
              <a:t>Response Length Limitations:</a:t>
            </a:r>
            <a:r>
              <a:rPr lang="en-US" dirty="0"/>
              <a:t> The quality of responses can degrade with length.</a:t>
            </a:r>
          </a:p>
          <a:p>
            <a:pPr>
              <a:buFont typeface="Arial" panose="020B0604020202020204" pitchFamily="34" charset="0"/>
              <a:buChar char="•"/>
            </a:pPr>
            <a:r>
              <a:rPr lang="en-US" dirty="0"/>
              <a:t>Example: Long responses may become less coherent or repetitive.</a:t>
            </a:r>
          </a:p>
          <a:p>
            <a:pPr lvl="1">
              <a:buFont typeface="Arial" panose="020B0604020202020204" pitchFamily="34" charset="0"/>
              <a:buChar char="•"/>
            </a:pPr>
            <a:r>
              <a:rPr lang="en-US" dirty="0"/>
              <a:t>A summary of a long book might lose key details if extended too far.</a:t>
            </a:r>
          </a:p>
          <a:p>
            <a:pPr lvl="1">
              <a:buFont typeface="Arial" panose="020B0604020202020204" pitchFamily="34" charset="0"/>
              <a:buChar char="•"/>
            </a:pPr>
            <a:r>
              <a:rPr lang="en-US" dirty="0"/>
              <a:t>Extended dialogues might start repeating phrases or ideas.</a:t>
            </a:r>
          </a:p>
          <a:p>
            <a:endParaRPr lang="en-US" b="1" dirty="0"/>
          </a:p>
          <a:p>
            <a:r>
              <a:rPr lang="en-US" b="1" dirty="0"/>
              <a:t>Handling Complex Calculations:</a:t>
            </a:r>
            <a:r>
              <a:rPr lang="en-US" dirty="0"/>
              <a:t> GPT is not designed for complex numerical calculations.</a:t>
            </a:r>
          </a:p>
          <a:p>
            <a:pPr>
              <a:buFont typeface="Arial" panose="020B0604020202020204" pitchFamily="34" charset="0"/>
              <a:buChar char="•"/>
            </a:pPr>
            <a:r>
              <a:rPr lang="en-US" dirty="0"/>
              <a:t>Example: It might struggle with advanced mathematics or detailed statistical analysis.</a:t>
            </a:r>
          </a:p>
          <a:p>
            <a:pPr lvl="1">
              <a:buFont typeface="Arial" panose="020B0604020202020204" pitchFamily="34" charset="0"/>
              <a:buChar char="•"/>
            </a:pPr>
            <a:r>
              <a:rPr lang="en-US" dirty="0"/>
              <a:t>Calculating the derivative of a complex function.</a:t>
            </a:r>
          </a:p>
          <a:p>
            <a:pPr lvl="1">
              <a:buFont typeface="Arial" panose="020B0604020202020204" pitchFamily="34" charset="0"/>
              <a:buChar char="•"/>
            </a:pPr>
            <a:r>
              <a:rPr lang="en-US" dirty="0"/>
              <a:t>Performing a detailed regression analysis with multiple variables.</a:t>
            </a:r>
          </a:p>
        </p:txBody>
      </p:sp>
      <p:sp>
        <p:nvSpPr>
          <p:cNvPr id="4" name="Slide Number Placeholder 3"/>
          <p:cNvSpPr>
            <a:spLocks noGrp="1"/>
          </p:cNvSpPr>
          <p:nvPr>
            <p:ph type="sldNum" sz="quarter" idx="5"/>
          </p:nvPr>
        </p:nvSpPr>
        <p:spPr/>
        <p:txBody>
          <a:bodyPr/>
          <a:lstStyle/>
          <a:p>
            <a:fld id="{433B60B0-1DC3-0D4A-A3FA-F1C84AA2F0B8}" type="slidenum">
              <a:rPr lang="en-US" smtClean="0"/>
              <a:t>12</a:t>
            </a:fld>
            <a:endParaRPr lang="en-US"/>
          </a:p>
        </p:txBody>
      </p:sp>
    </p:spTree>
    <p:extLst>
      <p:ext uri="{BB962C8B-B14F-4D97-AF65-F5344CB8AC3E}">
        <p14:creationId xmlns:p14="http://schemas.microsoft.com/office/powerpoint/2010/main" val="1286026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Informational Tasks</a:t>
            </a:r>
          </a:p>
          <a:p>
            <a:r>
              <a:rPr lang="en-US" dirty="0"/>
              <a:t>What are the primary functions of the United Nations?</a:t>
            </a:r>
          </a:p>
          <a:p>
            <a:r>
              <a:rPr lang="en-US" dirty="0"/>
              <a:t>Explain the water cycle and its significance to Earth's ecosystem.</a:t>
            </a:r>
          </a:p>
          <a:p>
            <a:r>
              <a:rPr lang="en-US" dirty="0"/>
              <a:t>How do solar panels convert sunlight into electricity?</a:t>
            </a:r>
          </a:p>
          <a:p>
            <a:r>
              <a:rPr lang="en-US" dirty="0"/>
              <a:t>Describe the impact of the Industrial Revolution on modern economies.</a:t>
            </a:r>
          </a:p>
          <a:p>
            <a:r>
              <a:rPr lang="en-US" dirty="0"/>
              <a:t>Outline the process of DNA replication.</a:t>
            </a:r>
          </a:p>
          <a:p>
            <a:pPr algn="l">
              <a:buFont typeface="Arial" panose="020B0604020202020204" pitchFamily="34" charset="0"/>
              <a:buNone/>
            </a:pPr>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13</a:t>
            </a:fld>
            <a:endParaRPr lang="en-US"/>
          </a:p>
        </p:txBody>
      </p:sp>
    </p:spTree>
    <p:extLst>
      <p:ext uri="{BB962C8B-B14F-4D97-AF65-F5344CB8AC3E}">
        <p14:creationId xmlns:p14="http://schemas.microsoft.com/office/powerpoint/2010/main" val="3653008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Creative Writing</a:t>
            </a:r>
          </a:p>
          <a:p>
            <a:pPr algn="l">
              <a:buFont typeface="+mj-lt"/>
              <a:buNone/>
            </a:pPr>
            <a:r>
              <a:rPr lang="en-US" b="0" i="0" dirty="0">
                <a:solidFill>
                  <a:srgbClr val="0D0D0D"/>
                </a:solidFill>
                <a:effectLst/>
                <a:highlight>
                  <a:srgbClr val="FFFFFF"/>
                </a:highlight>
                <a:latin typeface="Söhne"/>
              </a:rPr>
              <a:t>Compose a poem about the first snowfall of winter.</a:t>
            </a:r>
          </a:p>
          <a:p>
            <a:pPr algn="l">
              <a:buFont typeface="+mj-lt"/>
              <a:buNone/>
            </a:pPr>
            <a:r>
              <a:rPr lang="en-US" b="0" i="0" dirty="0">
                <a:solidFill>
                  <a:srgbClr val="0D0D0D"/>
                </a:solidFill>
                <a:effectLst/>
                <a:highlight>
                  <a:srgbClr val="FFFFFF"/>
                </a:highlight>
                <a:latin typeface="Söhne"/>
              </a:rPr>
              <a:t>Generate a short story featuring a reunion between long-lost friends.</a:t>
            </a:r>
          </a:p>
          <a:p>
            <a:pPr algn="l">
              <a:buFont typeface="+mj-lt"/>
              <a:buNone/>
            </a:pPr>
            <a:r>
              <a:rPr lang="en-US" b="0" i="0" dirty="0">
                <a:solidFill>
                  <a:srgbClr val="0D0D0D"/>
                </a:solidFill>
                <a:effectLst/>
                <a:highlight>
                  <a:srgbClr val="FFFFFF"/>
                </a:highlight>
                <a:latin typeface="Söhne"/>
              </a:rPr>
              <a:t>Create a dialogue between two historical figures from different eras.</a:t>
            </a:r>
          </a:p>
          <a:p>
            <a:pPr algn="l">
              <a:buFont typeface="+mj-lt"/>
              <a:buNone/>
            </a:pPr>
            <a:r>
              <a:rPr lang="en-US" b="0" i="0" dirty="0">
                <a:solidFill>
                  <a:srgbClr val="0D0D0D"/>
                </a:solidFill>
                <a:effectLst/>
                <a:highlight>
                  <a:srgbClr val="FFFFFF"/>
                </a:highlight>
                <a:latin typeface="Söhne"/>
              </a:rPr>
              <a:t>Write a letter from the perspective of an astronaut viewing Earth from space.</a:t>
            </a:r>
          </a:p>
          <a:p>
            <a:pPr algn="l">
              <a:buFont typeface="+mj-lt"/>
              <a:buNone/>
            </a:pPr>
            <a:r>
              <a:rPr lang="en-US" b="0" i="0" dirty="0">
                <a:solidFill>
                  <a:srgbClr val="0D0D0D"/>
                </a:solidFill>
                <a:effectLst/>
                <a:highlight>
                  <a:srgbClr val="FFFFFF"/>
                </a:highlight>
                <a:latin typeface="Söhne"/>
              </a:rPr>
              <a:t>Develop a character backstory for a detective in a mystery novel.</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14</a:t>
            </a:fld>
            <a:endParaRPr lang="en-US"/>
          </a:p>
        </p:txBody>
      </p:sp>
    </p:spTree>
    <p:extLst>
      <p:ext uri="{BB962C8B-B14F-4D97-AF65-F5344CB8AC3E}">
        <p14:creationId xmlns:p14="http://schemas.microsoft.com/office/powerpoint/2010/main" val="3288887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Conversational Engagements</a:t>
            </a:r>
          </a:p>
          <a:p>
            <a:r>
              <a:rPr lang="en-US" dirty="0"/>
              <a:t>Simulate a conversation between a customer and a support agent regarding a late delivery.</a:t>
            </a:r>
          </a:p>
          <a:p>
            <a:r>
              <a:rPr lang="en-US" dirty="0"/>
              <a:t>Generate a dialogue where two people debate the best form of renewable energy.</a:t>
            </a:r>
          </a:p>
          <a:p>
            <a:r>
              <a:rPr lang="en-US" dirty="0"/>
              <a:t>Create a text exchange between a teacher and a parent discussing a student's progress.</a:t>
            </a:r>
          </a:p>
          <a:p>
            <a:r>
              <a:rPr lang="en-US" dirty="0"/>
              <a:t>Provide a conversation between a real estate agent and a potential home buyer.</a:t>
            </a:r>
          </a:p>
          <a:p>
            <a:r>
              <a:rPr lang="en-US" dirty="0"/>
              <a:t>Simulate an interview between a journalist and a film director about their latest movie.</a:t>
            </a:r>
            <a:endParaRPr lang="en-US" b="1"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15</a:t>
            </a:fld>
            <a:endParaRPr lang="en-US"/>
          </a:p>
        </p:txBody>
      </p:sp>
    </p:spTree>
    <p:extLst>
      <p:ext uri="{BB962C8B-B14F-4D97-AF65-F5344CB8AC3E}">
        <p14:creationId xmlns:p14="http://schemas.microsoft.com/office/powerpoint/2010/main" val="2408912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Technical Assistance</a:t>
            </a:r>
          </a:p>
          <a:p>
            <a:pPr algn="l"/>
            <a:endParaRPr lang="en-US" b="0" i="0" dirty="0">
              <a:solidFill>
                <a:srgbClr val="0D0D0D"/>
              </a:solidFill>
              <a:effectLst/>
              <a:highlight>
                <a:srgbClr val="FFFFFF"/>
              </a:highlight>
              <a:latin typeface="Söhne"/>
            </a:endParaRPr>
          </a:p>
          <a:p>
            <a:r>
              <a:rPr lang="en-US" dirty="0"/>
              <a:t>Explain how to reset a router to improve internet connectivity.</a:t>
            </a:r>
          </a:p>
          <a:p>
            <a:r>
              <a:rPr lang="en-US" dirty="0"/>
              <a:t>Detail the steps to create a pivot table in Excel.</a:t>
            </a:r>
          </a:p>
          <a:p>
            <a:r>
              <a:rPr lang="en-US" dirty="0"/>
              <a:t>Describe the safety procedures for handling chemical spills in a laboratory.</a:t>
            </a:r>
          </a:p>
          <a:p>
            <a:r>
              <a:rPr lang="en-US" dirty="0"/>
              <a:t>Outline the software development life cycle.</a:t>
            </a:r>
          </a:p>
          <a:p>
            <a:r>
              <a:rPr lang="en-US" dirty="0"/>
              <a:t>Explain the principles behind machine learning algorithms.</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16</a:t>
            </a:fld>
            <a:endParaRPr lang="en-US"/>
          </a:p>
        </p:txBody>
      </p:sp>
    </p:spTree>
    <p:extLst>
      <p:ext uri="{BB962C8B-B14F-4D97-AF65-F5344CB8AC3E}">
        <p14:creationId xmlns:p14="http://schemas.microsoft.com/office/powerpoint/2010/main" val="1692170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Instructional Guidance</a:t>
            </a:r>
          </a:p>
          <a:p>
            <a:r>
              <a:rPr lang="en-US" dirty="0"/>
              <a:t>Provide a step-by-step guide to preparing a vegan lasagna.</a:t>
            </a:r>
          </a:p>
          <a:p>
            <a:r>
              <a:rPr lang="en-US" dirty="0"/>
              <a:t>Explain how to change a car tire, including the tools needed.</a:t>
            </a:r>
          </a:p>
          <a:p>
            <a:r>
              <a:rPr lang="en-US" dirty="0"/>
              <a:t>Describe the steps to plant and care for a vegetable garden.</a:t>
            </a:r>
          </a:p>
          <a:p>
            <a:r>
              <a:rPr lang="en-US" dirty="0"/>
              <a:t>How to perform CPR on an adult.</a:t>
            </a:r>
          </a:p>
          <a:p>
            <a:r>
              <a:rPr lang="en-US" dirty="0"/>
              <a:t>Guide on setting up a basic home network with multiple devices.</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17</a:t>
            </a:fld>
            <a:endParaRPr lang="en-US"/>
          </a:p>
        </p:txBody>
      </p:sp>
    </p:spTree>
    <p:extLst>
      <p:ext uri="{BB962C8B-B14F-4D97-AF65-F5344CB8AC3E}">
        <p14:creationId xmlns:p14="http://schemas.microsoft.com/office/powerpoint/2010/main" val="2276067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D0D0D"/>
                </a:solidFill>
                <a:effectLst/>
                <a:highlight>
                  <a:srgbClr val="FFFFFF"/>
                </a:highlight>
                <a:latin typeface="Söhne"/>
              </a:rPr>
              <a:t>Managing Complex Interactions</a:t>
            </a:r>
          </a:p>
          <a:p>
            <a:r>
              <a:rPr lang="en-US" dirty="0"/>
              <a:t>Break down the plot of 'War and Peace' into five parts, detailing key events in each.</a:t>
            </a:r>
          </a:p>
          <a:p>
            <a:r>
              <a:rPr lang="en-US" dirty="0"/>
              <a:t>Explain the theory of relativity in three stages, each building upon the last.</a:t>
            </a:r>
          </a:p>
          <a:p>
            <a:r>
              <a:rPr lang="en-US" dirty="0"/>
              <a:t>Describe the electoral process in the United States, focusing on primary and general elections.</a:t>
            </a:r>
          </a:p>
          <a:p>
            <a:r>
              <a:rPr lang="en-US" dirty="0"/>
              <a:t>Detail the evolution of mobile technology from 2000 to 2020.</a:t>
            </a:r>
          </a:p>
          <a:p>
            <a:r>
              <a:rPr lang="en-US" dirty="0"/>
              <a:t>Outline the major stages of human psychological development from infancy to adulthood.</a:t>
            </a:r>
          </a:p>
          <a:p>
            <a:pPr algn="l"/>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18</a:t>
            </a:fld>
            <a:endParaRPr lang="en-US"/>
          </a:p>
        </p:txBody>
      </p:sp>
    </p:spTree>
    <p:extLst>
      <p:ext uri="{BB962C8B-B14F-4D97-AF65-F5344CB8AC3E}">
        <p14:creationId xmlns:p14="http://schemas.microsoft.com/office/powerpoint/2010/main" val="2541089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AI Image Generation:</a:t>
            </a:r>
            <a:r>
              <a:rPr lang="en-US" dirty="0"/>
              <a:t> DALL-E is an AI program developed by OpenAI that generates images from textual descriptions. This means you can describe something in words, and DALL-E will create a visual representation based on that description.</a:t>
            </a:r>
          </a:p>
          <a:p>
            <a:endParaRPr lang="en-US" b="1" dirty="0"/>
          </a:p>
          <a:p>
            <a:r>
              <a:rPr lang="en-US" b="1" dirty="0"/>
              <a:t>Name Origin:</a:t>
            </a:r>
            <a:r>
              <a:rPr lang="en-US" dirty="0"/>
              <a:t> The name "DALL-E" is a combination of Salvador Dalí, the famous surrealist artist, and WALL-E, the animated robot from the Pixar movie. This name reflects the tool's ability to blend creativity with advanced technology.</a:t>
            </a:r>
          </a:p>
          <a:p>
            <a:endParaRPr lang="en-US" b="1" dirty="0"/>
          </a:p>
          <a:p>
            <a:r>
              <a:rPr lang="en-US" b="1" dirty="0"/>
              <a:t>Functionality:</a:t>
            </a:r>
            <a:r>
              <a:rPr lang="en-US" dirty="0"/>
              <a:t> DALL-E uses a version of the GPT-3 architecture to understand text and generate corresponding images. It can combine different concepts into a single image, create novel and imaginative scenes, and modify existing images based on textual input.</a:t>
            </a:r>
          </a:p>
          <a:p>
            <a:endParaRPr lang="en-US" b="1" dirty="0"/>
          </a:p>
          <a:p>
            <a:r>
              <a:rPr lang="en-US" b="1" dirty="0"/>
              <a:t>How It Works:</a:t>
            </a:r>
            <a:r>
              <a:rPr lang="en-US" dirty="0"/>
              <a:t> DALL-E interprets the text you provide by breaking it down into components and attributes. For example, if you describe "a two-story blue house with a white picket fence," DALL-E decodes each element and creates an image that includes all these details. The model is trained on a vast dataset of images and their descriptions, allowing it to learn and produce accurate and creative visual outputs.</a:t>
            </a:r>
          </a:p>
          <a:p>
            <a:pPr algn="l"/>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19</a:t>
            </a:fld>
            <a:endParaRPr lang="en-US"/>
          </a:p>
        </p:txBody>
      </p:sp>
    </p:spTree>
    <p:extLst>
      <p:ext uri="{BB962C8B-B14F-4D97-AF65-F5344CB8AC3E}">
        <p14:creationId xmlns:p14="http://schemas.microsoft.com/office/powerpoint/2010/main" val="3360727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Describing Mood and Artistic Styles:</a:t>
            </a:r>
            <a:r>
              <a:rPr lang="en-US" dirty="0"/>
              <a:t> When using DALL-E, providing details about the mood or artistic style can significantly influence the output. For example, specifying a "cheerful mood" or "impressionist style" helps the model understand the context and aesthetic you're aiming for. This level of detail guides DALL-E in generating images that align more closely with your vision.</a:t>
            </a:r>
          </a:p>
          <a:p>
            <a:endParaRPr lang="en-US" b="1" dirty="0"/>
          </a:p>
          <a:p>
            <a:r>
              <a:rPr lang="en-US" b="1" dirty="0"/>
              <a:t>Balancing Simplicity:</a:t>
            </a:r>
            <a:r>
              <a:rPr lang="en-US" dirty="0"/>
              <a:t> While details are important, simplicity also plays a key role. Overly complex prompts can confuse the model and lead to less accurate results. Clear and straightforward descriptions help DALL-E focus on the essential elements without getting lost in unnecessary details.</a:t>
            </a:r>
          </a:p>
          <a:p>
            <a:endParaRPr lang="en-US" b="1" dirty="0"/>
          </a:p>
          <a:p>
            <a:r>
              <a:rPr lang="en-US" b="1" dirty="0"/>
              <a:t>Impact on Output Quality:</a:t>
            </a:r>
            <a:r>
              <a:rPr lang="en-US" dirty="0"/>
              <a:t> The balance between detail and simplicity directly impacts the quality of the images generated. Detailed prompts provide the necessary context, while simplicity ensures clarity and focus. This combination helps DALL-E produce images that are both accurate and visually appealing.</a:t>
            </a:r>
          </a:p>
          <a:p>
            <a:endParaRPr lang="en-US" b="1" dirty="0"/>
          </a:p>
          <a:p>
            <a:r>
              <a:rPr lang="en-US" b="1" dirty="0"/>
              <a:t>Examples of Effective Prompts:</a:t>
            </a:r>
            <a:endParaRPr lang="en-US" dirty="0"/>
          </a:p>
          <a:p>
            <a:pPr lvl="1">
              <a:buFont typeface="Arial" panose="020B0604020202020204" pitchFamily="34" charset="0"/>
              <a:buChar char="•"/>
            </a:pPr>
            <a:r>
              <a:rPr lang="en-US" b="1" dirty="0"/>
              <a:t>Literal Descriptions:</a:t>
            </a:r>
            <a:r>
              <a:rPr lang="en-US" dirty="0"/>
              <a:t> DALL-E responds precisely to direct descriptions of objects and settings. For example, "a red apple on a wooden table" generates a clear and specific image that closely matches the textual description.</a:t>
            </a:r>
          </a:p>
          <a:p>
            <a:pPr lvl="1">
              <a:buFont typeface="Arial" panose="020B0604020202020204" pitchFamily="34" charset="0"/>
              <a:buChar char="•"/>
            </a:pPr>
            <a:r>
              <a:rPr lang="en-US" b="1" dirty="0"/>
              <a:t>Conceptual Ideas:</a:t>
            </a:r>
            <a:r>
              <a:rPr lang="en-US" dirty="0"/>
              <a:t> The AI excels in interpreting more abstract concepts. For example, "the feeling of nostalgia" can be represented with symbolic elements and mood-setting.</a:t>
            </a:r>
          </a:p>
          <a:p>
            <a:pPr lvl="1">
              <a:buFont typeface="Arial" panose="020B0604020202020204" pitchFamily="34" charset="0"/>
              <a:buChar char="•"/>
            </a:pPr>
            <a:r>
              <a:rPr lang="en-US" b="1" dirty="0"/>
              <a:t>Combinatory Creativity:</a:t>
            </a:r>
            <a:r>
              <a:rPr lang="en-US" dirty="0"/>
              <a:t> DALL-E can creatively combine disparate objects and styles into a cohesive image. For example, "a cactus shaped like a skyscraper" merges different themes and visual elements.</a:t>
            </a:r>
          </a:p>
        </p:txBody>
      </p:sp>
      <p:sp>
        <p:nvSpPr>
          <p:cNvPr id="4" name="Slide Number Placeholder 3"/>
          <p:cNvSpPr>
            <a:spLocks noGrp="1"/>
          </p:cNvSpPr>
          <p:nvPr>
            <p:ph type="sldNum" sz="quarter" idx="5"/>
          </p:nvPr>
        </p:nvSpPr>
        <p:spPr/>
        <p:txBody>
          <a:bodyPr/>
          <a:lstStyle/>
          <a:p>
            <a:fld id="{433B60B0-1DC3-0D4A-A3FA-F1C84AA2F0B8}" type="slidenum">
              <a:rPr lang="en-US" smtClean="0"/>
              <a:t>20</a:t>
            </a:fld>
            <a:endParaRPr lang="en-US"/>
          </a:p>
        </p:txBody>
      </p:sp>
    </p:spTree>
    <p:extLst>
      <p:ext uri="{BB962C8B-B14F-4D97-AF65-F5344CB8AC3E}">
        <p14:creationId xmlns:p14="http://schemas.microsoft.com/office/powerpoint/2010/main" val="958527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Hyper-realistic:</a:t>
            </a:r>
            <a:r>
              <a:rPr lang="en-US" dirty="0"/>
              <a:t> DALL-E can create images that are strikingly lifelike and highly detailed. When a prompt specifies a hyper-realistic style, the output features intricate details that mimic real-life textures and lighting, perfect for scenarios requiring visual accuracy.</a:t>
            </a:r>
          </a:p>
          <a:p>
            <a:endParaRPr lang="en-US" b="1" dirty="0"/>
          </a:p>
          <a:p>
            <a:r>
              <a:rPr lang="en-US" b="1" dirty="0"/>
              <a:t>Watercolor:</a:t>
            </a:r>
            <a:r>
              <a:rPr lang="en-US" dirty="0"/>
              <a:t> The tool is also adept at interpreting artistic prompts to produce images in a watercolor style. This style is characterized by light, fluid brush strokes that convey softness and transparency, ideal for artistic illustrations or expressive scenes.</a:t>
            </a:r>
          </a:p>
          <a:p>
            <a:endParaRPr lang="en-US" b="1" dirty="0"/>
          </a:p>
          <a:p>
            <a:r>
              <a:rPr lang="en-US" b="1" dirty="0"/>
              <a:t>Portrait:</a:t>
            </a:r>
            <a:r>
              <a:rPr lang="en-US" dirty="0"/>
              <a:t> Focusing on portraiture, DALL-E can emphasize facial features and expressions with a high degree of detail. This makes it suitable for creating images that capture the essence of a subject in various artistic styles.</a:t>
            </a:r>
          </a:p>
          <a:p>
            <a:endParaRPr lang="en-US" b="1" dirty="0"/>
          </a:p>
          <a:p>
            <a:r>
              <a:rPr lang="en-US" b="1" dirty="0"/>
              <a:t>Surrealism:</a:t>
            </a:r>
            <a:r>
              <a:rPr lang="en-US" dirty="0"/>
              <a:t> In surrealism, DALL-E excels by generating fantastical and bizarre images that defy conventional logic. It blends dream-like elements with reality to spark imagination and thought.</a:t>
            </a:r>
          </a:p>
          <a:p>
            <a:endParaRPr lang="en-US" b="1" dirty="0"/>
          </a:p>
          <a:p>
            <a:r>
              <a:rPr lang="en-US" b="1" dirty="0"/>
              <a:t>Impressionism:</a:t>
            </a:r>
            <a:r>
              <a:rPr lang="en-US" dirty="0"/>
              <a:t> DALL-E can also render images in an impressionistic style, where the emphasis is on light and movement rather than detail. It uses visible brush strokes to capture the essence of the subject matter dynamically.</a:t>
            </a:r>
          </a:p>
          <a:p>
            <a:endParaRPr lang="en-US" b="1" dirty="0"/>
          </a:p>
          <a:p>
            <a:r>
              <a:rPr lang="en-US" b="1" dirty="0"/>
              <a:t>Additional Styles:</a:t>
            </a:r>
            <a:r>
              <a:rPr lang="en-US" dirty="0"/>
              <a:t> DALL-E can generate images in a wide range of other artistic styles, including but not limited to:</a:t>
            </a:r>
          </a:p>
          <a:p>
            <a:pPr marL="628650" lvl="1" indent="-171450">
              <a:buFont typeface="Arial" panose="020B0604020202020204" pitchFamily="34" charset="0"/>
              <a:buChar char="•"/>
            </a:pPr>
            <a:r>
              <a:rPr lang="en-US" b="1" dirty="0"/>
              <a:t>Cubism:</a:t>
            </a:r>
            <a:r>
              <a:rPr lang="en-US" dirty="0"/>
              <a:t> Objects broken up and reassembled in abstract form.</a:t>
            </a:r>
          </a:p>
          <a:p>
            <a:pPr marL="628650" lvl="1" indent="-171450">
              <a:buFont typeface="Arial" panose="020B0604020202020204" pitchFamily="34" charset="0"/>
              <a:buChar char="•"/>
            </a:pPr>
            <a:r>
              <a:rPr lang="en-US" b="1" dirty="0"/>
              <a:t>Pointillism:</a:t>
            </a:r>
            <a:r>
              <a:rPr lang="en-US" dirty="0"/>
              <a:t> Small dots of color that form an image.</a:t>
            </a:r>
          </a:p>
          <a:p>
            <a:pPr marL="628650" lvl="1" indent="-171450">
              <a:buFont typeface="Arial" panose="020B0604020202020204" pitchFamily="34" charset="0"/>
              <a:buChar char="•"/>
            </a:pPr>
            <a:r>
              <a:rPr lang="en-US" b="1" dirty="0"/>
              <a:t>Gothic:</a:t>
            </a:r>
            <a:r>
              <a:rPr lang="en-US" dirty="0"/>
              <a:t> Dark, medieval motifs and mysticism.</a:t>
            </a:r>
          </a:p>
          <a:p>
            <a:pPr marL="628650" lvl="1" indent="-171450">
              <a:buFont typeface="Arial" panose="020B0604020202020204" pitchFamily="34" charset="0"/>
              <a:buChar char="•"/>
            </a:pPr>
            <a:r>
              <a:rPr lang="en-US" b="1" dirty="0"/>
              <a:t>Pop Art:</a:t>
            </a:r>
            <a:r>
              <a:rPr lang="en-US" dirty="0"/>
              <a:t> Bright colors and bold, simple shapes, often commercial.</a:t>
            </a:r>
          </a:p>
          <a:p>
            <a:pPr marL="628650" lvl="1" indent="-171450">
              <a:buFont typeface="Arial" panose="020B0604020202020204" pitchFamily="34" charset="0"/>
              <a:buChar char="•"/>
            </a:pPr>
            <a:r>
              <a:rPr lang="en-US" b="1" dirty="0"/>
              <a:t>Abstract:</a:t>
            </a:r>
            <a:r>
              <a:rPr lang="en-US" dirty="0"/>
              <a:t> Non-representational forms and colors.</a:t>
            </a:r>
          </a:p>
          <a:p>
            <a:pPr marL="628650" lvl="1" indent="-171450">
              <a:buFont typeface="Arial" panose="020B0604020202020204" pitchFamily="34" charset="0"/>
              <a:buChar char="•"/>
            </a:pPr>
            <a:r>
              <a:rPr lang="en-US" b="1" dirty="0"/>
              <a:t>Anime/Manga:</a:t>
            </a:r>
            <a:r>
              <a:rPr lang="en-US" dirty="0"/>
              <a:t> Japanese animated and comic style.</a:t>
            </a:r>
          </a:p>
          <a:p>
            <a:pPr marL="628650" lvl="1" indent="-171450">
              <a:buFont typeface="Arial" panose="020B0604020202020204" pitchFamily="34" charset="0"/>
              <a:buChar char="•"/>
            </a:pPr>
            <a:r>
              <a:rPr lang="en-US" b="1" dirty="0"/>
              <a:t>Art Deco:</a:t>
            </a:r>
            <a:r>
              <a:rPr lang="en-US" dirty="0"/>
              <a:t> Bold geometric patterns and high contrast.</a:t>
            </a:r>
          </a:p>
          <a:p>
            <a:pPr marL="628650" lvl="1" indent="-171450">
              <a:buFont typeface="Arial" panose="020B0604020202020204" pitchFamily="34" charset="0"/>
              <a:buChar char="•"/>
            </a:pPr>
            <a:r>
              <a:rPr lang="en-US" b="1" dirty="0"/>
              <a:t>Photorealism:</a:t>
            </a:r>
            <a:r>
              <a:rPr lang="en-US" dirty="0"/>
              <a:t> Images resembling high-resolution photographs.</a:t>
            </a:r>
          </a:p>
          <a:p>
            <a:pPr marL="628650" lvl="1" indent="-171450">
              <a:buFont typeface="Arial" panose="020B0604020202020204" pitchFamily="34" charset="0"/>
              <a:buChar char="•"/>
            </a:pPr>
            <a:r>
              <a:rPr lang="en-US" b="1" dirty="0"/>
              <a:t>Folk Art:</a:t>
            </a:r>
            <a:r>
              <a:rPr lang="en-US" dirty="0"/>
              <a:t> Indigenous and traditional cultural art forms.</a:t>
            </a:r>
          </a:p>
          <a:p>
            <a:pPr marL="628650" lvl="1" indent="-171450">
              <a:buFont typeface="Arial" panose="020B0604020202020204" pitchFamily="34" charset="0"/>
              <a:buChar char="•"/>
            </a:pPr>
            <a:r>
              <a:rPr lang="en-US" b="1" dirty="0"/>
              <a:t>Minimalist:</a:t>
            </a:r>
            <a:r>
              <a:rPr lang="en-US" dirty="0"/>
              <a:t> Minimal elements, sparse composition.</a:t>
            </a:r>
          </a:p>
          <a:p>
            <a:pPr marL="628650" lvl="1" indent="-171450">
              <a:buFont typeface="Arial" panose="020B0604020202020204" pitchFamily="34" charset="0"/>
              <a:buChar char="•"/>
            </a:pPr>
            <a:r>
              <a:rPr lang="en-US" b="1" dirty="0"/>
              <a:t>Expressionism:</a:t>
            </a:r>
            <a:r>
              <a:rPr lang="en-US" dirty="0"/>
              <a:t> Emphasizes subjective perception over reality.</a:t>
            </a:r>
          </a:p>
          <a:p>
            <a:pPr marL="628650" lvl="1" indent="-171450">
              <a:buFont typeface="Arial" panose="020B0604020202020204" pitchFamily="34" charset="0"/>
              <a:buChar char="•"/>
            </a:pPr>
            <a:r>
              <a:rPr lang="en-US" b="1" dirty="0"/>
              <a:t>Art Nouveau:</a:t>
            </a:r>
            <a:r>
              <a:rPr lang="en-US" dirty="0"/>
              <a:t> Decorative arts style characterized by dense patterns and flowing curves.</a:t>
            </a:r>
          </a:p>
          <a:p>
            <a:pPr marL="628650" lvl="1" indent="-171450">
              <a:buFont typeface="Arial" panose="020B0604020202020204" pitchFamily="34" charset="0"/>
              <a:buChar char="•"/>
            </a:pPr>
            <a:r>
              <a:rPr lang="en-US" b="1" dirty="0"/>
              <a:t>Baroque:</a:t>
            </a:r>
            <a:r>
              <a:rPr lang="en-US" dirty="0"/>
              <a:t> Grandeur, drama, movement, tension, emotional exuberance.</a:t>
            </a:r>
          </a:p>
          <a:p>
            <a:pPr marL="628650" lvl="1" indent="-171450">
              <a:buFont typeface="Arial" panose="020B0604020202020204" pitchFamily="34" charset="0"/>
              <a:buChar char="•"/>
            </a:pPr>
            <a:r>
              <a:rPr lang="en-US" b="1" dirty="0"/>
              <a:t>Rococo:</a:t>
            </a:r>
            <a:r>
              <a:rPr lang="en-US" dirty="0"/>
              <a:t> Ornate; using pastel colors and asymmetrical designs.</a:t>
            </a:r>
          </a:p>
          <a:p>
            <a:pPr marL="628650" lvl="1" indent="-171450">
              <a:buFont typeface="Arial" panose="020B0604020202020204" pitchFamily="34" charset="0"/>
              <a:buChar char="•"/>
            </a:pPr>
            <a:r>
              <a:rPr lang="en-US" b="1" dirty="0"/>
              <a:t>Steampunk:</a:t>
            </a:r>
            <a:r>
              <a:rPr lang="en-US" dirty="0"/>
              <a:t> Combining industrial steam-powered machinery with the Victorian era.</a:t>
            </a:r>
          </a:p>
          <a:p>
            <a:pPr marL="628650" lvl="1" indent="-171450">
              <a:buFont typeface="Arial" panose="020B0604020202020204" pitchFamily="34" charset="0"/>
              <a:buChar char="•"/>
            </a:pPr>
            <a:r>
              <a:rPr lang="en-US" b="1" dirty="0"/>
              <a:t>Graffiti:</a:t>
            </a:r>
            <a:r>
              <a:rPr lang="en-US" dirty="0"/>
              <a:t> Street art styles, often with a strong, vibrant color palette.</a:t>
            </a:r>
          </a:p>
          <a:p>
            <a:pPr marL="628650" lvl="1" indent="-171450">
              <a:buFont typeface="Arial" panose="020B0604020202020204" pitchFamily="34" charset="0"/>
              <a:buChar char="•"/>
            </a:pPr>
            <a:r>
              <a:rPr lang="en-US" b="1" dirty="0"/>
              <a:t>Renaissance:</a:t>
            </a:r>
            <a:r>
              <a:rPr lang="en-US" dirty="0"/>
              <a:t> Rebirth of classical culture, realism, and perspective.</a:t>
            </a:r>
          </a:p>
          <a:p>
            <a:pPr marL="628650" lvl="1" indent="-171450">
              <a:buFont typeface="Arial" panose="020B0604020202020204" pitchFamily="34" charset="0"/>
              <a:buChar char="•"/>
            </a:pPr>
            <a:r>
              <a:rPr lang="en-US" b="1" dirty="0"/>
              <a:t>Modernism:</a:t>
            </a:r>
            <a:r>
              <a:rPr lang="en-US" dirty="0"/>
              <a:t> Styles that break away from classical and traditional forms.</a:t>
            </a:r>
          </a:p>
          <a:p>
            <a:pPr marL="628650" lvl="1" indent="-171450">
              <a:buFont typeface="Arial" panose="020B0604020202020204" pitchFamily="34" charset="0"/>
              <a:buChar char="•"/>
            </a:pPr>
            <a:r>
              <a:rPr lang="en-US" b="1" dirty="0"/>
              <a:t>Futurism:</a:t>
            </a:r>
            <a:r>
              <a:rPr lang="en-US" dirty="0"/>
              <a:t> Dynamic movement and technology, often incorporating elements of speed.</a:t>
            </a:r>
          </a:p>
          <a:p>
            <a:pPr marL="628650" lvl="1" indent="-171450">
              <a:buFont typeface="Arial" panose="020B0604020202020204" pitchFamily="34" charset="0"/>
              <a:buChar char="•"/>
            </a:pPr>
            <a:r>
              <a:rPr lang="en-US" b="1" dirty="0"/>
              <a:t>Dada:</a:t>
            </a:r>
            <a:r>
              <a:rPr lang="en-US" dirty="0"/>
              <a:t> Absurdist and anti-art, often satirical.</a:t>
            </a:r>
          </a:p>
          <a:p>
            <a:pPr marL="628650" lvl="1" indent="-171450">
              <a:buFont typeface="Arial" panose="020B0604020202020204" pitchFamily="34" charset="0"/>
              <a:buChar char="•"/>
            </a:pPr>
            <a:r>
              <a:rPr lang="en-US" b="1" dirty="0"/>
              <a:t>Constructivism:</a:t>
            </a:r>
            <a:r>
              <a:rPr lang="en-US" dirty="0"/>
              <a:t> Combination of faktura (the particular material properties of an object) and </a:t>
            </a:r>
            <a:r>
              <a:rPr lang="en-US" dirty="0" err="1"/>
              <a:t>tektonika</a:t>
            </a:r>
            <a:r>
              <a:rPr lang="en-US" dirty="0"/>
              <a:t> (its spatial presence).</a:t>
            </a:r>
          </a:p>
          <a:p>
            <a:pPr marL="628650" lvl="1" indent="-171450">
              <a:buFont typeface="Arial" panose="020B0604020202020204" pitchFamily="34" charset="0"/>
              <a:buChar char="•"/>
            </a:pPr>
            <a:r>
              <a:rPr lang="en-US" b="1" dirty="0"/>
              <a:t>Biomorphic:</a:t>
            </a:r>
            <a:r>
              <a:rPr lang="en-US" dirty="0"/>
              <a:t> Uses organic, abstract shapes resembling living organisms.</a:t>
            </a:r>
          </a:p>
          <a:p>
            <a:pPr marL="628650" lvl="1" indent="-171450">
              <a:buFont typeface="Arial" panose="020B0604020202020204" pitchFamily="34" charset="0"/>
              <a:buChar char="•"/>
            </a:pPr>
            <a:r>
              <a:rPr lang="en-US" b="1" dirty="0"/>
              <a:t>Neo-impressionism:</a:t>
            </a:r>
            <a:r>
              <a:rPr lang="en-US" dirty="0"/>
              <a:t> A refined form of Impressionism focusing on pointillist techniques.</a:t>
            </a:r>
          </a:p>
          <a:p>
            <a:pPr marL="628650" lvl="1" indent="-171450">
              <a:buFont typeface="Arial" panose="020B0604020202020204" pitchFamily="34" charset="0"/>
              <a:buChar char="•"/>
            </a:pPr>
            <a:r>
              <a:rPr lang="en-US" b="1" dirty="0"/>
              <a:t>Suprematism:</a:t>
            </a:r>
            <a:r>
              <a:rPr lang="en-US" dirty="0"/>
              <a:t> Focused on basic geometric forms and a limited range of colors.</a:t>
            </a:r>
          </a:p>
          <a:p>
            <a:pPr marL="628650" lvl="1" indent="-171450">
              <a:buFont typeface="Arial" panose="020B0604020202020204" pitchFamily="34" charset="0"/>
              <a:buChar char="•"/>
            </a:pPr>
            <a:r>
              <a:rPr lang="en-US" b="1" dirty="0"/>
              <a:t>Kitsch:</a:t>
            </a:r>
            <a:r>
              <a:rPr lang="en-US" dirty="0"/>
              <a:t> Art considered to be in poor taste because of excessive garishness or sentimentality, but sometimes appreciated in an ironic or knowing way.</a:t>
            </a:r>
          </a:p>
          <a:p>
            <a:pPr algn="l"/>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21</a:t>
            </a:fld>
            <a:endParaRPr lang="en-US"/>
          </a:p>
        </p:txBody>
      </p:sp>
    </p:spTree>
    <p:extLst>
      <p:ext uri="{BB962C8B-B14F-4D97-AF65-F5344CB8AC3E}">
        <p14:creationId xmlns:p14="http://schemas.microsoft.com/office/powerpoint/2010/main" val="1644659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Characteristics of Effective Prompts:</a:t>
            </a:r>
            <a:r>
              <a:rPr lang="en-US" dirty="0"/>
              <a:t> Effective prompts are the backbone of successful image generation with DALL·E. They are clear and concise, providing just enough detail to accurately guide the AI while also allowing room for creative interpretation. An example of an effective prompt might be, "Illustrate an autumn forest with a winding path, reflecting early morning light, in an impressionist style." This prompt specifies the scene, time of day, and artistic style, yet leaves elements like the exact tree types and the curve of the path to DALL·E’s creative algorithms.</a:t>
            </a:r>
          </a:p>
          <a:p>
            <a:endParaRPr lang="en-US" b="1" dirty="0"/>
          </a:p>
          <a:p>
            <a:r>
              <a:rPr lang="en-US" b="1" dirty="0"/>
              <a:t>Pitfalls of Less Effective Prompts:</a:t>
            </a:r>
            <a:r>
              <a:rPr lang="en-US" dirty="0"/>
              <a:t> On the other hand, less effective prompts often suffer from being vague, overly complex, or contradictory. A vague prompt such as "draw a cool scene" gives no concrete details for the AI to use, leading to unpredictable results. Overly complex or contradictory prompts, like "a simple yet intricate modern medieval cityscape," can confuse the model because of conflicting instructions.</a:t>
            </a:r>
          </a:p>
        </p:txBody>
      </p:sp>
      <p:sp>
        <p:nvSpPr>
          <p:cNvPr id="4" name="Slide Number Placeholder 3"/>
          <p:cNvSpPr>
            <a:spLocks noGrp="1"/>
          </p:cNvSpPr>
          <p:nvPr>
            <p:ph type="sldNum" sz="quarter" idx="5"/>
          </p:nvPr>
        </p:nvSpPr>
        <p:spPr/>
        <p:txBody>
          <a:bodyPr/>
          <a:lstStyle/>
          <a:p>
            <a:fld id="{433B60B0-1DC3-0D4A-A3FA-F1C84AA2F0B8}" type="slidenum">
              <a:rPr lang="en-US" smtClean="0"/>
              <a:t>22</a:t>
            </a:fld>
            <a:endParaRPr lang="en-US"/>
          </a:p>
        </p:txBody>
      </p:sp>
    </p:spTree>
    <p:extLst>
      <p:ext uri="{BB962C8B-B14F-4D97-AF65-F5344CB8AC3E}">
        <p14:creationId xmlns:p14="http://schemas.microsoft.com/office/powerpoint/2010/main" val="1764915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LEFT:</a:t>
            </a:r>
            <a:r>
              <a:rPr lang="en-US" dirty="0"/>
              <a:t> </a:t>
            </a:r>
          </a:p>
          <a:p>
            <a:r>
              <a:rPr lang="en-US" dirty="0"/>
              <a:t>A steampunk airship flying over a Victorian-era city.</a:t>
            </a:r>
          </a:p>
          <a:p>
            <a:endParaRPr lang="en-US" dirty="0"/>
          </a:p>
          <a:p>
            <a:br>
              <a:rPr lang="en-US" dirty="0"/>
            </a:br>
            <a:r>
              <a:rPr lang="en-US" b="1" dirty="0"/>
              <a:t>RIGHT:</a:t>
            </a:r>
            <a:br>
              <a:rPr lang="en-US" dirty="0"/>
            </a:br>
            <a:r>
              <a:rPr lang="en-US" dirty="0"/>
              <a:t>An impressionist painting of a sunflower field under a bright blue sky.</a:t>
            </a:r>
          </a:p>
        </p:txBody>
      </p:sp>
      <p:sp>
        <p:nvSpPr>
          <p:cNvPr id="4" name="Slide Number Placeholder 3"/>
          <p:cNvSpPr>
            <a:spLocks noGrp="1"/>
          </p:cNvSpPr>
          <p:nvPr>
            <p:ph type="sldNum" sz="quarter" idx="5"/>
          </p:nvPr>
        </p:nvSpPr>
        <p:spPr/>
        <p:txBody>
          <a:bodyPr/>
          <a:lstStyle/>
          <a:p>
            <a:fld id="{433B60B0-1DC3-0D4A-A3FA-F1C84AA2F0B8}" type="slidenum">
              <a:rPr lang="en-US" smtClean="0"/>
              <a:t>23</a:t>
            </a:fld>
            <a:endParaRPr lang="en-US"/>
          </a:p>
        </p:txBody>
      </p:sp>
    </p:spTree>
    <p:extLst>
      <p:ext uri="{BB962C8B-B14F-4D97-AF65-F5344CB8AC3E}">
        <p14:creationId xmlns:p14="http://schemas.microsoft.com/office/powerpoint/2010/main" val="3775178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LEFT:</a:t>
            </a:r>
            <a:r>
              <a:rPr lang="en-US" dirty="0"/>
              <a:t> </a:t>
            </a:r>
          </a:p>
          <a:p>
            <a:r>
              <a:rPr lang="en-US" dirty="0"/>
              <a:t>A still life photo of a vintage typewriter on a wooden desk, shot with a Fujifilm X-T4, 56mm f/1.2 lens, studio lighting setup with </a:t>
            </a:r>
            <a:r>
              <a:rPr lang="en-US" dirty="0" err="1"/>
              <a:t>softbox</a:t>
            </a:r>
            <a:r>
              <a:rPr lang="en-US" dirty="0"/>
              <a:t>, and a low aperture for a bokeh effect.</a:t>
            </a:r>
          </a:p>
          <a:p>
            <a:br>
              <a:rPr lang="en-US" dirty="0"/>
            </a:br>
            <a:r>
              <a:rPr lang="en-US" b="1" dirty="0"/>
              <a:t>RIGHT:</a:t>
            </a:r>
            <a:br>
              <a:rPr lang="en-US" dirty="0"/>
            </a:br>
            <a:r>
              <a:rPr lang="en-US" dirty="0"/>
              <a:t>Photo of an elderly man with a wise expression in a cozy library with soft lighting, in a sepia tone, reminiscent of vintage photography. The man's face and the atmosphere are the primary focus.</a:t>
            </a:r>
          </a:p>
        </p:txBody>
      </p:sp>
      <p:sp>
        <p:nvSpPr>
          <p:cNvPr id="4" name="Slide Number Placeholder 3"/>
          <p:cNvSpPr>
            <a:spLocks noGrp="1"/>
          </p:cNvSpPr>
          <p:nvPr>
            <p:ph type="sldNum" sz="quarter" idx="5"/>
          </p:nvPr>
        </p:nvSpPr>
        <p:spPr/>
        <p:txBody>
          <a:bodyPr/>
          <a:lstStyle/>
          <a:p>
            <a:fld id="{433B60B0-1DC3-0D4A-A3FA-F1C84AA2F0B8}" type="slidenum">
              <a:rPr lang="en-US" smtClean="0"/>
              <a:t>24</a:t>
            </a:fld>
            <a:endParaRPr lang="en-US"/>
          </a:p>
        </p:txBody>
      </p:sp>
    </p:spTree>
    <p:extLst>
      <p:ext uri="{BB962C8B-B14F-4D97-AF65-F5344CB8AC3E}">
        <p14:creationId xmlns:p14="http://schemas.microsoft.com/office/powerpoint/2010/main" val="1457218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Image Type:</a:t>
            </a:r>
            <a:r>
              <a:rPr lang="en-US" dirty="0"/>
              <a:t> The type of image you want DALL-E to create is crucial for setting the foundation. Whether you want a photograph, illustration, sketch, or drawing, specifying the image type helps the AI understand the overall format you’re aiming for.</a:t>
            </a:r>
          </a:p>
          <a:p>
            <a:endParaRPr lang="en-US" b="1" dirty="0"/>
          </a:p>
          <a:p>
            <a:r>
              <a:rPr lang="en-US" b="1" dirty="0"/>
              <a:t>Subject:</a:t>
            </a:r>
            <a:r>
              <a:rPr lang="en-US" dirty="0"/>
              <a:t> The main subject of the image is essential for defining the primary focus. This could be anything from a cat or a train to a building or a mountain peak. Clearly identifying the subject helps DALL-E center its creation around this element.</a:t>
            </a:r>
          </a:p>
          <a:p>
            <a:endParaRPr lang="en-US" b="1" dirty="0"/>
          </a:p>
          <a:p>
            <a:r>
              <a:rPr lang="en-US" b="1" dirty="0"/>
              <a:t>Features:</a:t>
            </a:r>
            <a:r>
              <a:rPr lang="en-US" dirty="0"/>
              <a:t> Identifying key features of the image adds necessary detail. For instance, mentioning bright green eyes or a gnarled tree trunk provides DALL-E with specific elements to highlight, ensuring the image includes these distinctive attributes.</a:t>
            </a:r>
          </a:p>
          <a:p>
            <a:endParaRPr lang="en-US" b="1" dirty="0"/>
          </a:p>
          <a:p>
            <a:r>
              <a:rPr lang="en-US" b="1" dirty="0"/>
              <a:t>Setting:</a:t>
            </a:r>
            <a:r>
              <a:rPr lang="en-US" dirty="0"/>
              <a:t> The setting provides context and situates the subject within a particular environment. Describing a beach, a kitchen, or Colorado sets the scene and helps the AI place the subject appropriately.</a:t>
            </a:r>
          </a:p>
          <a:p>
            <a:endParaRPr lang="en-US" b="1" dirty="0"/>
          </a:p>
          <a:p>
            <a:r>
              <a:rPr lang="en-US" b="1" dirty="0"/>
              <a:t>Mood/Color:</a:t>
            </a:r>
            <a:r>
              <a:rPr lang="en-US" dirty="0"/>
              <a:t> The mood or color scheme influences the overall feel of the image. Warm hues or soft lighting can set a specific atmosphere, guiding DALL-E to create an image that evokes the intended emotions.</a:t>
            </a:r>
          </a:p>
          <a:p>
            <a:endParaRPr lang="en-US" b="1" dirty="0"/>
          </a:p>
          <a:p>
            <a:r>
              <a:rPr lang="en-US" b="1" dirty="0"/>
              <a:t>Style (optional):</a:t>
            </a:r>
            <a:r>
              <a:rPr lang="en-US" dirty="0"/>
              <a:t> Including the desired artistic style can add an extra layer of direction. Whether reminiscent of Picasso or in the style of a noir film, specifying the style helps DALL-E align the image with a particular artistic vision.</a:t>
            </a:r>
          </a:p>
          <a:p>
            <a:endParaRPr lang="en-US" b="1" dirty="0"/>
          </a:p>
          <a:p>
            <a:r>
              <a:rPr lang="en-US" b="1" dirty="0"/>
              <a:t>Emphasis:</a:t>
            </a:r>
            <a:r>
              <a:rPr lang="en-US" dirty="0"/>
              <a:t> Specifying what the primary focus of the image should be ensures the main elements stand out. For example, stating that the building is the primary focus helps DALL-E to concentrate on making that element prominent in the final image.</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25</a:t>
            </a:fld>
            <a:endParaRPr lang="en-US"/>
          </a:p>
        </p:txBody>
      </p:sp>
    </p:spTree>
    <p:extLst>
      <p:ext uri="{BB962C8B-B14F-4D97-AF65-F5344CB8AC3E}">
        <p14:creationId xmlns:p14="http://schemas.microsoft.com/office/powerpoint/2010/main" val="23646911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Prompt:</a:t>
            </a:r>
          </a:p>
          <a:p>
            <a:r>
              <a:rPr lang="en-US" dirty="0"/>
              <a:t>"Illustration of a dragon with majestic wings in a medieval castle courtyard. The dark and moody scene with deep shadows reflects a fantasy art style, with the dragon's wings and the imposing castle backdrop as the primary focus."</a:t>
            </a:r>
          </a:p>
          <a:p>
            <a:endParaRPr lang="en-US" dirty="0"/>
          </a:p>
          <a:p>
            <a:r>
              <a:rPr lang="en-US" dirty="0"/>
              <a:t>Example 3 Prompt:</a:t>
            </a:r>
          </a:p>
          <a:p>
            <a:r>
              <a:rPr lang="en-US" dirty="0"/>
              <a:t>"Sketch of an old oak tree with gnarled branches in a quiet forest clearing. The scene is rendered in soft, pastel shades, reminiscent of impressionist art. The texture of the tree bark and the serene atmosphere are the primary focus."</a:t>
            </a:r>
          </a:p>
        </p:txBody>
      </p:sp>
      <p:sp>
        <p:nvSpPr>
          <p:cNvPr id="4" name="Slide Number Placeholder 3"/>
          <p:cNvSpPr>
            <a:spLocks noGrp="1"/>
          </p:cNvSpPr>
          <p:nvPr>
            <p:ph type="sldNum" sz="quarter" idx="5"/>
          </p:nvPr>
        </p:nvSpPr>
        <p:spPr/>
        <p:txBody>
          <a:bodyPr/>
          <a:lstStyle/>
          <a:p>
            <a:fld id="{433B60B0-1DC3-0D4A-A3FA-F1C84AA2F0B8}" type="slidenum">
              <a:rPr lang="en-US" smtClean="0"/>
              <a:t>26</a:t>
            </a:fld>
            <a:endParaRPr lang="en-US"/>
          </a:p>
        </p:txBody>
      </p:sp>
    </p:spTree>
    <p:extLst>
      <p:ext uri="{BB962C8B-B14F-4D97-AF65-F5344CB8AC3E}">
        <p14:creationId xmlns:p14="http://schemas.microsoft.com/office/powerpoint/2010/main" val="241460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Prompt:</a:t>
            </a:r>
          </a:p>
          <a:p>
            <a:r>
              <a:rPr lang="en-US" dirty="0"/>
              <a:t>"Illustration of a dragon with majestic wings in a medieval castle courtyard. The dark and moody scene with deep shadows reflects a fantasy art style, with the dragon's wings and the imposing castle backdrop as the primary focus."</a:t>
            </a:r>
          </a:p>
        </p:txBody>
      </p:sp>
      <p:sp>
        <p:nvSpPr>
          <p:cNvPr id="4" name="Slide Number Placeholder 3"/>
          <p:cNvSpPr>
            <a:spLocks noGrp="1"/>
          </p:cNvSpPr>
          <p:nvPr>
            <p:ph type="sldNum" sz="quarter" idx="5"/>
          </p:nvPr>
        </p:nvSpPr>
        <p:spPr/>
        <p:txBody>
          <a:bodyPr/>
          <a:lstStyle/>
          <a:p>
            <a:fld id="{433B60B0-1DC3-0D4A-A3FA-F1C84AA2F0B8}" type="slidenum">
              <a:rPr lang="en-US" smtClean="0"/>
              <a:t>27</a:t>
            </a:fld>
            <a:endParaRPr lang="en-US"/>
          </a:p>
        </p:txBody>
      </p:sp>
    </p:spTree>
    <p:extLst>
      <p:ext uri="{BB962C8B-B14F-4D97-AF65-F5344CB8AC3E}">
        <p14:creationId xmlns:p14="http://schemas.microsoft.com/office/powerpoint/2010/main" val="207304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Prompt:</a:t>
            </a:r>
          </a:p>
          <a:p>
            <a:r>
              <a:rPr lang="en-US" dirty="0"/>
              <a:t>"Sketch of an old oak tree with gnarled branches in a quiet forest clearing. The scene is rendered in soft, pastel shades, reminiscent of impressionist art. The texture of the tree bark and the serene atmosphere are the primary focus."</a:t>
            </a:r>
          </a:p>
        </p:txBody>
      </p:sp>
      <p:sp>
        <p:nvSpPr>
          <p:cNvPr id="4" name="Slide Number Placeholder 3"/>
          <p:cNvSpPr>
            <a:spLocks noGrp="1"/>
          </p:cNvSpPr>
          <p:nvPr>
            <p:ph type="sldNum" sz="quarter" idx="5"/>
          </p:nvPr>
        </p:nvSpPr>
        <p:spPr/>
        <p:txBody>
          <a:bodyPr/>
          <a:lstStyle/>
          <a:p>
            <a:fld id="{433B60B0-1DC3-0D4A-A3FA-F1C84AA2F0B8}" type="slidenum">
              <a:rPr lang="en-US" smtClean="0"/>
              <a:t>28</a:t>
            </a:fld>
            <a:endParaRPr lang="en-US"/>
          </a:p>
        </p:txBody>
      </p:sp>
    </p:spTree>
    <p:extLst>
      <p:ext uri="{BB962C8B-B14F-4D97-AF65-F5344CB8AC3E}">
        <p14:creationId xmlns:p14="http://schemas.microsoft.com/office/powerpoint/2010/main" val="42490120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Academic Integrity:</a:t>
            </a:r>
            <a:r>
              <a:rPr lang="en-US" dirty="0"/>
              <a:t> When using Large Language Models (LLMs) in an educational context, it's important to maintain academic integrity. This means using the tool to aid understanding and creativity, not to cheat or misrepresent one’s own work. For example, students should use LLMs to explore ideas or generate drafts but should not submit AI-generated content as their own original assignments.</a:t>
            </a:r>
          </a:p>
          <a:p>
            <a:endParaRPr lang="en-US" b="1" dirty="0"/>
          </a:p>
          <a:p>
            <a:r>
              <a:rPr lang="en-US" b="1" dirty="0"/>
              <a:t>Content Creation:</a:t>
            </a:r>
            <a:r>
              <a:rPr lang="en-US" dirty="0"/>
              <a:t> LLMs can be powerful tools for creating content, but they come with responsibilities. Users must be aware of the potential for generating fake or misleading information. For instance, producing text that presents false facts or scenarios can spread misinformation. It’s crucial to use LLMs responsibly and ensure that any content created is clearly labeled as AI-generated when necessary.</a:t>
            </a:r>
          </a:p>
          <a:p>
            <a:endParaRPr lang="en-US" b="1" dirty="0"/>
          </a:p>
          <a:p>
            <a:r>
              <a:rPr lang="en-US" b="1" dirty="0"/>
              <a:t>Authenticity:</a:t>
            </a:r>
            <a:r>
              <a:rPr lang="en-US" dirty="0"/>
              <a:t> It’s important to use LLMs in a way that respects authenticity. Passing off AI-generated text as one’s own work is not only unethical but can also damage credibility. When using LLMs for projects, presentations, or any form of public display, always give proper credit to the AI’s role in the creation process. This transparency helps maintain trust and integrity in your work.</a:t>
            </a:r>
          </a:p>
          <a:p>
            <a:endParaRPr lang="en-US" dirty="0"/>
          </a:p>
          <a:p>
            <a:r>
              <a:rPr lang="en-US" dirty="0"/>
              <a:t>You will review Ethics over the </a:t>
            </a:r>
            <a:r>
              <a:rPr lang="en-US"/>
              <a:t>next two </a:t>
            </a:r>
            <a:r>
              <a:rPr lang="en-US" dirty="0"/>
              <a:t>weeks in greater detail.</a:t>
            </a:r>
          </a:p>
        </p:txBody>
      </p:sp>
      <p:sp>
        <p:nvSpPr>
          <p:cNvPr id="4" name="Slide Number Placeholder 3"/>
          <p:cNvSpPr>
            <a:spLocks noGrp="1"/>
          </p:cNvSpPr>
          <p:nvPr>
            <p:ph type="sldNum" sz="quarter" idx="5"/>
          </p:nvPr>
        </p:nvSpPr>
        <p:spPr/>
        <p:txBody>
          <a:bodyPr/>
          <a:lstStyle/>
          <a:p>
            <a:fld id="{433B60B0-1DC3-0D4A-A3FA-F1C84AA2F0B8}" type="slidenum">
              <a:rPr lang="en-US" smtClean="0"/>
              <a:t>29</a:t>
            </a:fld>
            <a:endParaRPr lang="en-US"/>
          </a:p>
        </p:txBody>
      </p:sp>
    </p:spTree>
    <p:extLst>
      <p:ext uri="{BB962C8B-B14F-4D97-AF65-F5344CB8AC3E}">
        <p14:creationId xmlns:p14="http://schemas.microsoft.com/office/powerpoint/2010/main" val="1090355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7/27/2024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7/27/2024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7/27/2024</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7/27/2024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7/27/2024</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89F9-FFD7-8F7B-5911-3F414BB34A13}"/>
              </a:ext>
            </a:extLst>
          </p:cNvPr>
          <p:cNvSpPr>
            <a:spLocks noGrp="1"/>
          </p:cNvSpPr>
          <p:nvPr>
            <p:ph type="ctrTitle"/>
          </p:nvPr>
        </p:nvSpPr>
        <p:spPr/>
        <p:txBody>
          <a:bodyPr/>
          <a:lstStyle/>
          <a:p>
            <a:r>
              <a:rPr lang="en-US" dirty="0"/>
              <a:t>AI FUNDAMENTALS</a:t>
            </a:r>
          </a:p>
        </p:txBody>
      </p:sp>
      <p:sp>
        <p:nvSpPr>
          <p:cNvPr id="3" name="Subtitle 2">
            <a:extLst>
              <a:ext uri="{FF2B5EF4-FFF2-40B4-BE49-F238E27FC236}">
                <a16:creationId xmlns:a16="http://schemas.microsoft.com/office/drawing/2014/main" id="{9468B62C-DA01-3A8A-38DA-398E7EB5E307}"/>
              </a:ext>
            </a:extLst>
          </p:cNvPr>
          <p:cNvSpPr>
            <a:spLocks noGrp="1"/>
          </p:cNvSpPr>
          <p:nvPr>
            <p:ph type="subTitle" idx="1"/>
          </p:nvPr>
        </p:nvSpPr>
        <p:spPr/>
        <p:txBody>
          <a:bodyPr/>
          <a:lstStyle/>
          <a:p>
            <a:r>
              <a:rPr lang="en-US" b="1" dirty="0"/>
              <a:t>Madison College</a:t>
            </a:r>
          </a:p>
        </p:txBody>
      </p:sp>
      <p:sp>
        <p:nvSpPr>
          <p:cNvPr id="5" name="Subtitle 2">
            <a:extLst>
              <a:ext uri="{FF2B5EF4-FFF2-40B4-BE49-F238E27FC236}">
                <a16:creationId xmlns:a16="http://schemas.microsoft.com/office/drawing/2014/main" id="{090AE86B-FABD-CA0B-1247-AE81F01FC885}"/>
              </a:ext>
            </a:extLst>
          </p:cNvPr>
          <p:cNvSpPr txBox="1">
            <a:spLocks/>
          </p:cNvSpPr>
          <p:nvPr/>
        </p:nvSpPr>
        <p:spPr>
          <a:xfrm>
            <a:off x="810001" y="5829756"/>
            <a:ext cx="10572000" cy="746714"/>
          </a:xfrm>
          <a:prstGeom prst="rect">
            <a:avLst/>
          </a:prstGeom>
          <a:effectLst>
            <a:outerShdw blurRad="50800" dir="14400000">
              <a:srgbClr val="000000">
                <a:alpha val="40000"/>
              </a:srgbClr>
            </a:outerShdw>
          </a:effectLst>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b="1" dirty="0"/>
              <a:t>Week 04</a:t>
            </a:r>
            <a:r>
              <a:rPr lang="en-US" dirty="0"/>
              <a:t> </a:t>
            </a:r>
          </a:p>
          <a:p>
            <a:r>
              <a:rPr lang="en-US" dirty="0">
                <a:solidFill>
                  <a:srgbClr val="FFFF00"/>
                </a:solidFill>
              </a:rPr>
              <a:t>Large Language Models (LLMs) – Part 2, Applying LLMs</a:t>
            </a:r>
          </a:p>
        </p:txBody>
      </p:sp>
    </p:spTree>
    <p:extLst>
      <p:ext uri="{BB962C8B-B14F-4D97-AF65-F5344CB8AC3E}">
        <p14:creationId xmlns:p14="http://schemas.microsoft.com/office/powerpoint/2010/main" val="371676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250"/>
                                  </p:stCondLst>
                                  <p:iterate type="lt">
                                    <p:tmPct val="10000"/>
                                  </p:iterate>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5" descr="A room with a large poster on the wall&#10;&#10;Description automatically generated">
            <a:extLst>
              <a:ext uri="{FF2B5EF4-FFF2-40B4-BE49-F238E27FC236}">
                <a16:creationId xmlns:a16="http://schemas.microsoft.com/office/drawing/2014/main" id="{33497A88-F02E-01B3-792F-46ACF484F714}"/>
              </a:ext>
            </a:extLst>
          </p:cNvPr>
          <p:cNvPicPr>
            <a:picLocks noGrp="1" noChangeAspect="1"/>
          </p:cNvPicPr>
          <p:nvPr>
            <p:ph idx="1"/>
          </p:nvPr>
        </p:nvPicPr>
        <p:blipFill rotWithShape="1">
          <a:blip r:embed="rId3"/>
          <a:srcRect t="24295" r="9091" b="24568"/>
          <a:stretch/>
        </p:blipFill>
        <p:spPr>
          <a:xfrm>
            <a:off x="20" y="10"/>
            <a:ext cx="12191980" cy="6857989"/>
          </a:xfrm>
          <a:prstGeom prst="rect">
            <a:avLst/>
          </a:prstGeom>
        </p:spPr>
      </p:pic>
      <p:sp>
        <p:nvSpPr>
          <p:cNvPr id="47"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E7F0D-51D3-3F20-A3FE-B9C7BC8E5F06}"/>
              </a:ext>
            </a:extLst>
          </p:cNvPr>
          <p:cNvSpPr>
            <a:spLocks noGrp="1"/>
          </p:cNvSpPr>
          <p:nvPr>
            <p:ph type="title"/>
          </p:nvPr>
        </p:nvSpPr>
        <p:spPr>
          <a:xfrm>
            <a:off x="810000" y="447188"/>
            <a:ext cx="4930400" cy="1559412"/>
          </a:xfrm>
        </p:spPr>
        <p:txBody>
          <a:bodyPr vert="horz" lIns="91440" tIns="45720" rIns="91440" bIns="45720" rtlCol="0" anchor="b">
            <a:normAutofit/>
          </a:bodyPr>
          <a:lstStyle/>
          <a:p>
            <a:r>
              <a:rPr lang="en-US" sz="4000"/>
              <a:t>TOPICS</a:t>
            </a:r>
          </a:p>
        </p:txBody>
      </p:sp>
      <p:sp>
        <p:nvSpPr>
          <p:cNvPr id="4" name="Text Placeholder 3">
            <a:extLst>
              <a:ext uri="{FF2B5EF4-FFF2-40B4-BE49-F238E27FC236}">
                <a16:creationId xmlns:a16="http://schemas.microsoft.com/office/drawing/2014/main" id="{BFFA63A0-0298-70F0-F643-5B8F10E17C58}"/>
              </a:ext>
            </a:extLst>
          </p:cNvPr>
          <p:cNvSpPr>
            <a:spLocks noGrp="1"/>
          </p:cNvSpPr>
          <p:nvPr>
            <p:ph type="body" sz="half" idx="2"/>
          </p:nvPr>
        </p:nvSpPr>
        <p:spPr>
          <a:xfrm>
            <a:off x="818712" y="2413000"/>
            <a:ext cx="4921687" cy="3632200"/>
          </a:xfrm>
        </p:spPr>
        <p:txBody>
          <a:bodyPr vert="horz" lIns="91440" tIns="45720" rIns="91440" bIns="45720" rtlCol="0" anchor="ctr">
            <a:normAutofit/>
          </a:bodyPr>
          <a:lstStyle/>
          <a:p>
            <a:pPr marL="285750" indent="-285750">
              <a:buFont typeface="Wingdings 2" charset="2"/>
              <a:buChar char=""/>
            </a:pPr>
            <a:r>
              <a:rPr lang="en-US" sz="1800" dirty="0"/>
              <a:t>Importance of Effective Prompts</a:t>
            </a:r>
          </a:p>
          <a:p>
            <a:pPr marL="285750" indent="-285750">
              <a:buFont typeface="Wingdings 2" charset="2"/>
              <a:buChar char=""/>
            </a:pPr>
            <a:r>
              <a:rPr lang="en-US" sz="1800" dirty="0"/>
              <a:t>Basics of Creating Prompts</a:t>
            </a:r>
          </a:p>
          <a:p>
            <a:pPr marL="285750" indent="-285750">
              <a:buFont typeface="Wingdings 2" charset="2"/>
              <a:buChar char=""/>
            </a:pPr>
            <a:r>
              <a:rPr lang="en-US" sz="1800" dirty="0"/>
              <a:t>Writing Clear &amp; Concise Prompts</a:t>
            </a:r>
          </a:p>
          <a:p>
            <a:pPr marL="285750" indent="-285750">
              <a:buFont typeface="Wingdings 2" charset="2"/>
              <a:buChar char=""/>
            </a:pPr>
            <a:r>
              <a:rPr lang="en-US" sz="1800" dirty="0"/>
              <a:t>Advanced Techniques</a:t>
            </a:r>
          </a:p>
          <a:p>
            <a:pPr marL="285750" indent="-285750">
              <a:buFont typeface="Wingdings 2" charset="2"/>
              <a:buChar char=""/>
            </a:pPr>
            <a:r>
              <a:rPr lang="en-US" sz="1800" dirty="0"/>
              <a:t>Demonstrations</a:t>
            </a:r>
          </a:p>
          <a:p>
            <a:pPr marL="285750" indent="-285750">
              <a:buFont typeface="Wingdings 2" charset="2"/>
              <a:buChar char=""/>
            </a:pPr>
            <a:r>
              <a:rPr lang="en-US" sz="1800" dirty="0"/>
              <a:t>Ethical Considerations</a:t>
            </a:r>
          </a:p>
        </p:txBody>
      </p:sp>
    </p:spTree>
    <p:extLst>
      <p:ext uri="{BB962C8B-B14F-4D97-AF65-F5344CB8AC3E}">
        <p14:creationId xmlns:p14="http://schemas.microsoft.com/office/powerpoint/2010/main" val="174913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and question mark">
            <a:extLst>
              <a:ext uri="{FF2B5EF4-FFF2-40B4-BE49-F238E27FC236}">
                <a16:creationId xmlns:a16="http://schemas.microsoft.com/office/drawing/2014/main" id="{BF7D279C-56E9-C40C-6D17-0199B0936D7D}"/>
              </a:ext>
            </a:extLst>
          </p:cNvPr>
          <p:cNvPicPr>
            <a:picLocks noChangeAspect="1"/>
          </p:cNvPicPr>
          <p:nvPr/>
        </p:nvPicPr>
        <p:blipFill rotWithShape="1">
          <a:blip r:embed="rId3">
            <a:alphaModFix amt="40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A860B2-67A8-58FE-DA88-B1B2286BE246}"/>
              </a:ext>
            </a:extLst>
          </p:cNvPr>
          <p:cNvSpPr>
            <a:spLocks noGrp="1"/>
          </p:cNvSpPr>
          <p:nvPr>
            <p:ph type="title"/>
          </p:nvPr>
        </p:nvSpPr>
        <p:spPr>
          <a:xfrm>
            <a:off x="810000" y="447188"/>
            <a:ext cx="10571998" cy="970450"/>
          </a:xfrm>
        </p:spPr>
        <p:txBody>
          <a:bodyPr>
            <a:normAutofit/>
          </a:bodyPr>
          <a:lstStyle/>
          <a:p>
            <a:r>
              <a:rPr lang="en-US" dirty="0"/>
              <a:t>The Importance of Effective Prompts</a:t>
            </a:r>
          </a:p>
        </p:txBody>
      </p:sp>
      <p:sp>
        <p:nvSpPr>
          <p:cNvPr id="3" name="Content Placeholder 2">
            <a:extLst>
              <a:ext uri="{FF2B5EF4-FFF2-40B4-BE49-F238E27FC236}">
                <a16:creationId xmlns:a16="http://schemas.microsoft.com/office/drawing/2014/main" id="{02120BD9-8511-1F76-C108-49ABBB506D97}"/>
              </a:ext>
            </a:extLst>
          </p:cNvPr>
          <p:cNvSpPr>
            <a:spLocks noGrp="1"/>
          </p:cNvSpPr>
          <p:nvPr>
            <p:ph idx="1"/>
          </p:nvPr>
        </p:nvSpPr>
        <p:spPr>
          <a:xfrm>
            <a:off x="818712" y="2222287"/>
            <a:ext cx="10554574" cy="3636511"/>
          </a:xfrm>
        </p:spPr>
        <p:txBody>
          <a:bodyPr>
            <a:normAutofit/>
          </a:bodyPr>
          <a:lstStyle/>
          <a:p>
            <a:r>
              <a:rPr lang="en-US" dirty="0"/>
              <a:t>Why it matters</a:t>
            </a:r>
          </a:p>
          <a:p>
            <a:r>
              <a:rPr lang="en-US" dirty="0"/>
              <a:t>Techniques</a:t>
            </a:r>
          </a:p>
          <a:p>
            <a:r>
              <a:rPr lang="en-US" dirty="0"/>
              <a:t>Utilizing Context</a:t>
            </a:r>
          </a:p>
        </p:txBody>
      </p:sp>
    </p:spTree>
    <p:extLst>
      <p:ext uri="{BB962C8B-B14F-4D97-AF65-F5344CB8AC3E}">
        <p14:creationId xmlns:p14="http://schemas.microsoft.com/office/powerpoint/2010/main" val="34761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6A8A6F-B02D-B443-A85F-67BE33A7BB19}"/>
              </a:ext>
            </a:extLst>
          </p:cNvPr>
          <p:cNvSpPr>
            <a:spLocks noGrp="1"/>
          </p:cNvSpPr>
          <p:nvPr>
            <p:ph type="title"/>
          </p:nvPr>
        </p:nvSpPr>
        <p:spPr>
          <a:xfrm>
            <a:off x="965200" y="1218476"/>
            <a:ext cx="3187318" cy="4421050"/>
          </a:xfrm>
          <a:effectLst/>
        </p:spPr>
        <p:txBody>
          <a:bodyPr anchor="ctr">
            <a:normAutofit/>
          </a:bodyPr>
          <a:lstStyle/>
          <a:p>
            <a:pPr algn="r"/>
            <a:r>
              <a:rPr lang="en-US" sz="3200">
                <a:solidFill>
                  <a:schemeClr val="tx1"/>
                </a:solidFill>
              </a:rPr>
              <a:t>Basics of Creating Prompts</a:t>
            </a:r>
          </a:p>
        </p:txBody>
      </p:sp>
      <p:cxnSp>
        <p:nvCxnSpPr>
          <p:cNvPr id="10" name="Straight Connector 9">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67381DE-0A49-A779-F9B7-FE9DC0A8C12A}"/>
              </a:ext>
            </a:extLst>
          </p:cNvPr>
          <p:cNvSpPr>
            <a:spLocks noGrp="1"/>
          </p:cNvSpPr>
          <p:nvPr>
            <p:ph idx="1"/>
          </p:nvPr>
        </p:nvSpPr>
        <p:spPr>
          <a:xfrm>
            <a:off x="5146751" y="1218475"/>
            <a:ext cx="6080050" cy="4421051"/>
          </a:xfrm>
          <a:effectLst/>
        </p:spPr>
        <p:txBody>
          <a:bodyPr>
            <a:normAutofit/>
          </a:bodyPr>
          <a:lstStyle/>
          <a:p>
            <a:r>
              <a:rPr lang="en-US" sz="1600"/>
              <a:t>Understanding prompts and their structure</a:t>
            </a:r>
          </a:p>
          <a:p>
            <a:r>
              <a:rPr lang="en-US" sz="1600"/>
              <a:t>Examples of basic prompts and their outputs</a:t>
            </a:r>
          </a:p>
        </p:txBody>
      </p:sp>
    </p:spTree>
    <p:extLst>
      <p:ext uri="{BB962C8B-B14F-4D97-AF65-F5344CB8AC3E}">
        <p14:creationId xmlns:p14="http://schemas.microsoft.com/office/powerpoint/2010/main" val="383731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6824CE-083D-4ED5-94A5-655345BB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0785D83B-2124-40CD-9E29-811BC2B7C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tx1"/>
          </a:solid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1619557-90AC-E2B9-9BE5-18B89C07CE4E}"/>
              </a:ext>
            </a:extLst>
          </p:cNvPr>
          <p:cNvSpPr>
            <a:spLocks noGrp="1"/>
          </p:cNvSpPr>
          <p:nvPr>
            <p:ph type="title"/>
          </p:nvPr>
        </p:nvSpPr>
        <p:spPr>
          <a:xfrm>
            <a:off x="810000" y="447188"/>
            <a:ext cx="10571998" cy="970450"/>
          </a:xfrm>
        </p:spPr>
        <p:txBody>
          <a:bodyPr>
            <a:normAutofit/>
          </a:bodyPr>
          <a:lstStyle/>
          <a:p>
            <a:r>
              <a:rPr lang="en-US" dirty="0"/>
              <a:t>Writing Effective Prompts</a:t>
            </a:r>
          </a:p>
        </p:txBody>
      </p:sp>
      <p:graphicFrame>
        <p:nvGraphicFramePr>
          <p:cNvPr id="5" name="Content Placeholder 2">
            <a:extLst>
              <a:ext uri="{FF2B5EF4-FFF2-40B4-BE49-F238E27FC236}">
                <a16:creationId xmlns:a16="http://schemas.microsoft.com/office/drawing/2014/main" id="{5C7FD23F-15D4-1D05-2EF3-21AA8C16EB4A}"/>
              </a:ext>
            </a:extLst>
          </p:cNvPr>
          <p:cNvGraphicFramePr>
            <a:graphicFrameLocks noGrp="1"/>
          </p:cNvGraphicFramePr>
          <p:nvPr>
            <p:ph idx="1"/>
            <p:extLst>
              <p:ext uri="{D42A27DB-BD31-4B8C-83A1-F6EECF244321}">
                <p14:modId xmlns:p14="http://schemas.microsoft.com/office/powerpoint/2010/main" val="1527361791"/>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698094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9557-90AC-E2B9-9BE5-18B89C07CE4E}"/>
              </a:ext>
            </a:extLst>
          </p:cNvPr>
          <p:cNvSpPr>
            <a:spLocks noGrp="1"/>
          </p:cNvSpPr>
          <p:nvPr>
            <p:ph type="title"/>
          </p:nvPr>
        </p:nvSpPr>
        <p:spPr/>
        <p:txBody>
          <a:bodyPr/>
          <a:lstStyle/>
          <a:p>
            <a:r>
              <a:rPr lang="en-US" dirty="0"/>
              <a:t>Advanced Prompt Techniques</a:t>
            </a:r>
          </a:p>
        </p:txBody>
      </p:sp>
      <p:sp>
        <p:nvSpPr>
          <p:cNvPr id="3" name="Content Placeholder 2">
            <a:extLst>
              <a:ext uri="{FF2B5EF4-FFF2-40B4-BE49-F238E27FC236}">
                <a16:creationId xmlns:a16="http://schemas.microsoft.com/office/drawing/2014/main" id="{097700C0-FC07-A8D3-D376-BC4699F86ABA}"/>
              </a:ext>
            </a:extLst>
          </p:cNvPr>
          <p:cNvSpPr>
            <a:spLocks noGrp="1"/>
          </p:cNvSpPr>
          <p:nvPr>
            <p:ph idx="1"/>
          </p:nvPr>
        </p:nvSpPr>
        <p:spPr/>
        <p:txBody>
          <a:bodyPr/>
          <a:lstStyle/>
          <a:p>
            <a:r>
              <a:rPr lang="en-US" dirty="0"/>
              <a:t>Chain of thought for complex tasks</a:t>
            </a:r>
          </a:p>
          <a:p>
            <a:r>
              <a:rPr lang="en-US" dirty="0"/>
              <a:t>Guiding narrative style and tone</a:t>
            </a:r>
          </a:p>
        </p:txBody>
      </p:sp>
    </p:spTree>
    <p:extLst>
      <p:ext uri="{BB962C8B-B14F-4D97-AF65-F5344CB8AC3E}">
        <p14:creationId xmlns:p14="http://schemas.microsoft.com/office/powerpoint/2010/main" val="2106231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D3C251A-9072-36E5-9017-B4F68C099397}"/>
              </a:ext>
            </a:extLst>
          </p:cNvPr>
          <p:cNvSpPr>
            <a:spLocks noGrp="1"/>
          </p:cNvSpPr>
          <p:nvPr>
            <p:ph type="title"/>
          </p:nvPr>
        </p:nvSpPr>
        <p:spPr>
          <a:xfrm>
            <a:off x="641754" y="1918252"/>
            <a:ext cx="3365439" cy="3997635"/>
          </a:xfrm>
        </p:spPr>
        <p:txBody>
          <a:bodyPr anchor="t">
            <a:normAutofit/>
          </a:bodyPr>
          <a:lstStyle/>
          <a:p>
            <a:r>
              <a:rPr lang="en-US" sz="4400"/>
              <a:t>Types of Prompts</a:t>
            </a:r>
          </a:p>
        </p:txBody>
      </p:sp>
      <p:graphicFrame>
        <p:nvGraphicFramePr>
          <p:cNvPr id="5" name="Content Placeholder 2">
            <a:extLst>
              <a:ext uri="{FF2B5EF4-FFF2-40B4-BE49-F238E27FC236}">
                <a16:creationId xmlns:a16="http://schemas.microsoft.com/office/drawing/2014/main" id="{82C23E01-D837-0297-EB6E-C1FDCDAE597A}"/>
              </a:ext>
            </a:extLst>
          </p:cNvPr>
          <p:cNvGraphicFramePr>
            <a:graphicFrameLocks noGrp="1"/>
          </p:cNvGraphicFramePr>
          <p:nvPr>
            <p:ph idx="1"/>
            <p:extLst>
              <p:ext uri="{D42A27DB-BD31-4B8C-83A1-F6EECF244321}">
                <p14:modId xmlns:p14="http://schemas.microsoft.com/office/powerpoint/2010/main" val="4033833823"/>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123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Solo journey">
            <a:extLst>
              <a:ext uri="{FF2B5EF4-FFF2-40B4-BE49-F238E27FC236}">
                <a16:creationId xmlns:a16="http://schemas.microsoft.com/office/drawing/2014/main" id="{8E6202A8-7CC6-6AAC-0545-EE2A7A198056}"/>
              </a:ext>
            </a:extLst>
          </p:cNvPr>
          <p:cNvPicPr>
            <a:picLocks noChangeAspect="1"/>
          </p:cNvPicPr>
          <p:nvPr/>
        </p:nvPicPr>
        <p:blipFill rotWithShape="1">
          <a:blip r:embed="rId3"/>
          <a:srcRect t="23904" r="9091" b="7915"/>
          <a:stretch/>
        </p:blipFill>
        <p:spPr>
          <a:xfrm>
            <a:off x="20" y="10"/>
            <a:ext cx="12191980" cy="6857990"/>
          </a:xfrm>
          <a:prstGeom prst="rect">
            <a:avLst/>
          </a:prstGeom>
        </p:spPr>
      </p:pic>
      <p:sp>
        <p:nvSpPr>
          <p:cNvPr id="14"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3C251A-9072-36E5-9017-B4F68C099397}"/>
              </a:ext>
            </a:extLst>
          </p:cNvPr>
          <p:cNvSpPr>
            <a:spLocks noGrp="1"/>
          </p:cNvSpPr>
          <p:nvPr>
            <p:ph type="title"/>
          </p:nvPr>
        </p:nvSpPr>
        <p:spPr>
          <a:xfrm>
            <a:off x="810000" y="447188"/>
            <a:ext cx="4930400" cy="1559412"/>
          </a:xfrm>
        </p:spPr>
        <p:txBody>
          <a:bodyPr>
            <a:normAutofit/>
          </a:bodyPr>
          <a:lstStyle/>
          <a:p>
            <a:r>
              <a:rPr lang="en-US" dirty="0"/>
              <a:t>Components of a Prompt</a:t>
            </a:r>
          </a:p>
        </p:txBody>
      </p:sp>
      <p:sp>
        <p:nvSpPr>
          <p:cNvPr id="3" name="Content Placeholder 2">
            <a:extLst>
              <a:ext uri="{FF2B5EF4-FFF2-40B4-BE49-F238E27FC236}">
                <a16:creationId xmlns:a16="http://schemas.microsoft.com/office/drawing/2014/main" id="{0E25F848-08AD-DF35-F9B1-92DE3A8E5688}"/>
              </a:ext>
            </a:extLst>
          </p:cNvPr>
          <p:cNvSpPr>
            <a:spLocks noGrp="1"/>
          </p:cNvSpPr>
          <p:nvPr>
            <p:ph idx="1"/>
          </p:nvPr>
        </p:nvSpPr>
        <p:spPr>
          <a:xfrm>
            <a:off x="818712" y="2413000"/>
            <a:ext cx="4921687" cy="3632200"/>
          </a:xfrm>
        </p:spPr>
        <p:txBody>
          <a:bodyPr>
            <a:normAutofit/>
          </a:bodyPr>
          <a:lstStyle/>
          <a:p>
            <a:r>
              <a:rPr lang="en-US" dirty="0"/>
              <a:t>Task</a:t>
            </a:r>
          </a:p>
          <a:p>
            <a:r>
              <a:rPr lang="en-US" dirty="0"/>
              <a:t>Context</a:t>
            </a:r>
          </a:p>
          <a:p>
            <a:r>
              <a:rPr lang="en-US" dirty="0"/>
              <a:t>Exemplars</a:t>
            </a:r>
          </a:p>
          <a:p>
            <a:r>
              <a:rPr lang="en-US" dirty="0"/>
              <a:t>Persona</a:t>
            </a:r>
          </a:p>
          <a:p>
            <a:r>
              <a:rPr lang="en-US" dirty="0"/>
              <a:t>Format</a:t>
            </a:r>
          </a:p>
          <a:p>
            <a:r>
              <a:rPr lang="en-US" dirty="0"/>
              <a:t>Tone</a:t>
            </a:r>
          </a:p>
        </p:txBody>
      </p:sp>
    </p:spTree>
    <p:extLst>
      <p:ext uri="{BB962C8B-B14F-4D97-AF65-F5344CB8AC3E}">
        <p14:creationId xmlns:p14="http://schemas.microsoft.com/office/powerpoint/2010/main" val="3450887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060B12-0974-AC7B-38A8-11C2CDF22ECF}"/>
              </a:ext>
            </a:extLst>
          </p:cNvPr>
          <p:cNvSpPr>
            <a:spLocks noGrp="1"/>
          </p:cNvSpPr>
          <p:nvPr>
            <p:ph type="title"/>
          </p:nvPr>
        </p:nvSpPr>
        <p:spPr>
          <a:xfrm>
            <a:off x="8164749" y="457201"/>
            <a:ext cx="3575737" cy="1332688"/>
          </a:xfrm>
        </p:spPr>
        <p:txBody>
          <a:bodyPr anchor="b">
            <a:normAutofit/>
          </a:bodyPr>
          <a:lstStyle/>
          <a:p>
            <a:pPr algn="ctr">
              <a:lnSpc>
                <a:spcPct val="90000"/>
              </a:lnSpc>
            </a:pPr>
            <a:r>
              <a:rPr lang="en-US" sz="3000">
                <a:solidFill>
                  <a:srgbClr val="FFFFFF"/>
                </a:solidFill>
              </a:rPr>
              <a:t>Structures for Well-Formed Prompts</a:t>
            </a:r>
          </a:p>
        </p:txBody>
      </p:sp>
      <p:pic>
        <p:nvPicPr>
          <p:cNvPr id="5" name="Picture 4" descr="Top view of cubes connected with black lines">
            <a:extLst>
              <a:ext uri="{FF2B5EF4-FFF2-40B4-BE49-F238E27FC236}">
                <a16:creationId xmlns:a16="http://schemas.microsoft.com/office/drawing/2014/main" id="{7472BBAC-E25A-D3DA-9D56-CB48544644C5}"/>
              </a:ext>
            </a:extLst>
          </p:cNvPr>
          <p:cNvPicPr>
            <a:picLocks noChangeAspect="1"/>
          </p:cNvPicPr>
          <p:nvPr/>
        </p:nvPicPr>
        <p:blipFill rotWithShape="1">
          <a:blip r:embed="rId3"/>
          <a:srcRect l="21636" r="11714"/>
          <a:stretch/>
        </p:blipFill>
        <p:spPr>
          <a:xfrm>
            <a:off x="1289160" y="457201"/>
            <a:ext cx="4962457"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EC34E963-9DD8-DEC7-51E1-ABD39D3CB0B7}"/>
              </a:ext>
            </a:extLst>
          </p:cNvPr>
          <p:cNvSpPr>
            <a:spLocks noGrp="1"/>
          </p:cNvSpPr>
          <p:nvPr>
            <p:ph idx="1"/>
          </p:nvPr>
        </p:nvSpPr>
        <p:spPr>
          <a:xfrm>
            <a:off x="8164749" y="2024743"/>
            <a:ext cx="3575737" cy="4016619"/>
          </a:xfrm>
        </p:spPr>
        <p:txBody>
          <a:bodyPr>
            <a:normAutofit/>
          </a:bodyPr>
          <a:lstStyle/>
          <a:p>
            <a:r>
              <a:rPr lang="en-US" sz="1600">
                <a:solidFill>
                  <a:srgbClr val="FFFFFF"/>
                </a:solidFill>
              </a:rPr>
              <a:t>Clarity in wording</a:t>
            </a:r>
          </a:p>
          <a:p>
            <a:r>
              <a:rPr lang="en-US" sz="1600">
                <a:solidFill>
                  <a:srgbClr val="FFFFFF"/>
                </a:solidFill>
              </a:rPr>
              <a:t>Providing context</a:t>
            </a:r>
          </a:p>
          <a:p>
            <a:r>
              <a:rPr lang="en-US" sz="1600">
                <a:solidFill>
                  <a:srgbClr val="FFFFFF"/>
                </a:solidFill>
              </a:rPr>
              <a:t>Emphasizing specificity</a:t>
            </a:r>
          </a:p>
          <a:p>
            <a:r>
              <a:rPr lang="en-US" sz="1600">
                <a:solidFill>
                  <a:srgbClr val="FFFFFF"/>
                </a:solidFill>
              </a:rPr>
              <a:t>Leading vs. open-ended questions</a:t>
            </a:r>
          </a:p>
          <a:p>
            <a:r>
              <a:rPr lang="en-US" sz="1600">
                <a:solidFill>
                  <a:srgbClr val="FFFFFF"/>
                </a:solidFill>
              </a:rPr>
              <a:t>Grammar and Syntax</a:t>
            </a:r>
          </a:p>
          <a:p>
            <a:r>
              <a:rPr lang="en-US" sz="1600">
                <a:solidFill>
                  <a:srgbClr val="FFFFFF"/>
                </a:solidFill>
              </a:rPr>
              <a:t>Incorporating Examples</a:t>
            </a:r>
          </a:p>
        </p:txBody>
      </p:sp>
    </p:spTree>
    <p:extLst>
      <p:ext uri="{BB962C8B-B14F-4D97-AF65-F5344CB8AC3E}">
        <p14:creationId xmlns:p14="http://schemas.microsoft.com/office/powerpoint/2010/main" val="380999490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6824CE-083D-4ED5-94A5-655345BB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6">
            <a:extLst>
              <a:ext uri="{FF2B5EF4-FFF2-40B4-BE49-F238E27FC236}">
                <a16:creationId xmlns:a16="http://schemas.microsoft.com/office/drawing/2014/main" id="{0785D83B-2124-40CD-9E29-811BC2B7C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tx1"/>
          </a:solid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60AF402-1C3F-4C16-FD62-96FCD325B123}"/>
              </a:ext>
            </a:extLst>
          </p:cNvPr>
          <p:cNvSpPr>
            <a:spLocks noGrp="1"/>
          </p:cNvSpPr>
          <p:nvPr>
            <p:ph type="title"/>
          </p:nvPr>
        </p:nvSpPr>
        <p:spPr>
          <a:xfrm>
            <a:off x="810000" y="447188"/>
            <a:ext cx="10571998" cy="970450"/>
          </a:xfrm>
        </p:spPr>
        <p:txBody>
          <a:bodyPr>
            <a:normAutofit/>
          </a:bodyPr>
          <a:lstStyle/>
          <a:p>
            <a:r>
              <a:rPr lang="en-US" dirty="0"/>
              <a:t>Enhancing Prompt Effectiveness</a:t>
            </a:r>
          </a:p>
        </p:txBody>
      </p:sp>
      <p:graphicFrame>
        <p:nvGraphicFramePr>
          <p:cNvPr id="5" name="Content Placeholder 2">
            <a:extLst>
              <a:ext uri="{FF2B5EF4-FFF2-40B4-BE49-F238E27FC236}">
                <a16:creationId xmlns:a16="http://schemas.microsoft.com/office/drawing/2014/main" id="{D02FC460-1C54-3DE5-7DBC-B24C8C2FC4F6}"/>
              </a:ext>
            </a:extLst>
          </p:cNvPr>
          <p:cNvGraphicFramePr>
            <a:graphicFrameLocks noGrp="1"/>
          </p:cNvGraphicFramePr>
          <p:nvPr>
            <p:ph idx="1"/>
            <p:extLst>
              <p:ext uri="{D42A27DB-BD31-4B8C-83A1-F6EECF244321}">
                <p14:modId xmlns:p14="http://schemas.microsoft.com/office/powerpoint/2010/main" val="1530983962"/>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014388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39D58C8-D714-AF1F-4792-E6DFA8B0E165}"/>
              </a:ext>
            </a:extLst>
          </p:cNvPr>
          <p:cNvSpPr>
            <a:spLocks noGrp="1"/>
          </p:cNvSpPr>
          <p:nvPr>
            <p:ph type="title"/>
          </p:nvPr>
        </p:nvSpPr>
        <p:spPr>
          <a:xfrm>
            <a:off x="641754" y="1918252"/>
            <a:ext cx="3365439" cy="3997635"/>
          </a:xfrm>
        </p:spPr>
        <p:txBody>
          <a:bodyPr anchor="t">
            <a:normAutofit/>
          </a:bodyPr>
          <a:lstStyle/>
          <a:p>
            <a:r>
              <a:rPr lang="en-US" sz="4400"/>
              <a:t>Managing Length and Memory in GPT</a:t>
            </a:r>
          </a:p>
        </p:txBody>
      </p:sp>
      <p:graphicFrame>
        <p:nvGraphicFramePr>
          <p:cNvPr id="31" name="Content Placeholder 2">
            <a:extLst>
              <a:ext uri="{FF2B5EF4-FFF2-40B4-BE49-F238E27FC236}">
                <a16:creationId xmlns:a16="http://schemas.microsoft.com/office/drawing/2014/main" id="{EA2520AB-6FFD-BA72-A7F9-348FAAFE7D45}"/>
              </a:ext>
            </a:extLst>
          </p:cNvPr>
          <p:cNvGraphicFramePr>
            <a:graphicFrameLocks noGrp="1"/>
          </p:cNvGraphicFramePr>
          <p:nvPr>
            <p:ph idx="1"/>
            <p:extLst>
              <p:ext uri="{D42A27DB-BD31-4B8C-83A1-F6EECF244321}">
                <p14:modId xmlns:p14="http://schemas.microsoft.com/office/powerpoint/2010/main" val="3220620873"/>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6230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683F54-5ADF-6B27-0C07-429DB4CB66AB}"/>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Technical Limitations of GPT</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1839DC3-3005-F5BF-0762-6F5A94BF29E8}"/>
              </a:ext>
            </a:extLst>
          </p:cNvPr>
          <p:cNvSpPr>
            <a:spLocks noGrp="1"/>
          </p:cNvSpPr>
          <p:nvPr>
            <p:ph idx="1"/>
          </p:nvPr>
        </p:nvSpPr>
        <p:spPr>
          <a:xfrm>
            <a:off x="1115732" y="2222287"/>
            <a:ext cx="9966953" cy="3636511"/>
          </a:xfrm>
          <a:effectLst/>
        </p:spPr>
        <p:txBody>
          <a:bodyPr>
            <a:normAutofit/>
          </a:bodyPr>
          <a:lstStyle/>
          <a:p>
            <a:r>
              <a:rPr lang="en-US" dirty="0"/>
              <a:t>Nuanced context challenges</a:t>
            </a:r>
          </a:p>
          <a:p>
            <a:r>
              <a:rPr lang="en-US" dirty="0"/>
              <a:t>Response length limitations</a:t>
            </a:r>
          </a:p>
          <a:p>
            <a:r>
              <a:rPr lang="en-US" dirty="0"/>
              <a:t>Handling complex calculations</a:t>
            </a:r>
          </a:p>
        </p:txBody>
      </p:sp>
    </p:spTree>
    <p:extLst>
      <p:ext uri="{BB962C8B-B14F-4D97-AF65-F5344CB8AC3E}">
        <p14:creationId xmlns:p14="http://schemas.microsoft.com/office/powerpoint/2010/main" val="2104242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D7F632-906F-3328-8084-BEA195CCCDCC}"/>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Informational Query Examples</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4913D40-E044-C244-101A-72E51DA59DA8}"/>
              </a:ext>
            </a:extLst>
          </p:cNvPr>
          <p:cNvSpPr>
            <a:spLocks noGrp="1"/>
          </p:cNvSpPr>
          <p:nvPr>
            <p:ph idx="1"/>
          </p:nvPr>
        </p:nvSpPr>
        <p:spPr>
          <a:xfrm>
            <a:off x="1115732" y="2222287"/>
            <a:ext cx="9966953" cy="3636511"/>
          </a:xfrm>
          <a:effectLst/>
        </p:spPr>
        <p:txBody>
          <a:bodyPr>
            <a:normAutofit/>
          </a:bodyPr>
          <a:lstStyle/>
          <a:p>
            <a:r>
              <a:rPr lang="en-US" dirty="0"/>
              <a:t>What are the primary functions of the United Nations?</a:t>
            </a:r>
          </a:p>
          <a:p>
            <a:r>
              <a:rPr lang="en-US" dirty="0"/>
              <a:t>Explain the water cycle and its significance to Earth's ecosystem.</a:t>
            </a:r>
          </a:p>
          <a:p>
            <a:r>
              <a:rPr lang="en-US" dirty="0"/>
              <a:t>How do solar panels convert sunlight into electricity?</a:t>
            </a:r>
          </a:p>
          <a:p>
            <a:r>
              <a:rPr lang="en-US" dirty="0"/>
              <a:t>Describe the impact of the Industrial Revolution on modern economies.</a:t>
            </a:r>
          </a:p>
          <a:p>
            <a:r>
              <a:rPr lang="en-US" dirty="0"/>
              <a:t>Outline the process of DNA replication.</a:t>
            </a:r>
          </a:p>
        </p:txBody>
      </p:sp>
    </p:spTree>
    <p:extLst>
      <p:ext uri="{BB962C8B-B14F-4D97-AF65-F5344CB8AC3E}">
        <p14:creationId xmlns:p14="http://schemas.microsoft.com/office/powerpoint/2010/main" val="503519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30E1C1-6648-E955-4001-70BD8026D546}"/>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Creative Writing Examples</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7E3BFB7-C25F-39C5-0F56-838D2442B260}"/>
              </a:ext>
            </a:extLst>
          </p:cNvPr>
          <p:cNvSpPr>
            <a:spLocks noGrp="1"/>
          </p:cNvSpPr>
          <p:nvPr>
            <p:ph idx="1"/>
          </p:nvPr>
        </p:nvSpPr>
        <p:spPr>
          <a:xfrm>
            <a:off x="1115732" y="2222287"/>
            <a:ext cx="9966953" cy="3636511"/>
          </a:xfrm>
          <a:effectLst/>
        </p:spPr>
        <p:txBody>
          <a:bodyPr>
            <a:normAutofit/>
          </a:bodyPr>
          <a:lstStyle/>
          <a:p>
            <a:r>
              <a:rPr lang="en-US" dirty="0"/>
              <a:t>Compose a poem about the first snowfall of winter.</a:t>
            </a:r>
          </a:p>
          <a:p>
            <a:r>
              <a:rPr lang="en-US" dirty="0"/>
              <a:t>Generate a short story featuring a reunion between long-lost friends.</a:t>
            </a:r>
          </a:p>
          <a:p>
            <a:r>
              <a:rPr lang="en-US" dirty="0"/>
              <a:t>Create a dialogue between two historical figures from different eras.</a:t>
            </a:r>
          </a:p>
          <a:p>
            <a:r>
              <a:rPr lang="en-US" dirty="0"/>
              <a:t>Write a letter from the perspective of an astronaut viewing Earth from space.</a:t>
            </a:r>
          </a:p>
          <a:p>
            <a:r>
              <a:rPr lang="en-US" dirty="0"/>
              <a:t>Develop a character backstory for a detective in a mystery novel.</a:t>
            </a:r>
          </a:p>
        </p:txBody>
      </p:sp>
    </p:spTree>
    <p:extLst>
      <p:ext uri="{BB962C8B-B14F-4D97-AF65-F5344CB8AC3E}">
        <p14:creationId xmlns:p14="http://schemas.microsoft.com/office/powerpoint/2010/main" val="4623087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909E0-D550-7B00-2CB9-AFC489E1C155}"/>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Conversational Engagement Examples</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40E24B6-5639-00BE-FC03-6459B3816E7B}"/>
              </a:ext>
            </a:extLst>
          </p:cNvPr>
          <p:cNvSpPr>
            <a:spLocks noGrp="1"/>
          </p:cNvSpPr>
          <p:nvPr>
            <p:ph idx="1"/>
          </p:nvPr>
        </p:nvSpPr>
        <p:spPr>
          <a:xfrm>
            <a:off x="1115732" y="2222287"/>
            <a:ext cx="9966953" cy="3636511"/>
          </a:xfrm>
          <a:effectLst/>
        </p:spPr>
        <p:txBody>
          <a:bodyPr>
            <a:normAutofit/>
          </a:bodyPr>
          <a:lstStyle/>
          <a:p>
            <a:r>
              <a:rPr lang="en-US" dirty="0"/>
              <a:t>Simulate a conversation between a customer and a support agent regarding a late delivery.</a:t>
            </a:r>
          </a:p>
          <a:p>
            <a:r>
              <a:rPr lang="en-US" dirty="0"/>
              <a:t>Generate a dialogue where two people debate the best form of renewable energy.</a:t>
            </a:r>
          </a:p>
          <a:p>
            <a:r>
              <a:rPr lang="en-US" dirty="0"/>
              <a:t>Create a text exchange between a teacher and a parent discussing a student's progress.</a:t>
            </a:r>
          </a:p>
          <a:p>
            <a:r>
              <a:rPr lang="en-US" dirty="0"/>
              <a:t>Provide a conversation between a real estate agent and a potential home buyer.</a:t>
            </a:r>
          </a:p>
          <a:p>
            <a:r>
              <a:rPr lang="en-US" dirty="0"/>
              <a:t>Simulate an interview between a journalist and a film director about their latest movie.</a:t>
            </a:r>
          </a:p>
        </p:txBody>
      </p:sp>
    </p:spTree>
    <p:extLst>
      <p:ext uri="{BB962C8B-B14F-4D97-AF65-F5344CB8AC3E}">
        <p14:creationId xmlns:p14="http://schemas.microsoft.com/office/powerpoint/2010/main" val="1111009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AF881-2CA2-F7D3-EBAA-FAD7D3C93C14}"/>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Technical Assistance Examples</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CC4A819-B230-3D42-6213-4E90AA29BCF8}"/>
              </a:ext>
            </a:extLst>
          </p:cNvPr>
          <p:cNvSpPr>
            <a:spLocks noGrp="1"/>
          </p:cNvSpPr>
          <p:nvPr>
            <p:ph idx="1"/>
          </p:nvPr>
        </p:nvSpPr>
        <p:spPr>
          <a:xfrm>
            <a:off x="1115732" y="2222287"/>
            <a:ext cx="9966953" cy="3636511"/>
          </a:xfrm>
          <a:effectLst/>
        </p:spPr>
        <p:txBody>
          <a:bodyPr>
            <a:normAutofit/>
          </a:bodyPr>
          <a:lstStyle/>
          <a:p>
            <a:r>
              <a:rPr lang="en-US" dirty="0"/>
              <a:t>Explain how to reset a router to improve internet connectivity.</a:t>
            </a:r>
          </a:p>
          <a:p>
            <a:r>
              <a:rPr lang="en-US" dirty="0"/>
              <a:t>Detail the steps to create a pivot table in Excel.</a:t>
            </a:r>
          </a:p>
          <a:p>
            <a:r>
              <a:rPr lang="en-US" dirty="0"/>
              <a:t>Describe the safety procedures for handling chemical spills in a laboratory.</a:t>
            </a:r>
          </a:p>
          <a:p>
            <a:r>
              <a:rPr lang="en-US" dirty="0"/>
              <a:t>Outline the software development life cycle.</a:t>
            </a:r>
          </a:p>
          <a:p>
            <a:r>
              <a:rPr lang="en-US" dirty="0"/>
              <a:t>Explain the principles behind machine learning algorithms.</a:t>
            </a:r>
          </a:p>
        </p:txBody>
      </p:sp>
    </p:spTree>
    <p:extLst>
      <p:ext uri="{BB962C8B-B14F-4D97-AF65-F5344CB8AC3E}">
        <p14:creationId xmlns:p14="http://schemas.microsoft.com/office/powerpoint/2010/main" val="34855477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E0D4A3-ECB8-4689-ABDB-9CE848CE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3AE6BF-32CD-9FD4-9265-EDA784066883}"/>
              </a:ext>
            </a:extLst>
          </p:cNvPr>
          <p:cNvSpPr>
            <a:spLocks noGrp="1"/>
          </p:cNvSpPr>
          <p:nvPr>
            <p:ph type="title"/>
          </p:nvPr>
        </p:nvSpPr>
        <p:spPr>
          <a:xfrm>
            <a:off x="810000" y="447188"/>
            <a:ext cx="10571998" cy="970450"/>
          </a:xfrm>
          <a:effectLst/>
        </p:spPr>
        <p:txBody>
          <a:bodyPr anchor="ctr">
            <a:normAutofit/>
          </a:bodyPr>
          <a:lstStyle/>
          <a:p>
            <a:pPr algn="ctr"/>
            <a:r>
              <a:rPr lang="en-US" sz="2800">
                <a:solidFill>
                  <a:schemeClr val="tx1"/>
                </a:solidFill>
              </a:rPr>
              <a:t>Instructional Guidance Examples</a:t>
            </a:r>
          </a:p>
        </p:txBody>
      </p:sp>
      <p:sp>
        <p:nvSpPr>
          <p:cNvPr id="10" name="Freeform: Shape 9">
            <a:extLst>
              <a:ext uri="{FF2B5EF4-FFF2-40B4-BE49-F238E27FC236}">
                <a16:creationId xmlns:a16="http://schemas.microsoft.com/office/drawing/2014/main" id="{8854772B-9C8F-4037-89E0-3A45208AB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1576408"/>
            <a:ext cx="10917814" cy="4638125"/>
          </a:xfrm>
          <a:custGeom>
            <a:avLst/>
            <a:gdLst>
              <a:gd name="connsiteX0" fmla="*/ 5441025 w 10917814"/>
              <a:gd name="connsiteY0" fmla="*/ 0 h 4638125"/>
              <a:gd name="connsiteX1" fmla="*/ 5453725 w 10917814"/>
              <a:gd name="connsiteY1" fmla="*/ 0 h 4638125"/>
              <a:gd name="connsiteX2" fmla="*/ 5464308 w 10917814"/>
              <a:gd name="connsiteY2" fmla="*/ 0 h 4638125"/>
              <a:gd name="connsiteX3" fmla="*/ 5477009 w 10917814"/>
              <a:gd name="connsiteY3" fmla="*/ 4762 h 4638125"/>
              <a:gd name="connsiteX4" fmla="*/ 5489708 w 10917814"/>
              <a:gd name="connsiteY4" fmla="*/ 9525 h 4638125"/>
              <a:gd name="connsiteX5" fmla="*/ 5498175 w 10917814"/>
              <a:gd name="connsiteY5" fmla="*/ 12700 h 4638125"/>
              <a:gd name="connsiteX6" fmla="*/ 5865801 w 10917814"/>
              <a:gd name="connsiteY6" fmla="*/ 288419 h 4638125"/>
              <a:gd name="connsiteX7" fmla="*/ 10765009 w 10917814"/>
              <a:gd name="connsiteY7" fmla="*/ 288419 h 4638125"/>
              <a:gd name="connsiteX8" fmla="*/ 10917814 w 10917814"/>
              <a:gd name="connsiteY8" fmla="*/ 441224 h 4638125"/>
              <a:gd name="connsiteX9" fmla="*/ 10917814 w 10917814"/>
              <a:gd name="connsiteY9" fmla="*/ 4485320 h 4638125"/>
              <a:gd name="connsiteX10" fmla="*/ 10765009 w 10917814"/>
              <a:gd name="connsiteY10" fmla="*/ 4638125 h 4638125"/>
              <a:gd name="connsiteX11" fmla="*/ 152805 w 10917814"/>
              <a:gd name="connsiteY11" fmla="*/ 4638125 h 4638125"/>
              <a:gd name="connsiteX12" fmla="*/ 0 w 10917814"/>
              <a:gd name="connsiteY12" fmla="*/ 4485320 h 4638125"/>
              <a:gd name="connsiteX13" fmla="*/ 0 w 10917814"/>
              <a:gd name="connsiteY13" fmla="*/ 441224 h 4638125"/>
              <a:gd name="connsiteX14" fmla="*/ 152805 w 10917814"/>
              <a:gd name="connsiteY14" fmla="*/ 288419 h 4638125"/>
              <a:gd name="connsiteX15" fmla="*/ 5041650 w 10917814"/>
              <a:gd name="connsiteY15" fmla="*/ 288419 h 4638125"/>
              <a:gd name="connsiteX16" fmla="*/ 5409275 w 10917814"/>
              <a:gd name="connsiteY16" fmla="*/ 12700 h 4638125"/>
              <a:gd name="connsiteX17" fmla="*/ 5417742 w 10917814"/>
              <a:gd name="connsiteY17" fmla="*/ 9525 h 4638125"/>
              <a:gd name="connsiteX18" fmla="*/ 5430442 w 10917814"/>
              <a:gd name="connsiteY18" fmla="*/ 4762 h 46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17814" h="4638125">
                <a:moveTo>
                  <a:pt x="5441025" y="0"/>
                </a:moveTo>
                <a:lnTo>
                  <a:pt x="5453725" y="0"/>
                </a:lnTo>
                <a:lnTo>
                  <a:pt x="5464308" y="0"/>
                </a:lnTo>
                <a:lnTo>
                  <a:pt x="5477009" y="4762"/>
                </a:lnTo>
                <a:lnTo>
                  <a:pt x="5489708" y="9525"/>
                </a:lnTo>
                <a:lnTo>
                  <a:pt x="5498175" y="12700"/>
                </a:lnTo>
                <a:lnTo>
                  <a:pt x="5865801" y="288419"/>
                </a:lnTo>
                <a:lnTo>
                  <a:pt x="10765009" y="288419"/>
                </a:lnTo>
                <a:cubicBezTo>
                  <a:pt x="10849401" y="288419"/>
                  <a:pt x="10917814" y="356832"/>
                  <a:pt x="10917814" y="441224"/>
                </a:cubicBezTo>
                <a:lnTo>
                  <a:pt x="10917814" y="4485320"/>
                </a:lnTo>
                <a:cubicBezTo>
                  <a:pt x="10917814" y="4569712"/>
                  <a:pt x="10849401" y="4638125"/>
                  <a:pt x="10765009" y="4638125"/>
                </a:cubicBezTo>
                <a:lnTo>
                  <a:pt x="152805" y="4638125"/>
                </a:lnTo>
                <a:cubicBezTo>
                  <a:pt x="68413" y="4638125"/>
                  <a:pt x="0" y="4569712"/>
                  <a:pt x="0" y="4485320"/>
                </a:cubicBezTo>
                <a:lnTo>
                  <a:pt x="0" y="441224"/>
                </a:lnTo>
                <a:cubicBezTo>
                  <a:pt x="0" y="356832"/>
                  <a:pt x="68413" y="288419"/>
                  <a:pt x="152805" y="288419"/>
                </a:cubicBezTo>
                <a:lnTo>
                  <a:pt x="5041650" y="288419"/>
                </a:lnTo>
                <a:lnTo>
                  <a:pt x="5409275" y="12700"/>
                </a:lnTo>
                <a:lnTo>
                  <a:pt x="5417742" y="9525"/>
                </a:lnTo>
                <a:lnTo>
                  <a:pt x="5430442" y="4762"/>
                </a:lnTo>
                <a:close/>
              </a:path>
            </a:pathLst>
          </a:custGeom>
          <a:no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64FC7CD-35B2-1B32-5855-32253723F328}"/>
              </a:ext>
            </a:extLst>
          </p:cNvPr>
          <p:cNvSpPr>
            <a:spLocks noGrp="1"/>
          </p:cNvSpPr>
          <p:nvPr>
            <p:ph idx="1"/>
          </p:nvPr>
        </p:nvSpPr>
        <p:spPr>
          <a:xfrm>
            <a:off x="1115732" y="2222287"/>
            <a:ext cx="9966953" cy="3636511"/>
          </a:xfrm>
          <a:effectLst/>
        </p:spPr>
        <p:txBody>
          <a:bodyPr>
            <a:normAutofit/>
          </a:bodyPr>
          <a:lstStyle/>
          <a:p>
            <a:r>
              <a:rPr lang="en-US" dirty="0"/>
              <a:t>Provide a step-by-step guide to preparing a vegan lasagna.</a:t>
            </a:r>
          </a:p>
          <a:p>
            <a:r>
              <a:rPr lang="en-US" dirty="0"/>
              <a:t>Explain how to change a car tire, including the tools needed.</a:t>
            </a:r>
          </a:p>
          <a:p>
            <a:r>
              <a:rPr lang="en-US" dirty="0"/>
              <a:t>Describe the steps to plant and care for a vegetable garden.</a:t>
            </a:r>
          </a:p>
          <a:p>
            <a:r>
              <a:rPr lang="en-US" dirty="0"/>
              <a:t>How to perform CPR on an adult.</a:t>
            </a:r>
          </a:p>
          <a:p>
            <a:r>
              <a:rPr lang="en-US" dirty="0"/>
              <a:t>Guide on setting up a basic home network with multiple devices.</a:t>
            </a:r>
          </a:p>
        </p:txBody>
      </p:sp>
    </p:spTree>
    <p:extLst>
      <p:ext uri="{BB962C8B-B14F-4D97-AF65-F5344CB8AC3E}">
        <p14:creationId xmlns:p14="http://schemas.microsoft.com/office/powerpoint/2010/main" val="33186788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photo of colourful graph data">
            <a:extLst>
              <a:ext uri="{FF2B5EF4-FFF2-40B4-BE49-F238E27FC236}">
                <a16:creationId xmlns:a16="http://schemas.microsoft.com/office/drawing/2014/main" id="{47F08D48-B0C5-8582-948F-EB93C7E594F9}"/>
              </a:ext>
            </a:extLst>
          </p:cNvPr>
          <p:cNvPicPr>
            <a:picLocks noChangeAspect="1"/>
          </p:cNvPicPr>
          <p:nvPr/>
        </p:nvPicPr>
        <p:blipFill rotWithShape="1">
          <a:blip r:embed="rId3">
            <a:alphaModFix amt="40000"/>
          </a:blip>
          <a:srcRect t="8907" b="6823"/>
          <a:stretch/>
        </p:blipFill>
        <p:spPr>
          <a:xfrm>
            <a:off x="20" y="10"/>
            <a:ext cx="12191980" cy="6857990"/>
          </a:xfrm>
          <a:prstGeom prst="rect">
            <a:avLst/>
          </a:prstGeom>
        </p:spPr>
      </p:pic>
      <p:sp>
        <p:nvSpPr>
          <p:cNvPr id="2" name="Title 1">
            <a:extLst>
              <a:ext uri="{FF2B5EF4-FFF2-40B4-BE49-F238E27FC236}">
                <a16:creationId xmlns:a16="http://schemas.microsoft.com/office/drawing/2014/main" id="{9EFB3895-1605-27E1-6AD9-1A0C92B89E68}"/>
              </a:ext>
            </a:extLst>
          </p:cNvPr>
          <p:cNvSpPr>
            <a:spLocks noGrp="1"/>
          </p:cNvSpPr>
          <p:nvPr>
            <p:ph type="title"/>
          </p:nvPr>
        </p:nvSpPr>
        <p:spPr>
          <a:xfrm>
            <a:off x="810000" y="447188"/>
            <a:ext cx="10571998" cy="970450"/>
          </a:xfrm>
        </p:spPr>
        <p:txBody>
          <a:bodyPr>
            <a:normAutofit/>
          </a:bodyPr>
          <a:lstStyle/>
          <a:p>
            <a:r>
              <a:rPr lang="en-US" dirty="0"/>
              <a:t>Managing Complex Interactions</a:t>
            </a:r>
          </a:p>
        </p:txBody>
      </p:sp>
      <p:sp>
        <p:nvSpPr>
          <p:cNvPr id="3" name="Content Placeholder 2">
            <a:extLst>
              <a:ext uri="{FF2B5EF4-FFF2-40B4-BE49-F238E27FC236}">
                <a16:creationId xmlns:a16="http://schemas.microsoft.com/office/drawing/2014/main" id="{CAA997E0-78BF-590F-06A7-F4CD05C70DB8}"/>
              </a:ext>
            </a:extLst>
          </p:cNvPr>
          <p:cNvSpPr>
            <a:spLocks noGrp="1"/>
          </p:cNvSpPr>
          <p:nvPr>
            <p:ph idx="1"/>
          </p:nvPr>
        </p:nvSpPr>
        <p:spPr>
          <a:xfrm>
            <a:off x="818712" y="2222287"/>
            <a:ext cx="10554574" cy="3636511"/>
          </a:xfrm>
        </p:spPr>
        <p:txBody>
          <a:bodyPr>
            <a:normAutofit/>
          </a:bodyPr>
          <a:lstStyle/>
          <a:p>
            <a:r>
              <a:rPr lang="en-US" dirty="0"/>
              <a:t>Break down the plot of 'War and Peace' into five parts, detailing key events in each.</a:t>
            </a:r>
          </a:p>
          <a:p>
            <a:r>
              <a:rPr lang="en-US" dirty="0"/>
              <a:t>Explain the theory of relativity in three stages, each building upon the last.</a:t>
            </a:r>
          </a:p>
          <a:p>
            <a:r>
              <a:rPr lang="en-US" dirty="0"/>
              <a:t>Describe the electoral process in the United States, focusing on primary and general elections.</a:t>
            </a:r>
          </a:p>
          <a:p>
            <a:r>
              <a:rPr lang="en-US" dirty="0"/>
              <a:t>Detail the evolution of mobile technology from 2000 to 2020.</a:t>
            </a:r>
          </a:p>
          <a:p>
            <a:r>
              <a:rPr lang="en-US" dirty="0"/>
              <a:t>Outline the major stages of human psychological development from infancy to adulthood.</a:t>
            </a:r>
          </a:p>
        </p:txBody>
      </p:sp>
    </p:spTree>
    <p:extLst>
      <p:ext uri="{BB962C8B-B14F-4D97-AF65-F5344CB8AC3E}">
        <p14:creationId xmlns:p14="http://schemas.microsoft.com/office/powerpoint/2010/main" val="3431748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CAF74C-6D2D-D8AC-EDB6-031F7023DDFF}"/>
              </a:ext>
            </a:extLst>
          </p:cNvPr>
          <p:cNvSpPr>
            <a:spLocks noGrp="1"/>
          </p:cNvSpPr>
          <p:nvPr>
            <p:ph type="title"/>
          </p:nvPr>
        </p:nvSpPr>
        <p:spPr>
          <a:xfrm>
            <a:off x="810001" y="447188"/>
            <a:ext cx="3413084" cy="1559412"/>
          </a:xfrm>
        </p:spPr>
        <p:txBody>
          <a:bodyPr>
            <a:normAutofit/>
          </a:bodyPr>
          <a:lstStyle/>
          <a:p>
            <a:r>
              <a:rPr lang="en-US" sz="3200"/>
              <a:t>What is DALL-E?</a:t>
            </a:r>
          </a:p>
        </p:txBody>
      </p:sp>
      <p:sp>
        <p:nvSpPr>
          <p:cNvPr id="3" name="Content Placeholder 2">
            <a:extLst>
              <a:ext uri="{FF2B5EF4-FFF2-40B4-BE49-F238E27FC236}">
                <a16:creationId xmlns:a16="http://schemas.microsoft.com/office/drawing/2014/main" id="{23E90DC5-F5F6-5E79-B87A-9B2167D72C65}"/>
              </a:ext>
            </a:extLst>
          </p:cNvPr>
          <p:cNvSpPr>
            <a:spLocks noGrp="1"/>
          </p:cNvSpPr>
          <p:nvPr>
            <p:ph idx="1"/>
          </p:nvPr>
        </p:nvSpPr>
        <p:spPr>
          <a:xfrm>
            <a:off x="818713" y="2413000"/>
            <a:ext cx="3404372" cy="3632200"/>
          </a:xfrm>
        </p:spPr>
        <p:txBody>
          <a:bodyPr>
            <a:normAutofit/>
          </a:bodyPr>
          <a:lstStyle/>
          <a:p>
            <a:r>
              <a:rPr lang="en-US" sz="1600"/>
              <a:t>AI Image Generation</a:t>
            </a:r>
          </a:p>
          <a:p>
            <a:r>
              <a:rPr lang="en-US" sz="1600"/>
              <a:t>Name Origin</a:t>
            </a:r>
          </a:p>
          <a:p>
            <a:r>
              <a:rPr lang="en-US" sz="1600"/>
              <a:t>Functionality</a:t>
            </a:r>
          </a:p>
          <a:p>
            <a:r>
              <a:rPr lang="en-US" sz="1600"/>
              <a:t>How it Works</a:t>
            </a:r>
          </a:p>
        </p:txBody>
      </p:sp>
      <p:sp>
        <p:nvSpPr>
          <p:cNvPr id="22"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obot operating a machine">
            <a:extLst>
              <a:ext uri="{FF2B5EF4-FFF2-40B4-BE49-F238E27FC236}">
                <a16:creationId xmlns:a16="http://schemas.microsoft.com/office/drawing/2014/main" id="{8BA595E0-E8B6-615F-7FC2-A62810583381}"/>
              </a:ext>
            </a:extLst>
          </p:cNvPr>
          <p:cNvPicPr>
            <a:picLocks noChangeAspect="1"/>
          </p:cNvPicPr>
          <p:nvPr/>
        </p:nvPicPr>
        <p:blipFill rotWithShape="1">
          <a:blip r:embed="rId3"/>
          <a:srcRect l="55" r="1" b="1"/>
          <a:stretch/>
        </p:blipFill>
        <p:spPr>
          <a:xfrm>
            <a:off x="5603706" y="1258529"/>
            <a:ext cx="5638853" cy="4330205"/>
          </a:xfrm>
          <a:prstGeom prst="rect">
            <a:avLst/>
          </a:prstGeom>
        </p:spPr>
      </p:pic>
    </p:spTree>
    <p:extLst>
      <p:ext uri="{BB962C8B-B14F-4D97-AF65-F5344CB8AC3E}">
        <p14:creationId xmlns:p14="http://schemas.microsoft.com/office/powerpoint/2010/main" val="1418126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06C3760-F8B1-F166-EEBA-90C171592798}"/>
              </a:ext>
            </a:extLst>
          </p:cNvPr>
          <p:cNvPicPr>
            <a:picLocks noChangeAspect="1"/>
          </p:cNvPicPr>
          <p:nvPr/>
        </p:nvPicPr>
        <p:blipFill rotWithShape="1">
          <a:blip r:embed="rId3">
            <a:alphaModFix amt="40000"/>
          </a:blip>
          <a:srcRect b="16045"/>
          <a:stretch/>
        </p:blipFill>
        <p:spPr>
          <a:xfrm>
            <a:off x="20" y="10"/>
            <a:ext cx="12191980" cy="6857990"/>
          </a:xfrm>
          <a:prstGeom prst="rect">
            <a:avLst/>
          </a:prstGeom>
        </p:spPr>
      </p:pic>
      <p:sp>
        <p:nvSpPr>
          <p:cNvPr id="2" name="Title 1">
            <a:extLst>
              <a:ext uri="{FF2B5EF4-FFF2-40B4-BE49-F238E27FC236}">
                <a16:creationId xmlns:a16="http://schemas.microsoft.com/office/drawing/2014/main" id="{E07A5BA6-6CEA-73BB-05F0-A28673A79A8F}"/>
              </a:ext>
            </a:extLst>
          </p:cNvPr>
          <p:cNvSpPr>
            <a:spLocks noGrp="1"/>
          </p:cNvSpPr>
          <p:nvPr>
            <p:ph type="title"/>
          </p:nvPr>
        </p:nvSpPr>
        <p:spPr>
          <a:xfrm>
            <a:off x="810000" y="447188"/>
            <a:ext cx="10571998" cy="970450"/>
          </a:xfrm>
        </p:spPr>
        <p:txBody>
          <a:bodyPr>
            <a:normAutofit/>
          </a:bodyPr>
          <a:lstStyle/>
          <a:p>
            <a:r>
              <a:rPr lang="en-US" dirty="0"/>
              <a:t>Blending Detail and Simplicity</a:t>
            </a:r>
          </a:p>
        </p:txBody>
      </p:sp>
      <p:sp>
        <p:nvSpPr>
          <p:cNvPr id="3" name="Content Placeholder 2">
            <a:extLst>
              <a:ext uri="{FF2B5EF4-FFF2-40B4-BE49-F238E27FC236}">
                <a16:creationId xmlns:a16="http://schemas.microsoft.com/office/drawing/2014/main" id="{F0C9B60F-B531-65F4-83F2-4AB0E3EED1EB}"/>
              </a:ext>
            </a:extLst>
          </p:cNvPr>
          <p:cNvSpPr>
            <a:spLocks noGrp="1"/>
          </p:cNvSpPr>
          <p:nvPr>
            <p:ph idx="1"/>
          </p:nvPr>
        </p:nvSpPr>
        <p:spPr>
          <a:xfrm>
            <a:off x="818712" y="2222287"/>
            <a:ext cx="10554574" cy="3636511"/>
          </a:xfrm>
        </p:spPr>
        <p:txBody>
          <a:bodyPr>
            <a:normAutofit/>
          </a:bodyPr>
          <a:lstStyle/>
          <a:p>
            <a:r>
              <a:rPr lang="en-US" dirty="0"/>
              <a:t>Mood and Style</a:t>
            </a:r>
          </a:p>
          <a:p>
            <a:r>
              <a:rPr lang="en-US" dirty="0"/>
              <a:t>Balance Simplicity</a:t>
            </a:r>
          </a:p>
          <a:p>
            <a:r>
              <a:rPr lang="en-US" dirty="0"/>
              <a:t>Impact on Output Quality</a:t>
            </a:r>
          </a:p>
          <a:p>
            <a:r>
              <a:rPr lang="en-US" dirty="0"/>
              <a:t>Examples</a:t>
            </a:r>
          </a:p>
        </p:txBody>
      </p:sp>
    </p:spTree>
    <p:extLst>
      <p:ext uri="{BB962C8B-B14F-4D97-AF65-F5344CB8AC3E}">
        <p14:creationId xmlns:p14="http://schemas.microsoft.com/office/powerpoint/2010/main" val="2505355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urful oil painting of a sunset">
            <a:extLst>
              <a:ext uri="{FF2B5EF4-FFF2-40B4-BE49-F238E27FC236}">
                <a16:creationId xmlns:a16="http://schemas.microsoft.com/office/drawing/2014/main" id="{0B276F68-9684-0C4E-0741-696CC603B12B}"/>
              </a:ext>
            </a:extLst>
          </p:cNvPr>
          <p:cNvPicPr>
            <a:picLocks noChangeAspect="1"/>
          </p:cNvPicPr>
          <p:nvPr/>
        </p:nvPicPr>
        <p:blipFill rotWithShape="1">
          <a:blip r:embed="rId3">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E07A5BA6-6CEA-73BB-05F0-A28673A79A8F}"/>
              </a:ext>
            </a:extLst>
          </p:cNvPr>
          <p:cNvSpPr>
            <a:spLocks noGrp="1"/>
          </p:cNvSpPr>
          <p:nvPr>
            <p:ph type="title"/>
          </p:nvPr>
        </p:nvSpPr>
        <p:spPr>
          <a:xfrm>
            <a:off x="810000" y="447188"/>
            <a:ext cx="10571998" cy="970450"/>
          </a:xfrm>
        </p:spPr>
        <p:txBody>
          <a:bodyPr>
            <a:normAutofit/>
          </a:bodyPr>
          <a:lstStyle/>
          <a:p>
            <a:r>
              <a:rPr lang="en-US" dirty="0"/>
              <a:t>Artistic Styles of DALL·E</a:t>
            </a:r>
          </a:p>
        </p:txBody>
      </p:sp>
      <p:sp>
        <p:nvSpPr>
          <p:cNvPr id="3" name="Content Placeholder 2">
            <a:extLst>
              <a:ext uri="{FF2B5EF4-FFF2-40B4-BE49-F238E27FC236}">
                <a16:creationId xmlns:a16="http://schemas.microsoft.com/office/drawing/2014/main" id="{F0C9B60F-B531-65F4-83F2-4AB0E3EED1EB}"/>
              </a:ext>
            </a:extLst>
          </p:cNvPr>
          <p:cNvSpPr>
            <a:spLocks noGrp="1"/>
          </p:cNvSpPr>
          <p:nvPr>
            <p:ph idx="1"/>
          </p:nvPr>
        </p:nvSpPr>
        <p:spPr>
          <a:xfrm>
            <a:off x="818712" y="2222287"/>
            <a:ext cx="10554574" cy="3636511"/>
          </a:xfrm>
        </p:spPr>
        <p:txBody>
          <a:bodyPr>
            <a:normAutofit/>
          </a:bodyPr>
          <a:lstStyle/>
          <a:p>
            <a:r>
              <a:rPr lang="en-US" dirty="0"/>
              <a:t>Hyper-realistic</a:t>
            </a:r>
          </a:p>
          <a:p>
            <a:r>
              <a:rPr lang="en-US" dirty="0"/>
              <a:t>Watercolor</a:t>
            </a:r>
          </a:p>
          <a:p>
            <a:r>
              <a:rPr lang="en-US" dirty="0"/>
              <a:t>Portrait</a:t>
            </a:r>
          </a:p>
          <a:p>
            <a:r>
              <a:rPr lang="en-US" dirty="0"/>
              <a:t>Surrealism</a:t>
            </a:r>
          </a:p>
          <a:p>
            <a:r>
              <a:rPr lang="en-US" dirty="0"/>
              <a:t>Impressionism</a:t>
            </a:r>
          </a:p>
          <a:p>
            <a:r>
              <a:rPr lang="en-US" dirty="0"/>
              <a:t>Additional Styles</a:t>
            </a:r>
          </a:p>
        </p:txBody>
      </p:sp>
    </p:spTree>
    <p:extLst>
      <p:ext uri="{BB962C8B-B14F-4D97-AF65-F5344CB8AC3E}">
        <p14:creationId xmlns:p14="http://schemas.microsoft.com/office/powerpoint/2010/main" val="745607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452CE-881A-AEDE-CF91-6D7EEC6407D3}"/>
              </a:ext>
            </a:extLst>
          </p:cNvPr>
          <p:cNvSpPr>
            <a:spLocks noGrp="1"/>
          </p:cNvSpPr>
          <p:nvPr>
            <p:ph type="title"/>
          </p:nvPr>
        </p:nvSpPr>
        <p:spPr>
          <a:xfrm>
            <a:off x="965200" y="1218476"/>
            <a:ext cx="3187318" cy="4421050"/>
          </a:xfrm>
          <a:effectLst/>
        </p:spPr>
        <p:txBody>
          <a:bodyPr anchor="ctr">
            <a:normAutofit/>
          </a:bodyPr>
          <a:lstStyle/>
          <a:p>
            <a:pPr algn="r"/>
            <a:r>
              <a:rPr lang="en-US" sz="3200">
                <a:solidFill>
                  <a:schemeClr val="tx1"/>
                </a:solidFill>
              </a:rPr>
              <a:t>Make Prompts More Effective</a:t>
            </a:r>
          </a:p>
        </p:txBody>
      </p:sp>
      <p:cxnSp>
        <p:nvCxnSpPr>
          <p:cNvPr id="10" name="Straight Connector 9">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5D5A69-8159-F785-1CA7-EDD95635D6D0}"/>
              </a:ext>
            </a:extLst>
          </p:cNvPr>
          <p:cNvSpPr>
            <a:spLocks noGrp="1"/>
          </p:cNvSpPr>
          <p:nvPr>
            <p:ph idx="1"/>
          </p:nvPr>
        </p:nvSpPr>
        <p:spPr>
          <a:xfrm>
            <a:off x="5146751" y="1218475"/>
            <a:ext cx="6080050" cy="4421051"/>
          </a:xfrm>
          <a:effectLst/>
        </p:spPr>
        <p:txBody>
          <a:bodyPr>
            <a:normAutofit/>
          </a:bodyPr>
          <a:lstStyle/>
          <a:p>
            <a:r>
              <a:rPr lang="en-US" sz="1600"/>
              <a:t>Characteristics of Effective Prompts</a:t>
            </a:r>
          </a:p>
          <a:p>
            <a:r>
              <a:rPr lang="en-US" sz="1600"/>
              <a:t>Pitfalls of Less Effective Prompts</a:t>
            </a:r>
          </a:p>
        </p:txBody>
      </p:sp>
    </p:spTree>
    <p:extLst>
      <p:ext uri="{BB962C8B-B14F-4D97-AF65-F5344CB8AC3E}">
        <p14:creationId xmlns:p14="http://schemas.microsoft.com/office/powerpoint/2010/main" val="2255908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52CE-881A-AEDE-CF91-6D7EEC6407D3}"/>
              </a:ext>
            </a:extLst>
          </p:cNvPr>
          <p:cNvSpPr>
            <a:spLocks noGrp="1"/>
          </p:cNvSpPr>
          <p:nvPr>
            <p:ph type="title"/>
          </p:nvPr>
        </p:nvSpPr>
        <p:spPr/>
        <p:txBody>
          <a:bodyPr/>
          <a:lstStyle/>
          <a:p>
            <a:r>
              <a:rPr lang="en-US" dirty="0"/>
              <a:t>Simple Commands for DALL-E</a:t>
            </a:r>
          </a:p>
        </p:txBody>
      </p:sp>
      <p:pic>
        <p:nvPicPr>
          <p:cNvPr id="8" name="Content Placeholder 7" descr="A steampunk airship over a city&#10;&#10;Description automatically generated">
            <a:extLst>
              <a:ext uri="{FF2B5EF4-FFF2-40B4-BE49-F238E27FC236}">
                <a16:creationId xmlns:a16="http://schemas.microsoft.com/office/drawing/2014/main" id="{1D5EAD7E-21CA-505F-243E-C58D61289876}"/>
              </a:ext>
            </a:extLst>
          </p:cNvPr>
          <p:cNvPicPr>
            <a:picLocks noGrp="1" noChangeAspect="1"/>
          </p:cNvPicPr>
          <p:nvPr>
            <p:ph sz="half" idx="1"/>
          </p:nvPr>
        </p:nvPicPr>
        <p:blipFill>
          <a:blip r:embed="rId3"/>
          <a:stretch>
            <a:fillRect/>
          </a:stretch>
        </p:blipFill>
        <p:spPr>
          <a:xfrm>
            <a:off x="819150" y="2560411"/>
            <a:ext cx="5184775" cy="2962728"/>
          </a:xfrm>
        </p:spPr>
      </p:pic>
      <p:pic>
        <p:nvPicPr>
          <p:cNvPr id="10" name="Content Placeholder 9" descr="A painting of a field of flowers&#10;&#10;Description automatically generated">
            <a:extLst>
              <a:ext uri="{FF2B5EF4-FFF2-40B4-BE49-F238E27FC236}">
                <a16:creationId xmlns:a16="http://schemas.microsoft.com/office/drawing/2014/main" id="{E091F5B3-B26A-20D0-88E6-4DE47E269BB1}"/>
              </a:ext>
            </a:extLst>
          </p:cNvPr>
          <p:cNvPicPr>
            <a:picLocks noGrp="1" noChangeAspect="1"/>
          </p:cNvPicPr>
          <p:nvPr>
            <p:ph sz="half" idx="2"/>
          </p:nvPr>
        </p:nvPicPr>
        <p:blipFill>
          <a:blip r:embed="rId4"/>
          <a:stretch>
            <a:fillRect/>
          </a:stretch>
        </p:blipFill>
        <p:spPr>
          <a:xfrm>
            <a:off x="6188075" y="2557689"/>
            <a:ext cx="5194300" cy="2968171"/>
          </a:xfrm>
        </p:spPr>
      </p:pic>
    </p:spTree>
    <p:extLst>
      <p:ext uri="{BB962C8B-B14F-4D97-AF65-F5344CB8AC3E}">
        <p14:creationId xmlns:p14="http://schemas.microsoft.com/office/powerpoint/2010/main" val="268503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52CE-881A-AEDE-CF91-6D7EEC6407D3}"/>
              </a:ext>
            </a:extLst>
          </p:cNvPr>
          <p:cNvSpPr>
            <a:spLocks noGrp="1"/>
          </p:cNvSpPr>
          <p:nvPr>
            <p:ph type="title"/>
          </p:nvPr>
        </p:nvSpPr>
        <p:spPr/>
        <p:txBody>
          <a:bodyPr/>
          <a:lstStyle/>
          <a:p>
            <a:r>
              <a:rPr lang="en-US" dirty="0"/>
              <a:t>More Complex Commands for DALL-E</a:t>
            </a:r>
          </a:p>
        </p:txBody>
      </p:sp>
      <p:pic>
        <p:nvPicPr>
          <p:cNvPr id="8" name="Content Placeholder 7">
            <a:extLst>
              <a:ext uri="{FF2B5EF4-FFF2-40B4-BE49-F238E27FC236}">
                <a16:creationId xmlns:a16="http://schemas.microsoft.com/office/drawing/2014/main" id="{1D5EAD7E-21CA-505F-243E-C58D61289876}"/>
              </a:ext>
            </a:extLst>
          </p:cNvPr>
          <p:cNvPicPr>
            <a:picLocks noGrp="1" noChangeAspect="1"/>
          </p:cNvPicPr>
          <p:nvPr>
            <p:ph sz="half" idx="1"/>
          </p:nvPr>
        </p:nvPicPr>
        <p:blipFill>
          <a:blip r:embed="rId3"/>
          <a:stretch/>
        </p:blipFill>
        <p:spPr>
          <a:xfrm>
            <a:off x="2105758" y="2420571"/>
            <a:ext cx="3990241" cy="3990241"/>
          </a:xfrm>
          <a:prstGeom prst="rect">
            <a:avLst/>
          </a:prstGeom>
        </p:spPr>
      </p:pic>
      <p:pic>
        <p:nvPicPr>
          <p:cNvPr id="10" name="Content Placeholder 9">
            <a:extLst>
              <a:ext uri="{FF2B5EF4-FFF2-40B4-BE49-F238E27FC236}">
                <a16:creationId xmlns:a16="http://schemas.microsoft.com/office/drawing/2014/main" id="{E091F5B3-B26A-20D0-88E6-4DE47E269BB1}"/>
              </a:ext>
            </a:extLst>
          </p:cNvPr>
          <p:cNvPicPr>
            <a:picLocks noGrp="1" noChangeAspect="1"/>
          </p:cNvPicPr>
          <p:nvPr>
            <p:ph sz="half" idx="2"/>
          </p:nvPr>
        </p:nvPicPr>
        <p:blipFill>
          <a:blip r:embed="rId4"/>
          <a:stretch/>
        </p:blipFill>
        <p:spPr>
          <a:xfrm>
            <a:off x="6433113" y="2420572"/>
            <a:ext cx="3990240" cy="3990240"/>
          </a:xfrm>
          <a:prstGeom prst="rect">
            <a:avLst/>
          </a:prstGeom>
        </p:spPr>
      </p:pic>
    </p:spTree>
    <p:extLst>
      <p:ext uri="{BB962C8B-B14F-4D97-AF65-F5344CB8AC3E}">
        <p14:creationId xmlns:p14="http://schemas.microsoft.com/office/powerpoint/2010/main" val="4097669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452CE-881A-AEDE-CF91-6D7EEC6407D3}"/>
              </a:ext>
            </a:extLst>
          </p:cNvPr>
          <p:cNvSpPr>
            <a:spLocks noGrp="1"/>
          </p:cNvSpPr>
          <p:nvPr>
            <p:ph type="title"/>
          </p:nvPr>
        </p:nvSpPr>
        <p:spPr>
          <a:xfrm>
            <a:off x="965200" y="1218476"/>
            <a:ext cx="3187318" cy="4421050"/>
          </a:xfrm>
          <a:effectLst/>
        </p:spPr>
        <p:txBody>
          <a:bodyPr anchor="ctr">
            <a:normAutofit/>
          </a:bodyPr>
          <a:lstStyle/>
          <a:p>
            <a:pPr algn="r"/>
            <a:r>
              <a:rPr lang="en-US" sz="3200">
                <a:solidFill>
                  <a:schemeClr val="tx1"/>
                </a:solidFill>
              </a:rPr>
              <a:t>What to Put in the Prompts</a:t>
            </a:r>
          </a:p>
        </p:txBody>
      </p:sp>
      <p:cxnSp>
        <p:nvCxnSpPr>
          <p:cNvPr id="19" name="Straight Connector 18">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2" name="Content Placeholder 11">
            <a:extLst>
              <a:ext uri="{FF2B5EF4-FFF2-40B4-BE49-F238E27FC236}">
                <a16:creationId xmlns:a16="http://schemas.microsoft.com/office/drawing/2014/main" id="{24BF7714-B053-CDDE-02BA-42E9D7C756C5}"/>
              </a:ext>
            </a:extLst>
          </p:cNvPr>
          <p:cNvSpPr>
            <a:spLocks noGrp="1"/>
          </p:cNvSpPr>
          <p:nvPr>
            <p:ph idx="1"/>
          </p:nvPr>
        </p:nvSpPr>
        <p:spPr>
          <a:xfrm>
            <a:off x="5146751" y="1218475"/>
            <a:ext cx="6080050" cy="4421051"/>
          </a:xfrm>
          <a:effectLst/>
        </p:spPr>
        <p:txBody>
          <a:bodyPr>
            <a:normAutofit/>
          </a:bodyPr>
          <a:lstStyle/>
          <a:p>
            <a:r>
              <a:rPr lang="en-US" sz="1600" b="1" dirty="0"/>
              <a:t>Image Type:</a:t>
            </a:r>
            <a:r>
              <a:rPr lang="en-US" sz="1600" dirty="0"/>
              <a:t> The type of image for setting </a:t>
            </a:r>
            <a:r>
              <a:rPr lang="en-US" sz="1600"/>
              <a:t>the foundation.</a:t>
            </a:r>
            <a:endParaRPr lang="en-US" sz="1600" dirty="0"/>
          </a:p>
          <a:p>
            <a:r>
              <a:rPr lang="en-US" sz="1600" b="1" dirty="0"/>
              <a:t>Subject:</a:t>
            </a:r>
            <a:r>
              <a:rPr lang="en-US" sz="1600" dirty="0"/>
              <a:t> The main subject of the image.</a:t>
            </a:r>
          </a:p>
          <a:p>
            <a:r>
              <a:rPr lang="en-US" sz="1600" b="1" dirty="0"/>
              <a:t>Features:</a:t>
            </a:r>
            <a:r>
              <a:rPr lang="en-US" sz="1600" dirty="0"/>
              <a:t> Identifying key features helps provide more detail.</a:t>
            </a:r>
          </a:p>
          <a:p>
            <a:r>
              <a:rPr lang="en-US" sz="1600" b="1" dirty="0"/>
              <a:t>Setting:</a:t>
            </a:r>
            <a:r>
              <a:rPr lang="en-US" sz="1600" dirty="0"/>
              <a:t> The setting gives context to the image. </a:t>
            </a:r>
          </a:p>
          <a:p>
            <a:r>
              <a:rPr lang="en-US" sz="1600" b="1" dirty="0"/>
              <a:t>Mood/Color:</a:t>
            </a:r>
            <a:r>
              <a:rPr lang="en-US" sz="1600" dirty="0"/>
              <a:t> The mood or color scheme influences the overall feel of the image.</a:t>
            </a:r>
          </a:p>
          <a:p>
            <a:r>
              <a:rPr lang="en-US" sz="1600" b="1" dirty="0"/>
              <a:t>Style (optional):</a:t>
            </a:r>
            <a:r>
              <a:rPr lang="en-US" sz="1600" dirty="0"/>
              <a:t> The style of the image can add an extra layer of artistic direction.</a:t>
            </a:r>
          </a:p>
          <a:p>
            <a:r>
              <a:rPr lang="en-US" sz="1600" b="1" dirty="0"/>
              <a:t>Emphasis:</a:t>
            </a:r>
            <a:r>
              <a:rPr lang="en-US" sz="1600" dirty="0"/>
              <a:t> Specifying what the primary focus of the image should be helps ensure the main elements stand out. </a:t>
            </a:r>
          </a:p>
        </p:txBody>
      </p:sp>
    </p:spTree>
    <p:extLst>
      <p:ext uri="{BB962C8B-B14F-4D97-AF65-F5344CB8AC3E}">
        <p14:creationId xmlns:p14="http://schemas.microsoft.com/office/powerpoint/2010/main" val="1532303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2D5055A6-C204-DDCD-A2FC-1940CA39BAD8}"/>
              </a:ext>
            </a:extLst>
          </p:cNvPr>
          <p:cNvSpPr>
            <a:spLocks noGrp="1"/>
          </p:cNvSpPr>
          <p:nvPr>
            <p:ph type="title"/>
          </p:nvPr>
        </p:nvSpPr>
        <p:spPr>
          <a:xfrm>
            <a:off x="8164749" y="457201"/>
            <a:ext cx="3575737" cy="1332688"/>
          </a:xfrm>
        </p:spPr>
        <p:txBody>
          <a:bodyPr vert="horz" lIns="91440" tIns="45720" rIns="91440" bIns="45720" rtlCol="0" anchor="b">
            <a:normAutofit/>
          </a:bodyPr>
          <a:lstStyle/>
          <a:p>
            <a:pPr algn="ctr"/>
            <a:r>
              <a:rPr lang="en-US" sz="3200">
                <a:solidFill>
                  <a:srgbClr val="FFFFFF"/>
                </a:solidFill>
              </a:rPr>
              <a:t>Example 1</a:t>
            </a:r>
          </a:p>
        </p:txBody>
      </p:sp>
      <p:pic>
        <p:nvPicPr>
          <p:cNvPr id="8" name="Content Placeholder 7" descr="A person posing for a picture&#10;&#10;Description automatically generated">
            <a:extLst>
              <a:ext uri="{FF2B5EF4-FFF2-40B4-BE49-F238E27FC236}">
                <a16:creationId xmlns:a16="http://schemas.microsoft.com/office/drawing/2014/main" id="{2EA70C32-BAD8-B78D-394B-147151EA4360}"/>
              </a:ext>
            </a:extLst>
          </p:cNvPr>
          <p:cNvPicPr>
            <a:picLocks noGrp="1" noChangeAspect="1"/>
          </p:cNvPicPr>
          <p:nvPr>
            <p:ph sz="half" idx="2"/>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5" name="Content Placeholder 4">
            <a:extLst>
              <a:ext uri="{FF2B5EF4-FFF2-40B4-BE49-F238E27FC236}">
                <a16:creationId xmlns:a16="http://schemas.microsoft.com/office/drawing/2014/main" id="{DAEF0914-7657-ECCB-F76F-2DE5DEC67EA0}"/>
              </a:ext>
            </a:extLst>
          </p:cNvPr>
          <p:cNvSpPr>
            <a:spLocks noGrp="1"/>
          </p:cNvSpPr>
          <p:nvPr>
            <p:ph sz="half" idx="1"/>
          </p:nvPr>
        </p:nvSpPr>
        <p:spPr>
          <a:xfrm>
            <a:off x="8164749" y="2024743"/>
            <a:ext cx="3575737" cy="4016619"/>
          </a:xfrm>
        </p:spPr>
        <p:txBody>
          <a:bodyPr vert="horz" lIns="91440" tIns="45720" rIns="91440" bIns="45720" rtlCol="0" anchor="ctr">
            <a:normAutofit/>
          </a:bodyPr>
          <a:lstStyle/>
          <a:p>
            <a:r>
              <a:rPr lang="en-US" sz="1600">
                <a:solidFill>
                  <a:srgbClr val="FFFFFF"/>
                </a:solidFill>
              </a:rPr>
              <a:t>Photograph of a young woman with green eyes on a busy city street during golden hour. The warm lighting and modern fashion photography style highlight her eyes and expression as the primary focus.</a:t>
            </a:r>
          </a:p>
        </p:txBody>
      </p:sp>
    </p:spTree>
    <p:extLst>
      <p:ext uri="{BB962C8B-B14F-4D97-AF65-F5344CB8AC3E}">
        <p14:creationId xmlns:p14="http://schemas.microsoft.com/office/powerpoint/2010/main" val="3550508966"/>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2264E67-6F59-4D8D-8E5F-8245B0FEA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158E1C6E-D299-4F5D-B15B-155EBF7F6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2D5055A6-C204-DDCD-A2FC-1940CA39BAD8}"/>
              </a:ext>
            </a:extLst>
          </p:cNvPr>
          <p:cNvSpPr>
            <a:spLocks noGrp="1"/>
          </p:cNvSpPr>
          <p:nvPr>
            <p:ph type="title"/>
          </p:nvPr>
        </p:nvSpPr>
        <p:spPr>
          <a:xfrm>
            <a:off x="451514" y="457201"/>
            <a:ext cx="3575737" cy="1332688"/>
          </a:xfrm>
        </p:spPr>
        <p:txBody>
          <a:bodyPr vert="horz" lIns="91440" tIns="45720" rIns="91440" bIns="45720" rtlCol="0" anchor="b">
            <a:normAutofit/>
          </a:bodyPr>
          <a:lstStyle/>
          <a:p>
            <a:pPr algn="ctr"/>
            <a:r>
              <a:rPr lang="en-US" sz="3200">
                <a:solidFill>
                  <a:srgbClr val="FFFFFF"/>
                </a:solidFill>
              </a:rPr>
              <a:t>Example 2</a:t>
            </a:r>
          </a:p>
        </p:txBody>
      </p:sp>
      <p:sp>
        <p:nvSpPr>
          <p:cNvPr id="5" name="Content Placeholder 4">
            <a:extLst>
              <a:ext uri="{FF2B5EF4-FFF2-40B4-BE49-F238E27FC236}">
                <a16:creationId xmlns:a16="http://schemas.microsoft.com/office/drawing/2014/main" id="{DAEF0914-7657-ECCB-F76F-2DE5DEC67EA0}"/>
              </a:ext>
            </a:extLst>
          </p:cNvPr>
          <p:cNvSpPr>
            <a:spLocks noGrp="1"/>
          </p:cNvSpPr>
          <p:nvPr>
            <p:ph sz="half" idx="1"/>
          </p:nvPr>
        </p:nvSpPr>
        <p:spPr>
          <a:xfrm>
            <a:off x="451514" y="2046514"/>
            <a:ext cx="3575737" cy="3994848"/>
          </a:xfrm>
        </p:spPr>
        <p:txBody>
          <a:bodyPr vert="horz" lIns="91440" tIns="45720" rIns="91440" bIns="45720" rtlCol="0" anchor="ctr">
            <a:normAutofit/>
          </a:bodyPr>
          <a:lstStyle/>
          <a:p>
            <a:r>
              <a:rPr lang="en-US" sz="1600">
                <a:solidFill>
                  <a:srgbClr val="FFFFFF"/>
                </a:solidFill>
              </a:rPr>
              <a:t>Illustration of a dragon with majestic wings in a medieval castle courtyard. The dark and moody scene with deep shadows reflects a fantasy art style, with the dragon's wings and the imposing castle backdrop as the primary focus.</a:t>
            </a:r>
          </a:p>
        </p:txBody>
      </p:sp>
      <p:pic>
        <p:nvPicPr>
          <p:cNvPr id="8" name="Content Placeholder 7">
            <a:extLst>
              <a:ext uri="{FF2B5EF4-FFF2-40B4-BE49-F238E27FC236}">
                <a16:creationId xmlns:a16="http://schemas.microsoft.com/office/drawing/2014/main" id="{2EA70C32-BAD8-B78D-394B-147151EA4360}"/>
              </a:ext>
            </a:extLst>
          </p:cNvPr>
          <p:cNvPicPr>
            <a:picLocks noGrp="1" noChangeAspect="1"/>
          </p:cNvPicPr>
          <p:nvPr>
            <p:ph sz="half" idx="2"/>
          </p:nvPr>
        </p:nvPicPr>
        <p:blipFill>
          <a:blip r:embed="rId3"/>
          <a:stretch/>
        </p:blipFill>
        <p:spPr>
          <a:xfrm>
            <a:off x="5778451" y="643467"/>
            <a:ext cx="5272421" cy="5272421"/>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465826500"/>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2D5055A6-C204-DDCD-A2FC-1940CA39BAD8}"/>
              </a:ext>
            </a:extLst>
          </p:cNvPr>
          <p:cNvSpPr>
            <a:spLocks noGrp="1"/>
          </p:cNvSpPr>
          <p:nvPr>
            <p:ph type="title"/>
          </p:nvPr>
        </p:nvSpPr>
        <p:spPr>
          <a:xfrm>
            <a:off x="8164749" y="457201"/>
            <a:ext cx="3575737" cy="1332688"/>
          </a:xfrm>
        </p:spPr>
        <p:txBody>
          <a:bodyPr vert="horz" lIns="91440" tIns="45720" rIns="91440" bIns="45720" rtlCol="0" anchor="b">
            <a:normAutofit/>
          </a:bodyPr>
          <a:lstStyle/>
          <a:p>
            <a:pPr algn="ctr"/>
            <a:r>
              <a:rPr lang="en-US" sz="3200">
                <a:solidFill>
                  <a:srgbClr val="FFFFFF"/>
                </a:solidFill>
              </a:rPr>
              <a:t>Example 3</a:t>
            </a:r>
          </a:p>
        </p:txBody>
      </p:sp>
      <p:pic>
        <p:nvPicPr>
          <p:cNvPr id="8" name="Content Placeholder 7">
            <a:extLst>
              <a:ext uri="{FF2B5EF4-FFF2-40B4-BE49-F238E27FC236}">
                <a16:creationId xmlns:a16="http://schemas.microsoft.com/office/drawing/2014/main" id="{2EA70C32-BAD8-B78D-394B-147151EA4360}"/>
              </a:ext>
            </a:extLst>
          </p:cNvPr>
          <p:cNvPicPr>
            <a:picLocks noGrp="1" noChangeAspect="1"/>
          </p:cNvPicPr>
          <p:nvPr>
            <p:ph sz="half" idx="2"/>
          </p:nvPr>
        </p:nvPicPr>
        <p:blipFill>
          <a:blip r:embed="rId3"/>
          <a:stretch/>
        </p:blipFill>
        <p:spPr>
          <a:xfrm>
            <a:off x="978308" y="457201"/>
            <a:ext cx="5584161" cy="5584161"/>
          </a:xfrm>
          <a:prstGeom prst="roundRect">
            <a:avLst>
              <a:gd name="adj" fmla="val 3876"/>
            </a:avLst>
          </a:prstGeom>
          <a:ln>
            <a:solidFill>
              <a:schemeClr val="accent1"/>
            </a:solidFill>
          </a:ln>
          <a:effectLst/>
        </p:spPr>
      </p:pic>
      <p:sp>
        <p:nvSpPr>
          <p:cNvPr id="5" name="Content Placeholder 4">
            <a:extLst>
              <a:ext uri="{FF2B5EF4-FFF2-40B4-BE49-F238E27FC236}">
                <a16:creationId xmlns:a16="http://schemas.microsoft.com/office/drawing/2014/main" id="{DAEF0914-7657-ECCB-F76F-2DE5DEC67EA0}"/>
              </a:ext>
            </a:extLst>
          </p:cNvPr>
          <p:cNvSpPr>
            <a:spLocks noGrp="1"/>
          </p:cNvSpPr>
          <p:nvPr>
            <p:ph sz="half" idx="1"/>
          </p:nvPr>
        </p:nvSpPr>
        <p:spPr>
          <a:xfrm>
            <a:off x="8164749" y="2024743"/>
            <a:ext cx="3575737" cy="4016619"/>
          </a:xfrm>
        </p:spPr>
        <p:txBody>
          <a:bodyPr vert="horz" lIns="91440" tIns="45720" rIns="91440" bIns="45720" rtlCol="0" anchor="ctr">
            <a:normAutofit/>
          </a:bodyPr>
          <a:lstStyle/>
          <a:p>
            <a:r>
              <a:rPr lang="en-US" sz="1600">
                <a:solidFill>
                  <a:srgbClr val="FFFFFF"/>
                </a:solidFill>
              </a:rPr>
              <a:t>Sketch of an old oak tree with gnarled branches in a quiet forest clearing. The scene is rendered in soft, pastel shades, reminiscent of impressionist art. The texture of the tree bark and the serene atmosphere are the primary focus.</a:t>
            </a:r>
          </a:p>
        </p:txBody>
      </p:sp>
    </p:spTree>
    <p:extLst>
      <p:ext uri="{BB962C8B-B14F-4D97-AF65-F5344CB8AC3E}">
        <p14:creationId xmlns:p14="http://schemas.microsoft.com/office/powerpoint/2010/main" val="1745353586"/>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13C10D-0A80-0920-8E93-5F6046FDBF41}"/>
              </a:ext>
            </a:extLst>
          </p:cNvPr>
          <p:cNvSpPr>
            <a:spLocks noGrp="1"/>
          </p:cNvSpPr>
          <p:nvPr>
            <p:ph type="title"/>
          </p:nvPr>
        </p:nvSpPr>
        <p:spPr>
          <a:xfrm>
            <a:off x="810000" y="447188"/>
            <a:ext cx="5359921" cy="970450"/>
          </a:xfrm>
        </p:spPr>
        <p:txBody>
          <a:bodyPr>
            <a:normAutofit/>
          </a:bodyPr>
          <a:lstStyle/>
          <a:p>
            <a:pPr>
              <a:lnSpc>
                <a:spcPct val="90000"/>
              </a:lnSpc>
            </a:pPr>
            <a:r>
              <a:rPr lang="en-US" sz="3100"/>
              <a:t>Ethical Considerations for Using LLM’s</a:t>
            </a:r>
          </a:p>
        </p:txBody>
      </p:sp>
      <p:sp>
        <p:nvSpPr>
          <p:cNvPr id="6" name="Content Placeholder 5">
            <a:extLst>
              <a:ext uri="{FF2B5EF4-FFF2-40B4-BE49-F238E27FC236}">
                <a16:creationId xmlns:a16="http://schemas.microsoft.com/office/drawing/2014/main" id="{B946162C-E9FC-A95A-6D6D-378F7D8EE8CC}"/>
              </a:ext>
            </a:extLst>
          </p:cNvPr>
          <p:cNvSpPr>
            <a:spLocks noGrp="1"/>
          </p:cNvSpPr>
          <p:nvPr>
            <p:ph idx="1"/>
          </p:nvPr>
        </p:nvSpPr>
        <p:spPr>
          <a:xfrm>
            <a:off x="818712" y="2222287"/>
            <a:ext cx="5351209" cy="3636511"/>
          </a:xfrm>
        </p:spPr>
        <p:txBody>
          <a:bodyPr>
            <a:normAutofit/>
          </a:bodyPr>
          <a:lstStyle/>
          <a:p>
            <a:r>
              <a:rPr lang="en-US"/>
              <a:t>Academic Integrity</a:t>
            </a:r>
          </a:p>
          <a:p>
            <a:r>
              <a:rPr lang="en-US"/>
              <a:t>Content Creation</a:t>
            </a:r>
          </a:p>
          <a:p>
            <a:r>
              <a:rPr lang="en-US"/>
              <a:t>Authenticity</a:t>
            </a:r>
            <a:endParaRPr lang="en-US" dirty="0"/>
          </a:p>
        </p:txBody>
      </p:sp>
      <p:sp>
        <p:nvSpPr>
          <p:cNvPr id="22" name="Rectangle 21">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ack and white image of a person with a graduation cap and fingerprint&#10;&#10;Description automatically generated">
            <a:extLst>
              <a:ext uri="{FF2B5EF4-FFF2-40B4-BE49-F238E27FC236}">
                <a16:creationId xmlns:a16="http://schemas.microsoft.com/office/drawing/2014/main" id="{FF692D07-036A-7C8A-ACA3-A241412E5CCD}"/>
              </a:ext>
            </a:extLst>
          </p:cNvPr>
          <p:cNvPicPr>
            <a:picLocks noChangeAspect="1"/>
          </p:cNvPicPr>
          <p:nvPr/>
        </p:nvPicPr>
        <p:blipFill rotWithShape="1">
          <a:blip r:embed="rId3"/>
          <a:srcRect l="6084" r="5424" b="5"/>
          <a:stretch/>
        </p:blipFill>
        <p:spPr>
          <a:xfrm>
            <a:off x="7410517" y="1258529"/>
            <a:ext cx="3832042" cy="4330205"/>
          </a:xfrm>
          <a:prstGeom prst="rect">
            <a:avLst/>
          </a:prstGeom>
        </p:spPr>
      </p:pic>
    </p:spTree>
    <p:extLst>
      <p:ext uri="{BB962C8B-B14F-4D97-AF65-F5344CB8AC3E}">
        <p14:creationId xmlns:p14="http://schemas.microsoft.com/office/powerpoint/2010/main" val="29574910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5105</TotalTime>
  <Words>5611</Words>
  <Application>Microsoft Office PowerPoint</Application>
  <PresentationFormat>Widescreen</PresentationFormat>
  <Paragraphs>439</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Century Gothic</vt:lpstr>
      <vt:lpstr>Söhne</vt:lpstr>
      <vt:lpstr>Wingdings 2</vt:lpstr>
      <vt:lpstr>Quotable</vt:lpstr>
      <vt:lpstr>AI FUNDAMENTALS</vt:lpstr>
      <vt:lpstr>TOPICS</vt:lpstr>
      <vt:lpstr>The Importance of Effective Prompts</vt:lpstr>
      <vt:lpstr>Basics of Creating Prompts</vt:lpstr>
      <vt:lpstr>Writing Effective Prompts</vt:lpstr>
      <vt:lpstr>Advanced Prompt Techniques</vt:lpstr>
      <vt:lpstr>Types of Prompts</vt:lpstr>
      <vt:lpstr>Components of a Prompt</vt:lpstr>
      <vt:lpstr>Structures for Well-Formed Prompts</vt:lpstr>
      <vt:lpstr>Enhancing Prompt Effectiveness</vt:lpstr>
      <vt:lpstr>Managing Length and Memory in GPT</vt:lpstr>
      <vt:lpstr>Technical Limitations of GPT</vt:lpstr>
      <vt:lpstr>Informational Query Examples</vt:lpstr>
      <vt:lpstr>Creative Writing Examples</vt:lpstr>
      <vt:lpstr>Conversational Engagement Examples</vt:lpstr>
      <vt:lpstr>Technical Assistance Examples</vt:lpstr>
      <vt:lpstr>Instructional Guidance Examples</vt:lpstr>
      <vt:lpstr>Managing Complex Interactions</vt:lpstr>
      <vt:lpstr>What is DALL-E?</vt:lpstr>
      <vt:lpstr>Blending Detail and Simplicity</vt:lpstr>
      <vt:lpstr>Artistic Styles of DALL·E</vt:lpstr>
      <vt:lpstr>Make Prompts More Effective</vt:lpstr>
      <vt:lpstr>Simple Commands for DALL-E</vt:lpstr>
      <vt:lpstr>More Complex Commands for DALL-E</vt:lpstr>
      <vt:lpstr>What to Put in the Prompts</vt:lpstr>
      <vt:lpstr>Example 1</vt:lpstr>
      <vt:lpstr>Example 2</vt:lpstr>
      <vt:lpstr>Example 3</vt:lpstr>
      <vt:lpstr>Ethical Considerations for Using LLM’s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Chestnut, Temple D</dc:creator>
  <cp:lastModifiedBy>Chestnut, Temple D</cp:lastModifiedBy>
  <cp:revision>3</cp:revision>
  <dcterms:created xsi:type="dcterms:W3CDTF">2024-04-06T22:53:51Z</dcterms:created>
  <dcterms:modified xsi:type="dcterms:W3CDTF">2024-07-27T16:59:45Z</dcterms:modified>
</cp:coreProperties>
</file>