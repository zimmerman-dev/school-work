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3"/>
  </p:notesMasterIdLst>
  <p:sldIdLst>
    <p:sldId id="256" r:id="rId2"/>
    <p:sldId id="257" r:id="rId3"/>
    <p:sldId id="258" r:id="rId4"/>
    <p:sldId id="267" r:id="rId5"/>
    <p:sldId id="268" r:id="rId6"/>
    <p:sldId id="269" r:id="rId7"/>
    <p:sldId id="270" r:id="rId8"/>
    <p:sldId id="271" r:id="rId9"/>
    <p:sldId id="272" r:id="rId10"/>
    <p:sldId id="273" r:id="rId11"/>
    <p:sldId id="274" r:id="rId12"/>
    <p:sldId id="275" r:id="rId13"/>
    <p:sldId id="259" r:id="rId14"/>
    <p:sldId id="276" r:id="rId15"/>
    <p:sldId id="277" r:id="rId16"/>
    <p:sldId id="278" r:id="rId17"/>
    <p:sldId id="279" r:id="rId18"/>
    <p:sldId id="280" r:id="rId19"/>
    <p:sldId id="281" r:id="rId20"/>
    <p:sldId id="282" r:id="rId21"/>
    <p:sldId id="283"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A000"/>
    <a:srgbClr val="5A478F"/>
    <a:srgbClr val="E1595C"/>
    <a:srgbClr val="22B05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1" autoAdjust="0"/>
    <p:restoredTop sz="78961" autoAdjust="0"/>
  </p:normalViewPr>
  <p:slideViewPr>
    <p:cSldViewPr snapToGrid="0">
      <p:cViewPr varScale="1">
        <p:scale>
          <a:sx n="88" d="100"/>
          <a:sy n="88" d="100"/>
        </p:scale>
        <p:origin x="65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colors1.xml><?xml version="1.0" encoding="utf-8"?>
<dgm:colorsDef xmlns:dgm="http://schemas.openxmlformats.org/drawingml/2006/diagram" xmlns:a="http://schemas.openxmlformats.org/drawingml/2006/main" uniqueId="urn:microsoft.com/office/officeart/2018/5/colors/Iconchunking_neutralbg_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a:alpha val="0"/>
      </a:schemeClr>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007857F-A7AD-4CE5-8155-DA3DB5607C8E}" type="doc">
      <dgm:prSet loTypeId="urn:microsoft.com/office/officeart/2018/5/layout/IconCircleLabelList" loCatId="icon" qsTypeId="urn:microsoft.com/office/officeart/2005/8/quickstyle/simple1" qsCatId="simple" csTypeId="urn:microsoft.com/office/officeart/2018/5/colors/Iconchunking_neutralbg_accent2_2" csCatId="accent2" phldr="1"/>
      <dgm:spPr/>
      <dgm:t>
        <a:bodyPr/>
        <a:lstStyle/>
        <a:p>
          <a:endParaRPr lang="en-US"/>
        </a:p>
      </dgm:t>
    </dgm:pt>
    <dgm:pt modelId="{18A408E1-BD0E-47F5-9857-53EADEB84E03}">
      <dgm:prSet/>
      <dgm:spPr/>
      <dgm:t>
        <a:bodyPr/>
        <a:lstStyle/>
        <a:p>
          <a:pPr>
            <a:defRPr cap="all"/>
          </a:pPr>
          <a:r>
            <a:rPr lang="en-US"/>
            <a:t>Speech recognition requires additional information such as syllables, pitch, cadence, and other sound-specific attributes are associated with the words</a:t>
          </a:r>
        </a:p>
      </dgm:t>
    </dgm:pt>
    <dgm:pt modelId="{E2DA0DC4-CB2C-4BA4-A500-147996E4C123}" type="parTrans" cxnId="{D920E126-082B-4F4F-BC3C-CD7125610250}">
      <dgm:prSet/>
      <dgm:spPr/>
      <dgm:t>
        <a:bodyPr/>
        <a:lstStyle/>
        <a:p>
          <a:endParaRPr lang="en-US"/>
        </a:p>
      </dgm:t>
    </dgm:pt>
    <dgm:pt modelId="{DECD2ECC-F628-415A-B2C1-8E55C642D646}" type="sibTrans" cxnId="{D920E126-082B-4F4F-BC3C-CD7125610250}">
      <dgm:prSet/>
      <dgm:spPr/>
      <dgm:t>
        <a:bodyPr/>
        <a:lstStyle/>
        <a:p>
          <a:endParaRPr lang="en-US"/>
        </a:p>
      </dgm:t>
    </dgm:pt>
    <dgm:pt modelId="{8AACA6C8-8A6E-4581-853E-81EB2467112F}">
      <dgm:prSet/>
      <dgm:spPr/>
      <dgm:t>
        <a:bodyPr/>
        <a:lstStyle/>
        <a:p>
          <a:pPr>
            <a:defRPr cap="all"/>
          </a:pPr>
          <a:r>
            <a:rPr lang="en-US" dirty="0"/>
            <a:t>Pauses between spoken words, sentences, paragraphs all convey additional information which must be captured by recognition systems for understanding</a:t>
          </a:r>
        </a:p>
      </dgm:t>
    </dgm:pt>
    <dgm:pt modelId="{26DD28CC-B9EF-4913-A1B6-6C24D9417454}" type="parTrans" cxnId="{FA0ABA8E-6AF4-4A94-85E5-05F8D37EBB59}">
      <dgm:prSet/>
      <dgm:spPr/>
      <dgm:t>
        <a:bodyPr/>
        <a:lstStyle/>
        <a:p>
          <a:endParaRPr lang="en-US"/>
        </a:p>
      </dgm:t>
    </dgm:pt>
    <dgm:pt modelId="{3C59FB7C-9608-4317-96B6-838033725B73}" type="sibTrans" cxnId="{FA0ABA8E-6AF4-4A94-85E5-05F8D37EBB59}">
      <dgm:prSet/>
      <dgm:spPr/>
      <dgm:t>
        <a:bodyPr/>
        <a:lstStyle/>
        <a:p>
          <a:endParaRPr lang="en-US"/>
        </a:p>
      </dgm:t>
    </dgm:pt>
    <dgm:pt modelId="{89EB6E11-FD01-43E6-A852-2D25B6E5A8A2}">
      <dgm:prSet/>
      <dgm:spPr/>
      <dgm:t>
        <a:bodyPr/>
        <a:lstStyle/>
        <a:p>
          <a:pPr>
            <a:defRPr cap="all"/>
          </a:pPr>
          <a:r>
            <a:rPr lang="en-US" dirty="0"/>
            <a:t>Regional dialects, accents, and other sentence sounds produced for questions, outburst, and exclamation convey even more information</a:t>
          </a:r>
        </a:p>
      </dgm:t>
    </dgm:pt>
    <dgm:pt modelId="{25BB9BB2-4316-4ACC-893A-46186A00A635}" type="parTrans" cxnId="{1E365F27-B3F7-4F78-B1CC-CC2A6B700C8A}">
      <dgm:prSet/>
      <dgm:spPr/>
      <dgm:t>
        <a:bodyPr/>
        <a:lstStyle/>
        <a:p>
          <a:endParaRPr lang="en-US"/>
        </a:p>
      </dgm:t>
    </dgm:pt>
    <dgm:pt modelId="{752A3DEF-A427-475A-95C9-0A1A20C1DAA3}" type="sibTrans" cxnId="{1E365F27-B3F7-4F78-B1CC-CC2A6B700C8A}">
      <dgm:prSet/>
      <dgm:spPr/>
      <dgm:t>
        <a:bodyPr/>
        <a:lstStyle/>
        <a:p>
          <a:endParaRPr lang="en-US"/>
        </a:p>
      </dgm:t>
    </dgm:pt>
    <dgm:pt modelId="{93CEA015-BD06-461D-8A41-DDC2B5E37328}">
      <dgm:prSet/>
      <dgm:spPr/>
      <dgm:t>
        <a:bodyPr/>
        <a:lstStyle/>
        <a:p>
          <a:pPr>
            <a:defRPr cap="all"/>
          </a:pPr>
          <a:r>
            <a:rPr lang="en-US"/>
            <a:t>Even emotion can affect the spoken word which can affect recognition</a:t>
          </a:r>
        </a:p>
      </dgm:t>
    </dgm:pt>
    <dgm:pt modelId="{DFECFB43-2D75-492C-8401-92585283CFD7}" type="parTrans" cxnId="{03565552-C052-4958-846B-4E65D2113A36}">
      <dgm:prSet/>
      <dgm:spPr/>
      <dgm:t>
        <a:bodyPr/>
        <a:lstStyle/>
        <a:p>
          <a:endParaRPr lang="en-US"/>
        </a:p>
      </dgm:t>
    </dgm:pt>
    <dgm:pt modelId="{08410024-7C5A-4EE0-9F92-433CEC189E5F}" type="sibTrans" cxnId="{03565552-C052-4958-846B-4E65D2113A36}">
      <dgm:prSet/>
      <dgm:spPr/>
      <dgm:t>
        <a:bodyPr/>
        <a:lstStyle/>
        <a:p>
          <a:endParaRPr lang="en-US"/>
        </a:p>
      </dgm:t>
    </dgm:pt>
    <dgm:pt modelId="{1D386CA9-7FC1-4C3D-919F-0AB61E9D1244}" type="pres">
      <dgm:prSet presAssocID="{B007857F-A7AD-4CE5-8155-DA3DB5607C8E}" presName="root" presStyleCnt="0">
        <dgm:presLayoutVars>
          <dgm:dir/>
          <dgm:resizeHandles val="exact"/>
        </dgm:presLayoutVars>
      </dgm:prSet>
      <dgm:spPr/>
    </dgm:pt>
    <dgm:pt modelId="{BC4095A3-9DF2-4941-8296-459B0582423F}" type="pres">
      <dgm:prSet presAssocID="{18A408E1-BD0E-47F5-9857-53EADEB84E03}" presName="compNode" presStyleCnt="0"/>
      <dgm:spPr/>
    </dgm:pt>
    <dgm:pt modelId="{6756949A-65AA-4CC4-B80D-3A01EF5F442F}" type="pres">
      <dgm:prSet presAssocID="{18A408E1-BD0E-47F5-9857-53EADEB84E03}" presName="iconBgRect" presStyleLbl="bgShp" presStyleIdx="0" presStyleCnt="4"/>
      <dgm:spPr/>
    </dgm:pt>
    <dgm:pt modelId="{ADCEF6C9-89C6-4885-8421-4CFE2F274258}" type="pres">
      <dgm:prSet presAssocID="{18A408E1-BD0E-47F5-9857-53EADEB84E03}"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usic Notes"/>
        </a:ext>
      </dgm:extLst>
    </dgm:pt>
    <dgm:pt modelId="{626C995E-D1B5-4AF3-961F-2BA25CBDFD25}" type="pres">
      <dgm:prSet presAssocID="{18A408E1-BD0E-47F5-9857-53EADEB84E03}" presName="spaceRect" presStyleCnt="0"/>
      <dgm:spPr/>
    </dgm:pt>
    <dgm:pt modelId="{3ACAF46C-1BC6-4824-9CE3-19B654977B60}" type="pres">
      <dgm:prSet presAssocID="{18A408E1-BD0E-47F5-9857-53EADEB84E03}" presName="textRect" presStyleLbl="revTx" presStyleIdx="0" presStyleCnt="4">
        <dgm:presLayoutVars>
          <dgm:chMax val="1"/>
          <dgm:chPref val="1"/>
        </dgm:presLayoutVars>
      </dgm:prSet>
      <dgm:spPr/>
    </dgm:pt>
    <dgm:pt modelId="{FB37C661-6783-4312-B970-3909F4AB9E00}" type="pres">
      <dgm:prSet presAssocID="{DECD2ECC-F628-415A-B2C1-8E55C642D646}" presName="sibTrans" presStyleCnt="0"/>
      <dgm:spPr/>
    </dgm:pt>
    <dgm:pt modelId="{2A90B253-380B-4A53-9D65-BDE092129728}" type="pres">
      <dgm:prSet presAssocID="{8AACA6C8-8A6E-4581-853E-81EB2467112F}" presName="compNode" presStyleCnt="0"/>
      <dgm:spPr/>
    </dgm:pt>
    <dgm:pt modelId="{A52EEBC0-958F-4EB4-84E9-629876BB3AB5}" type="pres">
      <dgm:prSet presAssocID="{8AACA6C8-8A6E-4581-853E-81EB2467112F}" presName="iconBgRect" presStyleLbl="bgShp" presStyleIdx="1" presStyleCnt="4"/>
      <dgm:spPr/>
    </dgm:pt>
    <dgm:pt modelId="{880D135B-B370-4412-B45A-CA8D1054446F}" type="pres">
      <dgm:prSet presAssocID="{8AACA6C8-8A6E-4581-853E-81EB2467112F}"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ubtitles"/>
        </a:ext>
      </dgm:extLst>
    </dgm:pt>
    <dgm:pt modelId="{76B7E4B2-424A-460A-A400-B6E6E34BA66F}" type="pres">
      <dgm:prSet presAssocID="{8AACA6C8-8A6E-4581-853E-81EB2467112F}" presName="spaceRect" presStyleCnt="0"/>
      <dgm:spPr/>
    </dgm:pt>
    <dgm:pt modelId="{ACF7458F-DAD4-4412-941A-C7EEFEDB4D7E}" type="pres">
      <dgm:prSet presAssocID="{8AACA6C8-8A6E-4581-853E-81EB2467112F}" presName="textRect" presStyleLbl="revTx" presStyleIdx="1" presStyleCnt="4">
        <dgm:presLayoutVars>
          <dgm:chMax val="1"/>
          <dgm:chPref val="1"/>
        </dgm:presLayoutVars>
      </dgm:prSet>
      <dgm:spPr/>
    </dgm:pt>
    <dgm:pt modelId="{16BA4A86-656B-4FA5-A773-8E6D5E6ADDA8}" type="pres">
      <dgm:prSet presAssocID="{3C59FB7C-9608-4317-96B6-838033725B73}" presName="sibTrans" presStyleCnt="0"/>
      <dgm:spPr/>
    </dgm:pt>
    <dgm:pt modelId="{DB6139C6-733D-4489-AAFC-88582316AE10}" type="pres">
      <dgm:prSet presAssocID="{89EB6E11-FD01-43E6-A852-2D25B6E5A8A2}" presName="compNode" presStyleCnt="0"/>
      <dgm:spPr/>
    </dgm:pt>
    <dgm:pt modelId="{3B0EBA0C-A144-4DDA-93E7-CF8DA1ED6F18}" type="pres">
      <dgm:prSet presAssocID="{89EB6E11-FD01-43E6-A852-2D25B6E5A8A2}" presName="iconBgRect" presStyleLbl="bgShp" presStyleIdx="2" presStyleCnt="4"/>
      <dgm:spPr/>
    </dgm:pt>
    <dgm:pt modelId="{07E1DBC0-EA4A-4B0D-9F92-78B9577424F9}" type="pres">
      <dgm:prSet presAssocID="{89EB6E11-FD01-43E6-A852-2D25B6E5A8A2}"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Exclamation Mark"/>
        </a:ext>
      </dgm:extLst>
    </dgm:pt>
    <dgm:pt modelId="{DEDFABE7-4E77-423D-A69A-01ADA59ABC16}" type="pres">
      <dgm:prSet presAssocID="{89EB6E11-FD01-43E6-A852-2D25B6E5A8A2}" presName="spaceRect" presStyleCnt="0"/>
      <dgm:spPr/>
    </dgm:pt>
    <dgm:pt modelId="{010C6F9C-76AF-40A3-BAC5-D76A9CEA6FC4}" type="pres">
      <dgm:prSet presAssocID="{89EB6E11-FD01-43E6-A852-2D25B6E5A8A2}" presName="textRect" presStyleLbl="revTx" presStyleIdx="2" presStyleCnt="4">
        <dgm:presLayoutVars>
          <dgm:chMax val="1"/>
          <dgm:chPref val="1"/>
        </dgm:presLayoutVars>
      </dgm:prSet>
      <dgm:spPr/>
    </dgm:pt>
    <dgm:pt modelId="{A957D5E4-E415-4FD6-97E2-D05F96AB00A7}" type="pres">
      <dgm:prSet presAssocID="{752A3DEF-A427-475A-95C9-0A1A20C1DAA3}" presName="sibTrans" presStyleCnt="0"/>
      <dgm:spPr/>
    </dgm:pt>
    <dgm:pt modelId="{B30D1D7B-1CD5-4376-A9D7-1C823AD70AC5}" type="pres">
      <dgm:prSet presAssocID="{93CEA015-BD06-461D-8A41-DDC2B5E37328}" presName="compNode" presStyleCnt="0"/>
      <dgm:spPr/>
    </dgm:pt>
    <dgm:pt modelId="{773BA6F8-B7A0-4938-A0D9-00E6A778EDCF}" type="pres">
      <dgm:prSet presAssocID="{93CEA015-BD06-461D-8A41-DDC2B5E37328}" presName="iconBgRect" presStyleLbl="bgShp" presStyleIdx="3" presStyleCnt="4"/>
      <dgm:spPr/>
    </dgm:pt>
    <dgm:pt modelId="{53F6C5EB-F884-4F96-B76C-6A8580DED61A}" type="pres">
      <dgm:prSet presAssocID="{93CEA015-BD06-461D-8A41-DDC2B5E37328}"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rain in head"/>
        </a:ext>
      </dgm:extLst>
    </dgm:pt>
    <dgm:pt modelId="{5D76E175-D570-4A05-A347-1AF49D5F042D}" type="pres">
      <dgm:prSet presAssocID="{93CEA015-BD06-461D-8A41-DDC2B5E37328}" presName="spaceRect" presStyleCnt="0"/>
      <dgm:spPr/>
    </dgm:pt>
    <dgm:pt modelId="{0034BA4F-0715-47AC-A868-56CF6336D70F}" type="pres">
      <dgm:prSet presAssocID="{93CEA015-BD06-461D-8A41-DDC2B5E37328}" presName="textRect" presStyleLbl="revTx" presStyleIdx="3" presStyleCnt="4">
        <dgm:presLayoutVars>
          <dgm:chMax val="1"/>
          <dgm:chPref val="1"/>
        </dgm:presLayoutVars>
      </dgm:prSet>
      <dgm:spPr/>
    </dgm:pt>
  </dgm:ptLst>
  <dgm:cxnLst>
    <dgm:cxn modelId="{BB229311-D27F-497E-9000-50C7DF28CD6A}" type="presOf" srcId="{B007857F-A7AD-4CE5-8155-DA3DB5607C8E}" destId="{1D386CA9-7FC1-4C3D-919F-0AB61E9D1244}" srcOrd="0" destOrd="0" presId="urn:microsoft.com/office/officeart/2018/5/layout/IconCircleLabelList"/>
    <dgm:cxn modelId="{D920E126-082B-4F4F-BC3C-CD7125610250}" srcId="{B007857F-A7AD-4CE5-8155-DA3DB5607C8E}" destId="{18A408E1-BD0E-47F5-9857-53EADEB84E03}" srcOrd="0" destOrd="0" parTransId="{E2DA0DC4-CB2C-4BA4-A500-147996E4C123}" sibTransId="{DECD2ECC-F628-415A-B2C1-8E55C642D646}"/>
    <dgm:cxn modelId="{1E365F27-B3F7-4F78-B1CC-CC2A6B700C8A}" srcId="{B007857F-A7AD-4CE5-8155-DA3DB5607C8E}" destId="{89EB6E11-FD01-43E6-A852-2D25B6E5A8A2}" srcOrd="2" destOrd="0" parTransId="{25BB9BB2-4316-4ACC-893A-46186A00A635}" sibTransId="{752A3DEF-A427-475A-95C9-0A1A20C1DAA3}"/>
    <dgm:cxn modelId="{6CB3A94B-655D-45A3-8E55-19E07E4CC883}" type="presOf" srcId="{8AACA6C8-8A6E-4581-853E-81EB2467112F}" destId="{ACF7458F-DAD4-4412-941A-C7EEFEDB4D7E}" srcOrd="0" destOrd="0" presId="urn:microsoft.com/office/officeart/2018/5/layout/IconCircleLabelList"/>
    <dgm:cxn modelId="{03565552-C052-4958-846B-4E65D2113A36}" srcId="{B007857F-A7AD-4CE5-8155-DA3DB5607C8E}" destId="{93CEA015-BD06-461D-8A41-DDC2B5E37328}" srcOrd="3" destOrd="0" parTransId="{DFECFB43-2D75-492C-8401-92585283CFD7}" sibTransId="{08410024-7C5A-4EE0-9F92-433CEC189E5F}"/>
    <dgm:cxn modelId="{FA0ABA8E-6AF4-4A94-85E5-05F8D37EBB59}" srcId="{B007857F-A7AD-4CE5-8155-DA3DB5607C8E}" destId="{8AACA6C8-8A6E-4581-853E-81EB2467112F}" srcOrd="1" destOrd="0" parTransId="{26DD28CC-B9EF-4913-A1B6-6C24D9417454}" sibTransId="{3C59FB7C-9608-4317-96B6-838033725B73}"/>
    <dgm:cxn modelId="{3D1035AC-2FF8-410B-AE1C-F75297C5E5C8}" type="presOf" srcId="{93CEA015-BD06-461D-8A41-DDC2B5E37328}" destId="{0034BA4F-0715-47AC-A868-56CF6336D70F}" srcOrd="0" destOrd="0" presId="urn:microsoft.com/office/officeart/2018/5/layout/IconCircleLabelList"/>
    <dgm:cxn modelId="{C28A4DD3-3728-4802-B0B5-71FB75FADF7C}" type="presOf" srcId="{18A408E1-BD0E-47F5-9857-53EADEB84E03}" destId="{3ACAF46C-1BC6-4824-9CE3-19B654977B60}" srcOrd="0" destOrd="0" presId="urn:microsoft.com/office/officeart/2018/5/layout/IconCircleLabelList"/>
    <dgm:cxn modelId="{4B5C72DF-1792-463A-9E38-36ACA321EC4F}" type="presOf" srcId="{89EB6E11-FD01-43E6-A852-2D25B6E5A8A2}" destId="{010C6F9C-76AF-40A3-BAC5-D76A9CEA6FC4}" srcOrd="0" destOrd="0" presId="urn:microsoft.com/office/officeart/2018/5/layout/IconCircleLabelList"/>
    <dgm:cxn modelId="{850734D7-ACF7-423F-86FA-AAEC366A84C6}" type="presParOf" srcId="{1D386CA9-7FC1-4C3D-919F-0AB61E9D1244}" destId="{BC4095A3-9DF2-4941-8296-459B0582423F}" srcOrd="0" destOrd="0" presId="urn:microsoft.com/office/officeart/2018/5/layout/IconCircleLabelList"/>
    <dgm:cxn modelId="{ED8ECE77-947A-4D12-8AC8-9E7DD28FCAE6}" type="presParOf" srcId="{BC4095A3-9DF2-4941-8296-459B0582423F}" destId="{6756949A-65AA-4CC4-B80D-3A01EF5F442F}" srcOrd="0" destOrd="0" presId="urn:microsoft.com/office/officeart/2018/5/layout/IconCircleLabelList"/>
    <dgm:cxn modelId="{164203AE-83DF-44EB-BE60-EF648D4C958A}" type="presParOf" srcId="{BC4095A3-9DF2-4941-8296-459B0582423F}" destId="{ADCEF6C9-89C6-4885-8421-4CFE2F274258}" srcOrd="1" destOrd="0" presId="urn:microsoft.com/office/officeart/2018/5/layout/IconCircleLabelList"/>
    <dgm:cxn modelId="{10F8EED1-8480-4C99-B762-24782ACF77BD}" type="presParOf" srcId="{BC4095A3-9DF2-4941-8296-459B0582423F}" destId="{626C995E-D1B5-4AF3-961F-2BA25CBDFD25}" srcOrd="2" destOrd="0" presId="urn:microsoft.com/office/officeart/2018/5/layout/IconCircleLabelList"/>
    <dgm:cxn modelId="{3C8D3628-A6ED-4173-8933-810A3A938FF4}" type="presParOf" srcId="{BC4095A3-9DF2-4941-8296-459B0582423F}" destId="{3ACAF46C-1BC6-4824-9CE3-19B654977B60}" srcOrd="3" destOrd="0" presId="urn:microsoft.com/office/officeart/2018/5/layout/IconCircleLabelList"/>
    <dgm:cxn modelId="{ACEE4B73-1230-4ED6-918F-6804A7D74469}" type="presParOf" srcId="{1D386CA9-7FC1-4C3D-919F-0AB61E9D1244}" destId="{FB37C661-6783-4312-B970-3909F4AB9E00}" srcOrd="1" destOrd="0" presId="urn:microsoft.com/office/officeart/2018/5/layout/IconCircleLabelList"/>
    <dgm:cxn modelId="{D59F744C-352E-416E-A5D2-35184AC435A9}" type="presParOf" srcId="{1D386CA9-7FC1-4C3D-919F-0AB61E9D1244}" destId="{2A90B253-380B-4A53-9D65-BDE092129728}" srcOrd="2" destOrd="0" presId="urn:microsoft.com/office/officeart/2018/5/layout/IconCircleLabelList"/>
    <dgm:cxn modelId="{4B1A5C2A-EB4C-4BD2-91AF-A6AB55F5F062}" type="presParOf" srcId="{2A90B253-380B-4A53-9D65-BDE092129728}" destId="{A52EEBC0-958F-4EB4-84E9-629876BB3AB5}" srcOrd="0" destOrd="0" presId="urn:microsoft.com/office/officeart/2018/5/layout/IconCircleLabelList"/>
    <dgm:cxn modelId="{96389349-79F0-492D-A2D5-6DF6E7F1467A}" type="presParOf" srcId="{2A90B253-380B-4A53-9D65-BDE092129728}" destId="{880D135B-B370-4412-B45A-CA8D1054446F}" srcOrd="1" destOrd="0" presId="urn:microsoft.com/office/officeart/2018/5/layout/IconCircleLabelList"/>
    <dgm:cxn modelId="{A041AC0F-EB48-4B83-B098-B327C0CEF7F0}" type="presParOf" srcId="{2A90B253-380B-4A53-9D65-BDE092129728}" destId="{76B7E4B2-424A-460A-A400-B6E6E34BA66F}" srcOrd="2" destOrd="0" presId="urn:microsoft.com/office/officeart/2018/5/layout/IconCircleLabelList"/>
    <dgm:cxn modelId="{F491C3B1-9C3D-4956-9CFF-78077E41F4FE}" type="presParOf" srcId="{2A90B253-380B-4A53-9D65-BDE092129728}" destId="{ACF7458F-DAD4-4412-941A-C7EEFEDB4D7E}" srcOrd="3" destOrd="0" presId="urn:microsoft.com/office/officeart/2018/5/layout/IconCircleLabelList"/>
    <dgm:cxn modelId="{E7C67ADF-FEEE-41FE-9A83-C30DEE2018F7}" type="presParOf" srcId="{1D386CA9-7FC1-4C3D-919F-0AB61E9D1244}" destId="{16BA4A86-656B-4FA5-A773-8E6D5E6ADDA8}" srcOrd="3" destOrd="0" presId="urn:microsoft.com/office/officeart/2018/5/layout/IconCircleLabelList"/>
    <dgm:cxn modelId="{BBA140CB-3F34-4763-8F12-B20623CA3630}" type="presParOf" srcId="{1D386CA9-7FC1-4C3D-919F-0AB61E9D1244}" destId="{DB6139C6-733D-4489-AAFC-88582316AE10}" srcOrd="4" destOrd="0" presId="urn:microsoft.com/office/officeart/2018/5/layout/IconCircleLabelList"/>
    <dgm:cxn modelId="{9099DA76-742F-4F29-888F-EB2B7849FEA5}" type="presParOf" srcId="{DB6139C6-733D-4489-AAFC-88582316AE10}" destId="{3B0EBA0C-A144-4DDA-93E7-CF8DA1ED6F18}" srcOrd="0" destOrd="0" presId="urn:microsoft.com/office/officeart/2018/5/layout/IconCircleLabelList"/>
    <dgm:cxn modelId="{A380ADAD-D644-40AE-903D-091D1074BC0B}" type="presParOf" srcId="{DB6139C6-733D-4489-AAFC-88582316AE10}" destId="{07E1DBC0-EA4A-4B0D-9F92-78B9577424F9}" srcOrd="1" destOrd="0" presId="urn:microsoft.com/office/officeart/2018/5/layout/IconCircleLabelList"/>
    <dgm:cxn modelId="{DF3FEF9D-FA00-4946-A3A3-F96DB7BFE24A}" type="presParOf" srcId="{DB6139C6-733D-4489-AAFC-88582316AE10}" destId="{DEDFABE7-4E77-423D-A69A-01ADA59ABC16}" srcOrd="2" destOrd="0" presId="urn:microsoft.com/office/officeart/2018/5/layout/IconCircleLabelList"/>
    <dgm:cxn modelId="{06CB7714-0F77-44AD-BD4B-1D188BCE4633}" type="presParOf" srcId="{DB6139C6-733D-4489-AAFC-88582316AE10}" destId="{010C6F9C-76AF-40A3-BAC5-D76A9CEA6FC4}" srcOrd="3" destOrd="0" presId="urn:microsoft.com/office/officeart/2018/5/layout/IconCircleLabelList"/>
    <dgm:cxn modelId="{899FF11C-3E86-497A-917B-91470D436ECE}" type="presParOf" srcId="{1D386CA9-7FC1-4C3D-919F-0AB61E9D1244}" destId="{A957D5E4-E415-4FD6-97E2-D05F96AB00A7}" srcOrd="5" destOrd="0" presId="urn:microsoft.com/office/officeart/2018/5/layout/IconCircleLabelList"/>
    <dgm:cxn modelId="{63041F3E-E703-4205-AAD1-596000FE5D18}" type="presParOf" srcId="{1D386CA9-7FC1-4C3D-919F-0AB61E9D1244}" destId="{B30D1D7B-1CD5-4376-A9D7-1C823AD70AC5}" srcOrd="6" destOrd="0" presId="urn:microsoft.com/office/officeart/2018/5/layout/IconCircleLabelList"/>
    <dgm:cxn modelId="{DAC29AB6-14F0-4AB7-A7BC-0719BB455825}" type="presParOf" srcId="{B30D1D7B-1CD5-4376-A9D7-1C823AD70AC5}" destId="{773BA6F8-B7A0-4938-A0D9-00E6A778EDCF}" srcOrd="0" destOrd="0" presId="urn:microsoft.com/office/officeart/2018/5/layout/IconCircleLabelList"/>
    <dgm:cxn modelId="{825D79A1-BEB3-479E-98CA-867E443B8860}" type="presParOf" srcId="{B30D1D7B-1CD5-4376-A9D7-1C823AD70AC5}" destId="{53F6C5EB-F884-4F96-B76C-6A8580DED61A}" srcOrd="1" destOrd="0" presId="urn:microsoft.com/office/officeart/2018/5/layout/IconCircleLabelList"/>
    <dgm:cxn modelId="{560C1541-6FE0-4E68-B88D-46BC9CD07D15}" type="presParOf" srcId="{B30D1D7B-1CD5-4376-A9D7-1C823AD70AC5}" destId="{5D76E175-D570-4A05-A347-1AF49D5F042D}" srcOrd="2" destOrd="0" presId="urn:microsoft.com/office/officeart/2018/5/layout/IconCircleLabelList"/>
    <dgm:cxn modelId="{C865D4D1-C079-4E8D-AB75-C6FF7BD6E146}" type="presParOf" srcId="{B30D1D7B-1CD5-4376-A9D7-1C823AD70AC5}" destId="{0034BA4F-0715-47AC-A868-56CF6336D70F}"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56949A-65AA-4CC4-B80D-3A01EF5F442F}">
      <dsp:nvSpPr>
        <dsp:cNvPr id="0" name=""/>
        <dsp:cNvSpPr/>
      </dsp:nvSpPr>
      <dsp:spPr>
        <a:xfrm>
          <a:off x="989778" y="285986"/>
          <a:ext cx="1264867" cy="1264867"/>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DCEF6C9-89C6-4885-8421-4CFE2F274258}">
      <dsp:nvSpPr>
        <dsp:cNvPr id="0" name=""/>
        <dsp:cNvSpPr/>
      </dsp:nvSpPr>
      <dsp:spPr>
        <a:xfrm>
          <a:off x="1259340" y="555548"/>
          <a:ext cx="725743" cy="72574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ACAF46C-1BC6-4824-9CE3-19B654977B60}">
      <dsp:nvSpPr>
        <dsp:cNvPr id="0" name=""/>
        <dsp:cNvSpPr/>
      </dsp:nvSpPr>
      <dsp:spPr>
        <a:xfrm>
          <a:off x="585436" y="1944829"/>
          <a:ext cx="2073553" cy="108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Speech recognition requires additional information such as syllables, pitch, cadence, and other sound-specific attributes are associated with the words</a:t>
          </a:r>
        </a:p>
      </dsp:txBody>
      <dsp:txXfrm>
        <a:off x="585436" y="1944829"/>
        <a:ext cx="2073553" cy="1080000"/>
      </dsp:txXfrm>
    </dsp:sp>
    <dsp:sp modelId="{A52EEBC0-958F-4EB4-84E9-629876BB3AB5}">
      <dsp:nvSpPr>
        <dsp:cNvPr id="0" name=""/>
        <dsp:cNvSpPr/>
      </dsp:nvSpPr>
      <dsp:spPr>
        <a:xfrm>
          <a:off x="3426203" y="285986"/>
          <a:ext cx="1264867" cy="1264867"/>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80D135B-B370-4412-B45A-CA8D1054446F}">
      <dsp:nvSpPr>
        <dsp:cNvPr id="0" name=""/>
        <dsp:cNvSpPr/>
      </dsp:nvSpPr>
      <dsp:spPr>
        <a:xfrm>
          <a:off x="3695765" y="555548"/>
          <a:ext cx="725743" cy="72574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CF7458F-DAD4-4412-941A-C7EEFEDB4D7E}">
      <dsp:nvSpPr>
        <dsp:cNvPr id="0" name=""/>
        <dsp:cNvSpPr/>
      </dsp:nvSpPr>
      <dsp:spPr>
        <a:xfrm>
          <a:off x="3021860" y="1944829"/>
          <a:ext cx="2073553" cy="108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dirty="0"/>
            <a:t>Pauses between spoken words, sentences, paragraphs all convey additional information which must be captured by recognition systems for understanding</a:t>
          </a:r>
        </a:p>
      </dsp:txBody>
      <dsp:txXfrm>
        <a:off x="3021860" y="1944829"/>
        <a:ext cx="2073553" cy="1080000"/>
      </dsp:txXfrm>
    </dsp:sp>
    <dsp:sp modelId="{3B0EBA0C-A144-4DDA-93E7-CF8DA1ED6F18}">
      <dsp:nvSpPr>
        <dsp:cNvPr id="0" name=""/>
        <dsp:cNvSpPr/>
      </dsp:nvSpPr>
      <dsp:spPr>
        <a:xfrm>
          <a:off x="5862628" y="285986"/>
          <a:ext cx="1264867" cy="1264867"/>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7E1DBC0-EA4A-4B0D-9F92-78B9577424F9}">
      <dsp:nvSpPr>
        <dsp:cNvPr id="0" name=""/>
        <dsp:cNvSpPr/>
      </dsp:nvSpPr>
      <dsp:spPr>
        <a:xfrm>
          <a:off x="6132190" y="555548"/>
          <a:ext cx="725743" cy="72574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10C6F9C-76AF-40A3-BAC5-D76A9CEA6FC4}">
      <dsp:nvSpPr>
        <dsp:cNvPr id="0" name=""/>
        <dsp:cNvSpPr/>
      </dsp:nvSpPr>
      <dsp:spPr>
        <a:xfrm>
          <a:off x="5458285" y="1944829"/>
          <a:ext cx="2073553" cy="108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dirty="0"/>
            <a:t>Regional dialects, accents, and other sentence sounds produced for questions, outburst, and exclamation convey even more information</a:t>
          </a:r>
        </a:p>
      </dsp:txBody>
      <dsp:txXfrm>
        <a:off x="5458285" y="1944829"/>
        <a:ext cx="2073553" cy="1080000"/>
      </dsp:txXfrm>
    </dsp:sp>
    <dsp:sp modelId="{773BA6F8-B7A0-4938-A0D9-00E6A778EDCF}">
      <dsp:nvSpPr>
        <dsp:cNvPr id="0" name=""/>
        <dsp:cNvSpPr/>
      </dsp:nvSpPr>
      <dsp:spPr>
        <a:xfrm>
          <a:off x="8299053" y="285986"/>
          <a:ext cx="1264867" cy="1264867"/>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3F6C5EB-F884-4F96-B76C-6A8580DED61A}">
      <dsp:nvSpPr>
        <dsp:cNvPr id="0" name=""/>
        <dsp:cNvSpPr/>
      </dsp:nvSpPr>
      <dsp:spPr>
        <a:xfrm>
          <a:off x="8568615" y="555548"/>
          <a:ext cx="725743" cy="72574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034BA4F-0715-47AC-A868-56CF6336D70F}">
      <dsp:nvSpPr>
        <dsp:cNvPr id="0" name=""/>
        <dsp:cNvSpPr/>
      </dsp:nvSpPr>
      <dsp:spPr>
        <a:xfrm>
          <a:off x="7894710" y="1944829"/>
          <a:ext cx="2073553" cy="108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Even emotion can affect the spoken word which can affect recognition</a:t>
          </a:r>
        </a:p>
      </dsp:txBody>
      <dsp:txXfrm>
        <a:off x="7894710" y="1944829"/>
        <a:ext cx="2073553" cy="1080000"/>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711570-E675-4B70-89F9-ABE38C2DE57C}" type="datetimeFigureOut">
              <a:rPr lang="en-US" smtClean="0"/>
              <a:t>7/26/2024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963B08-52C8-4357-B046-887EE840B405}" type="slidenum">
              <a:rPr lang="en-US" smtClean="0"/>
              <a:t>‹#›</a:t>
            </a:fld>
            <a:endParaRPr lang="en-US"/>
          </a:p>
        </p:txBody>
      </p:sp>
    </p:spTree>
    <p:extLst>
      <p:ext uri="{BB962C8B-B14F-4D97-AF65-F5344CB8AC3E}">
        <p14:creationId xmlns:p14="http://schemas.microsoft.com/office/powerpoint/2010/main" val="24950983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5963B08-52C8-4357-B046-887EE840B405}" type="slidenum">
              <a:rPr lang="en-US" smtClean="0"/>
              <a:t>1</a:t>
            </a:fld>
            <a:endParaRPr lang="en-US"/>
          </a:p>
        </p:txBody>
      </p:sp>
    </p:spTree>
    <p:extLst>
      <p:ext uri="{BB962C8B-B14F-4D97-AF65-F5344CB8AC3E}">
        <p14:creationId xmlns:p14="http://schemas.microsoft.com/office/powerpoint/2010/main" val="9990454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Coplilot</a:t>
            </a:r>
            <a:r>
              <a:rPr lang="en-US" dirty="0"/>
              <a:t> Designer, 05312024; “</a:t>
            </a:r>
            <a:r>
              <a:rPr lang="en-US" b="0" i="0" dirty="0">
                <a:solidFill>
                  <a:srgbClr val="111111"/>
                </a:solidFill>
                <a:effectLst/>
                <a:highlight>
                  <a:srgbClr val="F7F7F7"/>
                </a:highlight>
                <a:latin typeface="-apple-system"/>
              </a:rPr>
              <a:t>a network of neurons firing with visible electrical </a:t>
            </a:r>
            <a:r>
              <a:rPr lang="en-US" b="0" i="0" dirty="0" err="1">
                <a:solidFill>
                  <a:srgbClr val="111111"/>
                </a:solidFill>
                <a:effectLst/>
                <a:highlight>
                  <a:srgbClr val="F7F7F7"/>
                </a:highlight>
                <a:latin typeface="-apple-system"/>
              </a:rPr>
              <a:t>inpulses</a:t>
            </a:r>
            <a:r>
              <a:rPr lang="en-US" b="0" i="0" dirty="0">
                <a:solidFill>
                  <a:srgbClr val="111111"/>
                </a:solidFill>
                <a:effectLst/>
                <a:highlight>
                  <a:srgbClr val="F7F7F7"/>
                </a:highlight>
                <a:latin typeface="-apple-system"/>
              </a:rPr>
              <a:t>”</a:t>
            </a:r>
            <a:endParaRPr lang="en-US" dirty="0"/>
          </a:p>
        </p:txBody>
      </p:sp>
      <p:sp>
        <p:nvSpPr>
          <p:cNvPr id="4" name="Slide Number Placeholder 3"/>
          <p:cNvSpPr>
            <a:spLocks noGrp="1"/>
          </p:cNvSpPr>
          <p:nvPr>
            <p:ph type="sldNum" sz="quarter" idx="5"/>
          </p:nvPr>
        </p:nvSpPr>
        <p:spPr/>
        <p:txBody>
          <a:bodyPr/>
          <a:lstStyle/>
          <a:p>
            <a:fld id="{95963B08-52C8-4357-B046-887EE840B405}" type="slidenum">
              <a:rPr lang="en-US" smtClean="0"/>
              <a:t>2</a:t>
            </a:fld>
            <a:endParaRPr lang="en-US"/>
          </a:p>
        </p:txBody>
      </p:sp>
    </p:spTree>
    <p:extLst>
      <p:ext uri="{BB962C8B-B14F-4D97-AF65-F5344CB8AC3E}">
        <p14:creationId xmlns:p14="http://schemas.microsoft.com/office/powerpoint/2010/main" val="36266809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Aptos" panose="020B0004020202020204" pitchFamily="34" charset="0"/>
                <a:ea typeface="Aptos" panose="020B0004020202020204" pitchFamily="34" charset="0"/>
                <a:cs typeface="Times New Roman" panose="02020603050405020304" pitchFamily="18" charset="0"/>
              </a:rPr>
              <a:t>Neurons are specialized cells in the brains of animal life. The neurons will pass messages to each other through neurotransmission. The messages influence whether a particular neuron will fire which in turn sends out new messages. The messages pass across structures called synapses between the neurons. Some neurons will transmit chemical messages while other neurons will use electrical transmission where ions transfer directly between the neurons across the synapse. As one or more neurons decide to fire, they send messages to other neurons, who then, in turn, send messages out until the process completes.</a:t>
            </a:r>
          </a:p>
          <a:p>
            <a:endParaRPr lang="en-US" sz="1800" dirty="0">
              <a:effectLst/>
              <a:latin typeface="Aptos" panose="020B0004020202020204" pitchFamily="34" charset="0"/>
              <a:cs typeface="Times New Roman" panose="02020603050405020304" pitchFamily="18" charset="0"/>
            </a:endParaRPr>
          </a:p>
          <a:p>
            <a:r>
              <a:rPr lang="en-US" sz="1800" dirty="0">
                <a:effectLst/>
                <a:latin typeface="Aptos" panose="020B0004020202020204" pitchFamily="34" charset="0"/>
                <a:cs typeface="Times New Roman" panose="02020603050405020304" pitchFamily="18" charset="0"/>
              </a:rPr>
              <a:t>Copilot Designer, 05312024; “</a:t>
            </a:r>
            <a:r>
              <a:rPr lang="en-US" b="0" i="0" dirty="0">
                <a:solidFill>
                  <a:srgbClr val="111111"/>
                </a:solidFill>
                <a:effectLst/>
                <a:highlight>
                  <a:srgbClr val="F7F7F7"/>
                </a:highlight>
                <a:latin typeface="-apple-system"/>
              </a:rPr>
              <a:t>image of a human brain with visible electrical arcs</a:t>
            </a:r>
            <a:r>
              <a:rPr lang="en-US" sz="1800" b="0" i="0" dirty="0">
                <a:solidFill>
                  <a:srgbClr val="111111"/>
                </a:solidFill>
                <a:effectLst/>
                <a:highlight>
                  <a:srgbClr val="F7F7F7"/>
                </a:highlight>
                <a:latin typeface="Aptos" panose="020B0004020202020204" pitchFamily="34" charset="0"/>
                <a:cs typeface="Times New Roman" panose="02020603050405020304" pitchFamily="18" charset="0"/>
              </a:rPr>
              <a:t>”</a:t>
            </a:r>
            <a:endParaRPr lang="en-US" dirty="0"/>
          </a:p>
        </p:txBody>
      </p:sp>
      <p:sp>
        <p:nvSpPr>
          <p:cNvPr id="4" name="Slide Number Placeholder 3"/>
          <p:cNvSpPr>
            <a:spLocks noGrp="1"/>
          </p:cNvSpPr>
          <p:nvPr>
            <p:ph type="sldNum" sz="quarter" idx="5"/>
          </p:nvPr>
        </p:nvSpPr>
        <p:spPr/>
        <p:txBody>
          <a:bodyPr/>
          <a:lstStyle/>
          <a:p>
            <a:fld id="{95963B08-52C8-4357-B046-887EE840B405}" type="slidenum">
              <a:rPr lang="en-US" smtClean="0"/>
              <a:t>3</a:t>
            </a:fld>
            <a:endParaRPr lang="en-US"/>
          </a:p>
        </p:txBody>
      </p:sp>
    </p:spTree>
    <p:extLst>
      <p:ext uri="{BB962C8B-B14F-4D97-AF65-F5344CB8AC3E}">
        <p14:creationId xmlns:p14="http://schemas.microsoft.com/office/powerpoint/2010/main" val="40764527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Aptos" panose="020B0004020202020204" pitchFamily="34" charset="0"/>
                <a:ea typeface="Aptos" panose="020B0004020202020204" pitchFamily="34" charset="0"/>
                <a:cs typeface="Times New Roman" panose="02020603050405020304" pitchFamily="18" charset="0"/>
              </a:rPr>
              <a:t>Computer neural networks may take on some characteristics of a cluster of neurons, but the similarity is only superficial. Neural networks are made up of multiple layers of interconnected nodes that can learn to perform tasks by analyzing examples, without being explicitly programmed. Each node is thought of as a neuron. The node has a numerical value assigned to it. </a:t>
            </a:r>
            <a:endParaRPr lang="en-US" dirty="0"/>
          </a:p>
        </p:txBody>
      </p:sp>
      <p:sp>
        <p:nvSpPr>
          <p:cNvPr id="4" name="Slide Number Placeholder 3"/>
          <p:cNvSpPr>
            <a:spLocks noGrp="1"/>
          </p:cNvSpPr>
          <p:nvPr>
            <p:ph type="sldNum" sz="quarter" idx="5"/>
          </p:nvPr>
        </p:nvSpPr>
        <p:spPr/>
        <p:txBody>
          <a:bodyPr/>
          <a:lstStyle/>
          <a:p>
            <a:fld id="{95963B08-52C8-4357-B046-887EE840B405}" type="slidenum">
              <a:rPr lang="en-US" smtClean="0"/>
              <a:t>4</a:t>
            </a:fld>
            <a:endParaRPr lang="en-US"/>
          </a:p>
        </p:txBody>
      </p:sp>
    </p:spTree>
    <p:extLst>
      <p:ext uri="{BB962C8B-B14F-4D97-AF65-F5344CB8AC3E}">
        <p14:creationId xmlns:p14="http://schemas.microsoft.com/office/powerpoint/2010/main" val="40164041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lnSpc>
                <a:spcPct val="107000"/>
              </a:lnSpc>
              <a:spcBef>
                <a:spcPts val="0"/>
              </a:spcBef>
              <a:spcAft>
                <a:spcPts val="0"/>
              </a:spcAft>
              <a:buFont typeface="Symbol" panose="05050102010706020507" pitchFamily="18"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Input Layer nodes receive numerical for processing by the Network</a:t>
            </a:r>
          </a:p>
          <a:p>
            <a:pPr marL="342900" marR="0" lvl="0" indent="-342900">
              <a:lnSpc>
                <a:spcPct val="107000"/>
              </a:lnSpc>
              <a:spcBef>
                <a:spcPts val="0"/>
              </a:spcBef>
              <a:spcAft>
                <a:spcPts val="0"/>
              </a:spcAft>
              <a:buFont typeface="Symbol" panose="05050102010706020507" pitchFamily="18"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Hidden Layer nodes are intermediate nodes between the Input and Output layers</a:t>
            </a:r>
          </a:p>
          <a:p>
            <a:pPr marL="342900" marR="0" lvl="0" indent="-342900">
              <a:lnSpc>
                <a:spcPct val="107000"/>
              </a:lnSpc>
              <a:spcBef>
                <a:spcPts val="0"/>
              </a:spcBef>
              <a:spcAft>
                <a:spcPts val="0"/>
              </a:spcAft>
              <a:buFont typeface="Symbol" panose="05050102010706020507" pitchFamily="18"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Output Layer nodes are the resulting values after the input nodes are processed</a:t>
            </a:r>
          </a:p>
          <a:p>
            <a:pPr marL="342900" marR="0" lvl="0" indent="-342900">
              <a:lnSpc>
                <a:spcPct val="107000"/>
              </a:lnSpc>
              <a:spcBef>
                <a:spcPts val="0"/>
              </a:spcBef>
              <a:spcAft>
                <a:spcPts val="800"/>
              </a:spcAft>
              <a:buFont typeface="Symbol" panose="05050102010706020507" pitchFamily="18"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Weights connect the Nodes forming a web of interconnections. In this way, each Node in a Layer is connected to every other Node in the next subsequent Layer. Each connection is called a Weight and has a numerical value associated with it. Weights are modified, as with the Node values, to strengthen pathways for the successful recall of information. Weights are established through Training.</a:t>
            </a:r>
          </a:p>
        </p:txBody>
      </p:sp>
      <p:sp>
        <p:nvSpPr>
          <p:cNvPr id="4" name="Slide Number Placeholder 3"/>
          <p:cNvSpPr>
            <a:spLocks noGrp="1"/>
          </p:cNvSpPr>
          <p:nvPr>
            <p:ph type="sldNum" sz="quarter" idx="5"/>
          </p:nvPr>
        </p:nvSpPr>
        <p:spPr/>
        <p:txBody>
          <a:bodyPr/>
          <a:lstStyle/>
          <a:p>
            <a:fld id="{95963B08-52C8-4357-B046-887EE840B405}" type="slidenum">
              <a:rPr lang="en-US" smtClean="0"/>
              <a:t>5</a:t>
            </a:fld>
            <a:endParaRPr lang="en-US"/>
          </a:p>
        </p:txBody>
      </p:sp>
    </p:spTree>
    <p:extLst>
      <p:ext uri="{BB962C8B-B14F-4D97-AF65-F5344CB8AC3E}">
        <p14:creationId xmlns:p14="http://schemas.microsoft.com/office/powerpoint/2010/main" val="5626391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lnSpc>
                <a:spcPct val="107000"/>
              </a:lnSpc>
              <a:spcBef>
                <a:spcPts val="0"/>
              </a:spcBef>
              <a:spcAft>
                <a:spcPts val="0"/>
              </a:spcAft>
              <a:buFont typeface="Symbol" panose="05050102010706020507" pitchFamily="18"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Input Layer nodes receive numerical for processing by the Network</a:t>
            </a:r>
          </a:p>
          <a:p>
            <a:pPr marL="342900" marR="0" lvl="0" indent="-342900">
              <a:lnSpc>
                <a:spcPct val="107000"/>
              </a:lnSpc>
              <a:spcBef>
                <a:spcPts val="0"/>
              </a:spcBef>
              <a:spcAft>
                <a:spcPts val="0"/>
              </a:spcAft>
              <a:buFont typeface="Symbol" panose="05050102010706020507" pitchFamily="18"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Hidden Layer nodes are intermediate nodes between the Input and Output layers</a:t>
            </a:r>
          </a:p>
          <a:p>
            <a:pPr marL="342900" marR="0" lvl="0" indent="-342900">
              <a:lnSpc>
                <a:spcPct val="107000"/>
              </a:lnSpc>
              <a:spcBef>
                <a:spcPts val="0"/>
              </a:spcBef>
              <a:spcAft>
                <a:spcPts val="0"/>
              </a:spcAft>
              <a:buFont typeface="Symbol" panose="05050102010706020507" pitchFamily="18"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Output Layer nodes are the resulting values after the input nodes are processed</a:t>
            </a:r>
          </a:p>
          <a:p>
            <a:pPr marL="342900" marR="0" lvl="0" indent="-342900">
              <a:lnSpc>
                <a:spcPct val="107000"/>
              </a:lnSpc>
              <a:spcBef>
                <a:spcPts val="0"/>
              </a:spcBef>
              <a:spcAft>
                <a:spcPts val="800"/>
              </a:spcAft>
              <a:buFont typeface="Symbol" panose="05050102010706020507" pitchFamily="18"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Weights connect the Nodes forming a web of interconnections. In this way, each Node in a Layer is connected to every other Node in the next subsequent Layer. Each connection is called a Weight and has a numerical value associated with it. Weights are modified, as with the Node values, to strengthen pathways for the successful recall of information. Weights are established through Training.</a:t>
            </a:r>
          </a:p>
        </p:txBody>
      </p:sp>
      <p:sp>
        <p:nvSpPr>
          <p:cNvPr id="4" name="Slide Number Placeholder 3"/>
          <p:cNvSpPr>
            <a:spLocks noGrp="1"/>
          </p:cNvSpPr>
          <p:nvPr>
            <p:ph type="sldNum" sz="quarter" idx="5"/>
          </p:nvPr>
        </p:nvSpPr>
        <p:spPr/>
        <p:txBody>
          <a:bodyPr/>
          <a:lstStyle/>
          <a:p>
            <a:fld id="{95963B08-52C8-4357-B046-887EE840B405}" type="slidenum">
              <a:rPr lang="en-US" smtClean="0"/>
              <a:t>6</a:t>
            </a:fld>
            <a:endParaRPr lang="en-US"/>
          </a:p>
        </p:txBody>
      </p:sp>
    </p:spTree>
    <p:extLst>
      <p:ext uri="{BB962C8B-B14F-4D97-AF65-F5344CB8AC3E}">
        <p14:creationId xmlns:p14="http://schemas.microsoft.com/office/powerpoint/2010/main" val="4286962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lnSpc>
                <a:spcPct val="107000"/>
              </a:lnSpc>
              <a:spcBef>
                <a:spcPts val="0"/>
              </a:spcBef>
              <a:spcAft>
                <a:spcPts val="0"/>
              </a:spcAft>
              <a:buFont typeface="Symbol" panose="05050102010706020507" pitchFamily="18"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Input Layer nodes receive numerical for processing by the Network</a:t>
            </a:r>
          </a:p>
          <a:p>
            <a:pPr marL="342900" marR="0" lvl="0" indent="-342900">
              <a:lnSpc>
                <a:spcPct val="107000"/>
              </a:lnSpc>
              <a:spcBef>
                <a:spcPts val="0"/>
              </a:spcBef>
              <a:spcAft>
                <a:spcPts val="0"/>
              </a:spcAft>
              <a:buFont typeface="Symbol" panose="05050102010706020507" pitchFamily="18"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Hidden Layer nodes are intermediate nodes between the Input and Output layers</a:t>
            </a:r>
          </a:p>
          <a:p>
            <a:pPr marL="342900" marR="0" lvl="0" indent="-342900">
              <a:lnSpc>
                <a:spcPct val="107000"/>
              </a:lnSpc>
              <a:spcBef>
                <a:spcPts val="0"/>
              </a:spcBef>
              <a:spcAft>
                <a:spcPts val="0"/>
              </a:spcAft>
              <a:buFont typeface="Symbol" panose="05050102010706020507" pitchFamily="18"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Output Layer nodes are the resulting values after the input nodes are processed</a:t>
            </a:r>
          </a:p>
          <a:p>
            <a:pPr marL="342900" marR="0" lvl="0" indent="-342900">
              <a:lnSpc>
                <a:spcPct val="107000"/>
              </a:lnSpc>
              <a:spcBef>
                <a:spcPts val="0"/>
              </a:spcBef>
              <a:spcAft>
                <a:spcPts val="800"/>
              </a:spcAft>
              <a:buFont typeface="Symbol" panose="05050102010706020507" pitchFamily="18"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Weights connect the Nodes forming a web of interconnections. In this way, each Node in a Layer is connected to every other Node in the next subsequent Layer. Each connection is called a Weight and has a numerical value associated with it. Weights are modified, as with the Node values, to strengthen pathways for the successful recall of information. Weights are established through Training.</a:t>
            </a:r>
          </a:p>
        </p:txBody>
      </p:sp>
      <p:sp>
        <p:nvSpPr>
          <p:cNvPr id="4" name="Slide Number Placeholder 3"/>
          <p:cNvSpPr>
            <a:spLocks noGrp="1"/>
          </p:cNvSpPr>
          <p:nvPr>
            <p:ph type="sldNum" sz="quarter" idx="5"/>
          </p:nvPr>
        </p:nvSpPr>
        <p:spPr/>
        <p:txBody>
          <a:bodyPr/>
          <a:lstStyle/>
          <a:p>
            <a:fld id="{95963B08-52C8-4357-B046-887EE840B405}" type="slidenum">
              <a:rPr lang="en-US" smtClean="0"/>
              <a:t>7</a:t>
            </a:fld>
            <a:endParaRPr lang="en-US"/>
          </a:p>
        </p:txBody>
      </p:sp>
    </p:spTree>
    <p:extLst>
      <p:ext uri="{BB962C8B-B14F-4D97-AF65-F5344CB8AC3E}">
        <p14:creationId xmlns:p14="http://schemas.microsoft.com/office/powerpoint/2010/main" val="7537922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lnSpc>
                <a:spcPct val="107000"/>
              </a:lnSpc>
              <a:spcBef>
                <a:spcPts val="0"/>
              </a:spcBef>
              <a:spcAft>
                <a:spcPts val="0"/>
              </a:spcAft>
              <a:buFont typeface="Symbol" panose="05050102010706020507" pitchFamily="18"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Input Layer nodes receive numerical for processing by the Network</a:t>
            </a:r>
          </a:p>
          <a:p>
            <a:pPr marL="342900" marR="0" lvl="0" indent="-342900">
              <a:lnSpc>
                <a:spcPct val="107000"/>
              </a:lnSpc>
              <a:spcBef>
                <a:spcPts val="0"/>
              </a:spcBef>
              <a:spcAft>
                <a:spcPts val="0"/>
              </a:spcAft>
              <a:buFont typeface="Symbol" panose="05050102010706020507" pitchFamily="18"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Hidden Layer nodes are intermediate nodes between the Input and Output layers</a:t>
            </a:r>
          </a:p>
          <a:p>
            <a:pPr marL="342900" marR="0" lvl="0" indent="-342900">
              <a:lnSpc>
                <a:spcPct val="107000"/>
              </a:lnSpc>
              <a:spcBef>
                <a:spcPts val="0"/>
              </a:spcBef>
              <a:spcAft>
                <a:spcPts val="0"/>
              </a:spcAft>
              <a:buFont typeface="Symbol" panose="05050102010706020507" pitchFamily="18"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Output Layer nodes are the resulting values after the input nodes are processed</a:t>
            </a:r>
          </a:p>
          <a:p>
            <a:pPr marL="342900" marR="0" lvl="0" indent="-342900">
              <a:lnSpc>
                <a:spcPct val="107000"/>
              </a:lnSpc>
              <a:spcBef>
                <a:spcPts val="0"/>
              </a:spcBef>
              <a:spcAft>
                <a:spcPts val="800"/>
              </a:spcAft>
              <a:buFont typeface="Symbol" panose="05050102010706020507" pitchFamily="18"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Weights connect the Nodes forming a web of interconnections. In this way, each Node in a Layer is connected to every other Node in the next subsequent Layer. Each connection is called a Weight and has a numerical value associated with it. Weights are modified, as with the Node values, to strengthen pathways for the successful recall of information. Weights are established through Training.</a:t>
            </a:r>
          </a:p>
        </p:txBody>
      </p:sp>
      <p:sp>
        <p:nvSpPr>
          <p:cNvPr id="4" name="Slide Number Placeholder 3"/>
          <p:cNvSpPr>
            <a:spLocks noGrp="1"/>
          </p:cNvSpPr>
          <p:nvPr>
            <p:ph type="sldNum" sz="quarter" idx="5"/>
          </p:nvPr>
        </p:nvSpPr>
        <p:spPr/>
        <p:txBody>
          <a:bodyPr/>
          <a:lstStyle/>
          <a:p>
            <a:fld id="{95963B08-52C8-4357-B046-887EE840B405}" type="slidenum">
              <a:rPr lang="en-US" smtClean="0"/>
              <a:t>8</a:t>
            </a:fld>
            <a:endParaRPr lang="en-US"/>
          </a:p>
        </p:txBody>
      </p:sp>
    </p:spTree>
    <p:extLst>
      <p:ext uri="{BB962C8B-B14F-4D97-AF65-F5344CB8AC3E}">
        <p14:creationId xmlns:p14="http://schemas.microsoft.com/office/powerpoint/2010/main" val="38839013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lnSpc>
                <a:spcPct val="107000"/>
              </a:lnSpc>
              <a:spcBef>
                <a:spcPts val="0"/>
              </a:spcBef>
              <a:spcAft>
                <a:spcPts val="0"/>
              </a:spcAft>
              <a:buFont typeface="Symbol" panose="05050102010706020507" pitchFamily="18"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Input Layer nodes receive numerical for processing by the Network</a:t>
            </a:r>
          </a:p>
          <a:p>
            <a:pPr marL="342900" marR="0" lvl="0" indent="-342900">
              <a:lnSpc>
                <a:spcPct val="107000"/>
              </a:lnSpc>
              <a:spcBef>
                <a:spcPts val="0"/>
              </a:spcBef>
              <a:spcAft>
                <a:spcPts val="0"/>
              </a:spcAft>
              <a:buFont typeface="Symbol" panose="05050102010706020507" pitchFamily="18"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Hidden Layer nodes are intermediate nodes between the Input and Output layers</a:t>
            </a:r>
          </a:p>
          <a:p>
            <a:pPr marL="342900" marR="0" lvl="0" indent="-342900">
              <a:lnSpc>
                <a:spcPct val="107000"/>
              </a:lnSpc>
              <a:spcBef>
                <a:spcPts val="0"/>
              </a:spcBef>
              <a:spcAft>
                <a:spcPts val="0"/>
              </a:spcAft>
              <a:buFont typeface="Symbol" panose="05050102010706020507" pitchFamily="18"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Output Layer nodes are the resulting values after the input nodes are processed</a:t>
            </a:r>
          </a:p>
          <a:p>
            <a:pPr marL="342900" marR="0" lvl="0" indent="-342900">
              <a:lnSpc>
                <a:spcPct val="107000"/>
              </a:lnSpc>
              <a:spcBef>
                <a:spcPts val="0"/>
              </a:spcBef>
              <a:spcAft>
                <a:spcPts val="800"/>
              </a:spcAft>
              <a:buFont typeface="Symbol" panose="05050102010706020507" pitchFamily="18"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Weights connect the Nodes forming a web of interconnections. In this way, each Node in a Layer is connected to every other Node in the next subsequent Layer. Each connection is called a Weight and has a numerical value associated with it. Weights are modified, as with the Node values, to strengthen pathways for the successful recall of information. Weights are established through Training.</a:t>
            </a:r>
          </a:p>
        </p:txBody>
      </p:sp>
      <p:sp>
        <p:nvSpPr>
          <p:cNvPr id="4" name="Slide Number Placeholder 3"/>
          <p:cNvSpPr>
            <a:spLocks noGrp="1"/>
          </p:cNvSpPr>
          <p:nvPr>
            <p:ph type="sldNum" sz="quarter" idx="5"/>
          </p:nvPr>
        </p:nvSpPr>
        <p:spPr/>
        <p:txBody>
          <a:bodyPr/>
          <a:lstStyle/>
          <a:p>
            <a:fld id="{95963B08-52C8-4357-B046-887EE840B405}" type="slidenum">
              <a:rPr lang="en-US" smtClean="0"/>
              <a:t>9</a:t>
            </a:fld>
            <a:endParaRPr lang="en-US"/>
          </a:p>
        </p:txBody>
      </p:sp>
    </p:spTree>
    <p:extLst>
      <p:ext uri="{BB962C8B-B14F-4D97-AF65-F5344CB8AC3E}">
        <p14:creationId xmlns:p14="http://schemas.microsoft.com/office/powerpoint/2010/main" val="38371330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Shallow Neural Network contains three layers: Input, Hidden, and Output. A Network is defined at creation to contain X-number of nodes in each layer. Hence a 3-5-2 Network will have 3 Input node values, 5 Hidden values, and 2 Output values. The Input and Output node quantities are dependent upon the problem to be solved or the system that incorporates the Network. Shallow Networks are sufficient for many recall solutions. Its accuracy is largely dependent upon the node count of the layers and the training performed. </a:t>
            </a:r>
          </a:p>
          <a:p>
            <a:r>
              <a:rPr lang="en-US" dirty="0"/>
              <a:t>A Deep Neural Network contains more than 3 layers: Input, N-Hidden, and Output. The number of Hidden layers is what makes it “deep”. The higher the Hidden layer count, the more complex the data that can be accepted as input. Deep Neural Networks drive most modern implementations. The large number of Hidden layers allows for complex input such as media, object scene graphs, and large textual datasets.</a:t>
            </a:r>
          </a:p>
          <a:p>
            <a:endParaRPr lang="en-US" dirty="0"/>
          </a:p>
        </p:txBody>
      </p:sp>
      <p:sp>
        <p:nvSpPr>
          <p:cNvPr id="4" name="Slide Number Placeholder 3"/>
          <p:cNvSpPr>
            <a:spLocks noGrp="1"/>
          </p:cNvSpPr>
          <p:nvPr>
            <p:ph type="sldNum" sz="quarter" idx="5"/>
          </p:nvPr>
        </p:nvSpPr>
        <p:spPr/>
        <p:txBody>
          <a:bodyPr/>
          <a:lstStyle/>
          <a:p>
            <a:fld id="{95963B08-52C8-4357-B046-887EE840B405}" type="slidenum">
              <a:rPr lang="en-US" smtClean="0"/>
              <a:t>10</a:t>
            </a:fld>
            <a:endParaRPr lang="en-US"/>
          </a:p>
        </p:txBody>
      </p:sp>
    </p:spTree>
    <p:extLst>
      <p:ext uri="{BB962C8B-B14F-4D97-AF65-F5344CB8AC3E}">
        <p14:creationId xmlns:p14="http://schemas.microsoft.com/office/powerpoint/2010/main" val="3686892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5963B08-52C8-4357-B046-887EE840B405}" type="slidenum">
              <a:rPr lang="en-US" smtClean="0"/>
              <a:t>11</a:t>
            </a:fld>
            <a:endParaRPr lang="en-US"/>
          </a:p>
        </p:txBody>
      </p:sp>
    </p:spTree>
    <p:extLst>
      <p:ext uri="{BB962C8B-B14F-4D97-AF65-F5344CB8AC3E}">
        <p14:creationId xmlns:p14="http://schemas.microsoft.com/office/powerpoint/2010/main" val="4106825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5963B08-52C8-4357-B046-887EE840B405}" type="slidenum">
              <a:rPr lang="en-US" smtClean="0"/>
              <a:t>12</a:t>
            </a:fld>
            <a:endParaRPr lang="en-US"/>
          </a:p>
        </p:txBody>
      </p:sp>
    </p:spTree>
    <p:extLst>
      <p:ext uri="{BB962C8B-B14F-4D97-AF65-F5344CB8AC3E}">
        <p14:creationId xmlns:p14="http://schemas.microsoft.com/office/powerpoint/2010/main" val="12199199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lnSpc>
                <a:spcPct val="107000"/>
              </a:lnSpc>
              <a:spcBef>
                <a:spcPts val="0"/>
              </a:spcBef>
              <a:spcAft>
                <a:spcPts val="0"/>
              </a:spcAft>
              <a:buFont typeface="+mj-lt"/>
              <a:buAutoNum type="arabicPeriod"/>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Network is fed each input value to process for the current output value</a:t>
            </a:r>
          </a:p>
          <a:p>
            <a:pPr marL="342900" marR="0" lvl="0" indent="-342900">
              <a:lnSpc>
                <a:spcPct val="107000"/>
              </a:lnSpc>
              <a:spcBef>
                <a:spcPts val="0"/>
              </a:spcBef>
              <a:spcAft>
                <a:spcPts val="0"/>
              </a:spcAft>
              <a:buFont typeface="+mj-lt"/>
              <a:buAutoNum type="arabicPeriod"/>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The current output value is compared against the ideal output value</a:t>
            </a:r>
          </a:p>
          <a:p>
            <a:pPr marL="342900" marR="0" lvl="0" indent="-342900">
              <a:lnSpc>
                <a:spcPct val="107000"/>
              </a:lnSpc>
              <a:spcBef>
                <a:spcPts val="0"/>
              </a:spcBef>
              <a:spcAft>
                <a:spcPts val="0"/>
              </a:spcAft>
              <a:buFont typeface="+mj-lt"/>
              <a:buAutoNum type="arabicPeriod"/>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Error, deltas, and threshold values are calculated from the difference between output values. This is called the Backpropagation of Errors.</a:t>
            </a:r>
          </a:p>
          <a:p>
            <a:pPr marL="342900" marR="0" lvl="0" indent="-342900">
              <a:lnSpc>
                <a:spcPct val="107000"/>
              </a:lnSpc>
              <a:spcBef>
                <a:spcPts val="0"/>
              </a:spcBef>
              <a:spcAft>
                <a:spcPts val="0"/>
              </a:spcAft>
              <a:buFont typeface="+mj-lt"/>
              <a:buAutoNum type="arabicPeriod"/>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The Network is adjusted to account for the new changes</a:t>
            </a:r>
          </a:p>
          <a:p>
            <a:pPr marL="342900" marR="0" lvl="0" indent="-342900">
              <a:lnSpc>
                <a:spcPct val="107000"/>
              </a:lnSpc>
              <a:spcBef>
                <a:spcPts val="0"/>
              </a:spcBef>
              <a:spcAft>
                <a:spcPts val="800"/>
              </a:spcAft>
              <a:buFont typeface="+mj-lt"/>
              <a:buAutoNum type="arabicPeriod"/>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Once all input values are processed, the entire process starts over until the overall Error Rate reaches the desired level that was set at the beginning of the Training or the Cycle count has been reached</a:t>
            </a:r>
          </a:p>
        </p:txBody>
      </p:sp>
      <p:sp>
        <p:nvSpPr>
          <p:cNvPr id="4" name="Slide Number Placeholder 3"/>
          <p:cNvSpPr>
            <a:spLocks noGrp="1"/>
          </p:cNvSpPr>
          <p:nvPr>
            <p:ph type="sldNum" sz="quarter" idx="5"/>
          </p:nvPr>
        </p:nvSpPr>
        <p:spPr/>
        <p:txBody>
          <a:bodyPr/>
          <a:lstStyle/>
          <a:p>
            <a:fld id="{95963B08-52C8-4357-B046-887EE840B405}" type="slidenum">
              <a:rPr lang="en-US" smtClean="0"/>
              <a:t>13</a:t>
            </a:fld>
            <a:endParaRPr lang="en-US"/>
          </a:p>
        </p:txBody>
      </p:sp>
    </p:spTree>
    <p:extLst>
      <p:ext uri="{BB962C8B-B14F-4D97-AF65-F5344CB8AC3E}">
        <p14:creationId xmlns:p14="http://schemas.microsoft.com/office/powerpoint/2010/main" val="21698734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nSpc>
                <a:spcPct val="107000"/>
              </a:lnSpc>
              <a:spcBef>
                <a:spcPts val="0"/>
              </a:spcBef>
              <a:spcAft>
                <a:spcPts val="0"/>
              </a:spcAft>
              <a:buFont typeface="Symbol" panose="05050102010706020507" pitchFamily="18" charset="2"/>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Copilot Designer, 05312024; “</a:t>
            </a:r>
            <a:r>
              <a:rPr lang="en-US" sz="2800" b="0" i="0" dirty="0">
                <a:solidFill>
                  <a:srgbClr val="111111"/>
                </a:solidFill>
                <a:effectLst/>
                <a:highlight>
                  <a:srgbClr val="F7F7F7"/>
                </a:highlight>
                <a:latin typeface="-apple-system"/>
              </a:rPr>
              <a:t>a professional woman in a white lab coat typing at a computer on a desktop in an office”</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95963B08-52C8-4357-B046-887EE840B405}" type="slidenum">
              <a:rPr lang="en-US" smtClean="0"/>
              <a:t>14</a:t>
            </a:fld>
            <a:endParaRPr lang="en-US"/>
          </a:p>
        </p:txBody>
      </p:sp>
    </p:spTree>
    <p:extLst>
      <p:ext uri="{BB962C8B-B14F-4D97-AF65-F5344CB8AC3E}">
        <p14:creationId xmlns:p14="http://schemas.microsoft.com/office/powerpoint/2010/main" val="20096638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Networks can be trained via Unsupervised Learning also. This removes the human from the loop by increasing the size of the Network dramatically and including new tuning parameters to allow the Network to self-classify data as it Trains. This approach is less costly in terms of human resources but more costly in terms of power, time, and potential errors. Unsupervised Learning allows the Network to identify new classifications and relationships that may have been undetected in the data before processing. This carries both a positive and negative effect. The positive effect appears when new, unknown relationships in the data is established. The negative effect emerges in the form of “hallucinations” or errors in the data where relationships are identified which may have no semantic or logical basis.</a:t>
            </a:r>
          </a:p>
        </p:txBody>
      </p:sp>
      <p:sp>
        <p:nvSpPr>
          <p:cNvPr id="4" name="Slide Number Placeholder 3"/>
          <p:cNvSpPr>
            <a:spLocks noGrp="1"/>
          </p:cNvSpPr>
          <p:nvPr>
            <p:ph type="sldNum" sz="quarter" idx="5"/>
          </p:nvPr>
        </p:nvSpPr>
        <p:spPr/>
        <p:txBody>
          <a:bodyPr/>
          <a:lstStyle/>
          <a:p>
            <a:fld id="{95963B08-52C8-4357-B046-887EE840B405}" type="slidenum">
              <a:rPr lang="en-US" smtClean="0"/>
              <a:t>15</a:t>
            </a:fld>
            <a:endParaRPr lang="en-US"/>
          </a:p>
        </p:txBody>
      </p:sp>
    </p:spTree>
    <p:extLst>
      <p:ext uri="{BB962C8B-B14F-4D97-AF65-F5344CB8AC3E}">
        <p14:creationId xmlns:p14="http://schemas.microsoft.com/office/powerpoint/2010/main" val="338401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5963B08-52C8-4357-B046-887EE840B405}" type="slidenum">
              <a:rPr lang="en-US" smtClean="0"/>
              <a:t>16</a:t>
            </a:fld>
            <a:endParaRPr lang="en-US"/>
          </a:p>
        </p:txBody>
      </p:sp>
    </p:spTree>
    <p:extLst>
      <p:ext uri="{BB962C8B-B14F-4D97-AF65-F5344CB8AC3E}">
        <p14:creationId xmlns:p14="http://schemas.microsoft.com/office/powerpoint/2010/main" val="16532403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Aptos" panose="020B0004020202020204" pitchFamily="34" charset="0"/>
                <a:ea typeface="Aptos" panose="020B0004020202020204" pitchFamily="34" charset="0"/>
                <a:cs typeface="Times New Roman" panose="02020603050405020304" pitchFamily="18" charset="0"/>
              </a:rPr>
              <a:t>Languages are built upon layers of constructs which allows speakers to communicate in an almost limitless way. Most languages utilize some form of symbols as a basic building block for forming words. These symbols can be letters, numerals, or shapes. The letters form words which represent objects, ideas, and concepts. Words are further classified into parts of speech such as noun, verbs, adjectives, and so on. Sentences are then formed from strings of words. Sentences can take on multiple forms themselves including simple, complex, compound, and compound-complex. Generally speaking, the greater the variation of sentence complexity, the more difficult systems will face attempting to parse the sentence for understanding</a:t>
            </a:r>
          </a:p>
          <a:p>
            <a:endParaRPr lang="en-US" sz="1800" dirty="0">
              <a:effectLst/>
              <a:latin typeface="Aptos" panose="020B0004020202020204" pitchFamily="34" charset="0"/>
              <a:cs typeface="Times New Roman" panose="02020603050405020304" pitchFamily="18" charset="0"/>
            </a:endParaRPr>
          </a:p>
          <a:p>
            <a:r>
              <a:rPr lang="en-US" sz="1800" dirty="0">
                <a:effectLst/>
                <a:latin typeface="Aptos" panose="020B0004020202020204" pitchFamily="34" charset="0"/>
                <a:cs typeface="Times New Roman" panose="02020603050405020304" pitchFamily="18" charset="0"/>
              </a:rPr>
              <a:t>Copilot Designer, 05312024; “</a:t>
            </a:r>
            <a:r>
              <a:rPr lang="en-US" b="0" i="0" dirty="0">
                <a:solidFill>
                  <a:srgbClr val="111111"/>
                </a:solidFill>
                <a:effectLst/>
                <a:highlight>
                  <a:srgbClr val="F7F7F7"/>
                </a:highlight>
                <a:latin typeface="-apple-system"/>
              </a:rPr>
              <a:t>image of children's blocks stacked with words on them saying "I want to code" with each word on a separate block with a classroom in the background”</a:t>
            </a:r>
            <a:endParaRPr lang="en-US" dirty="0"/>
          </a:p>
        </p:txBody>
      </p:sp>
      <p:sp>
        <p:nvSpPr>
          <p:cNvPr id="4" name="Slide Number Placeholder 3"/>
          <p:cNvSpPr>
            <a:spLocks noGrp="1"/>
          </p:cNvSpPr>
          <p:nvPr>
            <p:ph type="sldNum" sz="quarter" idx="5"/>
          </p:nvPr>
        </p:nvSpPr>
        <p:spPr/>
        <p:txBody>
          <a:bodyPr/>
          <a:lstStyle/>
          <a:p>
            <a:fld id="{95963B08-52C8-4357-B046-887EE840B405}" type="slidenum">
              <a:rPr lang="en-US" smtClean="0"/>
              <a:t>17</a:t>
            </a:fld>
            <a:endParaRPr lang="en-US"/>
          </a:p>
        </p:txBody>
      </p:sp>
    </p:spTree>
    <p:extLst>
      <p:ext uri="{BB962C8B-B14F-4D97-AF65-F5344CB8AC3E}">
        <p14:creationId xmlns:p14="http://schemas.microsoft.com/office/powerpoint/2010/main" val="24207122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Aptos" panose="020B0004020202020204" pitchFamily="34" charset="0"/>
                <a:ea typeface="Aptos" panose="020B0004020202020204" pitchFamily="34" charset="0"/>
                <a:cs typeface="Times New Roman" panose="02020603050405020304" pitchFamily="18" charset="0"/>
              </a:rPr>
              <a:t>In speech recognition, additional information such as syllables, pitch, cadence, and other sound-specific attributes are associated with the words. Pauses between spoken words, sentences, paragraphs all convey additional information which must be captured by recognition systems for understanding. Additionally, regional dialects, accents, and other sentence sounds produced for questions, outburst, and exclamation convey even more information. Finally, emotion can affect the spoken word which can affect recognition. Given the wide variety of languages and cultures world-wide where something sounding like an exclamation in one language may sound like a simple question in another, speech recognition systems require significant exposure and constant update to remain effective.</a:t>
            </a:r>
            <a:endParaRPr lang="en-US" dirty="0"/>
          </a:p>
        </p:txBody>
      </p:sp>
      <p:sp>
        <p:nvSpPr>
          <p:cNvPr id="4" name="Slide Number Placeholder 3"/>
          <p:cNvSpPr>
            <a:spLocks noGrp="1"/>
          </p:cNvSpPr>
          <p:nvPr>
            <p:ph type="sldNum" sz="quarter" idx="5"/>
          </p:nvPr>
        </p:nvSpPr>
        <p:spPr/>
        <p:txBody>
          <a:bodyPr/>
          <a:lstStyle/>
          <a:p>
            <a:fld id="{95963B08-52C8-4357-B046-887EE840B405}" type="slidenum">
              <a:rPr lang="en-US" smtClean="0"/>
              <a:t>18</a:t>
            </a:fld>
            <a:endParaRPr lang="en-US"/>
          </a:p>
        </p:txBody>
      </p:sp>
    </p:spTree>
    <p:extLst>
      <p:ext uri="{BB962C8B-B14F-4D97-AF65-F5344CB8AC3E}">
        <p14:creationId xmlns:p14="http://schemas.microsoft.com/office/powerpoint/2010/main" val="29390882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Aptos" panose="020B0004020202020204" pitchFamily="34" charset="0"/>
                <a:ea typeface="Aptos" panose="020B0004020202020204" pitchFamily="34" charset="0"/>
                <a:cs typeface="Times New Roman" panose="02020603050405020304" pitchFamily="18" charset="0"/>
              </a:rPr>
              <a:t>Early forms of NLP used constructs called Grammars. These constructs would aggregate words with their associated grammatical information into a lexicon. The grammars  and lexicons with their parsers (an algorithm which tokenizes each word in a sentence for processing) were developed up front. These lexicons would then be referenced when parsing a sentence. Given that the language rules were built into the parser, the complexity of the input sentences were only understood as well as the rules were defined in the parser. Understanding would come from identifying sentence structure, parts of speech that the words exhibit, actions, subjects, modifiers, etc. Sometimes, context of how the word was used and its relation to other words in the sentence and/or body of text was resolved. This is known as a Context-Sensitive Grammar. Parsers that used that type of grammar incurred significant development and processing costs as context is often difficult to resolve. Those systems were slower to process and still succumbed to misunderstandings. In contrast, Context-Free Grammars were not nearly as costly. Since their processing was only concerned with the parsing of the current sentence, their performance was substantially better albeit with greater misunderstanding because of lack of context.</a:t>
            </a:r>
            <a:endParaRPr lang="en-US" dirty="0"/>
          </a:p>
        </p:txBody>
      </p:sp>
      <p:sp>
        <p:nvSpPr>
          <p:cNvPr id="4" name="Slide Number Placeholder 3"/>
          <p:cNvSpPr>
            <a:spLocks noGrp="1"/>
          </p:cNvSpPr>
          <p:nvPr>
            <p:ph type="sldNum" sz="quarter" idx="5"/>
          </p:nvPr>
        </p:nvSpPr>
        <p:spPr/>
        <p:txBody>
          <a:bodyPr/>
          <a:lstStyle/>
          <a:p>
            <a:fld id="{95963B08-52C8-4357-B046-887EE840B405}" type="slidenum">
              <a:rPr lang="en-US" smtClean="0"/>
              <a:t>19</a:t>
            </a:fld>
            <a:endParaRPr lang="en-US"/>
          </a:p>
        </p:txBody>
      </p:sp>
    </p:spTree>
    <p:extLst>
      <p:ext uri="{BB962C8B-B14F-4D97-AF65-F5344CB8AC3E}">
        <p14:creationId xmlns:p14="http://schemas.microsoft.com/office/powerpoint/2010/main" val="36884061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5963B08-52C8-4357-B046-887EE840B405}" type="slidenum">
              <a:rPr lang="en-US" smtClean="0"/>
              <a:t>20</a:t>
            </a:fld>
            <a:endParaRPr lang="en-US"/>
          </a:p>
        </p:txBody>
      </p:sp>
    </p:spTree>
    <p:extLst>
      <p:ext uri="{BB962C8B-B14F-4D97-AF65-F5344CB8AC3E}">
        <p14:creationId xmlns:p14="http://schemas.microsoft.com/office/powerpoint/2010/main" val="1561038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Aptos" panose="020B0004020202020204" pitchFamily="34" charset="0"/>
                <a:ea typeface="Aptos" panose="020B0004020202020204" pitchFamily="34" charset="0"/>
                <a:cs typeface="Times New Roman" panose="02020603050405020304" pitchFamily="18" charset="0"/>
              </a:rPr>
              <a:t>Given the significant costs for developing grammars to process text, another approach using statistics emerged. The idea is to statistically guess the next work in a sequence given a previous number of words, or the enclosing sentence structure, and/or context of the word in the sentence. This means that while a lexicon of words would still be needed, the complexity of the Grammar could decrease and the Parser would not need nearly as many language rules. However, a significant amount of data would be needed to store the information related to word occurrence related to context and sentence structure. In the past, this storage requirement incurred a penalty of development cost as well. Furthermore, access to stores of textual information large enough to build the required datastore was not readily available. It would take decades of research and suitable technical advances before the statistical approach could take form in modern AI</a:t>
            </a:r>
            <a:endParaRPr lang="en-US" sz="1800" dirty="0"/>
          </a:p>
        </p:txBody>
      </p:sp>
      <p:sp>
        <p:nvSpPr>
          <p:cNvPr id="4" name="Slide Number Placeholder 3"/>
          <p:cNvSpPr>
            <a:spLocks noGrp="1"/>
          </p:cNvSpPr>
          <p:nvPr>
            <p:ph type="sldNum" sz="quarter" idx="5"/>
          </p:nvPr>
        </p:nvSpPr>
        <p:spPr/>
        <p:txBody>
          <a:bodyPr/>
          <a:lstStyle/>
          <a:p>
            <a:fld id="{95963B08-52C8-4357-B046-887EE840B405}" type="slidenum">
              <a:rPr lang="en-US" smtClean="0"/>
              <a:t>21</a:t>
            </a:fld>
            <a:endParaRPr lang="en-US"/>
          </a:p>
        </p:txBody>
      </p:sp>
    </p:spTree>
    <p:extLst>
      <p:ext uri="{BB962C8B-B14F-4D97-AF65-F5344CB8AC3E}">
        <p14:creationId xmlns:p14="http://schemas.microsoft.com/office/powerpoint/2010/main" val="27226540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8B9EBBA-996F-894A-B54A-D6246ED52CEA}" type="datetimeFigureOut">
              <a:rPr lang="en-US" dirty="0"/>
              <a:pPr/>
              <a:t>7/26/2024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en-US"/>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3A1323-8D79-1946-B0D7-40001CF92E9D}" type="datetimeFigureOut">
              <a:rPr lang="en-US" dirty="0"/>
              <a:pPr/>
              <a:t>7/26/2024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US"/>
              <a:t>Click to edit Master title style</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dirty="0"/>
              <a:pPr/>
              <a:t>7/26/2024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302355-E14B-8545-A8F8-0FE83CC9D524}" type="datetimeFigureOut">
              <a:rPr lang="en-US" dirty="0"/>
              <a:pPr/>
              <a:t>7/26/2024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2640F58-564D-2B4F-AE67-E407BA4FCF45}" type="datetimeFigureOut">
              <a:rPr lang="en-US" dirty="0"/>
              <a:pPr/>
              <a:t>7/26/2024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13A34C8-038E-2045-AF43-DF7DBB8E0E9E}" type="datetimeFigureOut">
              <a:rPr lang="en-US" dirty="0"/>
              <a:pPr/>
              <a:t>7/26/2024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18C68F-D26B-8F47-958C-23B49CF8A634}" type="datetimeFigureOut">
              <a:rPr lang="en-US" dirty="0"/>
              <a:pPr/>
              <a:t>7/26/2024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n-US"/>
              <a:t>Click to edit Master title style</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0DF5E60-9974-AC48-9591-99C2BB44B7CF}" type="datetimeFigureOut">
              <a:rPr lang="en-US" dirty="0"/>
              <a:pPr/>
              <a:t>7/26/2024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US"/>
              <a:t>Click to edit Master title style</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n-US"/>
              <a:t>Click icon to add picture</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885810" y="6041362"/>
            <a:ext cx="976879" cy="365125"/>
          </a:xfrm>
        </p:spPr>
        <p:txBody>
          <a:bodyPr/>
          <a:lstStyle/>
          <a:p>
            <a:fld id="{18C79C5D-2A6F-F04D-97DA-BEF2467B64E4}" type="datetimeFigureOut">
              <a:rPr lang="en-US" dirty="0"/>
              <a:pPr/>
              <a:t>7/26/2024</a:t>
            </a:fld>
            <a:endParaRPr lang="en-US" dirty="0"/>
          </a:p>
        </p:txBody>
      </p:sp>
      <p:sp>
        <p:nvSpPr>
          <p:cNvPr id="6" name="Footer Placeholder 5"/>
          <p:cNvSpPr>
            <a:spLocks noGrp="1"/>
          </p:cNvSpPr>
          <p:nvPr>
            <p:ph type="ftr" sz="quarter" idx="11"/>
          </p:nvPr>
        </p:nvSpPr>
        <p:spPr>
          <a:xfrm>
            <a:off x="590396" y="6041362"/>
            <a:ext cx="3295413" cy="365125"/>
          </a:xfrm>
        </p:spPr>
        <p:txBody>
          <a:bodyPr/>
          <a:lstStyle/>
          <a:p>
            <a:endParaRPr lang="en-US" dirty="0"/>
          </a:p>
        </p:txBody>
      </p:sp>
      <p:sp>
        <p:nvSpPr>
          <p:cNvPr id="7" name="Slide Number Placeholder 6"/>
          <p:cNvSpPr>
            <a:spLocks noGrp="1"/>
          </p:cNvSpPr>
          <p:nvPr>
            <p:ph type="sldNum" sz="quarter" idx="12"/>
          </p:nvPr>
        </p:nvSpPr>
        <p:spPr>
          <a:xfrm>
            <a:off x="4862689" y="5915888"/>
            <a:ext cx="1062155" cy="490599"/>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US"/>
              <a:t>Click to edit Master title style</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n-US"/>
              <a:t>Click icon to add picture</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C79C5D-2A6F-F04D-97DA-BEF2467B64E4}" type="datetimeFigureOut">
              <a:rPr lang="en-US" dirty="0"/>
              <a:pPr/>
              <a:t>7/26/2024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US"/>
              <a:t>Click to edit Master title style</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dirty="0"/>
              <a:pPr/>
              <a:t>7/26/2024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n-US"/>
              <a:t>Click to edit Master title style</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US"/>
              <a:t>Click to edit Master text styles</a:t>
            </a:r>
          </a:p>
        </p:txBody>
      </p:sp>
      <p:sp>
        <p:nvSpPr>
          <p:cNvPr id="2" name="Date Placeholder 1"/>
          <p:cNvSpPr>
            <a:spLocks noGrp="1"/>
          </p:cNvSpPr>
          <p:nvPr>
            <p:ph type="dt" sz="half" idx="10"/>
          </p:nvPr>
        </p:nvSpPr>
        <p:spPr/>
        <p:txBody>
          <a:bodyPr/>
          <a:lstStyle/>
          <a:p>
            <a:fld id="{FBF54567-0DE4-3F47-BF90-CB84690072F9}" type="datetimeFigureOut">
              <a:rPr lang="en-US" dirty="0"/>
              <a:pPr/>
              <a:t>7/26/2024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C52C72-DE31-F449-A4ED-4C594FD91407}" type="datetimeFigureOut">
              <a:rPr lang="en-US" dirty="0"/>
              <a:pPr/>
              <a:t>7/26/2024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62726E-379B-B349-9EED-81ED093FA806}" type="datetimeFigureOut">
              <a:rPr lang="en-US" dirty="0"/>
              <a:pPr/>
              <a:t>7/26/2024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dirty="0"/>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09B482E8-6E0E-1B4F-B1FD-C69DB9E858D9}" type="datetimeFigureOut">
              <a:rPr lang="en-US" dirty="0"/>
              <a:pPr/>
              <a:t>7/26/2024</a:t>
            </a:fld>
            <a:endParaRPr lang="en-US" dirty="0"/>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3" r:id="rId9"/>
    <p:sldLayoutId id="2147483657" r:id="rId10"/>
    <p:sldLayoutId id="2147483666" r:id="rId11"/>
    <p:sldLayoutId id="2147483661" r:id="rId12"/>
    <p:sldLayoutId id="2147483658" r:id="rId13"/>
    <p:sldLayoutId id="2147483659" r:id="rId14"/>
  </p:sldLayoutIdLst>
  <p:hf sldNum="0" hdr="0" ftr="0" dt="0"/>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276AD-F23B-1243-1F17-1DE59E1B8BC6}"/>
              </a:ext>
            </a:extLst>
          </p:cNvPr>
          <p:cNvSpPr>
            <a:spLocks noGrp="1"/>
          </p:cNvSpPr>
          <p:nvPr>
            <p:ph type="ctrTitle"/>
          </p:nvPr>
        </p:nvSpPr>
        <p:spPr/>
        <p:txBody>
          <a:bodyPr/>
          <a:lstStyle/>
          <a:p>
            <a:r>
              <a:rPr lang="en-US" dirty="0"/>
              <a:t>AI Fundamentals 	</a:t>
            </a:r>
          </a:p>
        </p:txBody>
      </p:sp>
      <p:sp>
        <p:nvSpPr>
          <p:cNvPr id="3" name="Subtitle 2">
            <a:extLst>
              <a:ext uri="{FF2B5EF4-FFF2-40B4-BE49-F238E27FC236}">
                <a16:creationId xmlns:a16="http://schemas.microsoft.com/office/drawing/2014/main" id="{ECEB3CB5-DFBF-DFD8-8D0A-8B56AC87F984}"/>
              </a:ext>
            </a:extLst>
          </p:cNvPr>
          <p:cNvSpPr>
            <a:spLocks noGrp="1"/>
          </p:cNvSpPr>
          <p:nvPr>
            <p:ph type="subTitle" idx="1"/>
          </p:nvPr>
        </p:nvSpPr>
        <p:spPr>
          <a:xfrm>
            <a:off x="810001" y="5280846"/>
            <a:ext cx="10572000" cy="1220437"/>
          </a:xfrm>
        </p:spPr>
        <p:txBody>
          <a:bodyPr>
            <a:normAutofit/>
          </a:bodyPr>
          <a:lstStyle/>
          <a:p>
            <a:r>
              <a:rPr lang="en-US" dirty="0"/>
              <a:t>Madison College</a:t>
            </a:r>
          </a:p>
          <a:p>
            <a:r>
              <a:rPr lang="en-US" dirty="0"/>
              <a:t>Week 02</a:t>
            </a:r>
          </a:p>
          <a:p>
            <a:r>
              <a:rPr lang="en-US" dirty="0">
                <a:solidFill>
                  <a:srgbClr val="FFFF00"/>
                </a:solidFill>
              </a:rPr>
              <a:t>Part 2: Machine Learning techniques - Neural Networks and Natural Language Processing</a:t>
            </a:r>
          </a:p>
        </p:txBody>
      </p:sp>
    </p:spTree>
    <p:extLst>
      <p:ext uri="{BB962C8B-B14F-4D97-AF65-F5344CB8AC3E}">
        <p14:creationId xmlns:p14="http://schemas.microsoft.com/office/powerpoint/2010/main" val="10718730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B872C-4465-3C44-1FA8-4195F885BD99}"/>
              </a:ext>
            </a:extLst>
          </p:cNvPr>
          <p:cNvSpPr>
            <a:spLocks noGrp="1"/>
          </p:cNvSpPr>
          <p:nvPr>
            <p:ph type="title"/>
          </p:nvPr>
        </p:nvSpPr>
        <p:spPr/>
        <p:txBody>
          <a:bodyPr/>
          <a:lstStyle/>
          <a:p>
            <a:r>
              <a:rPr lang="en-US" dirty="0"/>
              <a:t>Neural Networks</a:t>
            </a:r>
          </a:p>
        </p:txBody>
      </p:sp>
      <p:sp>
        <p:nvSpPr>
          <p:cNvPr id="3" name="Content Placeholder 2">
            <a:extLst>
              <a:ext uri="{FF2B5EF4-FFF2-40B4-BE49-F238E27FC236}">
                <a16:creationId xmlns:a16="http://schemas.microsoft.com/office/drawing/2014/main" id="{D9B6264D-9135-1B75-A6C4-8D4411D3012E}"/>
              </a:ext>
            </a:extLst>
          </p:cNvPr>
          <p:cNvSpPr>
            <a:spLocks noGrp="1"/>
          </p:cNvSpPr>
          <p:nvPr>
            <p:ph idx="1"/>
          </p:nvPr>
        </p:nvSpPr>
        <p:spPr>
          <a:xfrm>
            <a:off x="5956197" y="2426824"/>
            <a:ext cx="5870846" cy="3636511"/>
          </a:xfrm>
        </p:spPr>
        <p:txBody>
          <a:bodyPr>
            <a:normAutofit fontScale="92500"/>
          </a:bodyPr>
          <a:lstStyle/>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A neural network is a type of machine learning model that draws inspiration from the structure and function of a brain</a:t>
            </a:r>
          </a:p>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The network is composed of interconnected "artificial neurons" that work together to process and learn from data </a:t>
            </a:r>
          </a:p>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The modern advances in generative AI all have a common foundation in neural networks</a:t>
            </a:r>
          </a:p>
        </p:txBody>
      </p:sp>
      <p:pic>
        <p:nvPicPr>
          <p:cNvPr id="4" name="Picture 3">
            <a:extLst>
              <a:ext uri="{FF2B5EF4-FFF2-40B4-BE49-F238E27FC236}">
                <a16:creationId xmlns:a16="http://schemas.microsoft.com/office/drawing/2014/main" id="{64EBA26F-FC6A-0912-2535-40F9BFFE28C5}"/>
              </a:ext>
            </a:extLst>
          </p:cNvPr>
          <p:cNvPicPr>
            <a:picLocks noChangeAspect="1"/>
          </p:cNvPicPr>
          <p:nvPr/>
        </p:nvPicPr>
        <p:blipFill>
          <a:blip r:embed="rId3"/>
          <a:stretch>
            <a:fillRect/>
          </a:stretch>
        </p:blipFill>
        <p:spPr>
          <a:xfrm>
            <a:off x="0" y="1888957"/>
            <a:ext cx="5594684" cy="4969043"/>
          </a:xfrm>
          <a:prstGeom prst="rect">
            <a:avLst/>
          </a:prstGeom>
        </p:spPr>
      </p:pic>
    </p:spTree>
    <p:extLst>
      <p:ext uri="{BB962C8B-B14F-4D97-AF65-F5344CB8AC3E}">
        <p14:creationId xmlns:p14="http://schemas.microsoft.com/office/powerpoint/2010/main" val="4388091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B872C-4465-3C44-1FA8-4195F885BD99}"/>
              </a:ext>
            </a:extLst>
          </p:cNvPr>
          <p:cNvSpPr>
            <a:spLocks noGrp="1"/>
          </p:cNvSpPr>
          <p:nvPr>
            <p:ph type="title"/>
          </p:nvPr>
        </p:nvSpPr>
        <p:spPr/>
        <p:txBody>
          <a:bodyPr/>
          <a:lstStyle/>
          <a:p>
            <a:r>
              <a:rPr lang="en-US" dirty="0"/>
              <a:t>Brain Structure</a:t>
            </a:r>
          </a:p>
        </p:txBody>
      </p:sp>
      <p:sp>
        <p:nvSpPr>
          <p:cNvPr id="3" name="Content Placeholder 2">
            <a:extLst>
              <a:ext uri="{FF2B5EF4-FFF2-40B4-BE49-F238E27FC236}">
                <a16:creationId xmlns:a16="http://schemas.microsoft.com/office/drawing/2014/main" id="{D9B6264D-9135-1B75-A6C4-8D4411D3012E}"/>
              </a:ext>
            </a:extLst>
          </p:cNvPr>
          <p:cNvSpPr>
            <a:spLocks noGrp="1"/>
          </p:cNvSpPr>
          <p:nvPr>
            <p:ph sz="half" idx="1"/>
          </p:nvPr>
        </p:nvSpPr>
        <p:spPr>
          <a:xfrm>
            <a:off x="818712" y="2222287"/>
            <a:ext cx="5185873" cy="4419145"/>
          </a:xfrm>
        </p:spPr>
        <p:txBody>
          <a:bodyPr>
            <a:normAutofit fontScale="92500"/>
          </a:bodyPr>
          <a:lstStyle/>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Neurons are specialized cells in the brains of animal life which pass messages to each other through neurotransmission</a:t>
            </a:r>
          </a:p>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The messages influence whether a particular neuron will fire which in turn sends out new messages across synapses connecting the cells</a:t>
            </a:r>
          </a:p>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Some neurons transmit chemical messages while other neurons use electrical transmission where ions transfer directly between the neurons</a:t>
            </a:r>
          </a:p>
        </p:txBody>
      </p:sp>
      <p:pic>
        <p:nvPicPr>
          <p:cNvPr id="4" name="Picture 3">
            <a:extLst>
              <a:ext uri="{FF2B5EF4-FFF2-40B4-BE49-F238E27FC236}">
                <a16:creationId xmlns:a16="http://schemas.microsoft.com/office/drawing/2014/main" id="{2B1B2C9B-6C29-A17B-F62C-7238AA123524}"/>
              </a:ext>
            </a:extLst>
          </p:cNvPr>
          <p:cNvPicPr>
            <a:picLocks noChangeAspect="1"/>
          </p:cNvPicPr>
          <p:nvPr/>
        </p:nvPicPr>
        <p:blipFill>
          <a:blip r:embed="rId3"/>
          <a:stretch>
            <a:fillRect/>
          </a:stretch>
        </p:blipFill>
        <p:spPr>
          <a:xfrm>
            <a:off x="7230978" y="1904996"/>
            <a:ext cx="4953003" cy="4953003"/>
          </a:xfrm>
          <a:prstGeom prst="rect">
            <a:avLst/>
          </a:prstGeom>
        </p:spPr>
      </p:pic>
    </p:spTree>
    <p:extLst>
      <p:ext uri="{BB962C8B-B14F-4D97-AF65-F5344CB8AC3E}">
        <p14:creationId xmlns:p14="http://schemas.microsoft.com/office/powerpoint/2010/main" val="2192750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B872C-4465-3C44-1FA8-4195F885BD99}"/>
              </a:ext>
            </a:extLst>
          </p:cNvPr>
          <p:cNvSpPr>
            <a:spLocks noGrp="1"/>
          </p:cNvSpPr>
          <p:nvPr>
            <p:ph type="title"/>
          </p:nvPr>
        </p:nvSpPr>
        <p:spPr/>
        <p:txBody>
          <a:bodyPr/>
          <a:lstStyle/>
          <a:p>
            <a:r>
              <a:rPr lang="en-US" dirty="0"/>
              <a:t>Neural Network basics</a:t>
            </a:r>
          </a:p>
        </p:txBody>
      </p:sp>
      <p:sp>
        <p:nvSpPr>
          <p:cNvPr id="3" name="Content Placeholder 2">
            <a:extLst>
              <a:ext uri="{FF2B5EF4-FFF2-40B4-BE49-F238E27FC236}">
                <a16:creationId xmlns:a16="http://schemas.microsoft.com/office/drawing/2014/main" id="{D9B6264D-9135-1B75-A6C4-8D4411D3012E}"/>
              </a:ext>
            </a:extLst>
          </p:cNvPr>
          <p:cNvSpPr>
            <a:spLocks noGrp="1"/>
          </p:cNvSpPr>
          <p:nvPr>
            <p:ph idx="1"/>
          </p:nvPr>
        </p:nvSpPr>
        <p:spPr/>
        <p:txBody>
          <a:bodyPr>
            <a:normAutofit/>
          </a:bodyPr>
          <a:lstStyle/>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Computer neural networks may take on some characteristics of a cluster of neurons, but the similarity is only superficial</a:t>
            </a:r>
          </a:p>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Neural networks are made up of multiple layers of interconnected nodes that can learn to perform tasks by analyzing examples, without being explicitly programmed </a:t>
            </a:r>
          </a:p>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Each node has a numerical value assigned to it and is thought of as a neuron</a:t>
            </a:r>
          </a:p>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Networks are composed of multiple node layers: Input, Hidden, Output</a:t>
            </a:r>
          </a:p>
        </p:txBody>
      </p:sp>
      <p:sp>
        <p:nvSpPr>
          <p:cNvPr id="5" name="Flowchart: Connector 4">
            <a:extLst>
              <a:ext uri="{FF2B5EF4-FFF2-40B4-BE49-F238E27FC236}">
                <a16:creationId xmlns:a16="http://schemas.microsoft.com/office/drawing/2014/main" id="{7B649414-DEF0-0AB1-82B6-4C9EF89A9288}"/>
              </a:ext>
            </a:extLst>
          </p:cNvPr>
          <p:cNvSpPr/>
          <p:nvPr/>
        </p:nvSpPr>
        <p:spPr>
          <a:xfrm>
            <a:off x="1311442" y="3741821"/>
            <a:ext cx="685800" cy="685800"/>
          </a:xfrm>
          <a:prstGeom prst="flowChartConnector">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I</a:t>
            </a:r>
          </a:p>
        </p:txBody>
      </p:sp>
      <p:sp>
        <p:nvSpPr>
          <p:cNvPr id="6" name="Flowchart: Connector 5">
            <a:extLst>
              <a:ext uri="{FF2B5EF4-FFF2-40B4-BE49-F238E27FC236}">
                <a16:creationId xmlns:a16="http://schemas.microsoft.com/office/drawing/2014/main" id="{1E5F78B4-C597-EDF7-6EAF-8DB9804AC573}"/>
              </a:ext>
            </a:extLst>
          </p:cNvPr>
          <p:cNvSpPr/>
          <p:nvPr/>
        </p:nvSpPr>
        <p:spPr>
          <a:xfrm>
            <a:off x="2356463" y="3741821"/>
            <a:ext cx="685800" cy="685800"/>
          </a:xfrm>
          <a:prstGeom prst="flowChartConnector">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H</a:t>
            </a:r>
          </a:p>
        </p:txBody>
      </p:sp>
      <p:sp>
        <p:nvSpPr>
          <p:cNvPr id="8" name="Flowchart: Connector 7">
            <a:extLst>
              <a:ext uri="{FF2B5EF4-FFF2-40B4-BE49-F238E27FC236}">
                <a16:creationId xmlns:a16="http://schemas.microsoft.com/office/drawing/2014/main" id="{08877E58-8687-18FF-9A20-2C7D8AF3DF7F}"/>
              </a:ext>
            </a:extLst>
          </p:cNvPr>
          <p:cNvSpPr/>
          <p:nvPr/>
        </p:nvSpPr>
        <p:spPr>
          <a:xfrm>
            <a:off x="3401484" y="3741821"/>
            <a:ext cx="685800" cy="685800"/>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O</a:t>
            </a:r>
          </a:p>
        </p:txBody>
      </p:sp>
    </p:spTree>
    <p:extLst>
      <p:ext uri="{BB962C8B-B14F-4D97-AF65-F5344CB8AC3E}">
        <p14:creationId xmlns:p14="http://schemas.microsoft.com/office/powerpoint/2010/main" val="675884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B872C-4465-3C44-1FA8-4195F885BD99}"/>
              </a:ext>
            </a:extLst>
          </p:cNvPr>
          <p:cNvSpPr>
            <a:spLocks noGrp="1"/>
          </p:cNvSpPr>
          <p:nvPr>
            <p:ph type="title"/>
          </p:nvPr>
        </p:nvSpPr>
        <p:spPr/>
        <p:txBody>
          <a:bodyPr/>
          <a:lstStyle/>
          <a:p>
            <a:r>
              <a:rPr lang="en-US" dirty="0"/>
              <a:t>Neural Network construction</a:t>
            </a:r>
          </a:p>
        </p:txBody>
      </p:sp>
      <p:sp>
        <p:nvSpPr>
          <p:cNvPr id="3" name="Content Placeholder 2">
            <a:extLst>
              <a:ext uri="{FF2B5EF4-FFF2-40B4-BE49-F238E27FC236}">
                <a16:creationId xmlns:a16="http://schemas.microsoft.com/office/drawing/2014/main" id="{D9B6264D-9135-1B75-A6C4-8D4411D3012E}"/>
              </a:ext>
            </a:extLst>
          </p:cNvPr>
          <p:cNvSpPr>
            <a:spLocks noGrp="1"/>
          </p:cNvSpPr>
          <p:nvPr>
            <p:ph sz="half" idx="1"/>
          </p:nvPr>
        </p:nvSpPr>
        <p:spPr>
          <a:xfrm>
            <a:off x="818712" y="2222287"/>
            <a:ext cx="5185873" cy="4419145"/>
          </a:xfrm>
        </p:spPr>
        <p:txBody>
          <a:bodyPr>
            <a:normAutofit/>
          </a:bodyPr>
          <a:lstStyle/>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Input Layer nodes receive numerical data (typically) for processing by the Network; these nodes values are supplied in order to recall a previously remembered value</a:t>
            </a:r>
          </a:p>
          <a:p>
            <a:endPar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marL="0" indent="0">
              <a:buNone/>
            </a:pPr>
            <a:endPar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marL="0" indent="0">
              <a:buNone/>
            </a:pPr>
            <a:endPar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p:txBody>
      </p:sp>
      <p:sp>
        <p:nvSpPr>
          <p:cNvPr id="4" name="Flowchart: Connector 3">
            <a:extLst>
              <a:ext uri="{FF2B5EF4-FFF2-40B4-BE49-F238E27FC236}">
                <a16:creationId xmlns:a16="http://schemas.microsoft.com/office/drawing/2014/main" id="{8742D2FA-B8B1-6C26-3084-E77EF4346E4F}"/>
              </a:ext>
            </a:extLst>
          </p:cNvPr>
          <p:cNvSpPr/>
          <p:nvPr/>
        </p:nvSpPr>
        <p:spPr>
          <a:xfrm>
            <a:off x="6617368" y="3429000"/>
            <a:ext cx="697832" cy="697832"/>
          </a:xfrm>
          <a:prstGeom prst="flowChartConnector">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6" name="Flowchart: Connector 5">
            <a:extLst>
              <a:ext uri="{FF2B5EF4-FFF2-40B4-BE49-F238E27FC236}">
                <a16:creationId xmlns:a16="http://schemas.microsoft.com/office/drawing/2014/main" id="{6CAAC792-9756-5CCE-9DC0-AFCFE7D940A1}"/>
              </a:ext>
            </a:extLst>
          </p:cNvPr>
          <p:cNvSpPr/>
          <p:nvPr/>
        </p:nvSpPr>
        <p:spPr>
          <a:xfrm>
            <a:off x="6617368" y="4369467"/>
            <a:ext cx="697832" cy="697832"/>
          </a:xfrm>
          <a:prstGeom prst="flowChartConnector">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Tree>
    <p:extLst>
      <p:ext uri="{BB962C8B-B14F-4D97-AF65-F5344CB8AC3E}">
        <p14:creationId xmlns:p14="http://schemas.microsoft.com/office/powerpoint/2010/main" val="39102779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B872C-4465-3C44-1FA8-4195F885BD99}"/>
              </a:ext>
            </a:extLst>
          </p:cNvPr>
          <p:cNvSpPr>
            <a:spLocks noGrp="1"/>
          </p:cNvSpPr>
          <p:nvPr>
            <p:ph type="title"/>
          </p:nvPr>
        </p:nvSpPr>
        <p:spPr/>
        <p:txBody>
          <a:bodyPr/>
          <a:lstStyle/>
          <a:p>
            <a:r>
              <a:rPr lang="en-US" dirty="0"/>
              <a:t>Neural Network construction, cont’d</a:t>
            </a:r>
          </a:p>
        </p:txBody>
      </p:sp>
      <p:sp>
        <p:nvSpPr>
          <p:cNvPr id="3" name="Content Placeholder 2">
            <a:extLst>
              <a:ext uri="{FF2B5EF4-FFF2-40B4-BE49-F238E27FC236}">
                <a16:creationId xmlns:a16="http://schemas.microsoft.com/office/drawing/2014/main" id="{D9B6264D-9135-1B75-A6C4-8D4411D3012E}"/>
              </a:ext>
            </a:extLst>
          </p:cNvPr>
          <p:cNvSpPr>
            <a:spLocks noGrp="1"/>
          </p:cNvSpPr>
          <p:nvPr>
            <p:ph sz="half" idx="1"/>
          </p:nvPr>
        </p:nvSpPr>
        <p:spPr>
          <a:xfrm>
            <a:off x="818712" y="2222287"/>
            <a:ext cx="5185873" cy="4419145"/>
          </a:xfrm>
        </p:spPr>
        <p:txBody>
          <a:bodyPr>
            <a:normAutofit/>
          </a:bodyPr>
          <a:lstStyle/>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Input Layer nodes receive data for processing by the Network</a:t>
            </a:r>
          </a:p>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Hidden Layer nodes are intermediate nodes between the Input and Output layers; these nodes forms the engine of the network and are instrumental to the performance of the network</a:t>
            </a:r>
          </a:p>
          <a:p>
            <a:pPr marL="0" indent="0">
              <a:buNone/>
            </a:pPr>
            <a:endPar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marL="0" indent="0">
              <a:buNone/>
            </a:pPr>
            <a:endPar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p:txBody>
      </p:sp>
      <p:sp>
        <p:nvSpPr>
          <p:cNvPr id="8" name="Flowchart: Connector 7">
            <a:extLst>
              <a:ext uri="{FF2B5EF4-FFF2-40B4-BE49-F238E27FC236}">
                <a16:creationId xmlns:a16="http://schemas.microsoft.com/office/drawing/2014/main" id="{25921758-6670-2857-3314-6FEDAB99AE86}"/>
              </a:ext>
            </a:extLst>
          </p:cNvPr>
          <p:cNvSpPr/>
          <p:nvPr/>
        </p:nvSpPr>
        <p:spPr>
          <a:xfrm>
            <a:off x="6617368" y="3429000"/>
            <a:ext cx="697832" cy="697832"/>
          </a:xfrm>
          <a:prstGeom prst="flowChartConnector">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9" name="Flowchart: Connector 8">
            <a:extLst>
              <a:ext uri="{FF2B5EF4-FFF2-40B4-BE49-F238E27FC236}">
                <a16:creationId xmlns:a16="http://schemas.microsoft.com/office/drawing/2014/main" id="{DBF43DC1-0BEC-CEDB-EF3F-920AD59E373C}"/>
              </a:ext>
            </a:extLst>
          </p:cNvPr>
          <p:cNvSpPr/>
          <p:nvPr/>
        </p:nvSpPr>
        <p:spPr>
          <a:xfrm>
            <a:off x="6617368" y="4369467"/>
            <a:ext cx="697832" cy="697832"/>
          </a:xfrm>
          <a:prstGeom prst="flowChartConnector">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11" name="Flowchart: Connector 10">
            <a:extLst>
              <a:ext uri="{FF2B5EF4-FFF2-40B4-BE49-F238E27FC236}">
                <a16:creationId xmlns:a16="http://schemas.microsoft.com/office/drawing/2014/main" id="{23CD8289-747A-5A83-D030-564A5732151D}"/>
              </a:ext>
            </a:extLst>
          </p:cNvPr>
          <p:cNvSpPr/>
          <p:nvPr/>
        </p:nvSpPr>
        <p:spPr>
          <a:xfrm>
            <a:off x="8491875" y="2987386"/>
            <a:ext cx="697832" cy="697832"/>
          </a:xfrm>
          <a:prstGeom prst="flowChartConnector">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12" name="Flowchart: Connector 11">
            <a:extLst>
              <a:ext uri="{FF2B5EF4-FFF2-40B4-BE49-F238E27FC236}">
                <a16:creationId xmlns:a16="http://schemas.microsoft.com/office/drawing/2014/main" id="{C95B9C95-2227-0D77-5CAB-A4E680998860}"/>
              </a:ext>
            </a:extLst>
          </p:cNvPr>
          <p:cNvSpPr/>
          <p:nvPr/>
        </p:nvSpPr>
        <p:spPr>
          <a:xfrm>
            <a:off x="8490282" y="4005149"/>
            <a:ext cx="697832" cy="697832"/>
          </a:xfrm>
          <a:prstGeom prst="flowChartConnector">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13" name="Flowchart: Connector 12">
            <a:extLst>
              <a:ext uri="{FF2B5EF4-FFF2-40B4-BE49-F238E27FC236}">
                <a16:creationId xmlns:a16="http://schemas.microsoft.com/office/drawing/2014/main" id="{77EDCED8-020B-88BC-1A75-94AEED67E141}"/>
              </a:ext>
            </a:extLst>
          </p:cNvPr>
          <p:cNvSpPr/>
          <p:nvPr/>
        </p:nvSpPr>
        <p:spPr>
          <a:xfrm>
            <a:off x="8490282" y="5022912"/>
            <a:ext cx="697832" cy="697832"/>
          </a:xfrm>
          <a:prstGeom prst="flowChartConnector">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Tree>
    <p:extLst>
      <p:ext uri="{BB962C8B-B14F-4D97-AF65-F5344CB8AC3E}">
        <p14:creationId xmlns:p14="http://schemas.microsoft.com/office/powerpoint/2010/main" val="7477303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B872C-4465-3C44-1FA8-4195F885BD99}"/>
              </a:ext>
            </a:extLst>
          </p:cNvPr>
          <p:cNvSpPr>
            <a:spLocks noGrp="1"/>
          </p:cNvSpPr>
          <p:nvPr>
            <p:ph type="title"/>
          </p:nvPr>
        </p:nvSpPr>
        <p:spPr/>
        <p:txBody>
          <a:bodyPr/>
          <a:lstStyle/>
          <a:p>
            <a:r>
              <a:rPr lang="en-US" dirty="0"/>
              <a:t>Neural Network construction, cont’d</a:t>
            </a:r>
          </a:p>
        </p:txBody>
      </p:sp>
      <p:sp>
        <p:nvSpPr>
          <p:cNvPr id="3" name="Content Placeholder 2">
            <a:extLst>
              <a:ext uri="{FF2B5EF4-FFF2-40B4-BE49-F238E27FC236}">
                <a16:creationId xmlns:a16="http://schemas.microsoft.com/office/drawing/2014/main" id="{D9B6264D-9135-1B75-A6C4-8D4411D3012E}"/>
              </a:ext>
            </a:extLst>
          </p:cNvPr>
          <p:cNvSpPr>
            <a:spLocks noGrp="1"/>
          </p:cNvSpPr>
          <p:nvPr>
            <p:ph sz="half" idx="1"/>
          </p:nvPr>
        </p:nvSpPr>
        <p:spPr>
          <a:xfrm>
            <a:off x="818712" y="2222287"/>
            <a:ext cx="5185873" cy="4419145"/>
          </a:xfrm>
        </p:spPr>
        <p:txBody>
          <a:bodyPr>
            <a:normAutofit/>
          </a:bodyPr>
          <a:lstStyle/>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Input Layer nodes receive data for processing by the Network</a:t>
            </a:r>
          </a:p>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Hidden Layer nodes are between the Input and Output layers</a:t>
            </a:r>
          </a:p>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Output Layer nodes contain the resulting values after the input nodes are processed; these contain the “recalled” memory from the Network</a:t>
            </a:r>
          </a:p>
          <a:p>
            <a:endPar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p:txBody>
      </p:sp>
      <p:sp>
        <p:nvSpPr>
          <p:cNvPr id="6" name="Flowchart: Connector 5">
            <a:extLst>
              <a:ext uri="{FF2B5EF4-FFF2-40B4-BE49-F238E27FC236}">
                <a16:creationId xmlns:a16="http://schemas.microsoft.com/office/drawing/2014/main" id="{0D289893-BB7D-D640-F02F-2512F304312E}"/>
              </a:ext>
            </a:extLst>
          </p:cNvPr>
          <p:cNvSpPr/>
          <p:nvPr/>
        </p:nvSpPr>
        <p:spPr>
          <a:xfrm>
            <a:off x="6639423" y="3491392"/>
            <a:ext cx="697832" cy="697832"/>
          </a:xfrm>
          <a:prstGeom prst="flowChartConnector">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7" name="Flowchart: Connector 6">
            <a:extLst>
              <a:ext uri="{FF2B5EF4-FFF2-40B4-BE49-F238E27FC236}">
                <a16:creationId xmlns:a16="http://schemas.microsoft.com/office/drawing/2014/main" id="{207EC65F-C071-4937-2E3F-3B64AD87B59C}"/>
              </a:ext>
            </a:extLst>
          </p:cNvPr>
          <p:cNvSpPr/>
          <p:nvPr/>
        </p:nvSpPr>
        <p:spPr>
          <a:xfrm>
            <a:off x="6639423" y="4431859"/>
            <a:ext cx="697832" cy="697832"/>
          </a:xfrm>
          <a:prstGeom prst="flowChartConnector">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8" name="Flowchart: Connector 7">
            <a:extLst>
              <a:ext uri="{FF2B5EF4-FFF2-40B4-BE49-F238E27FC236}">
                <a16:creationId xmlns:a16="http://schemas.microsoft.com/office/drawing/2014/main" id="{95C0953D-A646-7C70-563B-73B0997953CF}"/>
              </a:ext>
            </a:extLst>
          </p:cNvPr>
          <p:cNvSpPr/>
          <p:nvPr/>
        </p:nvSpPr>
        <p:spPr>
          <a:xfrm>
            <a:off x="8491875" y="2987386"/>
            <a:ext cx="697832" cy="697832"/>
          </a:xfrm>
          <a:prstGeom prst="flowChartConnector">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9" name="Flowchart: Connector 8">
            <a:extLst>
              <a:ext uri="{FF2B5EF4-FFF2-40B4-BE49-F238E27FC236}">
                <a16:creationId xmlns:a16="http://schemas.microsoft.com/office/drawing/2014/main" id="{062CC0EC-18D0-E834-5AD7-5A4128DDC2B2}"/>
              </a:ext>
            </a:extLst>
          </p:cNvPr>
          <p:cNvSpPr/>
          <p:nvPr/>
        </p:nvSpPr>
        <p:spPr>
          <a:xfrm>
            <a:off x="8490282" y="4005149"/>
            <a:ext cx="697832" cy="697832"/>
          </a:xfrm>
          <a:prstGeom prst="flowChartConnector">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10" name="Flowchart: Connector 9">
            <a:extLst>
              <a:ext uri="{FF2B5EF4-FFF2-40B4-BE49-F238E27FC236}">
                <a16:creationId xmlns:a16="http://schemas.microsoft.com/office/drawing/2014/main" id="{73F0E8E6-105C-CA6D-F239-78A64C78B53E}"/>
              </a:ext>
            </a:extLst>
          </p:cNvPr>
          <p:cNvSpPr/>
          <p:nvPr/>
        </p:nvSpPr>
        <p:spPr>
          <a:xfrm>
            <a:off x="8490282" y="5022912"/>
            <a:ext cx="697832" cy="697832"/>
          </a:xfrm>
          <a:prstGeom prst="flowChartConnector">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11" name="Flowchart: Connector 10">
            <a:extLst>
              <a:ext uri="{FF2B5EF4-FFF2-40B4-BE49-F238E27FC236}">
                <a16:creationId xmlns:a16="http://schemas.microsoft.com/office/drawing/2014/main" id="{1C7C6523-C84A-412C-ED65-C91A8CA12154}"/>
              </a:ext>
            </a:extLst>
          </p:cNvPr>
          <p:cNvSpPr/>
          <p:nvPr/>
        </p:nvSpPr>
        <p:spPr>
          <a:xfrm>
            <a:off x="10341141" y="4030577"/>
            <a:ext cx="697832" cy="697832"/>
          </a:xfrm>
          <a:prstGeom prst="flowChartConnector">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Tree>
    <p:extLst>
      <p:ext uri="{BB962C8B-B14F-4D97-AF65-F5344CB8AC3E}">
        <p14:creationId xmlns:p14="http://schemas.microsoft.com/office/powerpoint/2010/main" val="5369214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B872C-4465-3C44-1FA8-4195F885BD99}"/>
              </a:ext>
            </a:extLst>
          </p:cNvPr>
          <p:cNvSpPr>
            <a:spLocks noGrp="1"/>
          </p:cNvSpPr>
          <p:nvPr>
            <p:ph type="title"/>
          </p:nvPr>
        </p:nvSpPr>
        <p:spPr/>
        <p:txBody>
          <a:bodyPr/>
          <a:lstStyle/>
          <a:p>
            <a:r>
              <a:rPr lang="en-US" dirty="0"/>
              <a:t>Neural Network construction, cont’d</a:t>
            </a:r>
          </a:p>
        </p:txBody>
      </p:sp>
      <p:sp>
        <p:nvSpPr>
          <p:cNvPr id="3" name="Content Placeholder 2">
            <a:extLst>
              <a:ext uri="{FF2B5EF4-FFF2-40B4-BE49-F238E27FC236}">
                <a16:creationId xmlns:a16="http://schemas.microsoft.com/office/drawing/2014/main" id="{D9B6264D-9135-1B75-A6C4-8D4411D3012E}"/>
              </a:ext>
            </a:extLst>
          </p:cNvPr>
          <p:cNvSpPr>
            <a:spLocks noGrp="1"/>
          </p:cNvSpPr>
          <p:nvPr>
            <p:ph sz="half" idx="1"/>
          </p:nvPr>
        </p:nvSpPr>
        <p:spPr>
          <a:xfrm>
            <a:off x="818712" y="2222287"/>
            <a:ext cx="5185873" cy="4419145"/>
          </a:xfrm>
        </p:spPr>
        <p:txBody>
          <a:bodyPr>
            <a:normAutofit/>
          </a:bodyPr>
          <a:lstStyle/>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Input Layer nodes receive data for processing by the Network</a:t>
            </a:r>
          </a:p>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Hidden Layer nodes are between the Input and Output layers</a:t>
            </a:r>
          </a:p>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Output Layer nodes contain the resulting values</a:t>
            </a:r>
          </a:p>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Numerical weights connect the Nodes where each Node in a Layer is connected to every other Node in the next subsequent Layer</a:t>
            </a:r>
          </a:p>
        </p:txBody>
      </p:sp>
      <p:sp>
        <p:nvSpPr>
          <p:cNvPr id="6" name="Flowchart: Connector 5">
            <a:extLst>
              <a:ext uri="{FF2B5EF4-FFF2-40B4-BE49-F238E27FC236}">
                <a16:creationId xmlns:a16="http://schemas.microsoft.com/office/drawing/2014/main" id="{27011AFD-448D-70E5-AC3C-1C9EA9B1FDFD}"/>
              </a:ext>
            </a:extLst>
          </p:cNvPr>
          <p:cNvSpPr/>
          <p:nvPr/>
        </p:nvSpPr>
        <p:spPr>
          <a:xfrm>
            <a:off x="6639423" y="3491392"/>
            <a:ext cx="697832" cy="697832"/>
          </a:xfrm>
          <a:prstGeom prst="flowChartConnector">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7" name="Flowchart: Connector 6">
            <a:extLst>
              <a:ext uri="{FF2B5EF4-FFF2-40B4-BE49-F238E27FC236}">
                <a16:creationId xmlns:a16="http://schemas.microsoft.com/office/drawing/2014/main" id="{C4C34CE1-8177-8EA6-CCD1-804F64081347}"/>
              </a:ext>
            </a:extLst>
          </p:cNvPr>
          <p:cNvSpPr/>
          <p:nvPr/>
        </p:nvSpPr>
        <p:spPr>
          <a:xfrm>
            <a:off x="6639423" y="4431859"/>
            <a:ext cx="697832" cy="697832"/>
          </a:xfrm>
          <a:prstGeom prst="flowChartConnector">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8" name="Flowchart: Connector 7">
            <a:extLst>
              <a:ext uri="{FF2B5EF4-FFF2-40B4-BE49-F238E27FC236}">
                <a16:creationId xmlns:a16="http://schemas.microsoft.com/office/drawing/2014/main" id="{1C638CC3-260D-7335-BBC4-5758923B9D04}"/>
              </a:ext>
            </a:extLst>
          </p:cNvPr>
          <p:cNvSpPr/>
          <p:nvPr/>
        </p:nvSpPr>
        <p:spPr>
          <a:xfrm>
            <a:off x="8491875" y="2987386"/>
            <a:ext cx="697832" cy="697832"/>
          </a:xfrm>
          <a:prstGeom prst="flowChartConnector">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9" name="Flowchart: Connector 8">
            <a:extLst>
              <a:ext uri="{FF2B5EF4-FFF2-40B4-BE49-F238E27FC236}">
                <a16:creationId xmlns:a16="http://schemas.microsoft.com/office/drawing/2014/main" id="{1DC5796C-F3EF-FB8E-EABA-4774EDDBEDC3}"/>
              </a:ext>
            </a:extLst>
          </p:cNvPr>
          <p:cNvSpPr/>
          <p:nvPr/>
        </p:nvSpPr>
        <p:spPr>
          <a:xfrm>
            <a:off x="8490282" y="4005149"/>
            <a:ext cx="697832" cy="697832"/>
          </a:xfrm>
          <a:prstGeom prst="flowChartConnector">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10" name="Flowchart: Connector 9">
            <a:extLst>
              <a:ext uri="{FF2B5EF4-FFF2-40B4-BE49-F238E27FC236}">
                <a16:creationId xmlns:a16="http://schemas.microsoft.com/office/drawing/2014/main" id="{22EEF4C5-4609-1EED-2331-4D204E9FDE48}"/>
              </a:ext>
            </a:extLst>
          </p:cNvPr>
          <p:cNvSpPr/>
          <p:nvPr/>
        </p:nvSpPr>
        <p:spPr>
          <a:xfrm>
            <a:off x="8490282" y="5022912"/>
            <a:ext cx="697832" cy="697832"/>
          </a:xfrm>
          <a:prstGeom prst="flowChartConnector">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11" name="Flowchart: Connector 10">
            <a:extLst>
              <a:ext uri="{FF2B5EF4-FFF2-40B4-BE49-F238E27FC236}">
                <a16:creationId xmlns:a16="http://schemas.microsoft.com/office/drawing/2014/main" id="{D58AF432-0D8B-B066-EDAC-453449677DA0}"/>
              </a:ext>
            </a:extLst>
          </p:cNvPr>
          <p:cNvSpPr/>
          <p:nvPr/>
        </p:nvSpPr>
        <p:spPr>
          <a:xfrm>
            <a:off x="10341141" y="4030577"/>
            <a:ext cx="697832" cy="697832"/>
          </a:xfrm>
          <a:prstGeom prst="flowChartConnector">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cxnSp>
        <p:nvCxnSpPr>
          <p:cNvPr id="13" name="Straight Connector 12">
            <a:extLst>
              <a:ext uri="{FF2B5EF4-FFF2-40B4-BE49-F238E27FC236}">
                <a16:creationId xmlns:a16="http://schemas.microsoft.com/office/drawing/2014/main" id="{287AFBBA-67B2-E140-E523-97FDEE65BBD2}"/>
              </a:ext>
            </a:extLst>
          </p:cNvPr>
          <p:cNvCxnSpPr>
            <a:stCxn id="6" idx="6"/>
            <a:endCxn id="8" idx="2"/>
          </p:cNvCxnSpPr>
          <p:nvPr/>
        </p:nvCxnSpPr>
        <p:spPr>
          <a:xfrm flipV="1">
            <a:off x="7337255" y="3336302"/>
            <a:ext cx="1154620" cy="5040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A4E4980-8F89-2C85-E182-EE98133BD413}"/>
              </a:ext>
            </a:extLst>
          </p:cNvPr>
          <p:cNvCxnSpPr>
            <a:endCxn id="9" idx="2"/>
          </p:cNvCxnSpPr>
          <p:nvPr/>
        </p:nvCxnSpPr>
        <p:spPr>
          <a:xfrm>
            <a:off x="7337255" y="3840308"/>
            <a:ext cx="1153027" cy="513757"/>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B8444FE-9249-2BE6-5445-2E304C8FCBFC}"/>
              </a:ext>
            </a:extLst>
          </p:cNvPr>
          <p:cNvCxnSpPr>
            <a:stCxn id="6" idx="6"/>
            <a:endCxn id="10" idx="2"/>
          </p:cNvCxnSpPr>
          <p:nvPr/>
        </p:nvCxnSpPr>
        <p:spPr>
          <a:xfrm>
            <a:off x="7337255" y="3840308"/>
            <a:ext cx="1153027" cy="153152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F2BE6D9-4FED-A92A-220E-8F9F26C79C19}"/>
              </a:ext>
            </a:extLst>
          </p:cNvPr>
          <p:cNvCxnSpPr>
            <a:stCxn id="7" idx="6"/>
            <a:endCxn id="8" idx="2"/>
          </p:cNvCxnSpPr>
          <p:nvPr/>
        </p:nvCxnSpPr>
        <p:spPr>
          <a:xfrm flipV="1">
            <a:off x="7337255" y="3336302"/>
            <a:ext cx="1154620" cy="1444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894F562-9D1A-091C-7AAF-E551DA91800E}"/>
              </a:ext>
            </a:extLst>
          </p:cNvPr>
          <p:cNvCxnSpPr>
            <a:endCxn id="9" idx="2"/>
          </p:cNvCxnSpPr>
          <p:nvPr/>
        </p:nvCxnSpPr>
        <p:spPr>
          <a:xfrm flipV="1">
            <a:off x="7337255" y="4354065"/>
            <a:ext cx="1153027" cy="374344"/>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06AC47C-C676-EF17-4925-0B0B541A834E}"/>
              </a:ext>
            </a:extLst>
          </p:cNvPr>
          <p:cNvCxnSpPr>
            <a:endCxn id="10" idx="2"/>
          </p:cNvCxnSpPr>
          <p:nvPr/>
        </p:nvCxnSpPr>
        <p:spPr>
          <a:xfrm>
            <a:off x="7337255" y="4728409"/>
            <a:ext cx="1153027" cy="643419"/>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5A51BA1-D5B9-BB05-0FD6-E76FAC8B5342}"/>
              </a:ext>
            </a:extLst>
          </p:cNvPr>
          <p:cNvCxnSpPr>
            <a:stCxn id="8" idx="6"/>
            <a:endCxn id="11" idx="2"/>
          </p:cNvCxnSpPr>
          <p:nvPr/>
        </p:nvCxnSpPr>
        <p:spPr>
          <a:xfrm>
            <a:off x="9189707" y="3336302"/>
            <a:ext cx="1151434" cy="1043191"/>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9F95C59-9573-BC3F-A607-BEF16537E63A}"/>
              </a:ext>
            </a:extLst>
          </p:cNvPr>
          <p:cNvCxnSpPr>
            <a:stCxn id="9" idx="6"/>
            <a:endCxn id="11" idx="2"/>
          </p:cNvCxnSpPr>
          <p:nvPr/>
        </p:nvCxnSpPr>
        <p:spPr>
          <a:xfrm>
            <a:off x="9188114" y="4354065"/>
            <a:ext cx="1153027" cy="25428"/>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E0ACC43-F5D6-A898-D6FE-624531D9E7F2}"/>
              </a:ext>
            </a:extLst>
          </p:cNvPr>
          <p:cNvCxnSpPr>
            <a:stCxn id="10" idx="6"/>
            <a:endCxn id="11" idx="2"/>
          </p:cNvCxnSpPr>
          <p:nvPr/>
        </p:nvCxnSpPr>
        <p:spPr>
          <a:xfrm flipV="1">
            <a:off x="9188114" y="4379493"/>
            <a:ext cx="1153027" cy="992335"/>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38444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B872C-4465-3C44-1FA8-4195F885BD99}"/>
              </a:ext>
            </a:extLst>
          </p:cNvPr>
          <p:cNvSpPr>
            <a:spLocks noGrp="1"/>
          </p:cNvSpPr>
          <p:nvPr>
            <p:ph type="title"/>
          </p:nvPr>
        </p:nvSpPr>
        <p:spPr/>
        <p:txBody>
          <a:bodyPr/>
          <a:lstStyle/>
          <a:p>
            <a:r>
              <a:rPr lang="en-US" dirty="0"/>
              <a:t>Neural Network construction, cont’d</a:t>
            </a:r>
          </a:p>
        </p:txBody>
      </p:sp>
      <p:sp>
        <p:nvSpPr>
          <p:cNvPr id="3" name="Content Placeholder 2">
            <a:extLst>
              <a:ext uri="{FF2B5EF4-FFF2-40B4-BE49-F238E27FC236}">
                <a16:creationId xmlns:a16="http://schemas.microsoft.com/office/drawing/2014/main" id="{D9B6264D-9135-1B75-A6C4-8D4411D3012E}"/>
              </a:ext>
            </a:extLst>
          </p:cNvPr>
          <p:cNvSpPr>
            <a:spLocks noGrp="1"/>
          </p:cNvSpPr>
          <p:nvPr>
            <p:ph sz="half" idx="1"/>
          </p:nvPr>
        </p:nvSpPr>
        <p:spPr>
          <a:xfrm>
            <a:off x="818712" y="2222287"/>
            <a:ext cx="5185873" cy="4419145"/>
          </a:xfrm>
        </p:spPr>
        <p:txBody>
          <a:bodyPr>
            <a:normAutofit lnSpcReduction="10000"/>
          </a:bodyPr>
          <a:lstStyle/>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Input Layer nodes receive data for processing by the Network</a:t>
            </a:r>
          </a:p>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Hidden Layer nodes are between the Input and Output layers</a:t>
            </a:r>
          </a:p>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Output Layer nodes contain the resulting values</a:t>
            </a:r>
          </a:p>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Weights connect the Nodes</a:t>
            </a:r>
          </a:p>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Weights are modified during Training, as with the Node values, to strengthen pathways for the successful recall of information</a:t>
            </a:r>
          </a:p>
        </p:txBody>
      </p:sp>
      <p:sp>
        <p:nvSpPr>
          <p:cNvPr id="6" name="Flowchart: Connector 5">
            <a:extLst>
              <a:ext uri="{FF2B5EF4-FFF2-40B4-BE49-F238E27FC236}">
                <a16:creationId xmlns:a16="http://schemas.microsoft.com/office/drawing/2014/main" id="{B37EB0EC-6B1D-2116-9F1E-AFBFDD706722}"/>
              </a:ext>
            </a:extLst>
          </p:cNvPr>
          <p:cNvSpPr/>
          <p:nvPr/>
        </p:nvSpPr>
        <p:spPr>
          <a:xfrm>
            <a:off x="6639423" y="3491392"/>
            <a:ext cx="697832" cy="697832"/>
          </a:xfrm>
          <a:prstGeom prst="flowChartConnector">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7" name="Flowchart: Connector 6">
            <a:extLst>
              <a:ext uri="{FF2B5EF4-FFF2-40B4-BE49-F238E27FC236}">
                <a16:creationId xmlns:a16="http://schemas.microsoft.com/office/drawing/2014/main" id="{E9CAE7A3-3056-8E41-66C4-FA0E7A9394ED}"/>
              </a:ext>
            </a:extLst>
          </p:cNvPr>
          <p:cNvSpPr/>
          <p:nvPr/>
        </p:nvSpPr>
        <p:spPr>
          <a:xfrm>
            <a:off x="6639423" y="4431859"/>
            <a:ext cx="697832" cy="697832"/>
          </a:xfrm>
          <a:prstGeom prst="flowChartConnector">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8" name="Flowchart: Connector 7">
            <a:extLst>
              <a:ext uri="{FF2B5EF4-FFF2-40B4-BE49-F238E27FC236}">
                <a16:creationId xmlns:a16="http://schemas.microsoft.com/office/drawing/2014/main" id="{F1F60870-0883-426C-2441-A3BDB09CB673}"/>
              </a:ext>
            </a:extLst>
          </p:cNvPr>
          <p:cNvSpPr/>
          <p:nvPr/>
        </p:nvSpPr>
        <p:spPr>
          <a:xfrm>
            <a:off x="8491875" y="2987386"/>
            <a:ext cx="697832" cy="697832"/>
          </a:xfrm>
          <a:prstGeom prst="flowChartConnector">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9" name="Flowchart: Connector 8">
            <a:extLst>
              <a:ext uri="{FF2B5EF4-FFF2-40B4-BE49-F238E27FC236}">
                <a16:creationId xmlns:a16="http://schemas.microsoft.com/office/drawing/2014/main" id="{905CB5C1-6B33-6837-DBDE-DCC661C79589}"/>
              </a:ext>
            </a:extLst>
          </p:cNvPr>
          <p:cNvSpPr/>
          <p:nvPr/>
        </p:nvSpPr>
        <p:spPr>
          <a:xfrm>
            <a:off x="8490282" y="4005149"/>
            <a:ext cx="697832" cy="697832"/>
          </a:xfrm>
          <a:prstGeom prst="flowChartConnector">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10" name="Flowchart: Connector 9">
            <a:extLst>
              <a:ext uri="{FF2B5EF4-FFF2-40B4-BE49-F238E27FC236}">
                <a16:creationId xmlns:a16="http://schemas.microsoft.com/office/drawing/2014/main" id="{C930E554-453A-5B07-9DDC-D32D118CA0A4}"/>
              </a:ext>
            </a:extLst>
          </p:cNvPr>
          <p:cNvSpPr/>
          <p:nvPr/>
        </p:nvSpPr>
        <p:spPr>
          <a:xfrm>
            <a:off x="8490282" y="5022912"/>
            <a:ext cx="697832" cy="697832"/>
          </a:xfrm>
          <a:prstGeom prst="flowChartConnector">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11" name="Flowchart: Connector 10">
            <a:extLst>
              <a:ext uri="{FF2B5EF4-FFF2-40B4-BE49-F238E27FC236}">
                <a16:creationId xmlns:a16="http://schemas.microsoft.com/office/drawing/2014/main" id="{15A692CB-6EB8-6F09-73F0-1558C9A3867C}"/>
              </a:ext>
            </a:extLst>
          </p:cNvPr>
          <p:cNvSpPr/>
          <p:nvPr/>
        </p:nvSpPr>
        <p:spPr>
          <a:xfrm>
            <a:off x="10341141" y="4030577"/>
            <a:ext cx="697832" cy="697832"/>
          </a:xfrm>
          <a:prstGeom prst="flowChartConnector">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cxnSp>
        <p:nvCxnSpPr>
          <p:cNvPr id="12" name="Straight Connector 11">
            <a:extLst>
              <a:ext uri="{FF2B5EF4-FFF2-40B4-BE49-F238E27FC236}">
                <a16:creationId xmlns:a16="http://schemas.microsoft.com/office/drawing/2014/main" id="{0AE0B44A-F42D-064A-A308-EF19814CEC86}"/>
              </a:ext>
            </a:extLst>
          </p:cNvPr>
          <p:cNvCxnSpPr>
            <a:stCxn id="6" idx="6"/>
            <a:endCxn id="8" idx="2"/>
          </p:cNvCxnSpPr>
          <p:nvPr/>
        </p:nvCxnSpPr>
        <p:spPr>
          <a:xfrm flipV="1">
            <a:off x="7337255" y="3336302"/>
            <a:ext cx="1154620" cy="5040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29C1489-D88F-F0B2-EB85-7CA6EA79812C}"/>
              </a:ext>
            </a:extLst>
          </p:cNvPr>
          <p:cNvCxnSpPr>
            <a:endCxn id="9" idx="2"/>
          </p:cNvCxnSpPr>
          <p:nvPr/>
        </p:nvCxnSpPr>
        <p:spPr>
          <a:xfrm>
            <a:off x="7337255" y="3840308"/>
            <a:ext cx="1153027" cy="513757"/>
          </a:xfrm>
          <a:prstGeom prst="line">
            <a:avLst/>
          </a:prstGeom>
          <a:ln w="88900"/>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5AC5BB9-0ECF-4BAE-8F85-86567757FE7D}"/>
              </a:ext>
            </a:extLst>
          </p:cNvPr>
          <p:cNvCxnSpPr>
            <a:stCxn id="6" idx="6"/>
            <a:endCxn id="10" idx="2"/>
          </p:cNvCxnSpPr>
          <p:nvPr/>
        </p:nvCxnSpPr>
        <p:spPr>
          <a:xfrm>
            <a:off x="7337255" y="3840308"/>
            <a:ext cx="1153027" cy="153152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83D9558-7097-C856-021C-374375210602}"/>
              </a:ext>
            </a:extLst>
          </p:cNvPr>
          <p:cNvCxnSpPr>
            <a:stCxn id="7" idx="6"/>
            <a:endCxn id="8" idx="2"/>
          </p:cNvCxnSpPr>
          <p:nvPr/>
        </p:nvCxnSpPr>
        <p:spPr>
          <a:xfrm flipV="1">
            <a:off x="7337255" y="3336302"/>
            <a:ext cx="1154620" cy="1444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AD1C2BD-DAF2-D0C9-C4A2-4DCD4FF80399}"/>
              </a:ext>
            </a:extLst>
          </p:cNvPr>
          <p:cNvCxnSpPr>
            <a:endCxn id="9" idx="2"/>
          </p:cNvCxnSpPr>
          <p:nvPr/>
        </p:nvCxnSpPr>
        <p:spPr>
          <a:xfrm flipV="1">
            <a:off x="7337255" y="4354065"/>
            <a:ext cx="1153027" cy="374344"/>
          </a:xfrm>
          <a:prstGeom prst="line">
            <a:avLst/>
          </a:prstGeom>
          <a:ln w="50800"/>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B4F8D4B-A345-0FBE-EE9E-6D10AF32200C}"/>
              </a:ext>
            </a:extLst>
          </p:cNvPr>
          <p:cNvCxnSpPr>
            <a:endCxn id="10" idx="2"/>
          </p:cNvCxnSpPr>
          <p:nvPr/>
        </p:nvCxnSpPr>
        <p:spPr>
          <a:xfrm>
            <a:off x="7337255" y="4728409"/>
            <a:ext cx="1153027" cy="643419"/>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DD2F1B3-1076-7796-4E05-A2D14F8C9184}"/>
              </a:ext>
            </a:extLst>
          </p:cNvPr>
          <p:cNvCxnSpPr>
            <a:stCxn id="8" idx="6"/>
            <a:endCxn id="11" idx="2"/>
          </p:cNvCxnSpPr>
          <p:nvPr/>
        </p:nvCxnSpPr>
        <p:spPr>
          <a:xfrm>
            <a:off x="9189707" y="3336302"/>
            <a:ext cx="1151434" cy="1043191"/>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6BFD8F3-0EE4-1144-C597-0DA6980BCB2D}"/>
              </a:ext>
            </a:extLst>
          </p:cNvPr>
          <p:cNvCxnSpPr>
            <a:stCxn id="9" idx="6"/>
            <a:endCxn id="11" idx="2"/>
          </p:cNvCxnSpPr>
          <p:nvPr/>
        </p:nvCxnSpPr>
        <p:spPr>
          <a:xfrm>
            <a:off x="9188114" y="4354065"/>
            <a:ext cx="1153027" cy="2542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5BD9A44-5D05-F4C9-973A-0462CB0EE13F}"/>
              </a:ext>
            </a:extLst>
          </p:cNvPr>
          <p:cNvCxnSpPr>
            <a:stCxn id="10" idx="6"/>
            <a:endCxn id="11" idx="2"/>
          </p:cNvCxnSpPr>
          <p:nvPr/>
        </p:nvCxnSpPr>
        <p:spPr>
          <a:xfrm flipV="1">
            <a:off x="9188114" y="4379493"/>
            <a:ext cx="1153027" cy="992335"/>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8764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86EE046-0EBC-B139-1876-B10DFE4BDB05}"/>
              </a:ext>
            </a:extLst>
          </p:cNvPr>
          <p:cNvSpPr>
            <a:spLocks noGrp="1"/>
          </p:cNvSpPr>
          <p:nvPr>
            <p:ph type="title"/>
          </p:nvPr>
        </p:nvSpPr>
        <p:spPr/>
        <p:txBody>
          <a:bodyPr/>
          <a:lstStyle/>
          <a:p>
            <a:r>
              <a:rPr lang="en-US" dirty="0"/>
              <a:t>Neural Network layer topology</a:t>
            </a:r>
          </a:p>
        </p:txBody>
      </p:sp>
      <p:sp>
        <p:nvSpPr>
          <p:cNvPr id="6" name="Text Placeholder 5">
            <a:extLst>
              <a:ext uri="{FF2B5EF4-FFF2-40B4-BE49-F238E27FC236}">
                <a16:creationId xmlns:a16="http://schemas.microsoft.com/office/drawing/2014/main" id="{8A7C537F-E1CE-D730-F47C-4E9D66A4F3D3}"/>
              </a:ext>
            </a:extLst>
          </p:cNvPr>
          <p:cNvSpPr>
            <a:spLocks noGrp="1"/>
          </p:cNvSpPr>
          <p:nvPr>
            <p:ph type="body" idx="1"/>
          </p:nvPr>
        </p:nvSpPr>
        <p:spPr>
          <a:xfrm>
            <a:off x="809999" y="3897465"/>
            <a:ext cx="5189857" cy="576262"/>
          </a:xfrm>
          <a:solidFill>
            <a:schemeClr val="bg2">
              <a:lumMod val="75000"/>
              <a:lumOff val="25000"/>
            </a:schemeClr>
          </a:solidFill>
        </p:spPr>
        <p:txBody>
          <a:bodyPr/>
          <a:lstStyle/>
          <a:p>
            <a:r>
              <a:rPr lang="en-US" b="1" dirty="0"/>
              <a:t>Shallow Networks</a:t>
            </a:r>
          </a:p>
        </p:txBody>
      </p:sp>
      <p:sp>
        <p:nvSpPr>
          <p:cNvPr id="7" name="Content Placeholder 6">
            <a:extLst>
              <a:ext uri="{FF2B5EF4-FFF2-40B4-BE49-F238E27FC236}">
                <a16:creationId xmlns:a16="http://schemas.microsoft.com/office/drawing/2014/main" id="{C987DEE1-7136-BE80-FAAE-EBC5BC5AB2FF}"/>
              </a:ext>
            </a:extLst>
          </p:cNvPr>
          <p:cNvSpPr>
            <a:spLocks noGrp="1"/>
          </p:cNvSpPr>
          <p:nvPr>
            <p:ph sz="half" idx="2"/>
          </p:nvPr>
        </p:nvSpPr>
        <p:spPr>
          <a:xfrm>
            <a:off x="810000" y="4473727"/>
            <a:ext cx="5189856" cy="1986883"/>
          </a:xfrm>
          <a:solidFill>
            <a:schemeClr val="accent2">
              <a:lumMod val="50000"/>
            </a:schemeClr>
          </a:solidFill>
        </p:spPr>
        <p:txBody>
          <a:bodyPr>
            <a:normAutofit fontScale="92500" lnSpcReduction="10000"/>
          </a:bodyPr>
          <a:lstStyle/>
          <a:p>
            <a:r>
              <a:rPr lang="en-US" dirty="0"/>
              <a:t>Contains three layers: Input, Hidden, and Output</a:t>
            </a:r>
          </a:p>
          <a:p>
            <a:r>
              <a:rPr lang="en-US" dirty="0"/>
              <a:t>Sufficient for many recall solutions</a:t>
            </a:r>
          </a:p>
          <a:p>
            <a:r>
              <a:rPr lang="en-US" dirty="0"/>
              <a:t>Accuracy is dependent upon the node count of the layers and the training performed</a:t>
            </a:r>
          </a:p>
        </p:txBody>
      </p:sp>
      <p:sp>
        <p:nvSpPr>
          <p:cNvPr id="8" name="Text Placeholder 7">
            <a:extLst>
              <a:ext uri="{FF2B5EF4-FFF2-40B4-BE49-F238E27FC236}">
                <a16:creationId xmlns:a16="http://schemas.microsoft.com/office/drawing/2014/main" id="{095CFD84-9CFD-EEA8-EE91-238986D73FF2}"/>
              </a:ext>
            </a:extLst>
          </p:cNvPr>
          <p:cNvSpPr>
            <a:spLocks noGrp="1"/>
          </p:cNvSpPr>
          <p:nvPr>
            <p:ph type="body" sz="quarter" idx="3"/>
          </p:nvPr>
        </p:nvSpPr>
        <p:spPr>
          <a:xfrm>
            <a:off x="6343825" y="3897465"/>
            <a:ext cx="5194583" cy="576262"/>
          </a:xfrm>
          <a:solidFill>
            <a:schemeClr val="bg2">
              <a:lumMod val="75000"/>
              <a:lumOff val="25000"/>
            </a:schemeClr>
          </a:solidFill>
        </p:spPr>
        <p:txBody>
          <a:bodyPr/>
          <a:lstStyle/>
          <a:p>
            <a:r>
              <a:rPr lang="en-US" b="1" dirty="0"/>
              <a:t>Deep Networks</a:t>
            </a:r>
          </a:p>
        </p:txBody>
      </p:sp>
      <p:sp>
        <p:nvSpPr>
          <p:cNvPr id="9" name="Content Placeholder 8">
            <a:extLst>
              <a:ext uri="{FF2B5EF4-FFF2-40B4-BE49-F238E27FC236}">
                <a16:creationId xmlns:a16="http://schemas.microsoft.com/office/drawing/2014/main" id="{8FEE5000-1E46-6BEB-714A-91C46C5B03DD}"/>
              </a:ext>
            </a:extLst>
          </p:cNvPr>
          <p:cNvSpPr>
            <a:spLocks noGrp="1"/>
          </p:cNvSpPr>
          <p:nvPr>
            <p:ph sz="quarter" idx="4"/>
          </p:nvPr>
        </p:nvSpPr>
        <p:spPr>
          <a:xfrm>
            <a:off x="6343826" y="4473727"/>
            <a:ext cx="5194583" cy="1986883"/>
          </a:xfrm>
          <a:solidFill>
            <a:srgbClr val="5A478F"/>
          </a:solidFill>
        </p:spPr>
        <p:txBody>
          <a:bodyPr>
            <a:normAutofit fontScale="92500" lnSpcReduction="10000"/>
          </a:bodyPr>
          <a:lstStyle/>
          <a:p>
            <a:r>
              <a:rPr lang="en-US" dirty="0"/>
              <a:t>Contains more than 3 layers: Input, N-Hidden, and Output</a:t>
            </a:r>
          </a:p>
          <a:p>
            <a:r>
              <a:rPr lang="en-US" dirty="0"/>
              <a:t>More complex the data can be accepted as input</a:t>
            </a:r>
          </a:p>
          <a:p>
            <a:r>
              <a:rPr lang="en-US" dirty="0"/>
              <a:t>The large number of Hidden layers allows for complex input such as media and large textual datasets</a:t>
            </a:r>
          </a:p>
        </p:txBody>
      </p:sp>
      <p:sp>
        <p:nvSpPr>
          <p:cNvPr id="11" name="Content Placeholder 6">
            <a:extLst>
              <a:ext uri="{FF2B5EF4-FFF2-40B4-BE49-F238E27FC236}">
                <a16:creationId xmlns:a16="http://schemas.microsoft.com/office/drawing/2014/main" id="{E2F7A06B-C261-3E5A-9BAA-814A4C105944}"/>
              </a:ext>
            </a:extLst>
          </p:cNvPr>
          <p:cNvSpPr txBox="1">
            <a:spLocks/>
          </p:cNvSpPr>
          <p:nvPr/>
        </p:nvSpPr>
        <p:spPr>
          <a:xfrm>
            <a:off x="809999" y="2240372"/>
            <a:ext cx="10728410" cy="1410621"/>
          </a:xfrm>
          <a:prstGeom prst="rect">
            <a:avLst/>
          </a:prstGeom>
          <a:effectLst>
            <a:outerShdw blurRad="50800" dir="14400000">
              <a:srgbClr val="000000">
                <a:alpha val="40000"/>
              </a:srgbClr>
            </a:outerShdw>
          </a:effectLst>
        </p:spPr>
        <p:txBody>
          <a:bodyPr vert="horz" lIns="91440" tIns="45720" rIns="91440" bIns="45720" rtlCol="0" anchor="t">
            <a:normAutofit/>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r>
              <a:rPr lang="en-US" dirty="0"/>
              <a:t>The most networks contain at least three layers: Input, Hidden, and Output</a:t>
            </a:r>
          </a:p>
          <a:p>
            <a:r>
              <a:rPr lang="en-US" dirty="0"/>
              <a:t>A Network is defined at creation to contain X-number of nodes in each layer</a:t>
            </a:r>
          </a:p>
          <a:p>
            <a:r>
              <a:rPr lang="en-US" dirty="0"/>
              <a:t>Hence a 3-5-2 Network will have 3 Input nodes, 5 Hidden nodes, and 2 Output nodes</a:t>
            </a:r>
          </a:p>
          <a:p>
            <a:endParaRPr lang="en-US" dirty="0"/>
          </a:p>
        </p:txBody>
      </p:sp>
    </p:spTree>
    <p:extLst>
      <p:ext uri="{BB962C8B-B14F-4D97-AF65-F5344CB8AC3E}">
        <p14:creationId xmlns:p14="http://schemas.microsoft.com/office/powerpoint/2010/main" val="2534285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 name="Picture 4" descr="A 3D pattern of ring shapes connected by lines">
            <a:extLst>
              <a:ext uri="{FF2B5EF4-FFF2-40B4-BE49-F238E27FC236}">
                <a16:creationId xmlns:a16="http://schemas.microsoft.com/office/drawing/2014/main" id="{319F1767-011F-5FE0-02C7-C81BFB7ACD84}"/>
              </a:ext>
            </a:extLst>
          </p:cNvPr>
          <p:cNvPicPr>
            <a:picLocks noChangeAspect="1"/>
          </p:cNvPicPr>
          <p:nvPr/>
        </p:nvPicPr>
        <p:blipFill rotWithShape="1">
          <a:blip r:embed="rId3">
            <a:duotone>
              <a:schemeClr val="accent1">
                <a:shade val="45000"/>
                <a:satMod val="135000"/>
              </a:schemeClr>
              <a:prstClr val="white"/>
            </a:duotone>
          </a:blip>
          <a:srcRect l="8645" r="41368"/>
          <a:stretch/>
        </p:blipFill>
        <p:spPr>
          <a:xfrm>
            <a:off x="6108700" y="-1"/>
            <a:ext cx="6094450" cy="6858001"/>
          </a:xfrm>
          <a:prstGeom prst="rect">
            <a:avLst/>
          </a:prstGeom>
        </p:spPr>
      </p:pic>
      <p:sp>
        <p:nvSpPr>
          <p:cNvPr id="9" name="Freeform 16">
            <a:extLst>
              <a:ext uri="{FF2B5EF4-FFF2-40B4-BE49-F238E27FC236}">
                <a16:creationId xmlns:a16="http://schemas.microsoft.com/office/drawing/2014/main" id="{3EEED574-6FCC-45F8-ABA8-05782705A3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6485467" cy="6858000"/>
          </a:xfrm>
          <a:custGeom>
            <a:avLst/>
            <a:gdLst>
              <a:gd name="connsiteX0" fmla="*/ 0 w 6485467"/>
              <a:gd name="connsiteY0" fmla="*/ 0 h 6858000"/>
              <a:gd name="connsiteX1" fmla="*/ 6485467 w 6485467"/>
              <a:gd name="connsiteY1" fmla="*/ 0 h 6858000"/>
              <a:gd name="connsiteX2" fmla="*/ 6485467 w 6485467"/>
              <a:gd name="connsiteY2" fmla="*/ 1900238 h 6858000"/>
              <a:gd name="connsiteX3" fmla="*/ 6115051 w 6485467"/>
              <a:gd name="connsiteY3" fmla="*/ 2178050 h 6858000"/>
              <a:gd name="connsiteX4" fmla="*/ 6110817 w 6485467"/>
              <a:gd name="connsiteY4" fmla="*/ 2184400 h 6858000"/>
              <a:gd name="connsiteX5" fmla="*/ 6104467 w 6485467"/>
              <a:gd name="connsiteY5" fmla="*/ 2193925 h 6858000"/>
              <a:gd name="connsiteX6" fmla="*/ 6098117 w 6485467"/>
              <a:gd name="connsiteY6" fmla="*/ 2201863 h 6858000"/>
              <a:gd name="connsiteX7" fmla="*/ 6098117 w 6485467"/>
              <a:gd name="connsiteY7" fmla="*/ 2211388 h 6858000"/>
              <a:gd name="connsiteX8" fmla="*/ 6098117 w 6485467"/>
              <a:gd name="connsiteY8" fmla="*/ 2220913 h 6858000"/>
              <a:gd name="connsiteX9" fmla="*/ 6104467 w 6485467"/>
              <a:gd name="connsiteY9" fmla="*/ 2228850 h 6858000"/>
              <a:gd name="connsiteX10" fmla="*/ 6110817 w 6485467"/>
              <a:gd name="connsiteY10" fmla="*/ 2238375 h 6858000"/>
              <a:gd name="connsiteX11" fmla="*/ 6115051 w 6485467"/>
              <a:gd name="connsiteY11" fmla="*/ 2244725 h 6858000"/>
              <a:gd name="connsiteX12" fmla="*/ 6485467 w 6485467"/>
              <a:gd name="connsiteY12" fmla="*/ 2522538 h 6858000"/>
              <a:gd name="connsiteX13" fmla="*/ 6485467 w 6485467"/>
              <a:gd name="connsiteY13" fmla="*/ 6858000 h 6858000"/>
              <a:gd name="connsiteX14" fmla="*/ 0 w 6485467"/>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85467" h="6858000">
                <a:moveTo>
                  <a:pt x="0" y="0"/>
                </a:moveTo>
                <a:lnTo>
                  <a:pt x="6485467" y="0"/>
                </a:lnTo>
                <a:lnTo>
                  <a:pt x="6485467" y="1900238"/>
                </a:lnTo>
                <a:lnTo>
                  <a:pt x="6115051" y="2178050"/>
                </a:lnTo>
                <a:lnTo>
                  <a:pt x="6110817" y="2184400"/>
                </a:lnTo>
                <a:lnTo>
                  <a:pt x="6104467" y="2193925"/>
                </a:lnTo>
                <a:lnTo>
                  <a:pt x="6098117" y="2201863"/>
                </a:lnTo>
                <a:lnTo>
                  <a:pt x="6098117" y="2211388"/>
                </a:lnTo>
                <a:lnTo>
                  <a:pt x="6098117" y="2220913"/>
                </a:lnTo>
                <a:lnTo>
                  <a:pt x="6104467" y="2228850"/>
                </a:lnTo>
                <a:lnTo>
                  <a:pt x="6110817" y="2238375"/>
                </a:lnTo>
                <a:lnTo>
                  <a:pt x="6115051" y="2244725"/>
                </a:lnTo>
                <a:lnTo>
                  <a:pt x="6485467" y="2522538"/>
                </a:lnTo>
                <a:lnTo>
                  <a:pt x="6485467" y="6858000"/>
                </a:lnTo>
                <a:lnTo>
                  <a:pt x="0" y="6858000"/>
                </a:lnTo>
                <a:close/>
              </a:path>
            </a:pathLst>
          </a:custGeom>
          <a:solidFill>
            <a:schemeClr val="bg1">
              <a:lumMod val="85000"/>
              <a:lumOff val="1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FB872C-4465-3C44-1FA8-4195F885BD99}"/>
              </a:ext>
            </a:extLst>
          </p:cNvPr>
          <p:cNvSpPr>
            <a:spLocks noGrp="1"/>
          </p:cNvSpPr>
          <p:nvPr>
            <p:ph type="title"/>
          </p:nvPr>
        </p:nvSpPr>
        <p:spPr>
          <a:xfrm>
            <a:off x="810000" y="447188"/>
            <a:ext cx="5070100" cy="1559412"/>
          </a:xfrm>
        </p:spPr>
        <p:txBody>
          <a:bodyPr>
            <a:normAutofit/>
          </a:bodyPr>
          <a:lstStyle/>
          <a:p>
            <a:r>
              <a:rPr lang="en-US" dirty="0"/>
              <a:t>Neural Network training</a:t>
            </a:r>
          </a:p>
        </p:txBody>
      </p:sp>
      <p:sp>
        <p:nvSpPr>
          <p:cNvPr id="3" name="Content Placeholder 2">
            <a:extLst>
              <a:ext uri="{FF2B5EF4-FFF2-40B4-BE49-F238E27FC236}">
                <a16:creationId xmlns:a16="http://schemas.microsoft.com/office/drawing/2014/main" id="{D9B6264D-9135-1B75-A6C4-8D4411D3012E}"/>
              </a:ext>
            </a:extLst>
          </p:cNvPr>
          <p:cNvSpPr>
            <a:spLocks noGrp="1"/>
          </p:cNvSpPr>
          <p:nvPr>
            <p:ph idx="1"/>
          </p:nvPr>
        </p:nvSpPr>
        <p:spPr>
          <a:xfrm>
            <a:off x="818712" y="2413000"/>
            <a:ext cx="5055923" cy="3632200"/>
          </a:xfrm>
        </p:spPr>
        <p:txBody>
          <a:bodyPr>
            <a:normAutofit/>
          </a:bodyPr>
          <a:lstStyle/>
          <a:p>
            <a:pPr>
              <a:lnSpc>
                <a:spcPct val="90000"/>
              </a:lnSpc>
            </a:pPr>
            <a:r>
              <a:rPr lang="en-US" sz="1500">
                <a:latin typeface="Aptos" panose="020B0004020202020204" pitchFamily="34" charset="0"/>
                <a:ea typeface="Aptos" panose="020B0004020202020204" pitchFamily="34" charset="0"/>
                <a:cs typeface="Times New Roman" panose="02020603050405020304" pitchFamily="18" charset="0"/>
              </a:rPr>
              <a:t>Whether Deep or Shallow, neural networks are designed for recall</a:t>
            </a:r>
          </a:p>
          <a:p>
            <a:pPr>
              <a:lnSpc>
                <a:spcPct val="90000"/>
              </a:lnSpc>
            </a:pPr>
            <a:r>
              <a:rPr lang="en-US" sz="1500">
                <a:latin typeface="Aptos" panose="020B0004020202020204" pitchFamily="34" charset="0"/>
                <a:ea typeface="Aptos" panose="020B0004020202020204" pitchFamily="34" charset="0"/>
                <a:cs typeface="Times New Roman" panose="02020603050405020304" pitchFamily="18" charset="0"/>
              </a:rPr>
              <a:t>While modern Network implementations seemingly generate artifacts on demand, in reality, they are performing complicated recall operations given the input provided</a:t>
            </a:r>
          </a:p>
          <a:p>
            <a:pPr>
              <a:lnSpc>
                <a:spcPct val="90000"/>
              </a:lnSpc>
            </a:pPr>
            <a:r>
              <a:rPr lang="en-US" sz="1500">
                <a:latin typeface="Aptos" panose="020B0004020202020204" pitchFamily="34" charset="0"/>
                <a:ea typeface="Aptos" panose="020B0004020202020204" pitchFamily="34" charset="0"/>
                <a:cs typeface="Times New Roman" panose="02020603050405020304" pitchFamily="18" charset="0"/>
              </a:rPr>
              <a:t>In normal operation, a Neural Network is supplied an input value(s), the Network processes the input by identifying the correct “pathway” via the Weights in the Hidden Layers to recall/rebuild the correct Output. </a:t>
            </a:r>
          </a:p>
          <a:p>
            <a:pPr>
              <a:lnSpc>
                <a:spcPct val="90000"/>
              </a:lnSpc>
            </a:pPr>
            <a:r>
              <a:rPr lang="en-US" sz="1500">
                <a:latin typeface="Aptos" panose="020B0004020202020204" pitchFamily="34" charset="0"/>
                <a:ea typeface="Aptos" panose="020B0004020202020204" pitchFamily="34" charset="0"/>
                <a:cs typeface="Times New Roman" panose="02020603050405020304" pitchFamily="18" charset="0"/>
              </a:rPr>
              <a:t>A network’s recall performance is directly impacted by the degree of training applied to the network</a:t>
            </a:r>
          </a:p>
          <a:p>
            <a:pPr>
              <a:lnSpc>
                <a:spcPct val="90000"/>
              </a:lnSpc>
            </a:pPr>
            <a:r>
              <a:rPr lang="en-US" sz="1500">
                <a:latin typeface="Aptos" panose="020B0004020202020204" pitchFamily="34" charset="0"/>
                <a:ea typeface="Aptos" panose="020B0004020202020204" pitchFamily="34" charset="0"/>
                <a:cs typeface="Times New Roman" panose="02020603050405020304" pitchFamily="18" charset="0"/>
              </a:rPr>
              <a:t>Training is expensive both in terms of time and cost</a:t>
            </a:r>
          </a:p>
        </p:txBody>
      </p:sp>
    </p:spTree>
    <p:extLst>
      <p:ext uri="{BB962C8B-B14F-4D97-AF65-F5344CB8AC3E}">
        <p14:creationId xmlns:p14="http://schemas.microsoft.com/office/powerpoint/2010/main" val="37944139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B872C-4465-3C44-1FA8-4195F885BD99}"/>
              </a:ext>
            </a:extLst>
          </p:cNvPr>
          <p:cNvSpPr>
            <a:spLocks noGrp="1"/>
          </p:cNvSpPr>
          <p:nvPr>
            <p:ph type="title"/>
          </p:nvPr>
        </p:nvSpPr>
        <p:spPr/>
        <p:txBody>
          <a:bodyPr/>
          <a:lstStyle/>
          <a:p>
            <a:r>
              <a:rPr lang="en-US" dirty="0"/>
              <a:t>Neural Network training requirements</a:t>
            </a:r>
          </a:p>
        </p:txBody>
      </p:sp>
      <p:sp>
        <p:nvSpPr>
          <p:cNvPr id="3" name="Content Placeholder 2">
            <a:extLst>
              <a:ext uri="{FF2B5EF4-FFF2-40B4-BE49-F238E27FC236}">
                <a16:creationId xmlns:a16="http://schemas.microsoft.com/office/drawing/2014/main" id="{D9B6264D-9135-1B75-A6C4-8D4411D3012E}"/>
              </a:ext>
            </a:extLst>
          </p:cNvPr>
          <p:cNvSpPr>
            <a:spLocks noGrp="1"/>
          </p:cNvSpPr>
          <p:nvPr>
            <p:ph idx="1"/>
          </p:nvPr>
        </p:nvSpPr>
        <p:spPr>
          <a:xfrm>
            <a:off x="393031" y="2358190"/>
            <a:ext cx="11405938" cy="4223084"/>
          </a:xfrm>
        </p:spPr>
        <p:txBody>
          <a:bodyPr>
            <a:normAutofit/>
          </a:bodyPr>
          <a:lstStyle/>
          <a:p>
            <a:pPr marL="0" indent="0">
              <a:buNone/>
            </a:pPr>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Before invoking training, a collection of information must be gathered including:</a:t>
            </a:r>
          </a:p>
          <a:p>
            <a:pPr marL="457200" indent="-457200">
              <a:buFont typeface="+mj-lt"/>
              <a:buAutoNum type="arabicPeriod"/>
            </a:pPr>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The Network Definition specifying how the number of Nodes in the Input, the number of Hidden Layers and number of Hidden Nodes, and the number of Output Nodes</a:t>
            </a:r>
          </a:p>
          <a:p>
            <a:pPr marL="457200" indent="-457200">
              <a:buFont typeface="+mj-lt"/>
              <a:buAutoNum type="arabicPeriod"/>
            </a:pPr>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Training data including a list of input values and the resulting ideal output values</a:t>
            </a:r>
          </a:p>
          <a:p>
            <a:pPr marL="457200" indent="-457200">
              <a:buFont typeface="+mj-lt"/>
              <a:buAutoNum type="arabicPeriod"/>
            </a:pPr>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How many Cycles the Training should invoke</a:t>
            </a:r>
          </a:p>
          <a:p>
            <a:pPr marL="457200" indent="-457200">
              <a:buFont typeface="+mj-lt"/>
              <a:buAutoNum type="arabicPeriod"/>
            </a:pPr>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Tuning information regarding how aggressively the Network should learn</a:t>
            </a:r>
          </a:p>
          <a:p>
            <a:pPr marL="457200" indent="-457200">
              <a:buFont typeface="+mj-lt"/>
              <a:buAutoNum type="arabicPeriod"/>
            </a:pPr>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The desired Error Rate-- a probability, signifying the correctness of the Network for any given Input</a:t>
            </a:r>
          </a:p>
          <a:p>
            <a:endPar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3229988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FEFC82F-3850-0DC8-1A83-8C3C165256EC}"/>
              </a:ext>
            </a:extLst>
          </p:cNvPr>
          <p:cNvSpPr>
            <a:spLocks noGrp="1"/>
          </p:cNvSpPr>
          <p:nvPr>
            <p:ph type="title"/>
          </p:nvPr>
        </p:nvSpPr>
        <p:spPr/>
        <p:txBody>
          <a:bodyPr/>
          <a:lstStyle/>
          <a:p>
            <a:r>
              <a:rPr lang="en-US" dirty="0"/>
              <a:t>How Networks are trained</a:t>
            </a:r>
          </a:p>
        </p:txBody>
      </p:sp>
      <p:sp>
        <p:nvSpPr>
          <p:cNvPr id="6" name="Flowchart: Terminator 5">
            <a:extLst>
              <a:ext uri="{FF2B5EF4-FFF2-40B4-BE49-F238E27FC236}">
                <a16:creationId xmlns:a16="http://schemas.microsoft.com/office/drawing/2014/main" id="{A7FE53AB-9B0C-87AB-4AD0-4DD6F607CA24}"/>
              </a:ext>
            </a:extLst>
          </p:cNvPr>
          <p:cNvSpPr/>
          <p:nvPr/>
        </p:nvSpPr>
        <p:spPr>
          <a:xfrm>
            <a:off x="288758" y="2478510"/>
            <a:ext cx="1852863" cy="637674"/>
          </a:xfrm>
          <a:prstGeom prst="flowChartTerminator">
            <a:avLst/>
          </a:prstGeom>
          <a:solidFill>
            <a:srgbClr val="22B05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Start</a:t>
            </a:r>
          </a:p>
        </p:txBody>
      </p:sp>
      <p:sp>
        <p:nvSpPr>
          <p:cNvPr id="7" name="Flowchart: Process 6">
            <a:extLst>
              <a:ext uri="{FF2B5EF4-FFF2-40B4-BE49-F238E27FC236}">
                <a16:creationId xmlns:a16="http://schemas.microsoft.com/office/drawing/2014/main" id="{5B536C0F-F42F-B3FF-A56C-3DCF1EE0EF03}"/>
              </a:ext>
            </a:extLst>
          </p:cNvPr>
          <p:cNvSpPr/>
          <p:nvPr/>
        </p:nvSpPr>
        <p:spPr>
          <a:xfrm>
            <a:off x="2781299" y="2477728"/>
            <a:ext cx="2490537" cy="1235145"/>
          </a:xfrm>
          <a:prstGeom prst="flowChartProcess">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ptos" panose="020B0004020202020204" pitchFamily="34" charset="0"/>
                <a:cs typeface="Times New Roman" panose="02020603050405020304" pitchFamily="18" charset="0"/>
              </a:rPr>
              <a:t>Input data is suppled to the Network</a:t>
            </a:r>
            <a:endParaRPr lang="en-US" dirty="0"/>
          </a:p>
        </p:txBody>
      </p:sp>
      <p:sp>
        <p:nvSpPr>
          <p:cNvPr id="10" name="Flowchart: Process 9">
            <a:extLst>
              <a:ext uri="{FF2B5EF4-FFF2-40B4-BE49-F238E27FC236}">
                <a16:creationId xmlns:a16="http://schemas.microsoft.com/office/drawing/2014/main" id="{B3F75FB0-7FBB-1FC5-E1C3-0CA629573ACA}"/>
              </a:ext>
            </a:extLst>
          </p:cNvPr>
          <p:cNvSpPr/>
          <p:nvPr/>
        </p:nvSpPr>
        <p:spPr>
          <a:xfrm>
            <a:off x="6047873" y="2450213"/>
            <a:ext cx="2490537" cy="1235145"/>
          </a:xfrm>
          <a:prstGeom prst="flowChartProcess">
            <a:avLst/>
          </a:prstGeom>
          <a:solidFill>
            <a:srgbClr val="5A478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kern="100" dirty="0">
                <a:latin typeface="Aptos" panose="020B0004020202020204" pitchFamily="34" charset="0"/>
                <a:cs typeface="Times New Roman" panose="02020603050405020304" pitchFamily="18" charset="0"/>
              </a:rPr>
              <a:t>Recall is attempted by the Network</a:t>
            </a:r>
            <a:endParaRPr lang="en-US" dirty="0"/>
          </a:p>
        </p:txBody>
      </p:sp>
      <p:sp>
        <p:nvSpPr>
          <p:cNvPr id="11" name="Flowchart: Process 10">
            <a:extLst>
              <a:ext uri="{FF2B5EF4-FFF2-40B4-BE49-F238E27FC236}">
                <a16:creationId xmlns:a16="http://schemas.microsoft.com/office/drawing/2014/main" id="{252AE545-8A27-CBF0-44B6-57980E2620DB}"/>
              </a:ext>
            </a:extLst>
          </p:cNvPr>
          <p:cNvSpPr/>
          <p:nvPr/>
        </p:nvSpPr>
        <p:spPr>
          <a:xfrm>
            <a:off x="9314447" y="2477728"/>
            <a:ext cx="2490537" cy="1235145"/>
          </a:xfrm>
          <a:prstGeom prst="flowChartProcess">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kern="100" dirty="0">
                <a:effectLst/>
                <a:latin typeface="Aptos" panose="020B0004020202020204" pitchFamily="34" charset="0"/>
                <a:ea typeface="Aptos" panose="020B0004020202020204" pitchFamily="34" charset="0"/>
                <a:cs typeface="Times New Roman" panose="02020603050405020304" pitchFamily="18" charset="0"/>
              </a:rPr>
              <a:t>The current output value is compared against the ideal output value</a:t>
            </a:r>
            <a:endParaRPr lang="en-US" dirty="0"/>
          </a:p>
        </p:txBody>
      </p:sp>
      <p:sp>
        <p:nvSpPr>
          <p:cNvPr id="12" name="Flowchart: Process 11">
            <a:extLst>
              <a:ext uri="{FF2B5EF4-FFF2-40B4-BE49-F238E27FC236}">
                <a16:creationId xmlns:a16="http://schemas.microsoft.com/office/drawing/2014/main" id="{59FEA4C1-A5F6-70A3-1E5A-D2A8816B18C8}"/>
              </a:ext>
            </a:extLst>
          </p:cNvPr>
          <p:cNvSpPr/>
          <p:nvPr/>
        </p:nvSpPr>
        <p:spPr>
          <a:xfrm>
            <a:off x="1010657" y="4471882"/>
            <a:ext cx="2490537" cy="1517824"/>
          </a:xfrm>
          <a:prstGeom prst="flowChartProcess">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kern="100" dirty="0">
                <a:effectLst/>
                <a:latin typeface="Aptos" panose="020B0004020202020204" pitchFamily="34" charset="0"/>
                <a:ea typeface="Aptos" panose="020B0004020202020204" pitchFamily="34" charset="0"/>
                <a:cs typeface="Times New Roman" panose="02020603050405020304" pitchFamily="18" charset="0"/>
              </a:rPr>
              <a:t>Error, deltas, and threshold values are calculated from the difference between output values</a:t>
            </a:r>
            <a:endParaRPr lang="en-US" dirty="0"/>
          </a:p>
        </p:txBody>
      </p:sp>
      <p:sp>
        <p:nvSpPr>
          <p:cNvPr id="13" name="Flowchart: Process 12">
            <a:extLst>
              <a:ext uri="{FF2B5EF4-FFF2-40B4-BE49-F238E27FC236}">
                <a16:creationId xmlns:a16="http://schemas.microsoft.com/office/drawing/2014/main" id="{07C432D1-1547-B812-A0CC-AA9A51DC8C9F}"/>
              </a:ext>
            </a:extLst>
          </p:cNvPr>
          <p:cNvSpPr/>
          <p:nvPr/>
        </p:nvSpPr>
        <p:spPr>
          <a:xfrm>
            <a:off x="4214066" y="4471882"/>
            <a:ext cx="2098511" cy="1517824"/>
          </a:xfrm>
          <a:prstGeom prst="flowChartProcess">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kern="100" dirty="0">
                <a:effectLst/>
                <a:latin typeface="Aptos" panose="020B0004020202020204" pitchFamily="34" charset="0"/>
                <a:ea typeface="Aptos" panose="020B0004020202020204" pitchFamily="34" charset="0"/>
                <a:cs typeface="Times New Roman" panose="02020603050405020304" pitchFamily="18" charset="0"/>
              </a:rPr>
              <a:t>The Network is adjusted to account for the new changes</a:t>
            </a:r>
            <a:endParaRPr lang="en-US" dirty="0"/>
          </a:p>
        </p:txBody>
      </p:sp>
      <p:sp>
        <p:nvSpPr>
          <p:cNvPr id="15" name="Flowchart: Terminator 14">
            <a:extLst>
              <a:ext uri="{FF2B5EF4-FFF2-40B4-BE49-F238E27FC236}">
                <a16:creationId xmlns:a16="http://schemas.microsoft.com/office/drawing/2014/main" id="{60D140B4-0274-E8EA-37B2-89B8E862222F}"/>
              </a:ext>
            </a:extLst>
          </p:cNvPr>
          <p:cNvSpPr/>
          <p:nvPr/>
        </p:nvSpPr>
        <p:spPr>
          <a:xfrm>
            <a:off x="9984205" y="4911957"/>
            <a:ext cx="1852863" cy="637674"/>
          </a:xfrm>
          <a:prstGeom prst="flowChartTerminator">
            <a:avLst/>
          </a:prstGeom>
          <a:solidFill>
            <a:srgbClr val="E1595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Stop</a:t>
            </a:r>
          </a:p>
        </p:txBody>
      </p:sp>
      <p:cxnSp>
        <p:nvCxnSpPr>
          <p:cNvPr id="19" name="Straight Arrow Connector 18">
            <a:extLst>
              <a:ext uri="{FF2B5EF4-FFF2-40B4-BE49-F238E27FC236}">
                <a16:creationId xmlns:a16="http://schemas.microsoft.com/office/drawing/2014/main" id="{3B1F1865-BC25-CC89-5ADD-B112816BA758}"/>
              </a:ext>
            </a:extLst>
          </p:cNvPr>
          <p:cNvCxnSpPr>
            <a:cxnSpLocks/>
            <a:stCxn id="6" idx="3"/>
          </p:cNvCxnSpPr>
          <p:nvPr/>
        </p:nvCxnSpPr>
        <p:spPr>
          <a:xfrm flipV="1">
            <a:off x="2141621" y="2782485"/>
            <a:ext cx="639678" cy="14862"/>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6F4F036A-23E7-6803-B3A8-A1248A21C87A}"/>
              </a:ext>
            </a:extLst>
          </p:cNvPr>
          <p:cNvCxnSpPr>
            <a:cxnSpLocks/>
          </p:cNvCxnSpPr>
          <p:nvPr/>
        </p:nvCxnSpPr>
        <p:spPr>
          <a:xfrm flipV="1">
            <a:off x="5340015" y="3052923"/>
            <a:ext cx="639678" cy="14862"/>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2376B8A8-34D0-98C4-35DD-BC6C944003A2}"/>
              </a:ext>
            </a:extLst>
          </p:cNvPr>
          <p:cNvCxnSpPr>
            <a:cxnSpLocks/>
          </p:cNvCxnSpPr>
          <p:nvPr/>
        </p:nvCxnSpPr>
        <p:spPr>
          <a:xfrm flipV="1">
            <a:off x="8606589" y="3056198"/>
            <a:ext cx="639678" cy="14862"/>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AD5B6426-62DC-3DB0-96F0-BDC43A33F067}"/>
              </a:ext>
            </a:extLst>
          </p:cNvPr>
          <p:cNvCxnSpPr>
            <a:cxnSpLocks/>
          </p:cNvCxnSpPr>
          <p:nvPr/>
        </p:nvCxnSpPr>
        <p:spPr>
          <a:xfrm>
            <a:off x="2207797" y="4162926"/>
            <a:ext cx="0" cy="308956"/>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8A57B25-4476-DB5B-92D6-59A40A967F62}"/>
              </a:ext>
            </a:extLst>
          </p:cNvPr>
          <p:cNvCxnSpPr>
            <a:cxnSpLocks/>
          </p:cNvCxnSpPr>
          <p:nvPr/>
        </p:nvCxnSpPr>
        <p:spPr>
          <a:xfrm flipV="1">
            <a:off x="3570375" y="5230794"/>
            <a:ext cx="639678" cy="14862"/>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4565AB4C-E34B-678B-5EA0-C0F7DA2C4011}"/>
              </a:ext>
            </a:extLst>
          </p:cNvPr>
          <p:cNvCxnSpPr>
            <a:cxnSpLocks/>
          </p:cNvCxnSpPr>
          <p:nvPr/>
        </p:nvCxnSpPr>
        <p:spPr>
          <a:xfrm flipV="1">
            <a:off x="6384769" y="5230794"/>
            <a:ext cx="639678" cy="14862"/>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BC11911E-7F43-6B11-2529-C4342C0A06FB}"/>
              </a:ext>
            </a:extLst>
          </p:cNvPr>
          <p:cNvCxnSpPr>
            <a:cxnSpLocks/>
          </p:cNvCxnSpPr>
          <p:nvPr/>
        </p:nvCxnSpPr>
        <p:spPr>
          <a:xfrm flipV="1">
            <a:off x="9358558" y="5247248"/>
            <a:ext cx="639678" cy="14862"/>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42B48757-6F2F-0B10-8FFE-6E50A025CC44}"/>
              </a:ext>
            </a:extLst>
          </p:cNvPr>
          <p:cNvCxnSpPr>
            <a:cxnSpLocks/>
          </p:cNvCxnSpPr>
          <p:nvPr/>
        </p:nvCxnSpPr>
        <p:spPr>
          <a:xfrm>
            <a:off x="2207797" y="4114792"/>
            <a:ext cx="8351918" cy="0"/>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039E4B5B-422E-F410-9604-3AE9AF2A5C47}"/>
              </a:ext>
            </a:extLst>
          </p:cNvPr>
          <p:cNvCxnSpPr>
            <a:cxnSpLocks/>
          </p:cNvCxnSpPr>
          <p:nvPr/>
        </p:nvCxnSpPr>
        <p:spPr>
          <a:xfrm>
            <a:off x="10559715" y="3862137"/>
            <a:ext cx="0" cy="216568"/>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Flowchart: Decision 1">
            <a:extLst>
              <a:ext uri="{FF2B5EF4-FFF2-40B4-BE49-F238E27FC236}">
                <a16:creationId xmlns:a16="http://schemas.microsoft.com/office/drawing/2014/main" id="{F69F9A88-2EE9-7B31-D9C6-01226A51E6C4}"/>
              </a:ext>
            </a:extLst>
          </p:cNvPr>
          <p:cNvSpPr/>
          <p:nvPr/>
        </p:nvSpPr>
        <p:spPr>
          <a:xfrm>
            <a:off x="7000383" y="4365713"/>
            <a:ext cx="2350169" cy="1730162"/>
          </a:xfrm>
          <a:prstGeom prst="flowChartDecision">
            <a:avLst/>
          </a:prstGeom>
          <a:solidFill>
            <a:srgbClr val="D2A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Error Rate or Cycle# reached</a:t>
            </a:r>
          </a:p>
        </p:txBody>
      </p:sp>
      <p:cxnSp>
        <p:nvCxnSpPr>
          <p:cNvPr id="18" name="Straight Connector 17">
            <a:extLst>
              <a:ext uri="{FF2B5EF4-FFF2-40B4-BE49-F238E27FC236}">
                <a16:creationId xmlns:a16="http://schemas.microsoft.com/office/drawing/2014/main" id="{C75285E6-AA39-602E-4574-F239E0FF9A49}"/>
              </a:ext>
            </a:extLst>
          </p:cNvPr>
          <p:cNvCxnSpPr>
            <a:cxnSpLocks/>
          </p:cNvCxnSpPr>
          <p:nvPr/>
        </p:nvCxnSpPr>
        <p:spPr>
          <a:xfrm>
            <a:off x="481263" y="6396782"/>
            <a:ext cx="7680158" cy="0"/>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9830289-0D52-F7F0-E3FF-0B91A67017ED}"/>
              </a:ext>
            </a:extLst>
          </p:cNvPr>
          <p:cNvCxnSpPr>
            <a:cxnSpLocks/>
          </p:cNvCxnSpPr>
          <p:nvPr/>
        </p:nvCxnSpPr>
        <p:spPr>
          <a:xfrm>
            <a:off x="8161421" y="6144127"/>
            <a:ext cx="0" cy="216568"/>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22D85FD-895E-1469-0038-B8B33D8829F4}"/>
              </a:ext>
            </a:extLst>
          </p:cNvPr>
          <p:cNvCxnSpPr>
            <a:cxnSpLocks/>
          </p:cNvCxnSpPr>
          <p:nvPr/>
        </p:nvCxnSpPr>
        <p:spPr>
          <a:xfrm flipV="1">
            <a:off x="481263" y="3429000"/>
            <a:ext cx="0" cy="2931695"/>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6ACA85AF-7E2C-5061-7C52-595B8738252B}"/>
              </a:ext>
            </a:extLst>
          </p:cNvPr>
          <p:cNvCxnSpPr>
            <a:cxnSpLocks/>
          </p:cNvCxnSpPr>
          <p:nvPr/>
        </p:nvCxnSpPr>
        <p:spPr>
          <a:xfrm>
            <a:off x="481263" y="3417091"/>
            <a:ext cx="2300036" cy="0"/>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92537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B872C-4465-3C44-1FA8-4195F885BD99}"/>
              </a:ext>
            </a:extLst>
          </p:cNvPr>
          <p:cNvSpPr>
            <a:spLocks noGrp="1"/>
          </p:cNvSpPr>
          <p:nvPr>
            <p:ph type="title"/>
          </p:nvPr>
        </p:nvSpPr>
        <p:spPr/>
        <p:txBody>
          <a:bodyPr/>
          <a:lstStyle/>
          <a:p>
            <a:r>
              <a:rPr lang="en-US" dirty="0"/>
              <a:t>Supervised training</a:t>
            </a:r>
          </a:p>
        </p:txBody>
      </p:sp>
      <p:sp>
        <p:nvSpPr>
          <p:cNvPr id="3" name="Content Placeholder 2">
            <a:extLst>
              <a:ext uri="{FF2B5EF4-FFF2-40B4-BE49-F238E27FC236}">
                <a16:creationId xmlns:a16="http://schemas.microsoft.com/office/drawing/2014/main" id="{D9B6264D-9135-1B75-A6C4-8D4411D3012E}"/>
              </a:ext>
            </a:extLst>
          </p:cNvPr>
          <p:cNvSpPr>
            <a:spLocks noGrp="1"/>
          </p:cNvSpPr>
          <p:nvPr>
            <p:ph sz="half" idx="1"/>
          </p:nvPr>
        </p:nvSpPr>
        <p:spPr>
          <a:xfrm>
            <a:off x="818712" y="2222287"/>
            <a:ext cx="5185873" cy="4419145"/>
          </a:xfrm>
        </p:spPr>
        <p:txBody>
          <a:bodyPr>
            <a:normAutofit fontScale="92500" lnSpcReduction="10000"/>
          </a:bodyPr>
          <a:lstStyle/>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While the Training forms a Network, the input data may sometimes need human intervention to appropriately classify the type of data being processed</a:t>
            </a:r>
          </a:p>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This is called Supervised Learning</a:t>
            </a:r>
          </a:p>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Humans will analyze the input, provide additional information, then supply all of the information to the Network for Training.</a:t>
            </a:r>
          </a:p>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This can increase the correctness of the Network but it is a costly endeavor</a:t>
            </a:r>
          </a:p>
        </p:txBody>
      </p:sp>
      <p:pic>
        <p:nvPicPr>
          <p:cNvPr id="4" name="Picture 3">
            <a:extLst>
              <a:ext uri="{FF2B5EF4-FFF2-40B4-BE49-F238E27FC236}">
                <a16:creationId xmlns:a16="http://schemas.microsoft.com/office/drawing/2014/main" id="{E15F1A1F-1CE5-AC2D-2139-60222C2DF785}"/>
              </a:ext>
            </a:extLst>
          </p:cNvPr>
          <p:cNvPicPr>
            <a:picLocks noChangeAspect="1"/>
          </p:cNvPicPr>
          <p:nvPr/>
        </p:nvPicPr>
        <p:blipFill>
          <a:blip r:embed="rId3"/>
          <a:stretch>
            <a:fillRect/>
          </a:stretch>
        </p:blipFill>
        <p:spPr>
          <a:xfrm>
            <a:off x="7234988" y="1900988"/>
            <a:ext cx="4957011" cy="4957011"/>
          </a:xfrm>
          <a:prstGeom prst="rect">
            <a:avLst/>
          </a:prstGeom>
        </p:spPr>
      </p:pic>
    </p:spTree>
    <p:extLst>
      <p:ext uri="{BB962C8B-B14F-4D97-AF65-F5344CB8AC3E}">
        <p14:creationId xmlns:p14="http://schemas.microsoft.com/office/powerpoint/2010/main" val="11666173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 name="Picture 4" descr="Light bulb on yellow background with sketched light beams and cord">
            <a:extLst>
              <a:ext uri="{FF2B5EF4-FFF2-40B4-BE49-F238E27FC236}">
                <a16:creationId xmlns:a16="http://schemas.microsoft.com/office/drawing/2014/main" id="{68E029AE-2C18-DD9C-8B02-077CB6672BBA}"/>
              </a:ext>
            </a:extLst>
          </p:cNvPr>
          <p:cNvPicPr>
            <a:picLocks noChangeAspect="1"/>
          </p:cNvPicPr>
          <p:nvPr/>
        </p:nvPicPr>
        <p:blipFill rotWithShape="1">
          <a:blip r:embed="rId3">
            <a:duotone>
              <a:schemeClr val="accent1">
                <a:shade val="45000"/>
                <a:satMod val="135000"/>
              </a:schemeClr>
              <a:prstClr val="white"/>
            </a:duotone>
          </a:blip>
          <a:srcRect l="44803" r="544"/>
          <a:stretch/>
        </p:blipFill>
        <p:spPr>
          <a:xfrm>
            <a:off x="6108700" y="-1"/>
            <a:ext cx="6094450" cy="6858001"/>
          </a:xfrm>
          <a:prstGeom prst="rect">
            <a:avLst/>
          </a:prstGeom>
        </p:spPr>
      </p:pic>
      <p:sp>
        <p:nvSpPr>
          <p:cNvPr id="9" name="Freeform 16">
            <a:extLst>
              <a:ext uri="{FF2B5EF4-FFF2-40B4-BE49-F238E27FC236}">
                <a16:creationId xmlns:a16="http://schemas.microsoft.com/office/drawing/2014/main" id="{3EEED574-6FCC-45F8-ABA8-05782705A3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6485467" cy="6858000"/>
          </a:xfrm>
          <a:custGeom>
            <a:avLst/>
            <a:gdLst>
              <a:gd name="connsiteX0" fmla="*/ 0 w 6485467"/>
              <a:gd name="connsiteY0" fmla="*/ 0 h 6858000"/>
              <a:gd name="connsiteX1" fmla="*/ 6485467 w 6485467"/>
              <a:gd name="connsiteY1" fmla="*/ 0 h 6858000"/>
              <a:gd name="connsiteX2" fmla="*/ 6485467 w 6485467"/>
              <a:gd name="connsiteY2" fmla="*/ 1900238 h 6858000"/>
              <a:gd name="connsiteX3" fmla="*/ 6115051 w 6485467"/>
              <a:gd name="connsiteY3" fmla="*/ 2178050 h 6858000"/>
              <a:gd name="connsiteX4" fmla="*/ 6110817 w 6485467"/>
              <a:gd name="connsiteY4" fmla="*/ 2184400 h 6858000"/>
              <a:gd name="connsiteX5" fmla="*/ 6104467 w 6485467"/>
              <a:gd name="connsiteY5" fmla="*/ 2193925 h 6858000"/>
              <a:gd name="connsiteX6" fmla="*/ 6098117 w 6485467"/>
              <a:gd name="connsiteY6" fmla="*/ 2201863 h 6858000"/>
              <a:gd name="connsiteX7" fmla="*/ 6098117 w 6485467"/>
              <a:gd name="connsiteY7" fmla="*/ 2211388 h 6858000"/>
              <a:gd name="connsiteX8" fmla="*/ 6098117 w 6485467"/>
              <a:gd name="connsiteY8" fmla="*/ 2220913 h 6858000"/>
              <a:gd name="connsiteX9" fmla="*/ 6104467 w 6485467"/>
              <a:gd name="connsiteY9" fmla="*/ 2228850 h 6858000"/>
              <a:gd name="connsiteX10" fmla="*/ 6110817 w 6485467"/>
              <a:gd name="connsiteY10" fmla="*/ 2238375 h 6858000"/>
              <a:gd name="connsiteX11" fmla="*/ 6115051 w 6485467"/>
              <a:gd name="connsiteY11" fmla="*/ 2244725 h 6858000"/>
              <a:gd name="connsiteX12" fmla="*/ 6485467 w 6485467"/>
              <a:gd name="connsiteY12" fmla="*/ 2522538 h 6858000"/>
              <a:gd name="connsiteX13" fmla="*/ 6485467 w 6485467"/>
              <a:gd name="connsiteY13" fmla="*/ 6858000 h 6858000"/>
              <a:gd name="connsiteX14" fmla="*/ 0 w 6485467"/>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85467" h="6858000">
                <a:moveTo>
                  <a:pt x="0" y="0"/>
                </a:moveTo>
                <a:lnTo>
                  <a:pt x="6485467" y="0"/>
                </a:lnTo>
                <a:lnTo>
                  <a:pt x="6485467" y="1900238"/>
                </a:lnTo>
                <a:lnTo>
                  <a:pt x="6115051" y="2178050"/>
                </a:lnTo>
                <a:lnTo>
                  <a:pt x="6110817" y="2184400"/>
                </a:lnTo>
                <a:lnTo>
                  <a:pt x="6104467" y="2193925"/>
                </a:lnTo>
                <a:lnTo>
                  <a:pt x="6098117" y="2201863"/>
                </a:lnTo>
                <a:lnTo>
                  <a:pt x="6098117" y="2211388"/>
                </a:lnTo>
                <a:lnTo>
                  <a:pt x="6098117" y="2220913"/>
                </a:lnTo>
                <a:lnTo>
                  <a:pt x="6104467" y="2228850"/>
                </a:lnTo>
                <a:lnTo>
                  <a:pt x="6110817" y="2238375"/>
                </a:lnTo>
                <a:lnTo>
                  <a:pt x="6115051" y="2244725"/>
                </a:lnTo>
                <a:lnTo>
                  <a:pt x="6485467" y="2522538"/>
                </a:lnTo>
                <a:lnTo>
                  <a:pt x="6485467" y="6858000"/>
                </a:lnTo>
                <a:lnTo>
                  <a:pt x="0" y="6858000"/>
                </a:lnTo>
                <a:close/>
              </a:path>
            </a:pathLst>
          </a:custGeom>
          <a:solidFill>
            <a:schemeClr val="bg1">
              <a:lumMod val="85000"/>
              <a:lumOff val="1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FB872C-4465-3C44-1FA8-4195F885BD99}"/>
              </a:ext>
            </a:extLst>
          </p:cNvPr>
          <p:cNvSpPr>
            <a:spLocks noGrp="1"/>
          </p:cNvSpPr>
          <p:nvPr>
            <p:ph type="title"/>
          </p:nvPr>
        </p:nvSpPr>
        <p:spPr>
          <a:xfrm>
            <a:off x="810000" y="447188"/>
            <a:ext cx="5070100" cy="1559412"/>
          </a:xfrm>
        </p:spPr>
        <p:txBody>
          <a:bodyPr>
            <a:normAutofit/>
          </a:bodyPr>
          <a:lstStyle/>
          <a:p>
            <a:r>
              <a:rPr lang="en-US" dirty="0"/>
              <a:t>Unsupervised training</a:t>
            </a:r>
          </a:p>
        </p:txBody>
      </p:sp>
      <p:sp>
        <p:nvSpPr>
          <p:cNvPr id="3" name="Content Placeholder 2">
            <a:extLst>
              <a:ext uri="{FF2B5EF4-FFF2-40B4-BE49-F238E27FC236}">
                <a16:creationId xmlns:a16="http://schemas.microsoft.com/office/drawing/2014/main" id="{D9B6264D-9135-1B75-A6C4-8D4411D3012E}"/>
              </a:ext>
            </a:extLst>
          </p:cNvPr>
          <p:cNvSpPr>
            <a:spLocks noGrp="1"/>
          </p:cNvSpPr>
          <p:nvPr>
            <p:ph idx="1"/>
          </p:nvPr>
        </p:nvSpPr>
        <p:spPr>
          <a:xfrm>
            <a:off x="818712" y="2413000"/>
            <a:ext cx="5055923" cy="3632200"/>
          </a:xfrm>
        </p:spPr>
        <p:txBody>
          <a:bodyPr>
            <a:normAutofit/>
          </a:bodyPr>
          <a:lstStyle/>
          <a:p>
            <a:pPr>
              <a:lnSpc>
                <a:spcPct val="90000"/>
              </a:lnSpc>
            </a:pPr>
            <a:r>
              <a:rPr lang="en-US" sz="1500">
                <a:latin typeface="Aptos" panose="020B0004020202020204" pitchFamily="34" charset="0"/>
                <a:ea typeface="Aptos" panose="020B0004020202020204" pitchFamily="34" charset="0"/>
                <a:cs typeface="Times New Roman" panose="02020603050405020304" pitchFamily="18" charset="0"/>
              </a:rPr>
              <a:t>Unsupervised training removes the human from the loop by increasing the size of the Network dramatically and including new tuning parameters to allow the Network to self-classify data as it Trains</a:t>
            </a:r>
          </a:p>
          <a:p>
            <a:pPr>
              <a:lnSpc>
                <a:spcPct val="90000"/>
              </a:lnSpc>
            </a:pPr>
            <a:r>
              <a:rPr lang="en-US" sz="1500">
                <a:latin typeface="Aptos" panose="020B0004020202020204" pitchFamily="34" charset="0"/>
                <a:ea typeface="Aptos" panose="020B0004020202020204" pitchFamily="34" charset="0"/>
                <a:cs typeface="Times New Roman" panose="02020603050405020304" pitchFamily="18" charset="0"/>
              </a:rPr>
              <a:t>This approach is less costly in terms of human resources but more costly in terms of power, time, and potential errors</a:t>
            </a:r>
          </a:p>
          <a:p>
            <a:pPr>
              <a:lnSpc>
                <a:spcPct val="90000"/>
              </a:lnSpc>
            </a:pPr>
            <a:r>
              <a:rPr lang="en-US" sz="1500">
                <a:latin typeface="Aptos" panose="020B0004020202020204" pitchFamily="34" charset="0"/>
                <a:ea typeface="Aptos" panose="020B0004020202020204" pitchFamily="34" charset="0"/>
                <a:cs typeface="Times New Roman" panose="02020603050405020304" pitchFamily="18" charset="0"/>
              </a:rPr>
              <a:t>Unsupervised Learning allows the Network to identify new classifications and relationships that may have been undetected in the data before processing</a:t>
            </a:r>
          </a:p>
          <a:p>
            <a:pPr>
              <a:lnSpc>
                <a:spcPct val="90000"/>
              </a:lnSpc>
            </a:pPr>
            <a:r>
              <a:rPr lang="en-US" sz="1500">
                <a:latin typeface="Aptos" panose="020B0004020202020204" pitchFamily="34" charset="0"/>
                <a:ea typeface="Aptos" panose="020B0004020202020204" pitchFamily="34" charset="0"/>
                <a:cs typeface="Times New Roman" panose="02020603050405020304" pitchFamily="18" charset="0"/>
              </a:rPr>
              <a:t>When this works, novel skills can seemingly emerge in the network. When this fails, errors and “hallucinations” can occur with no semantic or logical basis</a:t>
            </a:r>
          </a:p>
        </p:txBody>
      </p:sp>
    </p:spTree>
    <p:extLst>
      <p:ext uri="{BB962C8B-B14F-4D97-AF65-F5344CB8AC3E}">
        <p14:creationId xmlns:p14="http://schemas.microsoft.com/office/powerpoint/2010/main" val="33052833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 name="Picture 4" descr="CPU with binary numbers and blueprint">
            <a:extLst>
              <a:ext uri="{FF2B5EF4-FFF2-40B4-BE49-F238E27FC236}">
                <a16:creationId xmlns:a16="http://schemas.microsoft.com/office/drawing/2014/main" id="{FE827DF5-5C1F-B53F-467E-98E2C2A5E4E8}"/>
              </a:ext>
            </a:extLst>
          </p:cNvPr>
          <p:cNvPicPr>
            <a:picLocks noChangeAspect="1"/>
          </p:cNvPicPr>
          <p:nvPr/>
        </p:nvPicPr>
        <p:blipFill rotWithShape="1">
          <a:blip r:embed="rId3"/>
          <a:srcRect t="9091" r="9091"/>
          <a:stretch/>
        </p:blipFill>
        <p:spPr>
          <a:xfrm>
            <a:off x="20" y="10"/>
            <a:ext cx="12191980" cy="6857989"/>
          </a:xfrm>
          <a:prstGeom prst="rect">
            <a:avLst/>
          </a:prstGeom>
        </p:spPr>
      </p:pic>
      <p:sp>
        <p:nvSpPr>
          <p:cNvPr id="14" name="Freeform 9">
            <a:extLst>
              <a:ext uri="{FF2B5EF4-FFF2-40B4-BE49-F238E27FC236}">
                <a16:creationId xmlns:a16="http://schemas.microsoft.com/office/drawing/2014/main" id="{255A1912-89A7-4C19-8DD4-42030DFF9E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6485467" cy="6858000"/>
          </a:xfrm>
          <a:custGeom>
            <a:avLst/>
            <a:gdLst>
              <a:gd name="connsiteX0" fmla="*/ 0 w 6485467"/>
              <a:gd name="connsiteY0" fmla="*/ 0 h 6858000"/>
              <a:gd name="connsiteX1" fmla="*/ 6485467 w 6485467"/>
              <a:gd name="connsiteY1" fmla="*/ 0 h 6858000"/>
              <a:gd name="connsiteX2" fmla="*/ 6485467 w 6485467"/>
              <a:gd name="connsiteY2" fmla="*/ 1900238 h 6858000"/>
              <a:gd name="connsiteX3" fmla="*/ 6115051 w 6485467"/>
              <a:gd name="connsiteY3" fmla="*/ 2178050 h 6858000"/>
              <a:gd name="connsiteX4" fmla="*/ 6110817 w 6485467"/>
              <a:gd name="connsiteY4" fmla="*/ 2184400 h 6858000"/>
              <a:gd name="connsiteX5" fmla="*/ 6104467 w 6485467"/>
              <a:gd name="connsiteY5" fmla="*/ 2193925 h 6858000"/>
              <a:gd name="connsiteX6" fmla="*/ 6098117 w 6485467"/>
              <a:gd name="connsiteY6" fmla="*/ 2201863 h 6858000"/>
              <a:gd name="connsiteX7" fmla="*/ 6098117 w 6485467"/>
              <a:gd name="connsiteY7" fmla="*/ 2211388 h 6858000"/>
              <a:gd name="connsiteX8" fmla="*/ 6098117 w 6485467"/>
              <a:gd name="connsiteY8" fmla="*/ 2220913 h 6858000"/>
              <a:gd name="connsiteX9" fmla="*/ 6104467 w 6485467"/>
              <a:gd name="connsiteY9" fmla="*/ 2228850 h 6858000"/>
              <a:gd name="connsiteX10" fmla="*/ 6110817 w 6485467"/>
              <a:gd name="connsiteY10" fmla="*/ 2238375 h 6858000"/>
              <a:gd name="connsiteX11" fmla="*/ 6115051 w 6485467"/>
              <a:gd name="connsiteY11" fmla="*/ 2244725 h 6858000"/>
              <a:gd name="connsiteX12" fmla="*/ 6485467 w 6485467"/>
              <a:gd name="connsiteY12" fmla="*/ 2522538 h 6858000"/>
              <a:gd name="connsiteX13" fmla="*/ 6485467 w 6485467"/>
              <a:gd name="connsiteY13" fmla="*/ 6858000 h 6858000"/>
              <a:gd name="connsiteX14" fmla="*/ 0 w 6485467"/>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85467" h="6858000">
                <a:moveTo>
                  <a:pt x="0" y="0"/>
                </a:moveTo>
                <a:lnTo>
                  <a:pt x="6485467" y="0"/>
                </a:lnTo>
                <a:lnTo>
                  <a:pt x="6485467" y="1900238"/>
                </a:lnTo>
                <a:lnTo>
                  <a:pt x="6115051" y="2178050"/>
                </a:lnTo>
                <a:lnTo>
                  <a:pt x="6110817" y="2184400"/>
                </a:lnTo>
                <a:lnTo>
                  <a:pt x="6104467" y="2193925"/>
                </a:lnTo>
                <a:lnTo>
                  <a:pt x="6098117" y="2201863"/>
                </a:lnTo>
                <a:lnTo>
                  <a:pt x="6098117" y="2211388"/>
                </a:lnTo>
                <a:lnTo>
                  <a:pt x="6098117" y="2220913"/>
                </a:lnTo>
                <a:lnTo>
                  <a:pt x="6104467" y="2228850"/>
                </a:lnTo>
                <a:lnTo>
                  <a:pt x="6110817" y="2238375"/>
                </a:lnTo>
                <a:lnTo>
                  <a:pt x="6115051" y="2244725"/>
                </a:lnTo>
                <a:lnTo>
                  <a:pt x="6485467" y="2522538"/>
                </a:lnTo>
                <a:lnTo>
                  <a:pt x="6485467" y="6858000"/>
                </a:lnTo>
                <a:lnTo>
                  <a:pt x="0" y="6858000"/>
                </a:lnTo>
                <a:close/>
              </a:path>
            </a:pathLst>
          </a:custGeom>
          <a:solidFill>
            <a:schemeClr val="bg1">
              <a:lumMod val="85000"/>
              <a:lumOff val="15000"/>
              <a:alpha val="94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FB872C-4465-3C44-1FA8-4195F885BD99}"/>
              </a:ext>
            </a:extLst>
          </p:cNvPr>
          <p:cNvSpPr>
            <a:spLocks noGrp="1"/>
          </p:cNvSpPr>
          <p:nvPr>
            <p:ph type="title"/>
          </p:nvPr>
        </p:nvSpPr>
        <p:spPr>
          <a:xfrm>
            <a:off x="810000" y="447188"/>
            <a:ext cx="4930400" cy="1559412"/>
          </a:xfrm>
        </p:spPr>
        <p:txBody>
          <a:bodyPr>
            <a:normAutofit/>
          </a:bodyPr>
          <a:lstStyle/>
          <a:p>
            <a:r>
              <a:rPr lang="en-US" dirty="0"/>
              <a:t>Natural Language Processing</a:t>
            </a:r>
          </a:p>
        </p:txBody>
      </p:sp>
      <p:sp>
        <p:nvSpPr>
          <p:cNvPr id="3" name="Content Placeholder 2">
            <a:extLst>
              <a:ext uri="{FF2B5EF4-FFF2-40B4-BE49-F238E27FC236}">
                <a16:creationId xmlns:a16="http://schemas.microsoft.com/office/drawing/2014/main" id="{D9B6264D-9135-1B75-A6C4-8D4411D3012E}"/>
              </a:ext>
            </a:extLst>
          </p:cNvPr>
          <p:cNvSpPr>
            <a:spLocks noGrp="1"/>
          </p:cNvSpPr>
          <p:nvPr>
            <p:ph idx="1"/>
          </p:nvPr>
        </p:nvSpPr>
        <p:spPr>
          <a:xfrm>
            <a:off x="818712" y="2413000"/>
            <a:ext cx="4921687" cy="3632200"/>
          </a:xfrm>
        </p:spPr>
        <p:txBody>
          <a:bodyPr>
            <a:normAutofit/>
          </a:bodyPr>
          <a:lstStyle/>
          <a:p>
            <a:r>
              <a:rPr lang="en-US">
                <a:latin typeface="Aptos" panose="020B0004020202020204" pitchFamily="34" charset="0"/>
                <a:ea typeface="Aptos" panose="020B0004020202020204" pitchFamily="34" charset="0"/>
                <a:cs typeface="Times New Roman" panose="02020603050405020304" pitchFamily="18" charset="0"/>
              </a:rPr>
              <a:t>Natural language processing (NLP) is a branch of artificial intelligence that a computer to generate and understand human language</a:t>
            </a:r>
          </a:p>
          <a:p>
            <a:r>
              <a:rPr lang="en-US">
                <a:latin typeface="Aptos" panose="020B0004020202020204" pitchFamily="34" charset="0"/>
                <a:ea typeface="Aptos" panose="020B0004020202020204" pitchFamily="34" charset="0"/>
                <a:cs typeface="Times New Roman" panose="02020603050405020304" pitchFamily="18" charset="0"/>
              </a:rPr>
              <a:t>This processing includes both written and spoken language </a:t>
            </a:r>
          </a:p>
          <a:p>
            <a:r>
              <a:rPr lang="en-US">
                <a:latin typeface="Aptos" panose="020B0004020202020204" pitchFamily="34" charset="0"/>
                <a:ea typeface="Aptos" panose="020B0004020202020204" pitchFamily="34" charset="0"/>
                <a:cs typeface="Times New Roman" panose="02020603050405020304" pitchFamily="18" charset="0"/>
              </a:rPr>
              <a:t>NLP systems have been developed since the 1960’s and modern NLP methods still take on the same characteristics of the early works</a:t>
            </a:r>
          </a:p>
        </p:txBody>
      </p:sp>
    </p:spTree>
    <p:extLst>
      <p:ext uri="{BB962C8B-B14F-4D97-AF65-F5344CB8AC3E}">
        <p14:creationId xmlns:p14="http://schemas.microsoft.com/office/powerpoint/2010/main" val="8615177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B872C-4465-3C44-1FA8-4195F885BD99}"/>
              </a:ext>
            </a:extLst>
          </p:cNvPr>
          <p:cNvSpPr>
            <a:spLocks noGrp="1"/>
          </p:cNvSpPr>
          <p:nvPr>
            <p:ph type="title"/>
          </p:nvPr>
        </p:nvSpPr>
        <p:spPr/>
        <p:txBody>
          <a:bodyPr/>
          <a:lstStyle/>
          <a:p>
            <a:r>
              <a:rPr lang="en-US" dirty="0"/>
              <a:t>Language structure</a:t>
            </a:r>
          </a:p>
        </p:txBody>
      </p:sp>
      <p:sp>
        <p:nvSpPr>
          <p:cNvPr id="3" name="Content Placeholder 2">
            <a:extLst>
              <a:ext uri="{FF2B5EF4-FFF2-40B4-BE49-F238E27FC236}">
                <a16:creationId xmlns:a16="http://schemas.microsoft.com/office/drawing/2014/main" id="{D9B6264D-9135-1B75-A6C4-8D4411D3012E}"/>
              </a:ext>
            </a:extLst>
          </p:cNvPr>
          <p:cNvSpPr>
            <a:spLocks noGrp="1"/>
          </p:cNvSpPr>
          <p:nvPr>
            <p:ph sz="half" idx="1"/>
          </p:nvPr>
        </p:nvSpPr>
        <p:spPr>
          <a:xfrm>
            <a:off x="818712" y="2222287"/>
            <a:ext cx="5185873" cy="4419145"/>
          </a:xfrm>
        </p:spPr>
        <p:txBody>
          <a:bodyPr>
            <a:normAutofit/>
          </a:bodyPr>
          <a:lstStyle/>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Languages utilize some form of symbols as a basic building block for forming words. These symbols can be letters, numerals, or shapes</a:t>
            </a:r>
          </a:p>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The letters form words which represent objects, ideas, and concepts</a:t>
            </a:r>
          </a:p>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Words are further classified into parts of speech such as noun, verbs, adjectives, and so on</a:t>
            </a:r>
          </a:p>
        </p:txBody>
      </p:sp>
      <p:pic>
        <p:nvPicPr>
          <p:cNvPr id="4" name="Picture 3">
            <a:extLst>
              <a:ext uri="{FF2B5EF4-FFF2-40B4-BE49-F238E27FC236}">
                <a16:creationId xmlns:a16="http://schemas.microsoft.com/office/drawing/2014/main" id="{45F17190-72FB-16A9-685E-3278D4809966}"/>
              </a:ext>
            </a:extLst>
          </p:cNvPr>
          <p:cNvPicPr>
            <a:picLocks noChangeAspect="1"/>
          </p:cNvPicPr>
          <p:nvPr/>
        </p:nvPicPr>
        <p:blipFill>
          <a:blip r:embed="rId3"/>
          <a:stretch>
            <a:fillRect/>
          </a:stretch>
        </p:blipFill>
        <p:spPr>
          <a:xfrm>
            <a:off x="7218946" y="1884946"/>
            <a:ext cx="4973053" cy="4973053"/>
          </a:xfrm>
          <a:prstGeom prst="rect">
            <a:avLst/>
          </a:prstGeom>
        </p:spPr>
      </p:pic>
    </p:spTree>
    <p:extLst>
      <p:ext uri="{BB962C8B-B14F-4D97-AF65-F5344CB8AC3E}">
        <p14:creationId xmlns:p14="http://schemas.microsoft.com/office/powerpoint/2010/main" val="3845555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B872C-4465-3C44-1FA8-4195F885BD99}"/>
              </a:ext>
            </a:extLst>
          </p:cNvPr>
          <p:cNvSpPr>
            <a:spLocks noGrp="1"/>
          </p:cNvSpPr>
          <p:nvPr>
            <p:ph type="title"/>
          </p:nvPr>
        </p:nvSpPr>
        <p:spPr>
          <a:xfrm>
            <a:off x="810000" y="447188"/>
            <a:ext cx="10571998" cy="970450"/>
          </a:xfrm>
        </p:spPr>
        <p:txBody>
          <a:bodyPr>
            <a:normAutofit/>
          </a:bodyPr>
          <a:lstStyle/>
          <a:p>
            <a:r>
              <a:rPr lang="en-US" dirty="0"/>
              <a:t>Speech recognition</a:t>
            </a:r>
          </a:p>
        </p:txBody>
      </p:sp>
      <p:graphicFrame>
        <p:nvGraphicFramePr>
          <p:cNvPr id="5" name="Content Placeholder 2">
            <a:extLst>
              <a:ext uri="{FF2B5EF4-FFF2-40B4-BE49-F238E27FC236}">
                <a16:creationId xmlns:a16="http://schemas.microsoft.com/office/drawing/2014/main" id="{3CEFFEDE-CBE7-25D3-BF56-D3BA8825B54F}"/>
              </a:ext>
            </a:extLst>
          </p:cNvPr>
          <p:cNvGraphicFramePr>
            <a:graphicFrameLocks noGrp="1"/>
          </p:cNvGraphicFramePr>
          <p:nvPr>
            <p:ph idx="1"/>
            <p:extLst>
              <p:ext uri="{D42A27DB-BD31-4B8C-83A1-F6EECF244321}">
                <p14:modId xmlns:p14="http://schemas.microsoft.com/office/powerpoint/2010/main" val="3576991932"/>
              </p:ext>
            </p:extLst>
          </p:nvPr>
        </p:nvGraphicFramePr>
        <p:xfrm>
          <a:off x="819150" y="2548647"/>
          <a:ext cx="10553700" cy="33108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147428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 name="Picture 4" descr="Many question marks on black background">
            <a:extLst>
              <a:ext uri="{FF2B5EF4-FFF2-40B4-BE49-F238E27FC236}">
                <a16:creationId xmlns:a16="http://schemas.microsoft.com/office/drawing/2014/main" id="{E12999F4-56B5-67B4-312B-C6EA493265F4}"/>
              </a:ext>
            </a:extLst>
          </p:cNvPr>
          <p:cNvPicPr>
            <a:picLocks noChangeAspect="1"/>
          </p:cNvPicPr>
          <p:nvPr/>
        </p:nvPicPr>
        <p:blipFill rotWithShape="1">
          <a:blip r:embed="rId3">
            <a:duotone>
              <a:schemeClr val="accent1">
                <a:shade val="45000"/>
                <a:satMod val="135000"/>
              </a:schemeClr>
              <a:prstClr val="white"/>
            </a:duotone>
          </a:blip>
          <a:srcRect l="45791" r="2" b="2"/>
          <a:stretch/>
        </p:blipFill>
        <p:spPr>
          <a:xfrm>
            <a:off x="6108700" y="-1"/>
            <a:ext cx="6094450" cy="6858001"/>
          </a:xfrm>
          <a:prstGeom prst="rect">
            <a:avLst/>
          </a:prstGeom>
        </p:spPr>
      </p:pic>
      <p:sp>
        <p:nvSpPr>
          <p:cNvPr id="9" name="Freeform 16">
            <a:extLst>
              <a:ext uri="{FF2B5EF4-FFF2-40B4-BE49-F238E27FC236}">
                <a16:creationId xmlns:a16="http://schemas.microsoft.com/office/drawing/2014/main" id="{3EEED574-6FCC-45F8-ABA8-05782705A3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6485467" cy="6858000"/>
          </a:xfrm>
          <a:custGeom>
            <a:avLst/>
            <a:gdLst>
              <a:gd name="connsiteX0" fmla="*/ 0 w 6485467"/>
              <a:gd name="connsiteY0" fmla="*/ 0 h 6858000"/>
              <a:gd name="connsiteX1" fmla="*/ 6485467 w 6485467"/>
              <a:gd name="connsiteY1" fmla="*/ 0 h 6858000"/>
              <a:gd name="connsiteX2" fmla="*/ 6485467 w 6485467"/>
              <a:gd name="connsiteY2" fmla="*/ 1900238 h 6858000"/>
              <a:gd name="connsiteX3" fmla="*/ 6115051 w 6485467"/>
              <a:gd name="connsiteY3" fmla="*/ 2178050 h 6858000"/>
              <a:gd name="connsiteX4" fmla="*/ 6110817 w 6485467"/>
              <a:gd name="connsiteY4" fmla="*/ 2184400 h 6858000"/>
              <a:gd name="connsiteX5" fmla="*/ 6104467 w 6485467"/>
              <a:gd name="connsiteY5" fmla="*/ 2193925 h 6858000"/>
              <a:gd name="connsiteX6" fmla="*/ 6098117 w 6485467"/>
              <a:gd name="connsiteY6" fmla="*/ 2201863 h 6858000"/>
              <a:gd name="connsiteX7" fmla="*/ 6098117 w 6485467"/>
              <a:gd name="connsiteY7" fmla="*/ 2211388 h 6858000"/>
              <a:gd name="connsiteX8" fmla="*/ 6098117 w 6485467"/>
              <a:gd name="connsiteY8" fmla="*/ 2220913 h 6858000"/>
              <a:gd name="connsiteX9" fmla="*/ 6104467 w 6485467"/>
              <a:gd name="connsiteY9" fmla="*/ 2228850 h 6858000"/>
              <a:gd name="connsiteX10" fmla="*/ 6110817 w 6485467"/>
              <a:gd name="connsiteY10" fmla="*/ 2238375 h 6858000"/>
              <a:gd name="connsiteX11" fmla="*/ 6115051 w 6485467"/>
              <a:gd name="connsiteY11" fmla="*/ 2244725 h 6858000"/>
              <a:gd name="connsiteX12" fmla="*/ 6485467 w 6485467"/>
              <a:gd name="connsiteY12" fmla="*/ 2522538 h 6858000"/>
              <a:gd name="connsiteX13" fmla="*/ 6485467 w 6485467"/>
              <a:gd name="connsiteY13" fmla="*/ 6858000 h 6858000"/>
              <a:gd name="connsiteX14" fmla="*/ 0 w 6485467"/>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85467" h="6858000">
                <a:moveTo>
                  <a:pt x="0" y="0"/>
                </a:moveTo>
                <a:lnTo>
                  <a:pt x="6485467" y="0"/>
                </a:lnTo>
                <a:lnTo>
                  <a:pt x="6485467" y="1900238"/>
                </a:lnTo>
                <a:lnTo>
                  <a:pt x="6115051" y="2178050"/>
                </a:lnTo>
                <a:lnTo>
                  <a:pt x="6110817" y="2184400"/>
                </a:lnTo>
                <a:lnTo>
                  <a:pt x="6104467" y="2193925"/>
                </a:lnTo>
                <a:lnTo>
                  <a:pt x="6098117" y="2201863"/>
                </a:lnTo>
                <a:lnTo>
                  <a:pt x="6098117" y="2211388"/>
                </a:lnTo>
                <a:lnTo>
                  <a:pt x="6098117" y="2220913"/>
                </a:lnTo>
                <a:lnTo>
                  <a:pt x="6104467" y="2228850"/>
                </a:lnTo>
                <a:lnTo>
                  <a:pt x="6110817" y="2238375"/>
                </a:lnTo>
                <a:lnTo>
                  <a:pt x="6115051" y="2244725"/>
                </a:lnTo>
                <a:lnTo>
                  <a:pt x="6485467" y="2522538"/>
                </a:lnTo>
                <a:lnTo>
                  <a:pt x="6485467" y="6858000"/>
                </a:lnTo>
                <a:lnTo>
                  <a:pt x="0" y="6858000"/>
                </a:lnTo>
                <a:close/>
              </a:path>
            </a:pathLst>
          </a:custGeom>
          <a:solidFill>
            <a:schemeClr val="bg1">
              <a:lumMod val="85000"/>
              <a:lumOff val="1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FB872C-4465-3C44-1FA8-4195F885BD99}"/>
              </a:ext>
            </a:extLst>
          </p:cNvPr>
          <p:cNvSpPr>
            <a:spLocks noGrp="1"/>
          </p:cNvSpPr>
          <p:nvPr>
            <p:ph type="title"/>
          </p:nvPr>
        </p:nvSpPr>
        <p:spPr>
          <a:xfrm>
            <a:off x="810000" y="447188"/>
            <a:ext cx="5070100" cy="1559412"/>
          </a:xfrm>
        </p:spPr>
        <p:txBody>
          <a:bodyPr>
            <a:normAutofit/>
          </a:bodyPr>
          <a:lstStyle/>
          <a:p>
            <a:r>
              <a:rPr lang="en-US" dirty="0"/>
              <a:t>Parsing language</a:t>
            </a:r>
          </a:p>
        </p:txBody>
      </p:sp>
      <p:sp>
        <p:nvSpPr>
          <p:cNvPr id="3" name="Content Placeholder 2">
            <a:extLst>
              <a:ext uri="{FF2B5EF4-FFF2-40B4-BE49-F238E27FC236}">
                <a16:creationId xmlns:a16="http://schemas.microsoft.com/office/drawing/2014/main" id="{D9B6264D-9135-1B75-A6C4-8D4411D3012E}"/>
              </a:ext>
            </a:extLst>
          </p:cNvPr>
          <p:cNvSpPr>
            <a:spLocks noGrp="1"/>
          </p:cNvSpPr>
          <p:nvPr>
            <p:ph idx="1"/>
          </p:nvPr>
        </p:nvSpPr>
        <p:spPr>
          <a:xfrm>
            <a:off x="818712" y="2413000"/>
            <a:ext cx="5055923" cy="3632200"/>
          </a:xfrm>
        </p:spPr>
        <p:txBody>
          <a:bodyPr>
            <a:noAutofit/>
          </a:bodyPr>
          <a:lstStyle/>
          <a:p>
            <a:pPr>
              <a:lnSpc>
                <a:spcPct val="90000"/>
              </a:lnSpc>
            </a:pPr>
            <a:r>
              <a:rPr lang="en-US" sz="1500" dirty="0">
                <a:latin typeface="Aptos" panose="020B0004020202020204" pitchFamily="34" charset="0"/>
                <a:ea typeface="Aptos" panose="020B0004020202020204" pitchFamily="34" charset="0"/>
                <a:cs typeface="Times New Roman" panose="02020603050405020304" pitchFamily="18" charset="0"/>
              </a:rPr>
              <a:t>Early forms of NLP in the 1980’s used constructs called Grammars which would aggregate words with their associated grammatical information into a lexicon. The grammars  and lexicons (akin to a dictionary) with their parsers (an algorithm which tokenizes each word in a sentence for processing) were developed to parse language</a:t>
            </a:r>
          </a:p>
          <a:p>
            <a:pPr>
              <a:lnSpc>
                <a:spcPct val="90000"/>
              </a:lnSpc>
            </a:pPr>
            <a:r>
              <a:rPr lang="en-US" sz="1500" dirty="0">
                <a:latin typeface="Aptos" panose="020B0004020202020204" pitchFamily="34" charset="0"/>
                <a:ea typeface="Aptos" panose="020B0004020202020204" pitchFamily="34" charset="0"/>
                <a:cs typeface="Times New Roman" panose="02020603050405020304" pitchFamily="18" charset="0"/>
              </a:rPr>
              <a:t>Since language rules (verb placement, sentence structure, conjugation, </a:t>
            </a:r>
            <a:r>
              <a:rPr lang="en-US" sz="1500" dirty="0" err="1">
                <a:latin typeface="Aptos" panose="020B0004020202020204" pitchFamily="34" charset="0"/>
                <a:ea typeface="Aptos" panose="020B0004020202020204" pitchFamily="34" charset="0"/>
                <a:cs typeface="Times New Roman" panose="02020603050405020304" pitchFamily="18" charset="0"/>
              </a:rPr>
              <a:t>etc</a:t>
            </a:r>
            <a:r>
              <a:rPr lang="en-US" sz="1500" dirty="0">
                <a:latin typeface="Aptos" panose="020B0004020202020204" pitchFamily="34" charset="0"/>
                <a:ea typeface="Aptos" panose="020B0004020202020204" pitchFamily="34" charset="0"/>
                <a:cs typeface="Times New Roman" panose="02020603050405020304" pitchFamily="18" charset="0"/>
              </a:rPr>
              <a:t>) were built into the parser, the complexity of the input sentences were only understood as well as the rules were defined in the parser</a:t>
            </a:r>
          </a:p>
          <a:p>
            <a:pPr>
              <a:lnSpc>
                <a:spcPct val="90000"/>
              </a:lnSpc>
            </a:pPr>
            <a:r>
              <a:rPr lang="en-US" sz="1500" dirty="0">
                <a:latin typeface="Aptos" panose="020B0004020202020204" pitchFamily="34" charset="0"/>
                <a:ea typeface="Aptos" panose="020B0004020202020204" pitchFamily="34" charset="0"/>
                <a:cs typeface="Times New Roman" panose="02020603050405020304" pitchFamily="18" charset="0"/>
              </a:rPr>
              <a:t>A Context-Sensitive Grammar could understand the context of how a word was used and its relation to other words in the sentence</a:t>
            </a:r>
          </a:p>
          <a:p>
            <a:pPr>
              <a:lnSpc>
                <a:spcPct val="90000"/>
              </a:lnSpc>
            </a:pPr>
            <a:r>
              <a:rPr lang="en-US" sz="1500" dirty="0">
                <a:latin typeface="Aptos" panose="020B0004020202020204" pitchFamily="34" charset="0"/>
                <a:ea typeface="Aptos" panose="020B0004020202020204" pitchFamily="34" charset="0"/>
                <a:cs typeface="Times New Roman" panose="02020603050405020304" pitchFamily="18" charset="0"/>
              </a:rPr>
              <a:t>Parsers that used that type of grammar incurred significant development and processing costs as context is often difficult to resolve</a:t>
            </a:r>
          </a:p>
        </p:txBody>
      </p:sp>
    </p:spTree>
    <p:extLst>
      <p:ext uri="{BB962C8B-B14F-4D97-AF65-F5344CB8AC3E}">
        <p14:creationId xmlns:p14="http://schemas.microsoft.com/office/powerpoint/2010/main" val="11091145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 name="Picture 4" descr="Sticky notes with question marks">
            <a:extLst>
              <a:ext uri="{FF2B5EF4-FFF2-40B4-BE49-F238E27FC236}">
                <a16:creationId xmlns:a16="http://schemas.microsoft.com/office/drawing/2014/main" id="{3AC9C5E7-0D8F-8B58-168B-EA567DD83EAA}"/>
              </a:ext>
            </a:extLst>
          </p:cNvPr>
          <p:cNvPicPr>
            <a:picLocks noChangeAspect="1"/>
          </p:cNvPicPr>
          <p:nvPr/>
        </p:nvPicPr>
        <p:blipFill rotWithShape="1">
          <a:blip r:embed="rId3">
            <a:duotone>
              <a:schemeClr val="accent1">
                <a:shade val="45000"/>
                <a:satMod val="135000"/>
              </a:schemeClr>
              <a:prstClr val="white"/>
            </a:duotone>
          </a:blip>
          <a:srcRect l="21562" r="19119" b="-2"/>
          <a:stretch/>
        </p:blipFill>
        <p:spPr>
          <a:xfrm>
            <a:off x="6108700" y="-1"/>
            <a:ext cx="6094450" cy="6858001"/>
          </a:xfrm>
          <a:prstGeom prst="rect">
            <a:avLst/>
          </a:prstGeom>
        </p:spPr>
      </p:pic>
      <p:sp>
        <p:nvSpPr>
          <p:cNvPr id="9" name="Freeform 16">
            <a:extLst>
              <a:ext uri="{FF2B5EF4-FFF2-40B4-BE49-F238E27FC236}">
                <a16:creationId xmlns:a16="http://schemas.microsoft.com/office/drawing/2014/main" id="{3EEED574-6FCC-45F8-ABA8-05782705A3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6485467" cy="6858000"/>
          </a:xfrm>
          <a:custGeom>
            <a:avLst/>
            <a:gdLst>
              <a:gd name="connsiteX0" fmla="*/ 0 w 6485467"/>
              <a:gd name="connsiteY0" fmla="*/ 0 h 6858000"/>
              <a:gd name="connsiteX1" fmla="*/ 6485467 w 6485467"/>
              <a:gd name="connsiteY1" fmla="*/ 0 h 6858000"/>
              <a:gd name="connsiteX2" fmla="*/ 6485467 w 6485467"/>
              <a:gd name="connsiteY2" fmla="*/ 1900238 h 6858000"/>
              <a:gd name="connsiteX3" fmla="*/ 6115051 w 6485467"/>
              <a:gd name="connsiteY3" fmla="*/ 2178050 h 6858000"/>
              <a:gd name="connsiteX4" fmla="*/ 6110817 w 6485467"/>
              <a:gd name="connsiteY4" fmla="*/ 2184400 h 6858000"/>
              <a:gd name="connsiteX5" fmla="*/ 6104467 w 6485467"/>
              <a:gd name="connsiteY5" fmla="*/ 2193925 h 6858000"/>
              <a:gd name="connsiteX6" fmla="*/ 6098117 w 6485467"/>
              <a:gd name="connsiteY6" fmla="*/ 2201863 h 6858000"/>
              <a:gd name="connsiteX7" fmla="*/ 6098117 w 6485467"/>
              <a:gd name="connsiteY7" fmla="*/ 2211388 h 6858000"/>
              <a:gd name="connsiteX8" fmla="*/ 6098117 w 6485467"/>
              <a:gd name="connsiteY8" fmla="*/ 2220913 h 6858000"/>
              <a:gd name="connsiteX9" fmla="*/ 6104467 w 6485467"/>
              <a:gd name="connsiteY9" fmla="*/ 2228850 h 6858000"/>
              <a:gd name="connsiteX10" fmla="*/ 6110817 w 6485467"/>
              <a:gd name="connsiteY10" fmla="*/ 2238375 h 6858000"/>
              <a:gd name="connsiteX11" fmla="*/ 6115051 w 6485467"/>
              <a:gd name="connsiteY11" fmla="*/ 2244725 h 6858000"/>
              <a:gd name="connsiteX12" fmla="*/ 6485467 w 6485467"/>
              <a:gd name="connsiteY12" fmla="*/ 2522538 h 6858000"/>
              <a:gd name="connsiteX13" fmla="*/ 6485467 w 6485467"/>
              <a:gd name="connsiteY13" fmla="*/ 6858000 h 6858000"/>
              <a:gd name="connsiteX14" fmla="*/ 0 w 6485467"/>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85467" h="6858000">
                <a:moveTo>
                  <a:pt x="0" y="0"/>
                </a:moveTo>
                <a:lnTo>
                  <a:pt x="6485467" y="0"/>
                </a:lnTo>
                <a:lnTo>
                  <a:pt x="6485467" y="1900238"/>
                </a:lnTo>
                <a:lnTo>
                  <a:pt x="6115051" y="2178050"/>
                </a:lnTo>
                <a:lnTo>
                  <a:pt x="6110817" y="2184400"/>
                </a:lnTo>
                <a:lnTo>
                  <a:pt x="6104467" y="2193925"/>
                </a:lnTo>
                <a:lnTo>
                  <a:pt x="6098117" y="2201863"/>
                </a:lnTo>
                <a:lnTo>
                  <a:pt x="6098117" y="2211388"/>
                </a:lnTo>
                <a:lnTo>
                  <a:pt x="6098117" y="2220913"/>
                </a:lnTo>
                <a:lnTo>
                  <a:pt x="6104467" y="2228850"/>
                </a:lnTo>
                <a:lnTo>
                  <a:pt x="6110817" y="2238375"/>
                </a:lnTo>
                <a:lnTo>
                  <a:pt x="6115051" y="2244725"/>
                </a:lnTo>
                <a:lnTo>
                  <a:pt x="6485467" y="2522538"/>
                </a:lnTo>
                <a:lnTo>
                  <a:pt x="6485467" y="6858000"/>
                </a:lnTo>
                <a:lnTo>
                  <a:pt x="0" y="6858000"/>
                </a:lnTo>
                <a:close/>
              </a:path>
            </a:pathLst>
          </a:custGeom>
          <a:solidFill>
            <a:schemeClr val="bg1">
              <a:lumMod val="85000"/>
              <a:lumOff val="1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FB872C-4465-3C44-1FA8-4195F885BD99}"/>
              </a:ext>
            </a:extLst>
          </p:cNvPr>
          <p:cNvSpPr>
            <a:spLocks noGrp="1"/>
          </p:cNvSpPr>
          <p:nvPr>
            <p:ph type="title"/>
          </p:nvPr>
        </p:nvSpPr>
        <p:spPr>
          <a:xfrm>
            <a:off x="810000" y="447188"/>
            <a:ext cx="5070100" cy="1559412"/>
          </a:xfrm>
        </p:spPr>
        <p:txBody>
          <a:bodyPr>
            <a:normAutofit/>
          </a:bodyPr>
          <a:lstStyle/>
          <a:p>
            <a:r>
              <a:rPr lang="en-US" dirty="0"/>
              <a:t>Parsing language, cont’d</a:t>
            </a:r>
          </a:p>
        </p:txBody>
      </p:sp>
      <p:sp>
        <p:nvSpPr>
          <p:cNvPr id="3" name="Content Placeholder 2">
            <a:extLst>
              <a:ext uri="{FF2B5EF4-FFF2-40B4-BE49-F238E27FC236}">
                <a16:creationId xmlns:a16="http://schemas.microsoft.com/office/drawing/2014/main" id="{D9B6264D-9135-1B75-A6C4-8D4411D3012E}"/>
              </a:ext>
            </a:extLst>
          </p:cNvPr>
          <p:cNvSpPr>
            <a:spLocks noGrp="1"/>
          </p:cNvSpPr>
          <p:nvPr>
            <p:ph idx="1"/>
          </p:nvPr>
        </p:nvSpPr>
        <p:spPr>
          <a:xfrm>
            <a:off x="818712" y="2413000"/>
            <a:ext cx="5055923" cy="3632200"/>
          </a:xfrm>
        </p:spPr>
        <p:txBody>
          <a:bodyPr>
            <a:noAutofit/>
          </a:bodyPr>
          <a:lstStyle/>
          <a:p>
            <a:pPr>
              <a:lnSpc>
                <a:spcPct val="90000"/>
              </a:lnSpc>
            </a:pPr>
            <a:r>
              <a:rPr lang="en-US" dirty="0">
                <a:latin typeface="Aptos" panose="020B0004020202020204" pitchFamily="34" charset="0"/>
                <a:ea typeface="Aptos" panose="020B0004020202020204" pitchFamily="34" charset="0"/>
                <a:cs typeface="Times New Roman" panose="02020603050405020304" pitchFamily="18" charset="0"/>
              </a:rPr>
              <a:t>In contrast, Context-Free Grammars were not nearly as costly. Their processing was only concerned with the parsing of the current sentence: not the context for how the words were used</a:t>
            </a:r>
          </a:p>
          <a:p>
            <a:pPr>
              <a:lnSpc>
                <a:spcPct val="90000"/>
              </a:lnSpc>
            </a:pPr>
            <a:r>
              <a:rPr lang="en-US" dirty="0">
                <a:latin typeface="Aptos" panose="020B0004020202020204" pitchFamily="34" charset="0"/>
                <a:ea typeface="Aptos" panose="020B0004020202020204" pitchFamily="34" charset="0"/>
                <a:cs typeface="Times New Roman" panose="02020603050405020304" pitchFamily="18" charset="0"/>
              </a:rPr>
              <a:t>Unfortunately, the lack of context often led to misunderstanding and errors in parsing</a:t>
            </a:r>
          </a:p>
          <a:p>
            <a:pPr>
              <a:lnSpc>
                <a:spcPct val="90000"/>
              </a:lnSpc>
            </a:pPr>
            <a:r>
              <a:rPr lang="en-US" dirty="0">
                <a:latin typeface="Aptos" panose="020B0004020202020204" pitchFamily="34" charset="0"/>
                <a:ea typeface="Aptos" panose="020B0004020202020204" pitchFamily="34" charset="0"/>
                <a:cs typeface="Times New Roman" panose="02020603050405020304" pitchFamily="18" charset="0"/>
              </a:rPr>
              <a:t>Subsequently, Statistical Grammars were developed by the early 1990’s to decrease the cost of grammar/parser development and to increase the ability to handle context</a:t>
            </a:r>
          </a:p>
          <a:p>
            <a:pPr>
              <a:lnSpc>
                <a:spcPct val="90000"/>
              </a:lnSpc>
            </a:pPr>
            <a:r>
              <a:rPr lang="en-US" dirty="0">
                <a:latin typeface="Aptos" panose="020B0004020202020204" pitchFamily="34" charset="0"/>
                <a:ea typeface="Aptos" panose="020B0004020202020204" pitchFamily="34" charset="0"/>
                <a:cs typeface="Times New Roman" panose="02020603050405020304" pitchFamily="18" charset="0"/>
              </a:rPr>
              <a:t>The idea is to statistically guess the next word in a sequence given a previous number of words, the enclosing sentence structure, and/or context of the words in the sentence</a:t>
            </a:r>
          </a:p>
        </p:txBody>
      </p:sp>
    </p:spTree>
    <p:extLst>
      <p:ext uri="{BB962C8B-B14F-4D97-AF65-F5344CB8AC3E}">
        <p14:creationId xmlns:p14="http://schemas.microsoft.com/office/powerpoint/2010/main" val="21036154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 name="Picture 4" descr="Sticky notes on a wall">
            <a:extLst>
              <a:ext uri="{FF2B5EF4-FFF2-40B4-BE49-F238E27FC236}">
                <a16:creationId xmlns:a16="http://schemas.microsoft.com/office/drawing/2014/main" id="{94CACF6B-31FC-4382-4A72-BF050C15FEF5}"/>
              </a:ext>
            </a:extLst>
          </p:cNvPr>
          <p:cNvPicPr>
            <a:picLocks noChangeAspect="1"/>
          </p:cNvPicPr>
          <p:nvPr/>
        </p:nvPicPr>
        <p:blipFill rotWithShape="1">
          <a:blip r:embed="rId3">
            <a:duotone>
              <a:schemeClr val="accent1">
                <a:shade val="45000"/>
                <a:satMod val="135000"/>
              </a:schemeClr>
              <a:prstClr val="white"/>
            </a:duotone>
          </a:blip>
          <a:srcRect l="18877" r="19140" b="1"/>
          <a:stretch/>
        </p:blipFill>
        <p:spPr>
          <a:xfrm>
            <a:off x="6108700" y="-1"/>
            <a:ext cx="6094450" cy="6858001"/>
          </a:xfrm>
          <a:prstGeom prst="rect">
            <a:avLst/>
          </a:prstGeom>
        </p:spPr>
      </p:pic>
      <p:sp>
        <p:nvSpPr>
          <p:cNvPr id="9" name="Freeform 16">
            <a:extLst>
              <a:ext uri="{FF2B5EF4-FFF2-40B4-BE49-F238E27FC236}">
                <a16:creationId xmlns:a16="http://schemas.microsoft.com/office/drawing/2014/main" id="{3EEED574-6FCC-45F8-ABA8-05782705A3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6485467" cy="6858000"/>
          </a:xfrm>
          <a:custGeom>
            <a:avLst/>
            <a:gdLst>
              <a:gd name="connsiteX0" fmla="*/ 0 w 6485467"/>
              <a:gd name="connsiteY0" fmla="*/ 0 h 6858000"/>
              <a:gd name="connsiteX1" fmla="*/ 6485467 w 6485467"/>
              <a:gd name="connsiteY1" fmla="*/ 0 h 6858000"/>
              <a:gd name="connsiteX2" fmla="*/ 6485467 w 6485467"/>
              <a:gd name="connsiteY2" fmla="*/ 1900238 h 6858000"/>
              <a:gd name="connsiteX3" fmla="*/ 6115051 w 6485467"/>
              <a:gd name="connsiteY3" fmla="*/ 2178050 h 6858000"/>
              <a:gd name="connsiteX4" fmla="*/ 6110817 w 6485467"/>
              <a:gd name="connsiteY4" fmla="*/ 2184400 h 6858000"/>
              <a:gd name="connsiteX5" fmla="*/ 6104467 w 6485467"/>
              <a:gd name="connsiteY5" fmla="*/ 2193925 h 6858000"/>
              <a:gd name="connsiteX6" fmla="*/ 6098117 w 6485467"/>
              <a:gd name="connsiteY6" fmla="*/ 2201863 h 6858000"/>
              <a:gd name="connsiteX7" fmla="*/ 6098117 w 6485467"/>
              <a:gd name="connsiteY7" fmla="*/ 2211388 h 6858000"/>
              <a:gd name="connsiteX8" fmla="*/ 6098117 w 6485467"/>
              <a:gd name="connsiteY8" fmla="*/ 2220913 h 6858000"/>
              <a:gd name="connsiteX9" fmla="*/ 6104467 w 6485467"/>
              <a:gd name="connsiteY9" fmla="*/ 2228850 h 6858000"/>
              <a:gd name="connsiteX10" fmla="*/ 6110817 w 6485467"/>
              <a:gd name="connsiteY10" fmla="*/ 2238375 h 6858000"/>
              <a:gd name="connsiteX11" fmla="*/ 6115051 w 6485467"/>
              <a:gd name="connsiteY11" fmla="*/ 2244725 h 6858000"/>
              <a:gd name="connsiteX12" fmla="*/ 6485467 w 6485467"/>
              <a:gd name="connsiteY12" fmla="*/ 2522538 h 6858000"/>
              <a:gd name="connsiteX13" fmla="*/ 6485467 w 6485467"/>
              <a:gd name="connsiteY13" fmla="*/ 6858000 h 6858000"/>
              <a:gd name="connsiteX14" fmla="*/ 0 w 6485467"/>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85467" h="6858000">
                <a:moveTo>
                  <a:pt x="0" y="0"/>
                </a:moveTo>
                <a:lnTo>
                  <a:pt x="6485467" y="0"/>
                </a:lnTo>
                <a:lnTo>
                  <a:pt x="6485467" y="1900238"/>
                </a:lnTo>
                <a:lnTo>
                  <a:pt x="6115051" y="2178050"/>
                </a:lnTo>
                <a:lnTo>
                  <a:pt x="6110817" y="2184400"/>
                </a:lnTo>
                <a:lnTo>
                  <a:pt x="6104467" y="2193925"/>
                </a:lnTo>
                <a:lnTo>
                  <a:pt x="6098117" y="2201863"/>
                </a:lnTo>
                <a:lnTo>
                  <a:pt x="6098117" y="2211388"/>
                </a:lnTo>
                <a:lnTo>
                  <a:pt x="6098117" y="2220913"/>
                </a:lnTo>
                <a:lnTo>
                  <a:pt x="6104467" y="2228850"/>
                </a:lnTo>
                <a:lnTo>
                  <a:pt x="6110817" y="2238375"/>
                </a:lnTo>
                <a:lnTo>
                  <a:pt x="6115051" y="2244725"/>
                </a:lnTo>
                <a:lnTo>
                  <a:pt x="6485467" y="2522538"/>
                </a:lnTo>
                <a:lnTo>
                  <a:pt x="6485467" y="6858000"/>
                </a:lnTo>
                <a:lnTo>
                  <a:pt x="0" y="6858000"/>
                </a:lnTo>
                <a:close/>
              </a:path>
            </a:pathLst>
          </a:custGeom>
          <a:solidFill>
            <a:schemeClr val="bg1">
              <a:lumMod val="85000"/>
              <a:lumOff val="1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FB872C-4465-3C44-1FA8-4195F885BD99}"/>
              </a:ext>
            </a:extLst>
          </p:cNvPr>
          <p:cNvSpPr>
            <a:spLocks noGrp="1"/>
          </p:cNvSpPr>
          <p:nvPr>
            <p:ph type="title"/>
          </p:nvPr>
        </p:nvSpPr>
        <p:spPr>
          <a:xfrm>
            <a:off x="810000" y="447188"/>
            <a:ext cx="5070100" cy="1559412"/>
          </a:xfrm>
        </p:spPr>
        <p:txBody>
          <a:bodyPr>
            <a:normAutofit/>
          </a:bodyPr>
          <a:lstStyle/>
          <a:p>
            <a:r>
              <a:rPr lang="en-US" dirty="0"/>
              <a:t>Parsing language, cont’d</a:t>
            </a:r>
          </a:p>
        </p:txBody>
      </p:sp>
      <p:sp>
        <p:nvSpPr>
          <p:cNvPr id="3" name="Content Placeholder 2">
            <a:extLst>
              <a:ext uri="{FF2B5EF4-FFF2-40B4-BE49-F238E27FC236}">
                <a16:creationId xmlns:a16="http://schemas.microsoft.com/office/drawing/2014/main" id="{D9B6264D-9135-1B75-A6C4-8D4411D3012E}"/>
              </a:ext>
            </a:extLst>
          </p:cNvPr>
          <p:cNvSpPr>
            <a:spLocks noGrp="1"/>
          </p:cNvSpPr>
          <p:nvPr>
            <p:ph idx="1"/>
          </p:nvPr>
        </p:nvSpPr>
        <p:spPr>
          <a:xfrm>
            <a:off x="818712" y="2413000"/>
            <a:ext cx="5055923" cy="3632200"/>
          </a:xfrm>
        </p:spPr>
        <p:txBody>
          <a:bodyPr>
            <a:noAutofit/>
          </a:bodyPr>
          <a:lstStyle/>
          <a:p>
            <a:pPr>
              <a:lnSpc>
                <a:spcPct val="90000"/>
              </a:lnSpc>
            </a:pPr>
            <a:r>
              <a:rPr lang="en-US" dirty="0">
                <a:latin typeface="Aptos" panose="020B0004020202020204" pitchFamily="34" charset="0"/>
                <a:ea typeface="Aptos" panose="020B0004020202020204" pitchFamily="34" charset="0"/>
                <a:cs typeface="Times New Roman" panose="02020603050405020304" pitchFamily="18" charset="0"/>
              </a:rPr>
              <a:t>While a lexicon of words would still be needed, the complexity of the Grammar could decrease and the Parser would not need nearly as many language rules</a:t>
            </a:r>
          </a:p>
          <a:p>
            <a:pPr>
              <a:lnSpc>
                <a:spcPct val="90000"/>
              </a:lnSpc>
            </a:pPr>
            <a:r>
              <a:rPr lang="en-US" dirty="0">
                <a:latin typeface="Aptos" panose="020B0004020202020204" pitchFamily="34" charset="0"/>
                <a:ea typeface="Aptos" panose="020B0004020202020204" pitchFamily="34" charset="0"/>
                <a:cs typeface="Times New Roman" panose="02020603050405020304" pitchFamily="18" charset="0"/>
              </a:rPr>
              <a:t>However, a significant amount of information needed to be collected and stored related to word occurrence, context, and sentence structure</a:t>
            </a:r>
          </a:p>
          <a:p>
            <a:pPr>
              <a:lnSpc>
                <a:spcPct val="90000"/>
              </a:lnSpc>
            </a:pPr>
            <a:r>
              <a:rPr lang="en-US" dirty="0">
                <a:latin typeface="Aptos" panose="020B0004020202020204" pitchFamily="34" charset="0"/>
                <a:ea typeface="Aptos" panose="020B0004020202020204" pitchFamily="34" charset="0"/>
                <a:cs typeface="Times New Roman" panose="02020603050405020304" pitchFamily="18" charset="0"/>
              </a:rPr>
              <a:t>In the past, this collection and storage requirement incurred an insurmountable development and processing cost</a:t>
            </a:r>
          </a:p>
          <a:p>
            <a:pPr>
              <a:lnSpc>
                <a:spcPct val="90000"/>
              </a:lnSpc>
            </a:pPr>
            <a:r>
              <a:rPr lang="en-US" dirty="0">
                <a:latin typeface="Aptos" panose="020B0004020202020204" pitchFamily="34" charset="0"/>
                <a:ea typeface="Aptos" panose="020B0004020202020204" pitchFamily="34" charset="0"/>
                <a:cs typeface="Times New Roman" panose="02020603050405020304" pitchFamily="18" charset="0"/>
              </a:rPr>
              <a:t>It would take decades of research and suitable technical advances before the statistical approach could take form in modern AI</a:t>
            </a:r>
          </a:p>
        </p:txBody>
      </p:sp>
    </p:spTree>
    <p:extLst>
      <p:ext uri="{BB962C8B-B14F-4D97-AF65-F5344CB8AC3E}">
        <p14:creationId xmlns:p14="http://schemas.microsoft.com/office/powerpoint/2010/main" val="314147058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8664B0"/>
      </a:accent1>
      <a:accent2>
        <a:srgbClr val="D75BCD"/>
      </a:accent2>
      <a:accent3>
        <a:srgbClr val="E54D86"/>
      </a:accent3>
      <a:accent4>
        <a:srgbClr val="DE4547"/>
      </a:accent4>
      <a:accent5>
        <a:srgbClr val="F16E40"/>
      </a:accent5>
      <a:accent6>
        <a:srgbClr val="EB9C5A"/>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7AF46513-5B0D-4B03-9323-32F3F0BFC9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TM03457503[[fn=Quotable]]</Template>
  <TotalTime>269</TotalTime>
  <Words>3407</Words>
  <Application>Microsoft Office PowerPoint</Application>
  <PresentationFormat>Widescreen</PresentationFormat>
  <Paragraphs>174</Paragraphs>
  <Slides>21</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-apple-system</vt:lpstr>
      <vt:lpstr>Aptos</vt:lpstr>
      <vt:lpstr>Century Gothic</vt:lpstr>
      <vt:lpstr>Symbol</vt:lpstr>
      <vt:lpstr>Wingdings 2</vt:lpstr>
      <vt:lpstr>Quotable</vt:lpstr>
      <vt:lpstr>AI Fundamentals  </vt:lpstr>
      <vt:lpstr>Neural Networks</vt:lpstr>
      <vt:lpstr>Brain Structure</vt:lpstr>
      <vt:lpstr>Neural Network basics</vt:lpstr>
      <vt:lpstr>Neural Network construction</vt:lpstr>
      <vt:lpstr>Neural Network construction, cont’d</vt:lpstr>
      <vt:lpstr>Neural Network construction, cont’d</vt:lpstr>
      <vt:lpstr>Neural Network construction, cont’d</vt:lpstr>
      <vt:lpstr>Neural Network construction, cont’d</vt:lpstr>
      <vt:lpstr>Neural Network layer topology</vt:lpstr>
      <vt:lpstr>Neural Network training</vt:lpstr>
      <vt:lpstr>Neural Network training requirements</vt:lpstr>
      <vt:lpstr>How Networks are trained</vt:lpstr>
      <vt:lpstr>Supervised training</vt:lpstr>
      <vt:lpstr>Unsupervised training</vt:lpstr>
      <vt:lpstr>Natural Language Processing</vt:lpstr>
      <vt:lpstr>Language structure</vt:lpstr>
      <vt:lpstr>Speech recognition</vt:lpstr>
      <vt:lpstr>Parsing language</vt:lpstr>
      <vt:lpstr>Parsing language, cont’d</vt:lpstr>
      <vt:lpstr>Parsing language, cont’d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Fundamentals</dc:title>
  <dc:creator>Johnson, Victor G</dc:creator>
  <cp:lastModifiedBy>Chestnut, Temple D</cp:lastModifiedBy>
  <cp:revision>50</cp:revision>
  <cp:lastPrinted>2024-07-26T22:50:55Z</cp:lastPrinted>
  <dcterms:created xsi:type="dcterms:W3CDTF">2024-05-24T14:22:22Z</dcterms:created>
  <dcterms:modified xsi:type="dcterms:W3CDTF">2024-07-26T22:51:45Z</dcterms:modified>
</cp:coreProperties>
</file>