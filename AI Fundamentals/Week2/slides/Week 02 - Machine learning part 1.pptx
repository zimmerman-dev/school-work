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59" r:id="rId5"/>
    <p:sldId id="260"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478F"/>
    <a:srgbClr val="E1595C"/>
    <a:srgbClr val="22B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78961" autoAdjust="0"/>
  </p:normalViewPr>
  <p:slideViewPr>
    <p:cSldViewPr snapToGrid="0">
      <p:cViewPr varScale="1">
        <p:scale>
          <a:sx n="88" d="100"/>
          <a:sy n="88"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11570-E675-4B70-89F9-ABE38C2DE57C}" type="datetimeFigureOut">
              <a:rPr lang="en-US" smtClean="0"/>
              <a:t>7/26/2024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63B08-52C8-4357-B046-887EE840B405}" type="slidenum">
              <a:rPr lang="en-US" smtClean="0"/>
              <a:t>‹#›</a:t>
            </a:fld>
            <a:endParaRPr lang="en-US"/>
          </a:p>
        </p:txBody>
      </p:sp>
    </p:spTree>
    <p:extLst>
      <p:ext uri="{BB962C8B-B14F-4D97-AF65-F5344CB8AC3E}">
        <p14:creationId xmlns:p14="http://schemas.microsoft.com/office/powerpoint/2010/main" val="249509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963B08-52C8-4357-B046-887EE840B405}" type="slidenum">
              <a:rPr lang="en-US" smtClean="0"/>
              <a:t>1</a:t>
            </a:fld>
            <a:endParaRPr lang="en-US"/>
          </a:p>
        </p:txBody>
      </p:sp>
    </p:spTree>
    <p:extLst>
      <p:ext uri="{BB962C8B-B14F-4D97-AF65-F5344CB8AC3E}">
        <p14:creationId xmlns:p14="http://schemas.microsoft.com/office/powerpoint/2010/main" val="4007875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963B08-52C8-4357-B046-887EE840B405}" type="slidenum">
              <a:rPr lang="en-US" smtClean="0"/>
              <a:t>2</a:t>
            </a:fld>
            <a:endParaRPr lang="en-US"/>
          </a:p>
        </p:txBody>
      </p:sp>
    </p:spTree>
    <p:extLst>
      <p:ext uri="{BB962C8B-B14F-4D97-AF65-F5344CB8AC3E}">
        <p14:creationId xmlns:p14="http://schemas.microsoft.com/office/powerpoint/2010/main" val="3524985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Genetic algorithms comprise optimization techniques that are inspired by the principles of natural selection. They can be used to find the most optimal solutions for some complex problems by iteratively generating possible solutions and selecting the best ones.</a:t>
            </a:r>
          </a:p>
          <a:p>
            <a:endParaRPr lang="en-US" dirty="0"/>
          </a:p>
          <a:p>
            <a:r>
              <a:rPr lang="en-US" dirty="0"/>
              <a:t>Copilot Designer, 05312024; “</a:t>
            </a:r>
            <a:r>
              <a:rPr lang="en-US" b="0" i="0" dirty="0">
                <a:solidFill>
                  <a:srgbClr val="111111"/>
                </a:solidFill>
                <a:effectLst/>
                <a:highlight>
                  <a:srgbClr val="F7F7F7"/>
                </a:highlight>
                <a:latin typeface="-apple-system"/>
              </a:rPr>
              <a:t>image of </a:t>
            </a:r>
            <a:r>
              <a:rPr lang="en-US" b="0" i="0" dirty="0" err="1">
                <a:solidFill>
                  <a:srgbClr val="111111"/>
                </a:solidFill>
                <a:effectLst/>
                <a:highlight>
                  <a:srgbClr val="F7F7F7"/>
                </a:highlight>
                <a:latin typeface="-apple-system"/>
              </a:rPr>
              <a:t>dna</a:t>
            </a:r>
            <a:r>
              <a:rPr lang="en-US" b="0" i="0" dirty="0">
                <a:solidFill>
                  <a:srgbClr val="111111"/>
                </a:solidFill>
                <a:effectLst/>
                <a:highlight>
                  <a:srgbClr val="F7F7F7"/>
                </a:highlight>
                <a:latin typeface="-apple-system"/>
              </a:rPr>
              <a:t> strand in a blue background with binary code”</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3</a:t>
            </a:fld>
            <a:endParaRPr lang="en-US"/>
          </a:p>
        </p:txBody>
      </p:sp>
    </p:spTree>
    <p:extLst>
      <p:ext uri="{BB962C8B-B14F-4D97-AF65-F5344CB8AC3E}">
        <p14:creationId xmlns:p14="http://schemas.microsoft.com/office/powerpoint/2010/main" val="4076452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Initializing the run with a population of potential solutions to the problem space</a:t>
            </a:r>
          </a:p>
          <a:p>
            <a:pPr marL="342900" marR="0" lvl="0" indent="-342900">
              <a:lnSpc>
                <a:spcPct val="107000"/>
              </a:lnSpc>
              <a:spcBef>
                <a:spcPts val="0"/>
              </a:spcBef>
              <a:spcAft>
                <a:spcPts val="0"/>
              </a:spcAft>
              <a:buFont typeface="+mj-lt"/>
              <a:buAutoNum type="arabicPeriod"/>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Evaluating to filter the least desirable solutions (optional)</a:t>
            </a:r>
          </a:p>
          <a:p>
            <a:pPr marL="342900" marR="0" lvl="0" indent="-342900">
              <a:lnSpc>
                <a:spcPct val="107000"/>
              </a:lnSpc>
              <a:spcBef>
                <a:spcPts val="0"/>
              </a:spcBef>
              <a:spcAft>
                <a:spcPts val="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Selecting the most desirable solutions for reproduction</a:t>
            </a:r>
          </a:p>
          <a:p>
            <a:pPr marL="342900" marR="0" lvl="0" indent="-342900">
              <a:lnSpc>
                <a:spcPct val="107000"/>
              </a:lnSpc>
              <a:spcBef>
                <a:spcPts val="0"/>
              </a:spcBef>
              <a:spcAft>
                <a:spcPts val="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Crossover attributes from a pair of “parent” solutions to create a new “offspring” solution</a:t>
            </a:r>
          </a:p>
          <a:p>
            <a:pPr marL="342900" marR="0" lvl="0" indent="-342900">
              <a:lnSpc>
                <a:spcPct val="107000"/>
              </a:lnSpc>
              <a:spcBef>
                <a:spcPts val="0"/>
              </a:spcBef>
              <a:spcAft>
                <a:spcPts val="0"/>
              </a:spcAft>
              <a:buFont typeface="+mj-lt"/>
              <a:buAutoNum type="arabicPeriod"/>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Mutate some attributes of the “offspring” solution to explore novel outcomes (optional)</a:t>
            </a:r>
          </a:p>
          <a:p>
            <a:pPr marL="342900" marR="0" lvl="0" indent="-342900">
              <a:lnSpc>
                <a:spcPct val="107000"/>
              </a:lnSpc>
              <a:spcBef>
                <a:spcPts val="0"/>
              </a:spcBef>
              <a:spcAft>
                <a:spcPts val="80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Terminate the run after an acceptable solution has been identified </a:t>
            </a:r>
          </a:p>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4</a:t>
            </a:fld>
            <a:endParaRPr lang="en-US"/>
          </a:p>
        </p:txBody>
      </p:sp>
    </p:spTree>
    <p:extLst>
      <p:ext uri="{BB962C8B-B14F-4D97-AF65-F5344CB8AC3E}">
        <p14:creationId xmlns:p14="http://schemas.microsoft.com/office/powerpoint/2010/main" val="2169873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Copilot Designer, 05312024; “</a:t>
            </a:r>
            <a:r>
              <a:rPr lang="en-US" b="0" i="0" dirty="0">
                <a:solidFill>
                  <a:srgbClr val="111111"/>
                </a:solidFill>
                <a:effectLst/>
                <a:highlight>
                  <a:srgbClr val="F7F7F7"/>
                </a:highlight>
                <a:latin typeface="-apple-system"/>
              </a:rPr>
              <a:t>image of </a:t>
            </a:r>
            <a:r>
              <a:rPr lang="en-US" b="0" i="0" dirty="0" err="1">
                <a:solidFill>
                  <a:srgbClr val="111111"/>
                </a:solidFill>
                <a:effectLst/>
                <a:highlight>
                  <a:srgbClr val="F7F7F7"/>
                </a:highlight>
                <a:latin typeface="-apple-system"/>
              </a:rPr>
              <a:t>dna</a:t>
            </a:r>
            <a:r>
              <a:rPr lang="en-US" b="0" i="0" dirty="0">
                <a:solidFill>
                  <a:srgbClr val="111111"/>
                </a:solidFill>
                <a:effectLst/>
                <a:highlight>
                  <a:srgbClr val="F7F7F7"/>
                </a:highlight>
                <a:latin typeface="-apple-system"/>
              </a:rPr>
              <a:t> strand in a blue background with binary code”</a:t>
            </a:r>
            <a:endParaRPr lang="en-US" dirty="0"/>
          </a:p>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5</a:t>
            </a:fld>
            <a:endParaRPr lang="en-US"/>
          </a:p>
        </p:txBody>
      </p:sp>
    </p:spTree>
    <p:extLst>
      <p:ext uri="{BB962C8B-B14F-4D97-AF65-F5344CB8AC3E}">
        <p14:creationId xmlns:p14="http://schemas.microsoft.com/office/powerpoint/2010/main" val="1617055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When using automation to identify and collect operation data (metrics) for a system in real-time, Fuzzy Logic can be used to approximate human decision making. Fuzzy logic is a mathematical approach that uses degrees of certainty, rather than the absolutes of Boolean logic (true or false). It can quickly correlate a data value to a Fuzzy Set of values.</a:t>
            </a:r>
          </a:p>
          <a:p>
            <a:endParaRPr lang="en-US" dirty="0"/>
          </a:p>
          <a:p>
            <a:r>
              <a:rPr lang="en-US" dirty="0"/>
              <a:t>Copilot Designer, 05312024; “</a:t>
            </a:r>
            <a:r>
              <a:rPr lang="en-US" dirty="0">
                <a:effectLst/>
              </a:rPr>
              <a:t>images of a tree with branches on a green hill with a yellow sky of binary code”</a:t>
            </a:r>
          </a:p>
          <a:p>
            <a:br>
              <a:rPr lang="en-US" dirty="0"/>
            </a:b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6</a:t>
            </a:fld>
            <a:endParaRPr lang="en-US"/>
          </a:p>
        </p:txBody>
      </p:sp>
    </p:spTree>
    <p:extLst>
      <p:ext uri="{BB962C8B-B14F-4D97-AF65-F5344CB8AC3E}">
        <p14:creationId xmlns:p14="http://schemas.microsoft.com/office/powerpoint/2010/main" val="89101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Designer, 05312024</a:t>
            </a:r>
          </a:p>
          <a:p>
            <a:r>
              <a:rPr lang="en-US" dirty="0"/>
              <a:t>“image of a flowchart behind a blurry glass window”</a:t>
            </a:r>
          </a:p>
          <a:p>
            <a:r>
              <a:rPr lang="en-US" dirty="0"/>
              <a:t>“</a:t>
            </a:r>
            <a:r>
              <a:rPr lang="en-US" b="0" i="0" dirty="0">
                <a:solidFill>
                  <a:srgbClr val="111111"/>
                </a:solidFill>
                <a:effectLst/>
                <a:highlight>
                  <a:srgbClr val="F7F7F7"/>
                </a:highlight>
                <a:latin typeface="-apple-system"/>
              </a:rPr>
              <a:t>image of a blurry flowchart that is hard to read behind a glass window”</a:t>
            </a:r>
          </a:p>
          <a:p>
            <a:r>
              <a:rPr lang="en-US" b="0" i="0" dirty="0">
                <a:solidFill>
                  <a:srgbClr val="111111"/>
                </a:solidFill>
                <a:effectLst/>
                <a:highlight>
                  <a:srgbClr val="F7F7F7"/>
                </a:highlight>
                <a:latin typeface="-apple-system"/>
              </a:rPr>
              <a:t>“image of an obscure, blurry flowchart that is hard to read behind a glass without water”</a:t>
            </a:r>
            <a:endParaRPr lang="en-US" dirty="0"/>
          </a:p>
          <a:p>
            <a:r>
              <a:rPr lang="en-US" dirty="0"/>
              <a:t>“</a:t>
            </a:r>
            <a:r>
              <a:rPr lang="en-US" b="0" i="0" dirty="0">
                <a:solidFill>
                  <a:srgbClr val="111111"/>
                </a:solidFill>
                <a:effectLst/>
                <a:highlight>
                  <a:srgbClr val="F7F7F7"/>
                </a:highlight>
                <a:latin typeface="-apple-system"/>
              </a:rPr>
              <a:t>image of an obscure, blurry flowchart that is hard to read behind a glass without condensation”</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7</a:t>
            </a:fld>
            <a:endParaRPr lang="en-US"/>
          </a:p>
        </p:txBody>
      </p:sp>
    </p:spTree>
    <p:extLst>
      <p:ext uri="{BB962C8B-B14F-4D97-AF65-F5344CB8AC3E}">
        <p14:creationId xmlns:p14="http://schemas.microsoft.com/office/powerpoint/2010/main" val="3266117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Fuzzy Sets are predetermined values grouped into similar Classifications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For simplicity’s sake, assume a Fuzzy set of 5 Classifications from 0 to 99 in groups of 20). Class A would represent the values from 0-19, Class B from 20-39, and so on.</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Input is usually a discrete value (ex. 64)</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value is evaluated against the Fuzzy Set</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Logic resolves the input value’s membership to some Class in the Fuzzy Set (ex. Class D would contain values from 60-89 from the Set described above) </a:t>
            </a: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Output will be the class– in this simple example, D</a:t>
            </a:r>
          </a:p>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8</a:t>
            </a:fld>
            <a:endParaRPr lang="en-US"/>
          </a:p>
        </p:txBody>
      </p:sp>
    </p:spTree>
    <p:extLst>
      <p:ext uri="{BB962C8B-B14F-4D97-AF65-F5344CB8AC3E}">
        <p14:creationId xmlns:p14="http://schemas.microsoft.com/office/powerpoint/2010/main" val="806697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Heuristic Analysis, likewise, allows for complex systems to be modelled and understood. A heuristic approach can involve search trees to find an optimal solution. Instead of evaluating each branch to determine how from traverse from Point A to Point B, a heuristic will select the most optimal branches to navigate. At each decision point during navigation, a heuristic method will approach a higher degree of success. An example of this type of processing is the Monte Carlo method of game analysis used in Google’s DeepMind. Heuristics combined with Neural Networking allowed for DeepMind to master many types of games which included finite moves such as Go and Chess. One can envision a heuristic implemented as a complex structure of if-then-else trees.</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When combining Fuzzy Logic and Heuristic Analysis, one could allow for imprecise data to be modeled as a heuristic method navigates a path. The modern approach involves using Neural Networks instead of Fuzzy Logic.</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Copilot Designer, 05312024; “</a:t>
            </a:r>
            <a:r>
              <a:rPr lang="en-US" dirty="0">
                <a:effectLst/>
              </a:rPr>
              <a:t>images of a tree with branches on a green hill with a yellow sky of binary code”</a:t>
            </a:r>
          </a:p>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9</a:t>
            </a:fld>
            <a:endParaRPr lang="en-US"/>
          </a:p>
        </p:txBody>
      </p:sp>
    </p:spTree>
    <p:extLst>
      <p:ext uri="{BB962C8B-B14F-4D97-AF65-F5344CB8AC3E}">
        <p14:creationId xmlns:p14="http://schemas.microsoft.com/office/powerpoint/2010/main" val="1974804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Heuristic Analysis, likewise, allows for complex systems to be modelled and understood. A heuristic approach can involve search trees to find an optimal solution. Instead of evaluating each branch to determine how from traverse from Point A to Point B, a heuristic will select the most optimal branches to navigate. At each decision point during navigation, a heuristic method will approach a higher degree of success. An example of this type of processing is the Monte Carlo method of game analysis used in Google’s DeepMind. Heuristics combined with Neural Networking allowed for DeepMind to master many types of games which included finite moves such as Go and Chess. One can envision a heuristic implemented as a complex structure of if-then-else trees.</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When combining Fuzzy Logic and Heuristic Analysis, one could allow for imprecise data to be modeled as a heuristic method navigates a path. The modern approach involves using Neural Networks instead of Fuzzy Logic.</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Copilot Designer, 05312024; “</a:t>
            </a:r>
            <a:r>
              <a:rPr lang="en-US" dirty="0">
                <a:effectLst/>
              </a:rPr>
              <a:t>images of a tree with branches on a green hill with a yellow sky of binary code”</a:t>
            </a:r>
          </a:p>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10</a:t>
            </a:fld>
            <a:endParaRPr lang="en-US"/>
          </a:p>
        </p:txBody>
      </p:sp>
    </p:spTree>
    <p:extLst>
      <p:ext uri="{BB962C8B-B14F-4D97-AF65-F5344CB8AC3E}">
        <p14:creationId xmlns:p14="http://schemas.microsoft.com/office/powerpoint/2010/main" val="2362147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7/26/2024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7/26/2024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7/26/2024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7/26/2024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7/26/2024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7/26/2024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6AD-F23B-1243-1F17-1DE59E1B8BC6}"/>
              </a:ext>
            </a:extLst>
          </p:cNvPr>
          <p:cNvSpPr>
            <a:spLocks noGrp="1"/>
          </p:cNvSpPr>
          <p:nvPr>
            <p:ph type="ctrTitle"/>
          </p:nvPr>
        </p:nvSpPr>
        <p:spPr/>
        <p:txBody>
          <a:bodyPr/>
          <a:lstStyle/>
          <a:p>
            <a:r>
              <a:rPr lang="en-US" dirty="0"/>
              <a:t>AI Fundamentals 	</a:t>
            </a:r>
          </a:p>
        </p:txBody>
      </p:sp>
      <p:sp>
        <p:nvSpPr>
          <p:cNvPr id="3" name="Subtitle 2">
            <a:extLst>
              <a:ext uri="{FF2B5EF4-FFF2-40B4-BE49-F238E27FC236}">
                <a16:creationId xmlns:a16="http://schemas.microsoft.com/office/drawing/2014/main" id="{ECEB3CB5-DFBF-DFD8-8D0A-8B56AC87F984}"/>
              </a:ext>
            </a:extLst>
          </p:cNvPr>
          <p:cNvSpPr>
            <a:spLocks noGrp="1"/>
          </p:cNvSpPr>
          <p:nvPr>
            <p:ph type="subTitle" idx="1"/>
          </p:nvPr>
        </p:nvSpPr>
        <p:spPr>
          <a:xfrm>
            <a:off x="810001" y="5280846"/>
            <a:ext cx="10572000" cy="1220437"/>
          </a:xfrm>
        </p:spPr>
        <p:txBody>
          <a:bodyPr>
            <a:normAutofit/>
          </a:bodyPr>
          <a:lstStyle/>
          <a:p>
            <a:r>
              <a:rPr lang="en-US" dirty="0"/>
              <a:t>Madison College</a:t>
            </a:r>
          </a:p>
          <a:p>
            <a:r>
              <a:rPr lang="en-US" dirty="0"/>
              <a:t>Week 02</a:t>
            </a:r>
          </a:p>
          <a:p>
            <a:r>
              <a:rPr lang="en-US" dirty="0">
                <a:solidFill>
                  <a:srgbClr val="FFFF00"/>
                </a:solidFill>
              </a:rPr>
              <a:t>Part 1: Machine learning techniques – Fuzzy Logic and Genetic Algorithms</a:t>
            </a:r>
          </a:p>
        </p:txBody>
      </p:sp>
    </p:spTree>
    <p:extLst>
      <p:ext uri="{BB962C8B-B14F-4D97-AF65-F5344CB8AC3E}">
        <p14:creationId xmlns:p14="http://schemas.microsoft.com/office/powerpoint/2010/main" val="107187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Machine Learning defined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Machine learning is a subfield of artificial intelligence that enables computers to learn without being directly programmed</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It involves developing algorithms that can analyze data and then make decisions without relying on rule-based programming logic </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These systems are capable of improving throughout its use</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Many types of systems have been developed over time</a:t>
            </a:r>
          </a:p>
        </p:txBody>
      </p:sp>
    </p:spTree>
    <p:extLst>
      <p:ext uri="{BB962C8B-B14F-4D97-AF65-F5344CB8AC3E}">
        <p14:creationId xmlns:p14="http://schemas.microsoft.com/office/powerpoint/2010/main" val="438809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Genetic Algorithms</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p:txBody>
          <a:bodyPr>
            <a:normAutofit fontScale="92500" lnSpcReduction="100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Genetic algorithms include optimization techniques that are inspired by the principles of natural selection</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Used to find the most optimal solutions for some complex problems by iteratively generating possible solutions and selecting the best ones </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An early form of artificially intelligent system, heavily math dependent</a:t>
            </a:r>
          </a:p>
        </p:txBody>
      </p:sp>
      <p:pic>
        <p:nvPicPr>
          <p:cNvPr id="4" name="Content Placeholder 3">
            <a:extLst>
              <a:ext uri="{FF2B5EF4-FFF2-40B4-BE49-F238E27FC236}">
                <a16:creationId xmlns:a16="http://schemas.microsoft.com/office/drawing/2014/main" id="{30E0A59E-6D05-217B-1EBD-511F6AC116F7}"/>
              </a:ext>
            </a:extLst>
          </p:cNvPr>
          <p:cNvPicPr>
            <a:picLocks noGrp="1" noChangeAspect="1"/>
          </p:cNvPicPr>
          <p:nvPr>
            <p:ph sz="half" idx="2"/>
          </p:nvPr>
        </p:nvPicPr>
        <p:blipFill>
          <a:blip r:embed="rId3"/>
          <a:stretch>
            <a:fillRect/>
          </a:stretch>
        </p:blipFill>
        <p:spPr>
          <a:xfrm>
            <a:off x="7234991" y="1900989"/>
            <a:ext cx="4957009" cy="4957011"/>
          </a:xfrm>
          <a:prstGeom prst="rect">
            <a:avLst/>
          </a:prstGeom>
        </p:spPr>
      </p:pic>
    </p:spTree>
    <p:extLst>
      <p:ext uri="{BB962C8B-B14F-4D97-AF65-F5344CB8AC3E}">
        <p14:creationId xmlns:p14="http://schemas.microsoft.com/office/powerpoint/2010/main" val="2192750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EFC82F-3850-0DC8-1A83-8C3C165256EC}"/>
              </a:ext>
            </a:extLst>
          </p:cNvPr>
          <p:cNvSpPr>
            <a:spLocks noGrp="1"/>
          </p:cNvSpPr>
          <p:nvPr>
            <p:ph type="title"/>
          </p:nvPr>
        </p:nvSpPr>
        <p:spPr/>
        <p:txBody>
          <a:bodyPr/>
          <a:lstStyle/>
          <a:p>
            <a:r>
              <a:rPr lang="en-US" dirty="0"/>
              <a:t>How genetic algorithms work</a:t>
            </a:r>
          </a:p>
        </p:txBody>
      </p:sp>
      <p:sp>
        <p:nvSpPr>
          <p:cNvPr id="6" name="Flowchart: Terminator 5">
            <a:extLst>
              <a:ext uri="{FF2B5EF4-FFF2-40B4-BE49-F238E27FC236}">
                <a16:creationId xmlns:a16="http://schemas.microsoft.com/office/drawing/2014/main" id="{A7FE53AB-9B0C-87AB-4AD0-4DD6F607CA24}"/>
              </a:ext>
            </a:extLst>
          </p:cNvPr>
          <p:cNvSpPr/>
          <p:nvPr/>
        </p:nvSpPr>
        <p:spPr>
          <a:xfrm>
            <a:off x="288758" y="2791326"/>
            <a:ext cx="1852863" cy="637674"/>
          </a:xfrm>
          <a:prstGeom prst="flowChartTerminator">
            <a:avLst/>
          </a:prstGeom>
          <a:solidFill>
            <a:srgbClr val="22B0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7" name="Flowchart: Process 6">
            <a:extLst>
              <a:ext uri="{FF2B5EF4-FFF2-40B4-BE49-F238E27FC236}">
                <a16:creationId xmlns:a16="http://schemas.microsoft.com/office/drawing/2014/main" id="{5B536C0F-F42F-B3FF-A56C-3DCF1EE0EF03}"/>
              </a:ext>
            </a:extLst>
          </p:cNvPr>
          <p:cNvSpPr/>
          <p:nvPr/>
        </p:nvSpPr>
        <p:spPr>
          <a:xfrm>
            <a:off x="2781299" y="2477728"/>
            <a:ext cx="2490537" cy="1235145"/>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ptos" panose="020B0004020202020204" pitchFamily="34" charset="0"/>
                <a:ea typeface="Aptos" panose="020B0004020202020204" pitchFamily="34" charset="0"/>
                <a:cs typeface="Times New Roman" panose="02020603050405020304" pitchFamily="18" charset="0"/>
              </a:rPr>
              <a:t>Initialize a run with a population of potential problem solutions</a:t>
            </a:r>
            <a:endParaRPr lang="en-US" dirty="0"/>
          </a:p>
        </p:txBody>
      </p:sp>
      <p:sp>
        <p:nvSpPr>
          <p:cNvPr id="10" name="Flowchart: Process 9">
            <a:extLst>
              <a:ext uri="{FF2B5EF4-FFF2-40B4-BE49-F238E27FC236}">
                <a16:creationId xmlns:a16="http://schemas.microsoft.com/office/drawing/2014/main" id="{B3F75FB0-7FBB-1FC5-E1C3-0CA629573ACA}"/>
              </a:ext>
            </a:extLst>
          </p:cNvPr>
          <p:cNvSpPr/>
          <p:nvPr/>
        </p:nvSpPr>
        <p:spPr>
          <a:xfrm>
            <a:off x="6047873" y="2450213"/>
            <a:ext cx="2490537" cy="1235145"/>
          </a:xfrm>
          <a:prstGeom prst="flowChartProcess">
            <a:avLst/>
          </a:prstGeom>
          <a:solidFill>
            <a:srgbClr val="5A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Evaluate to filter the least desirable solutions</a:t>
            </a:r>
            <a:endParaRPr lang="en-US" dirty="0"/>
          </a:p>
        </p:txBody>
      </p:sp>
      <p:sp>
        <p:nvSpPr>
          <p:cNvPr id="11" name="Flowchart: Process 10">
            <a:extLst>
              <a:ext uri="{FF2B5EF4-FFF2-40B4-BE49-F238E27FC236}">
                <a16:creationId xmlns:a16="http://schemas.microsoft.com/office/drawing/2014/main" id="{252AE545-8A27-CBF0-44B6-57980E2620DB}"/>
              </a:ext>
            </a:extLst>
          </p:cNvPr>
          <p:cNvSpPr/>
          <p:nvPr/>
        </p:nvSpPr>
        <p:spPr>
          <a:xfrm>
            <a:off x="9314447" y="2477728"/>
            <a:ext cx="2490537" cy="1235145"/>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Selecting the most desirable solutions for reproduction</a:t>
            </a:r>
            <a:endParaRPr lang="en-US" dirty="0"/>
          </a:p>
        </p:txBody>
      </p:sp>
      <p:sp>
        <p:nvSpPr>
          <p:cNvPr id="12" name="Flowchart: Process 11">
            <a:extLst>
              <a:ext uri="{FF2B5EF4-FFF2-40B4-BE49-F238E27FC236}">
                <a16:creationId xmlns:a16="http://schemas.microsoft.com/office/drawing/2014/main" id="{59FEA4C1-A5F6-70A3-1E5A-D2A8816B18C8}"/>
              </a:ext>
            </a:extLst>
          </p:cNvPr>
          <p:cNvSpPr/>
          <p:nvPr/>
        </p:nvSpPr>
        <p:spPr>
          <a:xfrm>
            <a:off x="288758" y="4892988"/>
            <a:ext cx="2490537" cy="1517824"/>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Crossover attributes from a pair of “parent” solutions to create a new “offspring” solution</a:t>
            </a:r>
            <a:endParaRPr lang="en-US" dirty="0"/>
          </a:p>
        </p:txBody>
      </p:sp>
      <p:sp>
        <p:nvSpPr>
          <p:cNvPr id="13" name="Flowchart: Process 12">
            <a:extLst>
              <a:ext uri="{FF2B5EF4-FFF2-40B4-BE49-F238E27FC236}">
                <a16:creationId xmlns:a16="http://schemas.microsoft.com/office/drawing/2014/main" id="{07C432D1-1547-B812-A0CC-AA9A51DC8C9F}"/>
              </a:ext>
            </a:extLst>
          </p:cNvPr>
          <p:cNvSpPr/>
          <p:nvPr/>
        </p:nvSpPr>
        <p:spPr>
          <a:xfrm>
            <a:off x="3557336" y="4892988"/>
            <a:ext cx="2490537" cy="1517824"/>
          </a:xfrm>
          <a:prstGeom prst="flowChartProcess">
            <a:avLst/>
          </a:prstGeom>
          <a:solidFill>
            <a:srgbClr val="5A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Mutate some attributes of the “offspring” solution to explore novel outcomes</a:t>
            </a:r>
            <a:endParaRPr lang="en-US" dirty="0"/>
          </a:p>
        </p:txBody>
      </p:sp>
      <p:sp>
        <p:nvSpPr>
          <p:cNvPr id="14" name="Flowchart: Process 13">
            <a:extLst>
              <a:ext uri="{FF2B5EF4-FFF2-40B4-BE49-F238E27FC236}">
                <a16:creationId xmlns:a16="http://schemas.microsoft.com/office/drawing/2014/main" id="{910E7E7D-3CE3-865A-5861-6E3ABBD6ED7F}"/>
              </a:ext>
            </a:extLst>
          </p:cNvPr>
          <p:cNvSpPr/>
          <p:nvPr/>
        </p:nvSpPr>
        <p:spPr>
          <a:xfrm>
            <a:off x="6825914" y="4892988"/>
            <a:ext cx="2490537" cy="1517824"/>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Terminate the run once an acceptable solution has been identified</a:t>
            </a:r>
            <a:endParaRPr lang="en-US" dirty="0"/>
          </a:p>
        </p:txBody>
      </p:sp>
      <p:sp>
        <p:nvSpPr>
          <p:cNvPr id="15" name="Flowchart: Terminator 14">
            <a:extLst>
              <a:ext uri="{FF2B5EF4-FFF2-40B4-BE49-F238E27FC236}">
                <a16:creationId xmlns:a16="http://schemas.microsoft.com/office/drawing/2014/main" id="{60D140B4-0274-E8EA-37B2-89B8E862222F}"/>
              </a:ext>
            </a:extLst>
          </p:cNvPr>
          <p:cNvSpPr/>
          <p:nvPr/>
        </p:nvSpPr>
        <p:spPr>
          <a:xfrm>
            <a:off x="9984205" y="5333063"/>
            <a:ext cx="1852863" cy="637674"/>
          </a:xfrm>
          <a:prstGeom prst="flowChartTerminator">
            <a:avLst/>
          </a:prstGeom>
          <a:solidFill>
            <a:srgbClr val="E15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Stop</a:t>
            </a:r>
            <a:endParaRPr lang="en-US" dirty="0"/>
          </a:p>
        </p:txBody>
      </p:sp>
      <p:cxnSp>
        <p:nvCxnSpPr>
          <p:cNvPr id="19" name="Straight Arrow Connector 18">
            <a:extLst>
              <a:ext uri="{FF2B5EF4-FFF2-40B4-BE49-F238E27FC236}">
                <a16:creationId xmlns:a16="http://schemas.microsoft.com/office/drawing/2014/main" id="{3B1F1865-BC25-CC89-5ADD-B112816BA758}"/>
              </a:ext>
            </a:extLst>
          </p:cNvPr>
          <p:cNvCxnSpPr>
            <a:cxnSpLocks/>
            <a:stCxn id="6" idx="3"/>
            <a:endCxn id="7" idx="1"/>
          </p:cNvCxnSpPr>
          <p:nvPr/>
        </p:nvCxnSpPr>
        <p:spPr>
          <a:xfrm flipV="1">
            <a:off x="2141621" y="3095301"/>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F4F036A-23E7-6803-B3A8-A1248A21C87A}"/>
              </a:ext>
            </a:extLst>
          </p:cNvPr>
          <p:cNvCxnSpPr>
            <a:cxnSpLocks/>
          </p:cNvCxnSpPr>
          <p:nvPr/>
        </p:nvCxnSpPr>
        <p:spPr>
          <a:xfrm flipV="1">
            <a:off x="5340015" y="3052923"/>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376B8A8-34D0-98C4-35DD-BC6C944003A2}"/>
              </a:ext>
            </a:extLst>
          </p:cNvPr>
          <p:cNvCxnSpPr>
            <a:cxnSpLocks/>
          </p:cNvCxnSpPr>
          <p:nvPr/>
        </p:nvCxnSpPr>
        <p:spPr>
          <a:xfrm flipV="1">
            <a:off x="8606589" y="3056198"/>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D5B6426-62DC-3DB0-96F0-BDC43A33F067}"/>
              </a:ext>
            </a:extLst>
          </p:cNvPr>
          <p:cNvCxnSpPr>
            <a:cxnSpLocks/>
          </p:cNvCxnSpPr>
          <p:nvPr/>
        </p:nvCxnSpPr>
        <p:spPr>
          <a:xfrm>
            <a:off x="1534026" y="4355432"/>
            <a:ext cx="0" cy="537556"/>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8A57B25-4476-DB5B-92D6-59A40A967F62}"/>
              </a:ext>
            </a:extLst>
          </p:cNvPr>
          <p:cNvCxnSpPr>
            <a:cxnSpLocks/>
          </p:cNvCxnSpPr>
          <p:nvPr/>
        </p:nvCxnSpPr>
        <p:spPr>
          <a:xfrm flipV="1">
            <a:off x="2848476" y="5651900"/>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565AB4C-E34B-678B-5EA0-C0F7DA2C4011}"/>
              </a:ext>
            </a:extLst>
          </p:cNvPr>
          <p:cNvCxnSpPr>
            <a:cxnSpLocks/>
          </p:cNvCxnSpPr>
          <p:nvPr/>
        </p:nvCxnSpPr>
        <p:spPr>
          <a:xfrm flipV="1">
            <a:off x="6144129" y="5651900"/>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C11911E-7F43-6B11-2529-C4342C0A06FB}"/>
              </a:ext>
            </a:extLst>
          </p:cNvPr>
          <p:cNvCxnSpPr>
            <a:cxnSpLocks/>
          </p:cNvCxnSpPr>
          <p:nvPr/>
        </p:nvCxnSpPr>
        <p:spPr>
          <a:xfrm flipV="1">
            <a:off x="9358558" y="5668354"/>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B48757-6F2F-0B10-8FFE-6E50A025CC44}"/>
              </a:ext>
            </a:extLst>
          </p:cNvPr>
          <p:cNvCxnSpPr/>
          <p:nvPr/>
        </p:nvCxnSpPr>
        <p:spPr>
          <a:xfrm>
            <a:off x="1534026" y="4355432"/>
            <a:ext cx="902568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39E4B5B-422E-F410-9604-3AE9AF2A5C47}"/>
              </a:ext>
            </a:extLst>
          </p:cNvPr>
          <p:cNvCxnSpPr>
            <a:cxnSpLocks/>
          </p:cNvCxnSpPr>
          <p:nvPr/>
        </p:nvCxnSpPr>
        <p:spPr>
          <a:xfrm>
            <a:off x="10559715" y="3862137"/>
            <a:ext cx="0" cy="49329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253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Genetic Algorithm use</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Genetic Algorithms can be applied to machine learning, scheduling/routing problems, and parameter tuning of complex systems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They can be used in decision trees and signal processing </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They can also be used to help establish causal relationships within data</a:t>
            </a:r>
          </a:p>
        </p:txBody>
      </p:sp>
      <p:pic>
        <p:nvPicPr>
          <p:cNvPr id="5" name="Picture 4">
            <a:extLst>
              <a:ext uri="{FF2B5EF4-FFF2-40B4-BE49-F238E27FC236}">
                <a16:creationId xmlns:a16="http://schemas.microsoft.com/office/drawing/2014/main" id="{2B9FB7A4-8154-F5C9-E4AC-F3345CF9F793}"/>
              </a:ext>
            </a:extLst>
          </p:cNvPr>
          <p:cNvPicPr>
            <a:picLocks noChangeAspect="1"/>
          </p:cNvPicPr>
          <p:nvPr/>
        </p:nvPicPr>
        <p:blipFill>
          <a:blip r:embed="rId3"/>
          <a:stretch>
            <a:fillRect/>
          </a:stretch>
        </p:blipFill>
        <p:spPr>
          <a:xfrm>
            <a:off x="1073151" y="2331729"/>
            <a:ext cx="3600311" cy="3600311"/>
          </a:xfrm>
          <a:prstGeom prst="rect">
            <a:avLst/>
          </a:prstGeom>
        </p:spPr>
      </p:pic>
    </p:spTree>
    <p:extLst>
      <p:ext uri="{BB962C8B-B14F-4D97-AF65-F5344CB8AC3E}">
        <p14:creationId xmlns:p14="http://schemas.microsoft.com/office/powerpoint/2010/main" val="2774731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Fuzzy Logic and Heuristic Analysis</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p:txBody>
          <a:bodyPr>
            <a:normAutofit lnSpcReduction="100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Other classical approaches include Fuzzy logic and Heuristics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Fuzzy Logic can be used to approximate human decision making</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Fuzzy logic is a mathematical approach that uses degrees of certainty, rather than the absolutes of Boolean logic (true or false)</a:t>
            </a:r>
          </a:p>
        </p:txBody>
      </p:sp>
      <p:pic>
        <p:nvPicPr>
          <p:cNvPr id="4" name="Picture 3">
            <a:extLst>
              <a:ext uri="{FF2B5EF4-FFF2-40B4-BE49-F238E27FC236}">
                <a16:creationId xmlns:a16="http://schemas.microsoft.com/office/drawing/2014/main" id="{2FDDE260-201F-E0A9-1435-8C3118D44893}"/>
              </a:ext>
            </a:extLst>
          </p:cNvPr>
          <p:cNvPicPr>
            <a:picLocks noChangeAspect="1"/>
          </p:cNvPicPr>
          <p:nvPr/>
        </p:nvPicPr>
        <p:blipFill>
          <a:blip r:embed="rId3"/>
          <a:stretch>
            <a:fillRect/>
          </a:stretch>
        </p:blipFill>
        <p:spPr>
          <a:xfrm>
            <a:off x="7218947" y="1904990"/>
            <a:ext cx="4953010" cy="4953010"/>
          </a:xfrm>
          <a:prstGeom prst="rect">
            <a:avLst/>
          </a:prstGeom>
        </p:spPr>
      </p:pic>
    </p:spTree>
    <p:extLst>
      <p:ext uri="{BB962C8B-B14F-4D97-AF65-F5344CB8AC3E}">
        <p14:creationId xmlns:p14="http://schemas.microsoft.com/office/powerpoint/2010/main" val="4159167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Fuzzy Logic</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technique can quickly correlate a specific data value to a qualified classification in a Fuzzy Set of values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Being a precursor to neural networks, it also takes an input value and returns another related value</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As such, it can be useful for modeling complex systems with uncertain and/or imprecise or data thereby imitating rudimentary human decision-making</a:t>
            </a:r>
          </a:p>
          <a:p>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6317D2FE-2886-8E03-746A-23AAC34AC248}"/>
              </a:ext>
            </a:extLst>
          </p:cNvPr>
          <p:cNvPicPr>
            <a:picLocks noChangeAspect="1"/>
          </p:cNvPicPr>
          <p:nvPr/>
        </p:nvPicPr>
        <p:blipFill>
          <a:blip r:embed="rId3"/>
          <a:stretch>
            <a:fillRect/>
          </a:stretch>
        </p:blipFill>
        <p:spPr>
          <a:xfrm>
            <a:off x="1073151" y="2286000"/>
            <a:ext cx="3547533" cy="3547533"/>
          </a:xfrm>
          <a:prstGeom prst="rect">
            <a:avLst/>
          </a:prstGeom>
        </p:spPr>
      </p:pic>
    </p:spTree>
    <p:extLst>
      <p:ext uri="{BB962C8B-B14F-4D97-AF65-F5344CB8AC3E}">
        <p14:creationId xmlns:p14="http://schemas.microsoft.com/office/powerpoint/2010/main" val="2300058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EFC82F-3850-0DC8-1A83-8C3C165256EC}"/>
              </a:ext>
            </a:extLst>
          </p:cNvPr>
          <p:cNvSpPr>
            <a:spLocks noGrp="1"/>
          </p:cNvSpPr>
          <p:nvPr>
            <p:ph type="title"/>
          </p:nvPr>
        </p:nvSpPr>
        <p:spPr/>
        <p:txBody>
          <a:bodyPr/>
          <a:lstStyle/>
          <a:p>
            <a:r>
              <a:rPr lang="en-US" dirty="0"/>
              <a:t>How Fuzzy Logic works</a:t>
            </a:r>
          </a:p>
        </p:txBody>
      </p:sp>
      <p:sp>
        <p:nvSpPr>
          <p:cNvPr id="3" name="Text Placeholder 2">
            <a:extLst>
              <a:ext uri="{FF2B5EF4-FFF2-40B4-BE49-F238E27FC236}">
                <a16:creationId xmlns:a16="http://schemas.microsoft.com/office/drawing/2014/main" id="{33FDFFAD-D24A-AF77-30AC-FA4ADA65D5AE}"/>
              </a:ext>
            </a:extLst>
          </p:cNvPr>
          <p:cNvSpPr>
            <a:spLocks noGrp="1"/>
          </p:cNvSpPr>
          <p:nvPr>
            <p:ph type="body" sz="half" idx="2"/>
          </p:nvPr>
        </p:nvSpPr>
        <p:spPr>
          <a:xfrm>
            <a:off x="1060561" y="2332928"/>
            <a:ext cx="3547533" cy="4332567"/>
          </a:xfrm>
        </p:spPr>
        <p:txBody>
          <a:bodyPr>
            <a:normAutofit/>
          </a:bodyPr>
          <a:lstStyle/>
          <a:p>
            <a:pPr marL="285750" indent="-285750">
              <a:buFont typeface="Arial" panose="020B0604020202020204" pitchFamily="34" charset="0"/>
              <a:buChar char="•"/>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Fuzzy Sets are predetermined values grouped into similar Classifications</a:t>
            </a:r>
          </a:p>
          <a:p>
            <a:pPr marL="285750" indent="-285750">
              <a:buFont typeface="Arial" panose="020B0604020202020204" pitchFamily="34" charset="0"/>
              <a:buChar char="•"/>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For simplicity’s sake, assume a Fuzzy set of 5 Classifications from 0 to 99 in groups of 20). Class A would represent the values from 0-19, Class B from 20-39, and so on</a:t>
            </a:r>
            <a:endParaRPr lang="en-US" sz="2000" dirty="0"/>
          </a:p>
        </p:txBody>
      </p:sp>
      <p:sp>
        <p:nvSpPr>
          <p:cNvPr id="6" name="Flowchart: Terminator 5">
            <a:extLst>
              <a:ext uri="{FF2B5EF4-FFF2-40B4-BE49-F238E27FC236}">
                <a16:creationId xmlns:a16="http://schemas.microsoft.com/office/drawing/2014/main" id="{A7FE53AB-9B0C-87AB-4AD0-4DD6F607CA24}"/>
              </a:ext>
            </a:extLst>
          </p:cNvPr>
          <p:cNvSpPr/>
          <p:nvPr/>
        </p:nvSpPr>
        <p:spPr>
          <a:xfrm>
            <a:off x="7300605" y="140151"/>
            <a:ext cx="1852863" cy="470849"/>
          </a:xfrm>
          <a:prstGeom prst="flowChartTerminator">
            <a:avLst/>
          </a:prstGeom>
          <a:solidFill>
            <a:srgbClr val="22B0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7" name="Flowchart: Process 6">
            <a:extLst>
              <a:ext uri="{FF2B5EF4-FFF2-40B4-BE49-F238E27FC236}">
                <a16:creationId xmlns:a16="http://schemas.microsoft.com/office/drawing/2014/main" id="{5B536C0F-F42F-B3FF-A56C-3DCF1EE0EF03}"/>
              </a:ext>
            </a:extLst>
          </p:cNvPr>
          <p:cNvSpPr/>
          <p:nvPr/>
        </p:nvSpPr>
        <p:spPr>
          <a:xfrm>
            <a:off x="5423678" y="1206947"/>
            <a:ext cx="5606716" cy="599694"/>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7000"/>
              </a:lnSpc>
              <a:spcBef>
                <a:spcPts val="0"/>
              </a:spcBef>
              <a:spcAft>
                <a:spcPts val="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Accept </a:t>
            </a:r>
            <a:r>
              <a:rPr lang="en-US" kern="100" dirty="0">
                <a:latin typeface="Aptos" panose="020B0004020202020204" pitchFamily="34" charset="0"/>
                <a:ea typeface="Aptos" panose="020B0004020202020204" pitchFamily="34" charset="0"/>
                <a:cs typeface="Times New Roman" panose="02020603050405020304" pitchFamily="18" charset="0"/>
              </a:rPr>
              <a:t>i</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nput; usually a discrete value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(ex. </a:t>
            </a:r>
            <a:r>
              <a:rPr lang="en-US" sz="1800" b="1" i="1" kern="100" dirty="0">
                <a:effectLst/>
                <a:latin typeface="Aptos" panose="020B0004020202020204" pitchFamily="34" charset="0"/>
                <a:ea typeface="Aptos" panose="020B0004020202020204" pitchFamily="34" charset="0"/>
                <a:cs typeface="Times New Roman" panose="02020603050405020304" pitchFamily="18" charset="0"/>
              </a:rPr>
              <a:t>64</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15" name="Flowchart: Terminator 14">
            <a:extLst>
              <a:ext uri="{FF2B5EF4-FFF2-40B4-BE49-F238E27FC236}">
                <a16:creationId xmlns:a16="http://schemas.microsoft.com/office/drawing/2014/main" id="{60D140B4-0274-E8EA-37B2-89B8E862222F}"/>
              </a:ext>
            </a:extLst>
          </p:cNvPr>
          <p:cNvSpPr/>
          <p:nvPr/>
        </p:nvSpPr>
        <p:spPr>
          <a:xfrm>
            <a:off x="7300605" y="6246999"/>
            <a:ext cx="1852863" cy="470849"/>
          </a:xfrm>
          <a:prstGeom prst="flowChartTerminator">
            <a:avLst/>
          </a:prstGeom>
          <a:solidFill>
            <a:srgbClr val="E15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24" name="Flowchart: Process 23">
            <a:extLst>
              <a:ext uri="{FF2B5EF4-FFF2-40B4-BE49-F238E27FC236}">
                <a16:creationId xmlns:a16="http://schemas.microsoft.com/office/drawing/2014/main" id="{1C9D795D-F809-8BEC-1E12-7456B488B0BF}"/>
              </a:ext>
            </a:extLst>
          </p:cNvPr>
          <p:cNvSpPr/>
          <p:nvPr/>
        </p:nvSpPr>
        <p:spPr>
          <a:xfrm>
            <a:off x="5423678" y="2393838"/>
            <a:ext cx="5606716" cy="627175"/>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7000"/>
              </a:lnSpc>
              <a:spcBef>
                <a:spcPts val="0"/>
              </a:spcBef>
              <a:spcAft>
                <a:spcPts val="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Evaluate the value against the Fuzzy Set</a:t>
            </a:r>
          </a:p>
        </p:txBody>
      </p:sp>
      <p:sp>
        <p:nvSpPr>
          <p:cNvPr id="30" name="Flowchart: Process 29">
            <a:extLst>
              <a:ext uri="{FF2B5EF4-FFF2-40B4-BE49-F238E27FC236}">
                <a16:creationId xmlns:a16="http://schemas.microsoft.com/office/drawing/2014/main" id="{D65FD125-5910-304E-DF0B-5F421AA0301E}"/>
              </a:ext>
            </a:extLst>
          </p:cNvPr>
          <p:cNvSpPr/>
          <p:nvPr/>
        </p:nvSpPr>
        <p:spPr>
          <a:xfrm>
            <a:off x="5443724" y="3560082"/>
            <a:ext cx="5606716" cy="1125535"/>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7000"/>
              </a:lnSpc>
              <a:spcBef>
                <a:spcPts val="0"/>
              </a:spcBef>
              <a:spcAft>
                <a:spcPts val="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Logically resolve the input value’s membership to some Class in the Fuzzy Set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(ex. Class D would contain values from 60-89 from the Set described above) </a:t>
            </a:r>
          </a:p>
        </p:txBody>
      </p:sp>
      <p:sp>
        <p:nvSpPr>
          <p:cNvPr id="34" name="Arrow: Chevron 33">
            <a:extLst>
              <a:ext uri="{FF2B5EF4-FFF2-40B4-BE49-F238E27FC236}">
                <a16:creationId xmlns:a16="http://schemas.microsoft.com/office/drawing/2014/main" id="{E8025042-78A4-97D2-7D2C-EFA90DA7EA27}"/>
              </a:ext>
            </a:extLst>
          </p:cNvPr>
          <p:cNvSpPr/>
          <p:nvPr/>
        </p:nvSpPr>
        <p:spPr>
          <a:xfrm rot="5400000">
            <a:off x="8121479" y="1570851"/>
            <a:ext cx="251207" cy="1106905"/>
          </a:xfrm>
          <a:prstGeom prst="chevr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Arrow: Chevron 34">
            <a:extLst>
              <a:ext uri="{FF2B5EF4-FFF2-40B4-BE49-F238E27FC236}">
                <a16:creationId xmlns:a16="http://schemas.microsoft.com/office/drawing/2014/main" id="{9809C85A-6F79-3840-B36F-FEC8EB97037A}"/>
              </a:ext>
            </a:extLst>
          </p:cNvPr>
          <p:cNvSpPr/>
          <p:nvPr/>
        </p:nvSpPr>
        <p:spPr>
          <a:xfrm rot="5400000">
            <a:off x="8121479" y="363135"/>
            <a:ext cx="251207" cy="1106905"/>
          </a:xfrm>
          <a:prstGeom prst="chevr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Arrow: Chevron 35">
            <a:extLst>
              <a:ext uri="{FF2B5EF4-FFF2-40B4-BE49-F238E27FC236}">
                <a16:creationId xmlns:a16="http://schemas.microsoft.com/office/drawing/2014/main" id="{C133E19E-F490-15EE-11FE-C52321D86359}"/>
              </a:ext>
            </a:extLst>
          </p:cNvPr>
          <p:cNvSpPr/>
          <p:nvPr/>
        </p:nvSpPr>
        <p:spPr>
          <a:xfrm rot="5400000">
            <a:off x="8121479" y="2737095"/>
            <a:ext cx="251207" cy="1106905"/>
          </a:xfrm>
          <a:prstGeom prst="chevr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Flowchart: Process 36">
            <a:extLst>
              <a:ext uri="{FF2B5EF4-FFF2-40B4-BE49-F238E27FC236}">
                <a16:creationId xmlns:a16="http://schemas.microsoft.com/office/drawing/2014/main" id="{E36B00F7-1298-408E-25F7-9E2A55A2A7B5}"/>
              </a:ext>
            </a:extLst>
          </p:cNvPr>
          <p:cNvSpPr/>
          <p:nvPr/>
        </p:nvSpPr>
        <p:spPr>
          <a:xfrm>
            <a:off x="5443724" y="5249528"/>
            <a:ext cx="5606716" cy="599694"/>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Output will be the class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(in this simple example, </a:t>
            </a:r>
            <a:r>
              <a:rPr lang="en-US" sz="1800" b="1" i="1" kern="100" dirty="0">
                <a:effectLst/>
                <a:latin typeface="Aptos" panose="020B0004020202020204" pitchFamily="34" charset="0"/>
                <a:ea typeface="Aptos" panose="020B0004020202020204" pitchFamily="34" charset="0"/>
                <a:cs typeface="Times New Roman" panose="02020603050405020304" pitchFamily="18" charset="0"/>
              </a:rPr>
              <a:t>D</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38" name="Arrow: Chevron 37">
            <a:extLst>
              <a:ext uri="{FF2B5EF4-FFF2-40B4-BE49-F238E27FC236}">
                <a16:creationId xmlns:a16="http://schemas.microsoft.com/office/drawing/2014/main" id="{562EB73D-AC3D-717A-75B7-E70FECE07A9E}"/>
              </a:ext>
            </a:extLst>
          </p:cNvPr>
          <p:cNvSpPr/>
          <p:nvPr/>
        </p:nvSpPr>
        <p:spPr>
          <a:xfrm rot="5400000">
            <a:off x="8121479" y="5486821"/>
            <a:ext cx="251207" cy="1106905"/>
          </a:xfrm>
          <a:prstGeom prst="chevr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Arrow: Chevron 38">
            <a:extLst>
              <a:ext uri="{FF2B5EF4-FFF2-40B4-BE49-F238E27FC236}">
                <a16:creationId xmlns:a16="http://schemas.microsoft.com/office/drawing/2014/main" id="{A9BA45EE-4F0D-DAE2-504E-BB1CFB3C9513}"/>
              </a:ext>
            </a:extLst>
          </p:cNvPr>
          <p:cNvSpPr/>
          <p:nvPr/>
        </p:nvSpPr>
        <p:spPr>
          <a:xfrm rot="5400000">
            <a:off x="8121479" y="4432168"/>
            <a:ext cx="251207" cy="1106905"/>
          </a:xfrm>
          <a:prstGeom prst="chevr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73990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Heuristic Analysis</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 heuristic approach can involve search trees to find an optimal solution</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Instead of evaluating each branch to determine how from traverse from Point A to Point B, a heuristic will select the most optimal branches to navigate</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At each decision point during navigation, a heuristic method will approach a higher degree of success</a:t>
            </a:r>
          </a:p>
        </p:txBody>
      </p:sp>
      <p:pic>
        <p:nvPicPr>
          <p:cNvPr id="5" name="Picture 4">
            <a:extLst>
              <a:ext uri="{FF2B5EF4-FFF2-40B4-BE49-F238E27FC236}">
                <a16:creationId xmlns:a16="http://schemas.microsoft.com/office/drawing/2014/main" id="{4E3184DE-5D37-354F-6C0D-2DF114DC9B1F}"/>
              </a:ext>
            </a:extLst>
          </p:cNvPr>
          <p:cNvPicPr>
            <a:picLocks noChangeAspect="1"/>
          </p:cNvPicPr>
          <p:nvPr/>
        </p:nvPicPr>
        <p:blipFill>
          <a:blip r:embed="rId3"/>
          <a:stretch>
            <a:fillRect/>
          </a:stretch>
        </p:blipFill>
        <p:spPr>
          <a:xfrm>
            <a:off x="1073150" y="2313518"/>
            <a:ext cx="3547533" cy="3547533"/>
          </a:xfrm>
          <a:prstGeom prst="rect">
            <a:avLst/>
          </a:prstGeom>
        </p:spPr>
      </p:pic>
    </p:spTree>
    <p:extLst>
      <p:ext uri="{BB962C8B-B14F-4D97-AF65-F5344CB8AC3E}">
        <p14:creationId xmlns:p14="http://schemas.microsoft.com/office/powerpoint/2010/main" val="911423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Heuristic Analysis use</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p:txBody>
          <a:bodyPr>
            <a:normAutofit fontScale="925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An example of this type of processing is the Monte Carlo method of game analysis used in Google’s DeepMind</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Heuristics combined with Neural Networking allowed for DeepMind to master many types of games which included finite moves such as Go and Chess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One can envision a simple heuristic implemented as a complex structure of if-then-else trees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When combining Fuzzy Logic and Heuristic Analysis, one could allow for imprecise data to be modeled as a heuristic method navigates a path</a:t>
            </a:r>
          </a:p>
        </p:txBody>
      </p:sp>
      <p:pic>
        <p:nvPicPr>
          <p:cNvPr id="5" name="Picture 4">
            <a:extLst>
              <a:ext uri="{FF2B5EF4-FFF2-40B4-BE49-F238E27FC236}">
                <a16:creationId xmlns:a16="http://schemas.microsoft.com/office/drawing/2014/main" id="{5C7B1585-5CD5-3381-8B5C-90077689847F}"/>
              </a:ext>
            </a:extLst>
          </p:cNvPr>
          <p:cNvPicPr>
            <a:picLocks noChangeAspect="1"/>
          </p:cNvPicPr>
          <p:nvPr/>
        </p:nvPicPr>
        <p:blipFill>
          <a:blip r:embed="rId3"/>
          <a:stretch>
            <a:fillRect/>
          </a:stretch>
        </p:blipFill>
        <p:spPr>
          <a:xfrm>
            <a:off x="1073151" y="2313519"/>
            <a:ext cx="3547532" cy="3547532"/>
          </a:xfrm>
          <a:prstGeom prst="rect">
            <a:avLst/>
          </a:prstGeom>
        </p:spPr>
      </p:pic>
    </p:spTree>
    <p:extLst>
      <p:ext uri="{BB962C8B-B14F-4D97-AF65-F5344CB8AC3E}">
        <p14:creationId xmlns:p14="http://schemas.microsoft.com/office/powerpoint/2010/main" val="6248538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TM03457503[[fn=Quotable]]</Template>
  <TotalTime>120</TotalTime>
  <Words>1417</Words>
  <Application>Microsoft Office PowerPoint</Application>
  <PresentationFormat>Widescreen</PresentationFormat>
  <Paragraphs>95</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-apple-system</vt:lpstr>
      <vt:lpstr>Aptos</vt:lpstr>
      <vt:lpstr>Arial</vt:lpstr>
      <vt:lpstr>Century Gothic</vt:lpstr>
      <vt:lpstr>Symbol</vt:lpstr>
      <vt:lpstr>Wingdings 2</vt:lpstr>
      <vt:lpstr>Quotable</vt:lpstr>
      <vt:lpstr>AI Fundamentals  </vt:lpstr>
      <vt:lpstr>Machine Learning defined</vt:lpstr>
      <vt:lpstr>Genetic Algorithms</vt:lpstr>
      <vt:lpstr>How genetic algorithms work</vt:lpstr>
      <vt:lpstr>Genetic Algorithm use</vt:lpstr>
      <vt:lpstr>Fuzzy Logic and Heuristic Analysis</vt:lpstr>
      <vt:lpstr>Fuzzy Logic</vt:lpstr>
      <vt:lpstr>How Fuzzy Logic works</vt:lpstr>
      <vt:lpstr>Heuristic Analysis</vt:lpstr>
      <vt:lpstr>Heuristic Analysis 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dc:title>
  <dc:creator>Johnson, Victor G</dc:creator>
  <cp:lastModifiedBy>Chestnut, Temple D</cp:lastModifiedBy>
  <cp:revision>21</cp:revision>
  <cp:lastPrinted>2024-07-26T22:50:38Z</cp:lastPrinted>
  <dcterms:created xsi:type="dcterms:W3CDTF">2024-05-24T14:22:22Z</dcterms:created>
  <dcterms:modified xsi:type="dcterms:W3CDTF">2024-07-26T22:51:22Z</dcterms:modified>
</cp:coreProperties>
</file>