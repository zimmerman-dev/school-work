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68" r:id="rId3"/>
    <p:sldId id="276" r:id="rId4"/>
    <p:sldId id="277" r:id="rId5"/>
    <p:sldId id="275" r:id="rId6"/>
    <p:sldId id="279" r:id="rId7"/>
    <p:sldId id="280" r:id="rId8"/>
    <p:sldId id="281" r:id="rId9"/>
    <p:sldId id="282" r:id="rId10"/>
    <p:sldId id="28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3D77"/>
    <a:srgbClr val="120D19"/>
    <a:srgbClr val="39284E"/>
    <a:srgbClr val="9275B9"/>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78961" autoAdjust="0"/>
  </p:normalViewPr>
  <p:slideViewPr>
    <p:cSldViewPr snapToGrid="0">
      <p:cViewPr varScale="1">
        <p:scale>
          <a:sx n="61" d="100"/>
          <a:sy n="61" d="100"/>
        </p:scale>
        <p:origin x="1364"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6/1/2024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While it might seem straightforward to consider the ethical dilemmas that using artificial intelligence brings upon workers, it is not always easy to understand. The morality of one person which informs their ethical foundation could be substantially different from the next person. We may not always agree. This situation gets even more complex when new technology is applied to old problems to provide new solutions. Not all of these solutions will work for everyone equally. Especially in market economic systems, there will always be those who benefit and those who do not.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2</a:t>
            </a:fld>
            <a:endParaRPr lang="en-US"/>
          </a:p>
        </p:txBody>
      </p:sp>
    </p:spTree>
    <p:extLst>
      <p:ext uri="{BB962C8B-B14F-4D97-AF65-F5344CB8AC3E}">
        <p14:creationId xmlns:p14="http://schemas.microsoft.com/office/powerpoint/2010/main" val="3553294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While it might seem straightforward to consider the ethical dilemmas that using artificial intelligence brings upon workers, it is not always easy to understand. The morality of one person which informs their ethical foundation could be substantially different from the next person. We may not always agree. This situation gets even more complex when new technology is applied to old problems to provide new solutions. Not all of these solutions will work for everyone equally. Especially in market economic systems, there will always be those who benefit and those who do not.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566064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When utilizing new technology, it is often easy to forget that the technology could be used for the benefit of others and to the detriment of others. In many instances, it depends upon the moral and ethical foundation of the people who are deploying the technology</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285252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1309374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6/1/2024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6/1/2024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6/1/2024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oleObject" Target="../embeddings/oleObject2.bin"/><Relationship Id="rId9" Type="http://schemas.openxmlformats.org/officeDocument/2006/relationships/image" Target="../media/image6.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8.emf"/><Relationship Id="rId4" Type="http://schemas.openxmlformats.org/officeDocument/2006/relationships/oleObject" Target="../embeddings/oleObject6.bin"/><Relationship Id="rId9" Type="http://schemas.openxmlformats.org/officeDocument/2006/relationships/image" Target="../media/image10.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12.emf"/><Relationship Id="rId4" Type="http://schemas.openxmlformats.org/officeDocument/2006/relationships/oleObject" Target="../embeddings/oleObject10.bin"/><Relationship Id="rId9" Type="http://schemas.openxmlformats.org/officeDocument/2006/relationships/image" Target="../media/image14.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5.emf"/><Relationship Id="rId7"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oleObject" Target="../embeddings/oleObject15.bin"/><Relationship Id="rId5" Type="http://schemas.openxmlformats.org/officeDocument/2006/relationships/image" Target="../media/image16.emf"/><Relationship Id="rId4" Type="http://schemas.openxmlformats.org/officeDocument/2006/relationships/oleObject" Target="../embeddings/oleObject14.bin"/><Relationship Id="rId9" Type="http://schemas.openxmlformats.org/officeDocument/2006/relationships/image" Target="../media/image18.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19.emf"/><Relationship Id="rId7" Type="http://schemas.openxmlformats.org/officeDocument/2006/relationships/image" Target="../media/image21.e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image" Target="../media/image20.emf"/><Relationship Id="rId4" Type="http://schemas.openxmlformats.org/officeDocument/2006/relationships/oleObject" Target="../embeddings/oleObject18.bin"/><Relationship Id="rId9" Type="http://schemas.openxmlformats.org/officeDocument/2006/relationships/image" Target="../media/image2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06</a:t>
            </a:r>
          </a:p>
          <a:p>
            <a:r>
              <a:rPr lang="en-US" dirty="0">
                <a:solidFill>
                  <a:srgbClr val="FFFF00"/>
                </a:solidFill>
              </a:rPr>
              <a:t>Compromised AI ethics</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CE09E21C-A325-4A05-ABC0-CAF1D7B52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olo journey">
            <a:extLst>
              <a:ext uri="{FF2B5EF4-FFF2-40B4-BE49-F238E27FC236}">
                <a16:creationId xmlns:a16="http://schemas.microsoft.com/office/drawing/2014/main" id="{74AD9A09-8802-C5ED-CABC-F2263A0746CD}"/>
              </a:ext>
            </a:extLst>
          </p:cNvPr>
          <p:cNvPicPr>
            <a:picLocks noChangeAspect="1"/>
          </p:cNvPicPr>
          <p:nvPr/>
        </p:nvPicPr>
        <p:blipFill rotWithShape="1">
          <a:blip r:embed="rId3">
            <a:duotone>
              <a:schemeClr val="bg2">
                <a:shade val="45000"/>
                <a:satMod val="135000"/>
              </a:schemeClr>
              <a:prstClr val="white"/>
            </a:duotone>
            <a:alphaModFix amt="40000"/>
          </a:blip>
          <a:srcRect t="14293" b="10707"/>
          <a:stretch/>
        </p:blipFill>
        <p:spPr>
          <a:xfrm>
            <a:off x="20" y="10"/>
            <a:ext cx="12191980" cy="6857990"/>
          </a:xfrm>
          <a:prstGeom prst="rect">
            <a:avLst/>
          </a:prstGeom>
        </p:spPr>
      </p:pic>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dirty="0"/>
              <a:t>Compromised ethics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10554574" cy="3636511"/>
          </a:xfrm>
        </p:spPr>
        <p:txBody>
          <a:bodyPr vert="horz" lIns="91440" tIns="45720" rIns="91440" bIns="45720" rtlCol="0" anchor="ctr">
            <a:normAutofit/>
          </a:bodyPr>
          <a:lstStyle/>
          <a:p>
            <a:r>
              <a:rPr lang="en-US" sz="2000" dirty="0"/>
              <a:t>While it might seem straightforward to consider the ethical dilemmas that using artificial intelligence brings upon workers, it is not always easy to understand</a:t>
            </a:r>
          </a:p>
          <a:p>
            <a:r>
              <a:rPr lang="en-US" sz="2000" dirty="0"/>
              <a:t>The morality of one person which informs their ethical foundation could be substantially different from the next person</a:t>
            </a:r>
          </a:p>
          <a:p>
            <a:r>
              <a:rPr lang="en-US" sz="2000" dirty="0"/>
              <a:t>While one might understand the perspective of another, agreeing with the perspective is not assured</a:t>
            </a:r>
          </a:p>
        </p:txBody>
      </p:sp>
    </p:spTree>
    <p:extLst>
      <p:ext uri="{BB962C8B-B14F-4D97-AF65-F5344CB8AC3E}">
        <p14:creationId xmlns:p14="http://schemas.microsoft.com/office/powerpoint/2010/main" val="2262068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dirty="0"/>
              <a:t>Compromised ethics,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008068" y="978993"/>
            <a:ext cx="5365218" cy="4900014"/>
          </a:xfrm>
          <a:effectLst/>
        </p:spPr>
        <p:txBody>
          <a:bodyPr vert="horz" lIns="91440" tIns="45720" rIns="91440" bIns="45720" rtlCol="0" anchor="ctr">
            <a:normAutofit/>
          </a:bodyPr>
          <a:lstStyle/>
          <a:p>
            <a:r>
              <a:rPr lang="en-US" sz="2400" dirty="0"/>
              <a:t>This situation gets even more complex when new technology is applied to old problems to provide new solutions</a:t>
            </a:r>
          </a:p>
          <a:p>
            <a:r>
              <a:rPr lang="en-US" sz="2400" dirty="0"/>
              <a:t>Not all of these solutions will work for everyone equally</a:t>
            </a:r>
          </a:p>
          <a:p>
            <a:r>
              <a:rPr lang="en-US" sz="2400" dirty="0"/>
              <a:t>Especially in market economic systems, there will always be those who benefit and those who do not.</a:t>
            </a:r>
          </a:p>
        </p:txBody>
      </p:sp>
    </p:spTree>
    <p:extLst>
      <p:ext uri="{BB962C8B-B14F-4D97-AF65-F5344CB8AC3E}">
        <p14:creationId xmlns:p14="http://schemas.microsoft.com/office/powerpoint/2010/main" val="260083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dirty="0"/>
              <a:t>Compromised ethics,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008068" y="348916"/>
            <a:ext cx="5365218" cy="6196263"/>
          </a:xfrm>
          <a:effectLst/>
        </p:spPr>
        <p:txBody>
          <a:bodyPr vert="horz" lIns="91440" tIns="45720" rIns="91440" bIns="45720" rtlCol="0" anchor="ctr">
            <a:normAutofit/>
          </a:bodyPr>
          <a:lstStyle/>
          <a:p>
            <a:pPr>
              <a:lnSpc>
                <a:spcPct val="90000"/>
              </a:lnSpc>
            </a:pPr>
            <a:r>
              <a:rPr lang="en-US" sz="2000" dirty="0"/>
              <a:t>When utilizing new technology, it is often easy to forget that the technology could be used for the benefit of others and to the detriment of others</a:t>
            </a:r>
          </a:p>
          <a:p>
            <a:pPr>
              <a:lnSpc>
                <a:spcPct val="90000"/>
              </a:lnSpc>
            </a:pPr>
            <a:r>
              <a:rPr lang="en-US" sz="2000" dirty="0"/>
              <a:t>In many instances, it depends upon the moral and ethical foundation of the people who are deploying the technology</a:t>
            </a:r>
          </a:p>
          <a:p>
            <a:pPr>
              <a:lnSpc>
                <a:spcPct val="90000"/>
              </a:lnSpc>
            </a:pPr>
            <a:r>
              <a:rPr lang="en-US" sz="2000" dirty="0"/>
              <a:t>The same ethics survey used in the last lesson is included here</a:t>
            </a:r>
          </a:p>
          <a:p>
            <a:pPr>
              <a:lnSpc>
                <a:spcPct val="90000"/>
              </a:lnSpc>
            </a:pPr>
            <a:r>
              <a:rPr lang="en-US" sz="2000" dirty="0"/>
              <a:t>As you review the following current events, answer the survey questions and attempt to 	reconcile any ethical considerations </a:t>
            </a:r>
          </a:p>
        </p:txBody>
      </p:sp>
    </p:spTree>
    <p:extLst>
      <p:ext uri="{BB962C8B-B14F-4D97-AF65-F5344CB8AC3E}">
        <p14:creationId xmlns:p14="http://schemas.microsoft.com/office/powerpoint/2010/main" val="205794547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965200" y="1218476"/>
            <a:ext cx="3187318" cy="4421050"/>
          </a:xfrm>
          <a:effectLst/>
        </p:spPr>
        <p:txBody>
          <a:bodyPr vert="horz" lIns="91440" tIns="45720" rIns="91440" bIns="45720" rtlCol="0" anchor="ctr">
            <a:normAutofit/>
          </a:bodyPr>
          <a:lstStyle/>
          <a:p>
            <a:pPr algn="r"/>
            <a:r>
              <a:rPr lang="en-US" sz="3200">
                <a:solidFill>
                  <a:schemeClr val="tx1"/>
                </a:solidFill>
              </a:rPr>
              <a:t>Ethical application survey for AI use</a:t>
            </a:r>
          </a:p>
        </p:txBody>
      </p:sp>
      <p:cxnSp>
        <p:nvCxnSpPr>
          <p:cNvPr id="12" name="Straight Connector 11">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5146750" y="372979"/>
            <a:ext cx="6511843" cy="5991726"/>
          </a:xfrm>
          <a:effectLst/>
        </p:spPr>
        <p:txBody>
          <a:bodyPr vert="horz" lIns="91440" tIns="45720" rIns="91440" bIns="45720" rtlCol="0" anchor="ctr">
            <a:normAutofit/>
          </a:bodyPr>
          <a:lstStyle/>
          <a:p>
            <a:pPr marL="0" indent="0">
              <a:buNone/>
            </a:pPr>
            <a:r>
              <a:rPr lang="en-US" sz="2000" dirty="0"/>
              <a:t>The application of AI technology is rife with ethical dilemmas. When considering its application, one could consider:</a:t>
            </a:r>
          </a:p>
          <a:p>
            <a:pPr marL="857250" lvl="1" indent="-457200">
              <a:buFont typeface="+mj-lt"/>
              <a:buAutoNum type="arabicPeriod"/>
            </a:pPr>
            <a:r>
              <a:rPr lang="en-US" sz="2000" dirty="0"/>
              <a:t>What benefits result from the application of this technology? </a:t>
            </a:r>
          </a:p>
          <a:p>
            <a:pPr marL="857250" lvl="1" indent="-457200">
              <a:buFont typeface="+mj-lt"/>
              <a:buAutoNum type="arabicPeriod"/>
            </a:pPr>
            <a:r>
              <a:rPr lang="en-US" sz="2000" dirty="0"/>
              <a:t>What are the costs associated with the application of this technology?</a:t>
            </a:r>
          </a:p>
          <a:p>
            <a:pPr marL="857250" lvl="1" indent="-457200">
              <a:buFont typeface="+mj-lt"/>
              <a:buAutoNum type="arabicPeriod"/>
            </a:pPr>
            <a:r>
              <a:rPr lang="en-US" sz="2000" dirty="0"/>
              <a:t>Who or what gains advantage from the application of this technology? How?</a:t>
            </a:r>
          </a:p>
          <a:p>
            <a:pPr marL="857250" lvl="1" indent="-457200">
              <a:buFont typeface="+mj-lt"/>
              <a:buAutoNum type="arabicPeriod"/>
            </a:pPr>
            <a:r>
              <a:rPr lang="en-US" sz="2000" dirty="0"/>
              <a:t>Who or what is disadvantaged from the application of this technology? How?</a:t>
            </a:r>
          </a:p>
          <a:p>
            <a:pPr marL="857250" lvl="1" indent="-457200">
              <a:buFont typeface="+mj-lt"/>
              <a:buAutoNum type="arabicPeriod"/>
            </a:pPr>
            <a:r>
              <a:rPr lang="en-US" sz="2000" dirty="0"/>
              <a:t>Can the technology be applied in a way that minimizes the disadvantage? How?</a:t>
            </a:r>
          </a:p>
        </p:txBody>
      </p:sp>
    </p:spTree>
    <p:extLst>
      <p:ext uri="{BB962C8B-B14F-4D97-AF65-F5344CB8AC3E}">
        <p14:creationId xmlns:p14="http://schemas.microsoft.com/office/powerpoint/2010/main" val="183229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An Iowa school district is using AI to ban books</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State tax officials use AI to go after wealthy payers</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Ex-Amazon AI exec claims she was asked to ignore IP law</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Clearview AI used nearly one million times by US police</a:t>
            </a:r>
          </a:p>
        </p:txBody>
      </p:sp>
      <p:graphicFrame>
        <p:nvGraphicFramePr>
          <p:cNvPr id="6" name="Object 5">
            <a:hlinkClick r:id="" action="ppaction://ole?verb=0"/>
            <a:extLst>
              <a:ext uri="{FF2B5EF4-FFF2-40B4-BE49-F238E27FC236}">
                <a16:creationId xmlns:a16="http://schemas.microsoft.com/office/drawing/2014/main" id="{FFFDE20B-87EF-467C-E6BD-0D5F271426B6}"/>
              </a:ext>
            </a:extLst>
          </p:cNvPr>
          <p:cNvGraphicFramePr>
            <a:graphicFrameLocks noChangeAspect="1"/>
          </p:cNvGraphicFramePr>
          <p:nvPr>
            <p:extLst>
              <p:ext uri="{D42A27DB-BD31-4B8C-83A1-F6EECF244321}">
                <p14:modId xmlns:p14="http://schemas.microsoft.com/office/powerpoint/2010/main" val="1545399006"/>
              </p:ext>
            </p:extLst>
          </p:nvPr>
        </p:nvGraphicFramePr>
        <p:xfrm>
          <a:off x="2178491" y="387435"/>
          <a:ext cx="1739017" cy="2250856"/>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78491" y="387435"/>
                        <a:ext cx="1739017" cy="2250856"/>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46FEC8F9-F499-E50C-8CE6-996B0F8651B5}"/>
              </a:ext>
            </a:extLst>
          </p:cNvPr>
          <p:cNvGraphicFramePr>
            <a:graphicFrameLocks noChangeAspect="1"/>
          </p:cNvGraphicFramePr>
          <p:nvPr>
            <p:extLst>
              <p:ext uri="{D42A27DB-BD31-4B8C-83A1-F6EECF244321}">
                <p14:modId xmlns:p14="http://schemas.microsoft.com/office/powerpoint/2010/main" val="3907664428"/>
              </p:ext>
            </p:extLst>
          </p:nvPr>
        </p:nvGraphicFramePr>
        <p:xfrm>
          <a:off x="8274494" y="387435"/>
          <a:ext cx="1739017" cy="2250855"/>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74494" y="387435"/>
                        <a:ext cx="1739017" cy="2250855"/>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8123EB42-1509-ADA1-AE31-350916C5AAE1}"/>
              </a:ext>
            </a:extLst>
          </p:cNvPr>
          <p:cNvGraphicFramePr>
            <a:graphicFrameLocks noChangeAspect="1"/>
          </p:cNvGraphicFramePr>
          <p:nvPr>
            <p:extLst>
              <p:ext uri="{D42A27DB-BD31-4B8C-83A1-F6EECF244321}">
                <p14:modId xmlns:p14="http://schemas.microsoft.com/office/powerpoint/2010/main" val="2100082864"/>
              </p:ext>
            </p:extLst>
          </p:nvPr>
        </p:nvGraphicFramePr>
        <p:xfrm>
          <a:off x="2178491" y="3840498"/>
          <a:ext cx="1739018" cy="2250856"/>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78491" y="3840498"/>
                        <a:ext cx="1739018" cy="2250856"/>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4388E84B-7F89-A393-5DEE-716DA7F5BCFA}"/>
              </a:ext>
            </a:extLst>
          </p:cNvPr>
          <p:cNvGraphicFramePr>
            <a:graphicFrameLocks noChangeAspect="1"/>
          </p:cNvGraphicFramePr>
          <p:nvPr>
            <p:extLst>
              <p:ext uri="{D42A27DB-BD31-4B8C-83A1-F6EECF244321}">
                <p14:modId xmlns:p14="http://schemas.microsoft.com/office/powerpoint/2010/main" val="920987423"/>
              </p:ext>
            </p:extLst>
          </p:nvPr>
        </p:nvGraphicFramePr>
        <p:xfrm>
          <a:off x="8274493" y="3840498"/>
          <a:ext cx="1739018" cy="2250856"/>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274493" y="3840498"/>
                        <a:ext cx="1739018" cy="2250856"/>
                      </a:xfrm>
                      <a:prstGeom prst="rect">
                        <a:avLst/>
                      </a:prstGeom>
                    </p:spPr>
                  </p:pic>
                </p:oleObj>
              </mc:Fallback>
            </mc:AlternateContent>
          </a:graphicData>
        </a:graphic>
      </p:graphicFrame>
    </p:spTree>
    <p:extLst>
      <p:ext uri="{BB962C8B-B14F-4D97-AF65-F5344CB8AC3E}">
        <p14:creationId xmlns:p14="http://schemas.microsoft.com/office/powerpoint/2010/main" val="3849731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Shoplifting crackdown to include 55m pounds for facial recognition tools in England and Wales</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Harvard scientists find AI can recognize race from X-rays</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U.S. warns of discrimination in using AI to screen job candidates</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Google testing AI tool that writes news articles</a:t>
            </a:r>
          </a:p>
        </p:txBody>
      </p:sp>
      <p:graphicFrame>
        <p:nvGraphicFramePr>
          <p:cNvPr id="6" name="Object 5">
            <a:hlinkClick r:id="" action="ppaction://ole?verb=0"/>
            <a:extLst>
              <a:ext uri="{FF2B5EF4-FFF2-40B4-BE49-F238E27FC236}">
                <a16:creationId xmlns:a16="http://schemas.microsoft.com/office/drawing/2014/main" id="{F7046E9A-31AD-EF17-5BBE-E97AAB0340BA}"/>
              </a:ext>
            </a:extLst>
          </p:cNvPr>
          <p:cNvGraphicFramePr>
            <a:graphicFrameLocks noChangeAspect="1"/>
          </p:cNvGraphicFramePr>
          <p:nvPr>
            <p:extLst>
              <p:ext uri="{D42A27DB-BD31-4B8C-83A1-F6EECF244321}">
                <p14:modId xmlns:p14="http://schemas.microsoft.com/office/powerpoint/2010/main" val="664936274"/>
              </p:ext>
            </p:extLst>
          </p:nvPr>
        </p:nvGraphicFramePr>
        <p:xfrm>
          <a:off x="2191502" y="459625"/>
          <a:ext cx="1712996" cy="2217176"/>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91502" y="459625"/>
                        <a:ext cx="1712996" cy="2217176"/>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04B569F5-A6D8-D5E2-40E8-A6827E7536F1}"/>
              </a:ext>
            </a:extLst>
          </p:cNvPr>
          <p:cNvGraphicFramePr>
            <a:graphicFrameLocks noChangeAspect="1"/>
          </p:cNvGraphicFramePr>
          <p:nvPr>
            <p:extLst>
              <p:ext uri="{D42A27DB-BD31-4B8C-83A1-F6EECF244321}">
                <p14:modId xmlns:p14="http://schemas.microsoft.com/office/powerpoint/2010/main" val="3812562689"/>
              </p:ext>
            </p:extLst>
          </p:nvPr>
        </p:nvGraphicFramePr>
        <p:xfrm>
          <a:off x="8287502" y="459625"/>
          <a:ext cx="1712996" cy="2217176"/>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87502" y="459625"/>
                        <a:ext cx="1712996" cy="2217176"/>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EDB3621F-5098-3FB8-0D7C-B2B5887E477A}"/>
              </a:ext>
            </a:extLst>
          </p:cNvPr>
          <p:cNvGraphicFramePr>
            <a:graphicFrameLocks noChangeAspect="1"/>
          </p:cNvGraphicFramePr>
          <p:nvPr>
            <p:extLst>
              <p:ext uri="{D42A27DB-BD31-4B8C-83A1-F6EECF244321}">
                <p14:modId xmlns:p14="http://schemas.microsoft.com/office/powerpoint/2010/main" val="2384602142"/>
              </p:ext>
            </p:extLst>
          </p:nvPr>
        </p:nvGraphicFramePr>
        <p:xfrm>
          <a:off x="2191502" y="3888625"/>
          <a:ext cx="1712996" cy="2217176"/>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91502" y="3888625"/>
                        <a:ext cx="1712996" cy="2217176"/>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C20AC509-EBB5-E5B9-5C89-0970E2C9E1D9}"/>
              </a:ext>
            </a:extLst>
          </p:cNvPr>
          <p:cNvGraphicFramePr>
            <a:graphicFrameLocks noChangeAspect="1"/>
          </p:cNvGraphicFramePr>
          <p:nvPr>
            <p:extLst>
              <p:ext uri="{D42A27DB-BD31-4B8C-83A1-F6EECF244321}">
                <p14:modId xmlns:p14="http://schemas.microsoft.com/office/powerpoint/2010/main" val="4168318673"/>
              </p:ext>
            </p:extLst>
          </p:nvPr>
        </p:nvGraphicFramePr>
        <p:xfrm>
          <a:off x="8287502" y="3888624"/>
          <a:ext cx="1712997" cy="2217177"/>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287502" y="3888624"/>
                        <a:ext cx="1712997" cy="2217177"/>
                      </a:xfrm>
                      <a:prstGeom prst="rect">
                        <a:avLst/>
                      </a:prstGeom>
                    </p:spPr>
                  </p:pic>
                </p:oleObj>
              </mc:Fallback>
            </mc:AlternateContent>
          </a:graphicData>
        </a:graphic>
      </p:graphicFrame>
    </p:spTree>
    <p:extLst>
      <p:ext uri="{BB962C8B-B14F-4D97-AF65-F5344CB8AC3E}">
        <p14:creationId xmlns:p14="http://schemas.microsoft.com/office/powerpoint/2010/main" val="2812721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Photo-sharing community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EyeEm</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will license users’ photos to train AI if they don’t delete them</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Adobe Firefly used thousands of Midjourney images in training its 'ethical AI' model</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Austria calls for rapid regulation as it hosts meeting on 'killer robots'</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Thermonator</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the Flame-Throwing Robot Dog</a:t>
            </a:r>
          </a:p>
        </p:txBody>
      </p:sp>
      <p:graphicFrame>
        <p:nvGraphicFramePr>
          <p:cNvPr id="6" name="Object 5">
            <a:hlinkClick r:id="" action="ppaction://ole?verb=0"/>
            <a:extLst>
              <a:ext uri="{FF2B5EF4-FFF2-40B4-BE49-F238E27FC236}">
                <a16:creationId xmlns:a16="http://schemas.microsoft.com/office/drawing/2014/main" id="{1F7B55CB-C92E-EBD2-AB75-BDCF49159636}"/>
              </a:ext>
            </a:extLst>
          </p:cNvPr>
          <p:cNvGraphicFramePr>
            <a:graphicFrameLocks noChangeAspect="1"/>
          </p:cNvGraphicFramePr>
          <p:nvPr>
            <p:extLst>
              <p:ext uri="{D42A27DB-BD31-4B8C-83A1-F6EECF244321}">
                <p14:modId xmlns:p14="http://schemas.microsoft.com/office/powerpoint/2010/main" val="1875352990"/>
              </p:ext>
            </p:extLst>
          </p:nvPr>
        </p:nvGraphicFramePr>
        <p:xfrm>
          <a:off x="2178491" y="435562"/>
          <a:ext cx="1739017" cy="2250855"/>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78491" y="435562"/>
                        <a:ext cx="1739017" cy="2250855"/>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A856C82E-24EF-70DE-B1CD-58845A3383D4}"/>
              </a:ext>
            </a:extLst>
          </p:cNvPr>
          <p:cNvGraphicFramePr>
            <a:graphicFrameLocks noChangeAspect="1"/>
          </p:cNvGraphicFramePr>
          <p:nvPr>
            <p:extLst>
              <p:ext uri="{D42A27DB-BD31-4B8C-83A1-F6EECF244321}">
                <p14:modId xmlns:p14="http://schemas.microsoft.com/office/powerpoint/2010/main" val="3130086701"/>
              </p:ext>
            </p:extLst>
          </p:nvPr>
        </p:nvGraphicFramePr>
        <p:xfrm>
          <a:off x="8274494" y="435561"/>
          <a:ext cx="1739018" cy="2250856"/>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74494" y="435561"/>
                        <a:ext cx="1739018" cy="2250856"/>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378F1BFE-1D01-15FD-57AA-9660F2BAFCAC}"/>
              </a:ext>
            </a:extLst>
          </p:cNvPr>
          <p:cNvGraphicFramePr>
            <a:graphicFrameLocks noChangeAspect="1"/>
          </p:cNvGraphicFramePr>
          <p:nvPr>
            <p:extLst>
              <p:ext uri="{D42A27DB-BD31-4B8C-83A1-F6EECF244321}">
                <p14:modId xmlns:p14="http://schemas.microsoft.com/office/powerpoint/2010/main" val="1416532044"/>
              </p:ext>
            </p:extLst>
          </p:nvPr>
        </p:nvGraphicFramePr>
        <p:xfrm>
          <a:off x="2178491" y="3864562"/>
          <a:ext cx="1739018" cy="2250856"/>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78491" y="3864562"/>
                        <a:ext cx="1739018" cy="2250856"/>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1FF34CD2-C52C-F04A-5A91-9B2F9F3CBE39}"/>
              </a:ext>
            </a:extLst>
          </p:cNvPr>
          <p:cNvGraphicFramePr>
            <a:graphicFrameLocks noChangeAspect="1"/>
          </p:cNvGraphicFramePr>
          <p:nvPr>
            <p:extLst>
              <p:ext uri="{D42A27DB-BD31-4B8C-83A1-F6EECF244321}">
                <p14:modId xmlns:p14="http://schemas.microsoft.com/office/powerpoint/2010/main" val="2629610661"/>
              </p:ext>
            </p:extLst>
          </p:nvPr>
        </p:nvGraphicFramePr>
        <p:xfrm>
          <a:off x="8274493" y="3864562"/>
          <a:ext cx="1739017" cy="2250855"/>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274493" y="3864562"/>
                        <a:ext cx="1739017" cy="2250855"/>
                      </a:xfrm>
                      <a:prstGeom prst="rect">
                        <a:avLst/>
                      </a:prstGeom>
                    </p:spPr>
                  </p:pic>
                </p:oleObj>
              </mc:Fallback>
            </mc:AlternateContent>
          </a:graphicData>
        </a:graphic>
      </p:graphicFrame>
    </p:spTree>
    <p:extLst>
      <p:ext uri="{BB962C8B-B14F-4D97-AF65-F5344CB8AC3E}">
        <p14:creationId xmlns:p14="http://schemas.microsoft.com/office/powerpoint/2010/main" val="1831329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US Air Force confirms first successful AI dogfight</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School principal was framed using AI-generated racist rant</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Netflix doc accused of using AI to manipulate true crime story</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Microsoft’s VASA-1 can deepfake a person with one photo and one audio track</a:t>
            </a:r>
          </a:p>
        </p:txBody>
      </p:sp>
      <p:graphicFrame>
        <p:nvGraphicFramePr>
          <p:cNvPr id="6" name="Object 5">
            <a:hlinkClick r:id="" action="ppaction://ole?verb=0"/>
            <a:extLst>
              <a:ext uri="{FF2B5EF4-FFF2-40B4-BE49-F238E27FC236}">
                <a16:creationId xmlns:a16="http://schemas.microsoft.com/office/drawing/2014/main" id="{1DEDF06B-AD00-5DEF-246C-662F0CA7DBA5}"/>
              </a:ext>
            </a:extLst>
          </p:cNvPr>
          <p:cNvGraphicFramePr>
            <a:graphicFrameLocks noChangeAspect="1"/>
          </p:cNvGraphicFramePr>
          <p:nvPr>
            <p:extLst>
              <p:ext uri="{D42A27DB-BD31-4B8C-83A1-F6EECF244321}">
                <p14:modId xmlns:p14="http://schemas.microsoft.com/office/powerpoint/2010/main" val="331772475"/>
              </p:ext>
            </p:extLst>
          </p:nvPr>
        </p:nvGraphicFramePr>
        <p:xfrm>
          <a:off x="2149391" y="363371"/>
          <a:ext cx="1797217" cy="2326185"/>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49391" y="363371"/>
                        <a:ext cx="1797217" cy="2326185"/>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A0D05E8D-5ABA-AEDE-FF20-704D5DEC0670}"/>
              </a:ext>
            </a:extLst>
          </p:cNvPr>
          <p:cNvGraphicFramePr>
            <a:graphicFrameLocks noChangeAspect="1"/>
          </p:cNvGraphicFramePr>
          <p:nvPr>
            <p:extLst>
              <p:ext uri="{D42A27DB-BD31-4B8C-83A1-F6EECF244321}">
                <p14:modId xmlns:p14="http://schemas.microsoft.com/office/powerpoint/2010/main" val="273939684"/>
              </p:ext>
            </p:extLst>
          </p:nvPr>
        </p:nvGraphicFramePr>
        <p:xfrm>
          <a:off x="8245391" y="363371"/>
          <a:ext cx="1797217" cy="2326185"/>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45391" y="363371"/>
                        <a:ext cx="1797217" cy="2326185"/>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38FBEE46-641B-D6D1-D773-96B3D8BF2EC9}"/>
              </a:ext>
            </a:extLst>
          </p:cNvPr>
          <p:cNvGraphicFramePr>
            <a:graphicFrameLocks noChangeAspect="1"/>
          </p:cNvGraphicFramePr>
          <p:nvPr>
            <p:extLst>
              <p:ext uri="{D42A27DB-BD31-4B8C-83A1-F6EECF244321}">
                <p14:modId xmlns:p14="http://schemas.microsoft.com/office/powerpoint/2010/main" val="1741958704"/>
              </p:ext>
            </p:extLst>
          </p:nvPr>
        </p:nvGraphicFramePr>
        <p:xfrm>
          <a:off x="2149391" y="3792371"/>
          <a:ext cx="1797217" cy="2326185"/>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49391" y="3792371"/>
                        <a:ext cx="1797217" cy="2326185"/>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FE3553ED-252D-A38E-772D-9D410CBEFCD6}"/>
              </a:ext>
            </a:extLst>
          </p:cNvPr>
          <p:cNvGraphicFramePr>
            <a:graphicFrameLocks noChangeAspect="1"/>
          </p:cNvGraphicFramePr>
          <p:nvPr>
            <p:extLst>
              <p:ext uri="{D42A27DB-BD31-4B8C-83A1-F6EECF244321}">
                <p14:modId xmlns:p14="http://schemas.microsoft.com/office/powerpoint/2010/main" val="3870305647"/>
              </p:ext>
            </p:extLst>
          </p:nvPr>
        </p:nvGraphicFramePr>
        <p:xfrm>
          <a:off x="8333373" y="3792370"/>
          <a:ext cx="1797217" cy="2326185"/>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333373" y="3792370"/>
                        <a:ext cx="1797217" cy="2326185"/>
                      </a:xfrm>
                      <a:prstGeom prst="rect">
                        <a:avLst/>
                      </a:prstGeom>
                    </p:spPr>
                  </p:pic>
                </p:oleObj>
              </mc:Fallback>
            </mc:AlternateContent>
          </a:graphicData>
        </a:graphic>
      </p:graphicFrame>
    </p:spTree>
    <p:extLst>
      <p:ext uri="{BB962C8B-B14F-4D97-AF65-F5344CB8AC3E}">
        <p14:creationId xmlns:p14="http://schemas.microsoft.com/office/powerpoint/2010/main" val="132830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Researchers create AI worms that can spread from one system to another</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California man creates AI chatbot to waste the time of telemarketers</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GPT-4 can exploit real vulnerabilities by reading advisories</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Anthropic researchers wear down AI ethics with repeated questions</a:t>
            </a:r>
          </a:p>
        </p:txBody>
      </p:sp>
      <p:graphicFrame>
        <p:nvGraphicFramePr>
          <p:cNvPr id="6" name="Object 5">
            <a:hlinkClick r:id="" action="ppaction://ole?verb=0"/>
            <a:extLst>
              <a:ext uri="{FF2B5EF4-FFF2-40B4-BE49-F238E27FC236}">
                <a16:creationId xmlns:a16="http://schemas.microsoft.com/office/drawing/2014/main" id="{1000E802-C0BA-FEC5-E059-64E744633D8D}"/>
              </a:ext>
            </a:extLst>
          </p:cNvPr>
          <p:cNvGraphicFramePr>
            <a:graphicFrameLocks noChangeAspect="1"/>
          </p:cNvGraphicFramePr>
          <p:nvPr>
            <p:extLst>
              <p:ext uri="{D42A27DB-BD31-4B8C-83A1-F6EECF244321}">
                <p14:modId xmlns:p14="http://schemas.microsoft.com/office/powerpoint/2010/main" val="3703717049"/>
              </p:ext>
            </p:extLst>
          </p:nvPr>
        </p:nvGraphicFramePr>
        <p:xfrm>
          <a:off x="2137964" y="327277"/>
          <a:ext cx="1820071" cy="2355766"/>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37964" y="327277"/>
                        <a:ext cx="1820071" cy="2355766"/>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3AA03C7B-D146-F0FE-E5F2-F7B04B13568F}"/>
              </a:ext>
            </a:extLst>
          </p:cNvPr>
          <p:cNvGraphicFramePr>
            <a:graphicFrameLocks noChangeAspect="1"/>
          </p:cNvGraphicFramePr>
          <p:nvPr>
            <p:extLst>
              <p:ext uri="{D42A27DB-BD31-4B8C-83A1-F6EECF244321}">
                <p14:modId xmlns:p14="http://schemas.microsoft.com/office/powerpoint/2010/main" val="3656070329"/>
              </p:ext>
            </p:extLst>
          </p:nvPr>
        </p:nvGraphicFramePr>
        <p:xfrm>
          <a:off x="8233967" y="327277"/>
          <a:ext cx="1820071" cy="2355766"/>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33967" y="327277"/>
                        <a:ext cx="1820071" cy="2355766"/>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7FDD23C5-7D30-984B-BF3D-051C19A32E80}"/>
              </a:ext>
            </a:extLst>
          </p:cNvPr>
          <p:cNvGraphicFramePr>
            <a:graphicFrameLocks noChangeAspect="1"/>
          </p:cNvGraphicFramePr>
          <p:nvPr>
            <p:extLst>
              <p:ext uri="{D42A27DB-BD31-4B8C-83A1-F6EECF244321}">
                <p14:modId xmlns:p14="http://schemas.microsoft.com/office/powerpoint/2010/main" val="320976846"/>
              </p:ext>
            </p:extLst>
          </p:nvPr>
        </p:nvGraphicFramePr>
        <p:xfrm>
          <a:off x="2137964" y="3768309"/>
          <a:ext cx="1820071" cy="2355766"/>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37964" y="3768309"/>
                        <a:ext cx="1820071" cy="2355766"/>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5BEEA747-29D5-D055-C98A-7F57DF9A1921}"/>
              </a:ext>
            </a:extLst>
          </p:cNvPr>
          <p:cNvGraphicFramePr>
            <a:graphicFrameLocks noChangeAspect="1"/>
          </p:cNvGraphicFramePr>
          <p:nvPr>
            <p:extLst>
              <p:ext uri="{D42A27DB-BD31-4B8C-83A1-F6EECF244321}">
                <p14:modId xmlns:p14="http://schemas.microsoft.com/office/powerpoint/2010/main" val="3718794627"/>
              </p:ext>
            </p:extLst>
          </p:nvPr>
        </p:nvGraphicFramePr>
        <p:xfrm>
          <a:off x="8233964" y="3768309"/>
          <a:ext cx="1820071" cy="2355766"/>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233964" y="3768309"/>
                        <a:ext cx="1820071" cy="2355766"/>
                      </a:xfrm>
                      <a:prstGeom prst="rect">
                        <a:avLst/>
                      </a:prstGeom>
                    </p:spPr>
                  </p:pic>
                </p:oleObj>
              </mc:Fallback>
            </mc:AlternateContent>
          </a:graphicData>
        </a:graphic>
      </p:graphicFrame>
    </p:spTree>
    <p:extLst>
      <p:ext uri="{BB962C8B-B14F-4D97-AF65-F5344CB8AC3E}">
        <p14:creationId xmlns:p14="http://schemas.microsoft.com/office/powerpoint/2010/main" val="36344904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1343</TotalTime>
  <Words>765</Words>
  <Application>Microsoft Office PowerPoint</Application>
  <PresentationFormat>Widescreen</PresentationFormat>
  <Paragraphs>51</Paragraphs>
  <Slides>10</Slides>
  <Notes>4</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5" baseType="lpstr">
      <vt:lpstr>Aptos</vt:lpstr>
      <vt:lpstr>Century Gothic</vt:lpstr>
      <vt:lpstr>Wingdings 2</vt:lpstr>
      <vt:lpstr>Quotable</vt:lpstr>
      <vt:lpstr>Acrobat Document</vt:lpstr>
      <vt:lpstr>AI Fundamentals  </vt:lpstr>
      <vt:lpstr>Compromised ethics</vt:lpstr>
      <vt:lpstr>Compromised ethics, cont’d</vt:lpstr>
      <vt:lpstr>Compromised ethics, cont’d</vt:lpstr>
      <vt:lpstr>Ethical application survey for AI use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dc:title>
  <dc:creator>Johnson, Victor G</dc:creator>
  <cp:lastModifiedBy>Johnson, Victor G</cp:lastModifiedBy>
  <cp:revision>58</cp:revision>
  <dcterms:created xsi:type="dcterms:W3CDTF">2024-05-24T14:22:22Z</dcterms:created>
  <dcterms:modified xsi:type="dcterms:W3CDTF">2024-06-01T16:14:53Z</dcterms:modified>
</cp:coreProperties>
</file>