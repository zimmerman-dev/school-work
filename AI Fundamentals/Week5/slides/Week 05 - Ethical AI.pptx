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8" r:id="rId3"/>
    <p:sldId id="267" r:id="rId4"/>
    <p:sldId id="275" r:id="rId5"/>
    <p:sldId id="268" r:id="rId6"/>
    <p:sldId id="276" r:id="rId7"/>
    <p:sldId id="278" r:id="rId8"/>
    <p:sldId id="27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3D77"/>
    <a:srgbClr val="120D19"/>
    <a:srgbClr val="39284E"/>
    <a:srgbClr val="9275B9"/>
    <a:srgbClr val="5A478F"/>
    <a:srgbClr val="E1595C"/>
    <a:srgbClr val="22B0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1" autoAdjust="0"/>
    <p:restoredTop sz="78961" autoAdjust="0"/>
  </p:normalViewPr>
  <p:slideViewPr>
    <p:cSldViewPr snapToGrid="0">
      <p:cViewPr varScale="1">
        <p:scale>
          <a:sx n="61" d="100"/>
          <a:sy n="61" d="100"/>
        </p:scale>
        <p:origin x="1364" y="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711570-E675-4B70-89F9-ABE38C2DE57C}" type="datetimeFigureOut">
              <a:rPr lang="en-US" smtClean="0"/>
              <a:t>6/1/2024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963B08-52C8-4357-B046-887EE840B405}" type="slidenum">
              <a:rPr lang="en-US" smtClean="0"/>
              <a:t>‹#›</a:t>
            </a:fld>
            <a:endParaRPr lang="en-US"/>
          </a:p>
        </p:txBody>
      </p:sp>
    </p:spTree>
    <p:extLst>
      <p:ext uri="{BB962C8B-B14F-4D97-AF65-F5344CB8AC3E}">
        <p14:creationId xmlns:p14="http://schemas.microsoft.com/office/powerpoint/2010/main" val="2495098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application of any new technology is often fraught with uncertainty. Novel use cases redefine previously set boundaries and may even question pre-defined ethics. Artificial intelligence is no exception. In fact, the ethical application of AI is of increasing concern currently.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Lets’s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start with definitions:</a:t>
            </a:r>
          </a:p>
          <a:p>
            <a:pPr marL="342900" marR="0" lvl="0" indent="-342900">
              <a:lnSpc>
                <a:spcPct val="107000"/>
              </a:lnSpc>
              <a:spcBef>
                <a:spcPts val="0"/>
              </a:spcBef>
              <a:spcAft>
                <a:spcPts val="800"/>
              </a:spcAft>
              <a:buFont typeface="Symbol" panose="05050102010706020507" pitchFamily="18" charset="2"/>
              <a:buChar char=""/>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Morality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is a set of personal beliefs that distinguish between what is right and what is wrong</a:t>
            </a:r>
          </a:p>
          <a:p>
            <a:r>
              <a:rPr lang="en-US" sz="1800" b="1" dirty="0">
                <a:effectLst/>
                <a:latin typeface="Aptos" panose="020B0004020202020204" pitchFamily="34" charset="0"/>
                <a:ea typeface="Aptos" panose="020B0004020202020204" pitchFamily="34" charset="0"/>
                <a:cs typeface="Times New Roman" panose="02020603050405020304" pitchFamily="18" charset="0"/>
              </a:rPr>
              <a:t>Ethics</a:t>
            </a:r>
            <a:r>
              <a:rPr lang="en-US" sz="1800" dirty="0">
                <a:effectLst/>
                <a:latin typeface="Aptos" panose="020B0004020202020204" pitchFamily="34" charset="0"/>
                <a:ea typeface="Aptos" panose="020B0004020202020204" pitchFamily="34" charset="0"/>
                <a:cs typeface="Times New Roman" panose="02020603050405020304" pitchFamily="18" charset="0"/>
              </a:rPr>
              <a:t> is a set of moral principles which can be used for distinguishing responsible actions and activities</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2</a:t>
            </a:fld>
            <a:endParaRPr lang="en-US"/>
          </a:p>
        </p:txBody>
      </p:sp>
    </p:spTree>
    <p:extLst>
      <p:ext uri="{BB962C8B-B14F-4D97-AF65-F5344CB8AC3E}">
        <p14:creationId xmlns:p14="http://schemas.microsoft.com/office/powerpoint/2010/main" val="4076452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While similar, the concepts are slightly different. Morality can be thought of as defining “good and bad” on a personal level, while ethics establishes the ruleset for how the morals are understood in a larger context or community. For instance, one might have a belief that telling a falsehood is morally wrong. Yet, the ethical guidelines as a property sales associate might blur the boundaries of what is considered true vs false when trying to close a sale.</a:t>
            </a:r>
          </a:p>
          <a:p>
            <a:endParaRPr lang="en-US" sz="1800" dirty="0">
              <a:effectLst/>
              <a:latin typeface="Aptos" panose="020B0004020202020204" pitchFamily="34" charset="0"/>
              <a:cs typeface="Times New Roman" panose="02020603050405020304" pitchFamily="18" charset="0"/>
            </a:endParaRPr>
          </a:p>
          <a:p>
            <a:r>
              <a:rPr lang="en-US" sz="1800" dirty="0">
                <a:effectLst/>
                <a:latin typeface="Aptos" panose="020B0004020202020204" pitchFamily="34" charset="0"/>
                <a:cs typeface="Times New Roman" panose="02020603050405020304" pitchFamily="18" charset="0"/>
              </a:rPr>
              <a:t>Copilot Designer, 06012024; “</a:t>
            </a:r>
            <a:r>
              <a:rPr lang="en-US" b="0" i="0" dirty="0">
                <a:solidFill>
                  <a:srgbClr val="111111"/>
                </a:solidFill>
                <a:effectLst/>
                <a:highlight>
                  <a:srgbClr val="F7F7F7"/>
                </a:highlight>
                <a:latin typeface="-apple-system"/>
              </a:rPr>
              <a:t>image of a priest in a black robe arm wrestling with a judge in a black robe in front of a courthouse and a church</a:t>
            </a:r>
            <a:r>
              <a:rPr lang="en-US" sz="1800" b="0" i="0" dirty="0">
                <a:solidFill>
                  <a:srgbClr val="111111"/>
                </a:solidFill>
                <a:effectLst/>
                <a:highlight>
                  <a:srgbClr val="F7F7F7"/>
                </a:highlight>
                <a:latin typeface="Aptos" panose="020B0004020202020204" pitchFamily="34" charset="0"/>
                <a:cs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3</a:t>
            </a:fld>
            <a:endParaRPr lang="en-US"/>
          </a:p>
        </p:txBody>
      </p:sp>
    </p:spTree>
    <p:extLst>
      <p:ext uri="{BB962C8B-B14F-4D97-AF65-F5344CB8AC3E}">
        <p14:creationId xmlns:p14="http://schemas.microsoft.com/office/powerpoint/2010/main" val="1802245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4</a:t>
            </a:fld>
            <a:endParaRPr lang="en-US"/>
          </a:p>
        </p:txBody>
      </p:sp>
    </p:spTree>
    <p:extLst>
      <p:ext uri="{BB962C8B-B14F-4D97-AF65-F5344CB8AC3E}">
        <p14:creationId xmlns:p14="http://schemas.microsoft.com/office/powerpoint/2010/main" val="1309374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There are methods to circumvent the broad protections that are used to secure data for use. Data can be sanitized to remove user-specific information. This would detach the data from any particular person or organization. Another approach would have data be transcribed from its original form. This would entail reading in, summarizing, and generally changing the form of the data to fit the development of the AI systems at hand. The resulting transcribed data would no longer be the same as its original</a:t>
            </a:r>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5</a:t>
            </a:fld>
            <a:endParaRPr lang="en-US"/>
          </a:p>
        </p:txBody>
      </p:sp>
    </p:spTree>
    <p:extLst>
      <p:ext uri="{BB962C8B-B14F-4D97-AF65-F5344CB8AC3E}">
        <p14:creationId xmlns:p14="http://schemas.microsoft.com/office/powerpoint/2010/main" val="3553294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963B08-52C8-4357-B046-887EE840B405}" type="slidenum">
              <a:rPr lang="en-US" smtClean="0"/>
              <a:t>6</a:t>
            </a:fld>
            <a:endParaRPr lang="en-US"/>
          </a:p>
        </p:txBody>
      </p:sp>
    </p:spTree>
    <p:extLst>
      <p:ext uri="{BB962C8B-B14F-4D97-AF65-F5344CB8AC3E}">
        <p14:creationId xmlns:p14="http://schemas.microsoft.com/office/powerpoint/2010/main" val="2012849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6/1/2024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6/1/2024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6/1/2024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6/1/2024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6/1/2024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6/1/2024</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6/1/2024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6/1/2024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6/1/2024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6/1/2024</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emf"/><Relationship Id="rId9"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8.emf"/><Relationship Id="rId7" Type="http://schemas.openxmlformats.org/officeDocument/2006/relationships/image" Target="../media/image10.emf"/><Relationship Id="rId2" Type="http://schemas.openxmlformats.org/officeDocument/2006/relationships/oleObject" Target="../embeddings/oleObject5.bin"/><Relationship Id="rId1" Type="http://schemas.openxmlformats.org/officeDocument/2006/relationships/slideLayout" Target="../slideLayouts/slideLayout7.xml"/><Relationship Id="rId6" Type="http://schemas.openxmlformats.org/officeDocument/2006/relationships/oleObject" Target="../embeddings/oleObject7.bin"/><Relationship Id="rId5" Type="http://schemas.openxmlformats.org/officeDocument/2006/relationships/image" Target="../media/image9.emf"/><Relationship Id="rId4" Type="http://schemas.openxmlformats.org/officeDocument/2006/relationships/oleObject" Target="../embeddings/oleObject6.bin"/><Relationship Id="rId9" Type="http://schemas.openxmlformats.org/officeDocument/2006/relationships/image" Target="../media/image11.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2.emf"/><Relationship Id="rId7" Type="http://schemas.openxmlformats.org/officeDocument/2006/relationships/image" Target="../media/image14.emf"/><Relationship Id="rId2"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oleObject" Target="../embeddings/oleObject11.bin"/><Relationship Id="rId5" Type="http://schemas.openxmlformats.org/officeDocument/2006/relationships/image" Target="../media/image13.emf"/><Relationship Id="rId4" Type="http://schemas.openxmlformats.org/officeDocument/2006/relationships/oleObject" Target="../embeddings/oleObject10.bin"/><Relationship Id="rId9" Type="http://schemas.openxmlformats.org/officeDocument/2006/relationships/image" Target="../media/image1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276AD-F23B-1243-1F17-1DE59E1B8BC6}"/>
              </a:ext>
            </a:extLst>
          </p:cNvPr>
          <p:cNvSpPr>
            <a:spLocks noGrp="1"/>
          </p:cNvSpPr>
          <p:nvPr>
            <p:ph type="ctrTitle"/>
          </p:nvPr>
        </p:nvSpPr>
        <p:spPr/>
        <p:txBody>
          <a:bodyPr/>
          <a:lstStyle/>
          <a:p>
            <a:r>
              <a:rPr lang="en-US" dirty="0"/>
              <a:t>AI Fundamentals 	</a:t>
            </a:r>
          </a:p>
        </p:txBody>
      </p:sp>
      <p:sp>
        <p:nvSpPr>
          <p:cNvPr id="3" name="Subtitle 2">
            <a:extLst>
              <a:ext uri="{FF2B5EF4-FFF2-40B4-BE49-F238E27FC236}">
                <a16:creationId xmlns:a16="http://schemas.microsoft.com/office/drawing/2014/main" id="{ECEB3CB5-DFBF-DFD8-8D0A-8B56AC87F984}"/>
              </a:ext>
            </a:extLst>
          </p:cNvPr>
          <p:cNvSpPr>
            <a:spLocks noGrp="1"/>
          </p:cNvSpPr>
          <p:nvPr>
            <p:ph type="subTitle" idx="1"/>
          </p:nvPr>
        </p:nvSpPr>
        <p:spPr>
          <a:xfrm>
            <a:off x="810001" y="5280846"/>
            <a:ext cx="10572000" cy="1220437"/>
          </a:xfrm>
        </p:spPr>
        <p:txBody>
          <a:bodyPr>
            <a:normAutofit/>
          </a:bodyPr>
          <a:lstStyle/>
          <a:p>
            <a:r>
              <a:rPr lang="en-US" dirty="0"/>
              <a:t>Madison College</a:t>
            </a:r>
          </a:p>
          <a:p>
            <a:r>
              <a:rPr lang="en-US" dirty="0"/>
              <a:t>Week 05</a:t>
            </a:r>
          </a:p>
          <a:p>
            <a:r>
              <a:rPr lang="en-US" dirty="0">
                <a:solidFill>
                  <a:srgbClr val="FFFF00"/>
                </a:solidFill>
              </a:rPr>
              <a:t>Ethical AI</a:t>
            </a:r>
          </a:p>
        </p:txBody>
      </p:sp>
    </p:spTree>
    <p:extLst>
      <p:ext uri="{BB962C8B-B14F-4D97-AF65-F5344CB8AC3E}">
        <p14:creationId xmlns:p14="http://schemas.microsoft.com/office/powerpoint/2010/main" val="1071873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35C44DBB-AD7C-4682-B258-6367305D2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965200" y="1218476"/>
            <a:ext cx="3187318" cy="4421050"/>
          </a:xfrm>
          <a:effectLst/>
        </p:spPr>
        <p:txBody>
          <a:bodyPr vert="horz" lIns="91440" tIns="45720" rIns="91440" bIns="45720" rtlCol="0" anchor="ctr">
            <a:normAutofit/>
          </a:bodyPr>
          <a:lstStyle/>
          <a:p>
            <a:pPr algn="r"/>
            <a:r>
              <a:rPr lang="en-US" sz="3200">
                <a:solidFill>
                  <a:schemeClr val="tx1"/>
                </a:solidFill>
              </a:rPr>
              <a:t>Definitions</a:t>
            </a:r>
          </a:p>
        </p:txBody>
      </p:sp>
      <p:cxnSp>
        <p:nvCxnSpPr>
          <p:cNvPr id="12" name="Straight Connector 11">
            <a:extLst>
              <a:ext uri="{FF2B5EF4-FFF2-40B4-BE49-F238E27FC236}">
                <a16:creationId xmlns:a16="http://schemas.microsoft.com/office/drawing/2014/main" id="{A1CED323-FAF0-4E0B-8717-FC1F468A28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9634" y="1696777"/>
            <a:ext cx="0" cy="3464447"/>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5146751" y="589547"/>
            <a:ext cx="6080050" cy="5594685"/>
          </a:xfrm>
          <a:effectLst/>
        </p:spPr>
        <p:txBody>
          <a:bodyPr vert="horz" lIns="91440" tIns="45720" rIns="91440" bIns="45720" rtlCol="0" anchor="ctr">
            <a:normAutofit/>
          </a:bodyPr>
          <a:lstStyle/>
          <a:p>
            <a:pPr marL="0" indent="0">
              <a:buNone/>
            </a:pPr>
            <a:r>
              <a:rPr lang="en-US" sz="2000" dirty="0"/>
              <a:t>The application of any new technology is often fraught with uncertainty. Novel use cases redefine previously set boundaries and may even question pre-defined ethics</a:t>
            </a:r>
          </a:p>
          <a:p>
            <a:pPr marL="0" indent="0">
              <a:buNone/>
            </a:pPr>
            <a:endParaRPr lang="en-US" sz="2000" dirty="0"/>
          </a:p>
          <a:p>
            <a:pPr lvl="1"/>
            <a:r>
              <a:rPr lang="en-US" sz="2000" b="1" dirty="0"/>
              <a:t>Morality</a:t>
            </a:r>
            <a:r>
              <a:rPr lang="en-US" sz="2000" dirty="0"/>
              <a:t> is a set of personal beliefs that distinguish between what is right and what is wrong</a:t>
            </a:r>
          </a:p>
          <a:p>
            <a:pPr lvl="1"/>
            <a:r>
              <a:rPr lang="en-US" sz="2000" b="1" dirty="0"/>
              <a:t>Ethics</a:t>
            </a:r>
            <a:r>
              <a:rPr lang="en-US" sz="2000" dirty="0"/>
              <a:t> is a set of moral principles which can be used for distinguishing responsible actions and activities</a:t>
            </a:r>
          </a:p>
        </p:txBody>
      </p:sp>
    </p:spTree>
    <p:extLst>
      <p:ext uri="{BB962C8B-B14F-4D97-AF65-F5344CB8AC3E}">
        <p14:creationId xmlns:p14="http://schemas.microsoft.com/office/powerpoint/2010/main" val="2192750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p:txBody>
          <a:bodyPr/>
          <a:lstStyle/>
          <a:p>
            <a:r>
              <a:rPr lang="en-US" dirty="0"/>
              <a:t>Definitions, cont’d</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6004585" y="1900988"/>
            <a:ext cx="6004585" cy="4788569"/>
          </a:xfrm>
        </p:spPr>
        <p:txBody>
          <a:bodyPr>
            <a:normAutofit fontScale="92500" lnSpcReduction="10000"/>
          </a:bodyPr>
          <a:lstStyle/>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Though often used interchangeably, the concepts are slightly different</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Morality can be thought of as defining “good and bad” on a personal level</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Ethics establishes the ruleset for how the morals are understood in a larger context or community</a:t>
            </a:r>
          </a:p>
          <a:p>
            <a:r>
              <a:rPr lang="en-US" sz="2400" dirty="0">
                <a:solidFill>
                  <a:schemeClr val="bg1"/>
                </a:solidFill>
                <a:latin typeface="Aptos" panose="020B0004020202020204" pitchFamily="34" charset="0"/>
                <a:ea typeface="Aptos" panose="020B0004020202020204" pitchFamily="34" charset="0"/>
                <a:cs typeface="Times New Roman" panose="02020603050405020304" pitchFamily="18" charset="0"/>
              </a:rPr>
              <a:t>For instance, one might have a belief that telling a falsehood is morally wrong. Yet, the ethical guidelines as a property sales associate might blur the boundaries of what is considered true vs false when trying to close a sale</a:t>
            </a:r>
          </a:p>
        </p:txBody>
      </p:sp>
      <p:pic>
        <p:nvPicPr>
          <p:cNvPr id="4" name="Picture 3">
            <a:extLst>
              <a:ext uri="{FF2B5EF4-FFF2-40B4-BE49-F238E27FC236}">
                <a16:creationId xmlns:a16="http://schemas.microsoft.com/office/drawing/2014/main" id="{77D1A501-74FF-6B0C-DDAB-D92D5A4A00BF}"/>
              </a:ext>
            </a:extLst>
          </p:cNvPr>
          <p:cNvPicPr>
            <a:picLocks noChangeAspect="1"/>
          </p:cNvPicPr>
          <p:nvPr/>
        </p:nvPicPr>
        <p:blipFill>
          <a:blip r:embed="rId3"/>
          <a:stretch>
            <a:fillRect/>
          </a:stretch>
        </p:blipFill>
        <p:spPr>
          <a:xfrm>
            <a:off x="0" y="1900988"/>
            <a:ext cx="4957011" cy="4957011"/>
          </a:xfrm>
          <a:prstGeom prst="rect">
            <a:avLst/>
          </a:prstGeom>
        </p:spPr>
      </p:pic>
    </p:spTree>
    <p:extLst>
      <p:ext uri="{BB962C8B-B14F-4D97-AF65-F5344CB8AC3E}">
        <p14:creationId xmlns:p14="http://schemas.microsoft.com/office/powerpoint/2010/main" val="4029108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35C44DBB-AD7C-4682-B258-6367305D2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965200" y="1218476"/>
            <a:ext cx="3187318" cy="4421050"/>
          </a:xfrm>
          <a:effectLst/>
        </p:spPr>
        <p:txBody>
          <a:bodyPr vert="horz" lIns="91440" tIns="45720" rIns="91440" bIns="45720" rtlCol="0" anchor="ctr">
            <a:normAutofit/>
          </a:bodyPr>
          <a:lstStyle/>
          <a:p>
            <a:pPr algn="r"/>
            <a:r>
              <a:rPr lang="en-US" sz="3200">
                <a:solidFill>
                  <a:schemeClr val="tx1"/>
                </a:solidFill>
              </a:rPr>
              <a:t>Ethical application survey for AI use</a:t>
            </a:r>
          </a:p>
        </p:txBody>
      </p:sp>
      <p:cxnSp>
        <p:nvCxnSpPr>
          <p:cNvPr id="12" name="Straight Connector 11">
            <a:extLst>
              <a:ext uri="{FF2B5EF4-FFF2-40B4-BE49-F238E27FC236}">
                <a16:creationId xmlns:a16="http://schemas.microsoft.com/office/drawing/2014/main" id="{A1CED323-FAF0-4E0B-8717-FC1F468A28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9634" y="1696777"/>
            <a:ext cx="0" cy="3464447"/>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5146750" y="372979"/>
            <a:ext cx="6511843" cy="5991726"/>
          </a:xfrm>
          <a:effectLst/>
        </p:spPr>
        <p:txBody>
          <a:bodyPr vert="horz" lIns="91440" tIns="45720" rIns="91440" bIns="45720" rtlCol="0" anchor="ctr">
            <a:normAutofit/>
          </a:bodyPr>
          <a:lstStyle/>
          <a:p>
            <a:pPr marL="0" indent="0">
              <a:buNone/>
            </a:pPr>
            <a:r>
              <a:rPr lang="en-US" sz="2000" dirty="0"/>
              <a:t>The application of AI technology is rife with ethical dilemmas. When considering its application, one could consider:</a:t>
            </a:r>
          </a:p>
          <a:p>
            <a:pPr marL="857250" lvl="1" indent="-457200">
              <a:buFont typeface="+mj-lt"/>
              <a:buAutoNum type="arabicPeriod"/>
            </a:pPr>
            <a:r>
              <a:rPr lang="en-US" sz="2000" dirty="0"/>
              <a:t>What benefits result from the application of this technology? </a:t>
            </a:r>
          </a:p>
          <a:p>
            <a:pPr marL="857250" lvl="1" indent="-457200">
              <a:buFont typeface="+mj-lt"/>
              <a:buAutoNum type="arabicPeriod"/>
            </a:pPr>
            <a:r>
              <a:rPr lang="en-US" sz="2000" dirty="0"/>
              <a:t>What are the costs associated with the application of this technology?</a:t>
            </a:r>
          </a:p>
          <a:p>
            <a:pPr marL="857250" lvl="1" indent="-457200">
              <a:buFont typeface="+mj-lt"/>
              <a:buAutoNum type="arabicPeriod"/>
            </a:pPr>
            <a:r>
              <a:rPr lang="en-US" sz="2000" dirty="0"/>
              <a:t>Who or what gains advantage from the application of this technology? How?</a:t>
            </a:r>
          </a:p>
          <a:p>
            <a:pPr marL="857250" lvl="1" indent="-457200">
              <a:buFont typeface="+mj-lt"/>
              <a:buAutoNum type="arabicPeriod"/>
            </a:pPr>
            <a:r>
              <a:rPr lang="en-US" sz="2000" dirty="0"/>
              <a:t>Who or what is disadvantaged from the application of this technology? How?</a:t>
            </a:r>
          </a:p>
          <a:p>
            <a:pPr marL="857250" lvl="1" indent="-457200">
              <a:buFont typeface="+mj-lt"/>
              <a:buAutoNum type="arabicPeriod"/>
            </a:pPr>
            <a:r>
              <a:rPr lang="en-US" sz="2000" dirty="0"/>
              <a:t>Can the technology be applied in a way that minimizes the disadvantage? How?</a:t>
            </a:r>
          </a:p>
        </p:txBody>
      </p:sp>
    </p:spTree>
    <p:extLst>
      <p:ext uri="{BB962C8B-B14F-4D97-AF65-F5344CB8AC3E}">
        <p14:creationId xmlns:p14="http://schemas.microsoft.com/office/powerpoint/2010/main" val="183229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CE09E21C-A325-4A05-ABC0-CAF1D7B52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B01CC913-E3CB-2606-F3CA-B0FFE2ACCAD6}"/>
              </a:ext>
            </a:extLst>
          </p:cNvPr>
          <p:cNvPicPr>
            <a:picLocks noChangeAspect="1"/>
          </p:cNvPicPr>
          <p:nvPr/>
        </p:nvPicPr>
        <p:blipFill rotWithShape="1">
          <a:blip r:embed="rId3">
            <a:duotone>
              <a:schemeClr val="accent1">
                <a:shade val="45000"/>
                <a:satMod val="135000"/>
              </a:schemeClr>
              <a:prstClr val="white"/>
            </a:duotone>
          </a:blip>
          <a:srcRect l="22044" r="18193" b="-2"/>
          <a:stretch/>
        </p:blipFill>
        <p:spPr>
          <a:xfrm>
            <a:off x="6108700" y="-1"/>
            <a:ext cx="6094450" cy="6858001"/>
          </a:xfrm>
          <a:prstGeom prst="rect">
            <a:avLst/>
          </a:prstGeom>
        </p:spPr>
      </p:pic>
      <p:sp>
        <p:nvSpPr>
          <p:cNvPr id="11" name="Freeform 16">
            <a:extLst>
              <a:ext uri="{FF2B5EF4-FFF2-40B4-BE49-F238E27FC236}">
                <a16:creationId xmlns:a16="http://schemas.microsoft.com/office/drawing/2014/main" id="{3EEED574-6FCC-45F8-ABA8-05782705A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B872C-4465-3C44-1FA8-4195F885BD99}"/>
              </a:ext>
            </a:extLst>
          </p:cNvPr>
          <p:cNvSpPr>
            <a:spLocks noGrp="1"/>
          </p:cNvSpPr>
          <p:nvPr>
            <p:ph type="title"/>
          </p:nvPr>
        </p:nvSpPr>
        <p:spPr>
          <a:xfrm>
            <a:off x="810000" y="447188"/>
            <a:ext cx="5070100" cy="1559412"/>
          </a:xfrm>
        </p:spPr>
        <p:txBody>
          <a:bodyPr vert="horz" lIns="91440" tIns="45720" rIns="91440" bIns="45720" rtlCol="0" anchor="b">
            <a:normAutofit/>
          </a:bodyPr>
          <a:lstStyle/>
          <a:p>
            <a:r>
              <a:rPr lang="en-US" dirty="0"/>
              <a:t>Ethical application of AI</a:t>
            </a:r>
          </a:p>
        </p:txBody>
      </p:sp>
      <p:sp>
        <p:nvSpPr>
          <p:cNvPr id="3" name="Content Placeholder 2">
            <a:extLst>
              <a:ext uri="{FF2B5EF4-FFF2-40B4-BE49-F238E27FC236}">
                <a16:creationId xmlns:a16="http://schemas.microsoft.com/office/drawing/2014/main" id="{D9B6264D-9135-1B75-A6C4-8D4411D3012E}"/>
              </a:ext>
            </a:extLst>
          </p:cNvPr>
          <p:cNvSpPr>
            <a:spLocks noGrp="1"/>
          </p:cNvSpPr>
          <p:nvPr>
            <p:ph sz="half" idx="1"/>
          </p:nvPr>
        </p:nvSpPr>
        <p:spPr>
          <a:xfrm>
            <a:off x="818712" y="2413000"/>
            <a:ext cx="5055923" cy="3632200"/>
          </a:xfrm>
        </p:spPr>
        <p:txBody>
          <a:bodyPr vert="horz" lIns="91440" tIns="45720" rIns="91440" bIns="45720" rtlCol="0" anchor="ctr">
            <a:normAutofit/>
          </a:bodyPr>
          <a:lstStyle/>
          <a:p>
            <a:r>
              <a:rPr lang="en-US"/>
              <a:t>Given the general applicability for the use of AI across roles and industries, a variety of scenarios can arise which highlight potential ethical concerns</a:t>
            </a:r>
          </a:p>
          <a:p>
            <a:r>
              <a:rPr lang="en-US"/>
              <a:t>Explore some of these ethical concerns in the following real-world, current events related to AI</a:t>
            </a:r>
          </a:p>
          <a:p>
            <a:r>
              <a:rPr lang="en-US"/>
              <a:t>As you read the articles, refer back to the survey in the previous slide and see if you can answer the questions</a:t>
            </a:r>
          </a:p>
        </p:txBody>
      </p:sp>
    </p:spTree>
    <p:extLst>
      <p:ext uri="{BB962C8B-B14F-4D97-AF65-F5344CB8AC3E}">
        <p14:creationId xmlns:p14="http://schemas.microsoft.com/office/powerpoint/2010/main" val="2262068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573D77"/>
            </a:gs>
            <a:gs pos="20000">
              <a:srgbClr val="39284E"/>
            </a:gs>
            <a:gs pos="76000">
              <a:srgbClr val="120D19"/>
            </a:gs>
            <a:gs pos="100000">
              <a:schemeClr val="bg1">
                <a:lumMod val="95000"/>
                <a:lumOff val="5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61C532-70DF-DF1E-FF8A-CF08D8E61FA9}"/>
              </a:ext>
            </a:extLst>
          </p:cNvPr>
          <p:cNvSpPr txBox="1"/>
          <p:nvPr/>
        </p:nvSpPr>
        <p:spPr>
          <a:xfrm>
            <a:off x="108284" y="2782670"/>
            <a:ext cx="6095999" cy="646331"/>
          </a:xfrm>
          <a:prstGeom prst="rect">
            <a:avLst/>
          </a:prstGeom>
          <a:noFill/>
        </p:spPr>
        <p:txBody>
          <a:bodyPr wrap="square" rtlCol="0" anchor="b">
            <a:spAutoFit/>
          </a:bodyPr>
          <a:lstStyle/>
          <a:p>
            <a:pPr algn="ctr"/>
            <a:r>
              <a:rPr lang="en-US" dirty="0"/>
              <a:t>Google DeepMind’s new AI assistant helps elite soccer coaches get even better</a:t>
            </a:r>
          </a:p>
        </p:txBody>
      </p:sp>
      <p:sp>
        <p:nvSpPr>
          <p:cNvPr id="6" name="TextBox 5">
            <a:extLst>
              <a:ext uri="{FF2B5EF4-FFF2-40B4-BE49-F238E27FC236}">
                <a16:creationId xmlns:a16="http://schemas.microsoft.com/office/drawing/2014/main" id="{E46FE340-3D84-1ADD-30A3-60AD345100D8}"/>
              </a:ext>
            </a:extLst>
          </p:cNvPr>
          <p:cNvSpPr txBox="1"/>
          <p:nvPr/>
        </p:nvSpPr>
        <p:spPr>
          <a:xfrm>
            <a:off x="5987717" y="2782669"/>
            <a:ext cx="6095999" cy="369332"/>
          </a:xfrm>
          <a:prstGeom prst="rect">
            <a:avLst/>
          </a:prstGeom>
          <a:noFill/>
        </p:spPr>
        <p:txBody>
          <a:bodyPr wrap="square" rtlCol="0" anchor="b">
            <a:spAutoFit/>
          </a:bodyPr>
          <a:lstStyle/>
          <a:p>
            <a:pPr algn="ctr"/>
            <a:r>
              <a:rPr lang="en-US" dirty="0"/>
              <a:t>Duet AI for Google Meet can take notes</a:t>
            </a:r>
          </a:p>
        </p:txBody>
      </p:sp>
      <p:sp>
        <p:nvSpPr>
          <p:cNvPr id="7" name="TextBox 6">
            <a:extLst>
              <a:ext uri="{FF2B5EF4-FFF2-40B4-BE49-F238E27FC236}">
                <a16:creationId xmlns:a16="http://schemas.microsoft.com/office/drawing/2014/main" id="{EEB11739-3438-3B16-3F41-AD64868609B5}"/>
              </a:ext>
            </a:extLst>
          </p:cNvPr>
          <p:cNvSpPr txBox="1"/>
          <p:nvPr/>
        </p:nvSpPr>
        <p:spPr>
          <a:xfrm>
            <a:off x="108284" y="6211669"/>
            <a:ext cx="6095999" cy="646331"/>
          </a:xfrm>
          <a:prstGeom prst="rect">
            <a:avLst/>
          </a:prstGeom>
          <a:noFill/>
        </p:spPr>
        <p:txBody>
          <a:bodyPr wrap="square" rtlCol="0" anchor="b">
            <a:spAutoFit/>
          </a:bodyPr>
          <a:lstStyle/>
          <a:p>
            <a:pPr algn="ctr"/>
            <a:r>
              <a:rPr lang="en-US" dirty="0"/>
              <a:t>Texas will use computers to grade written answers on this year’s STAAR tests</a:t>
            </a:r>
          </a:p>
        </p:txBody>
      </p:sp>
      <p:sp>
        <p:nvSpPr>
          <p:cNvPr id="8" name="TextBox 7">
            <a:extLst>
              <a:ext uri="{FF2B5EF4-FFF2-40B4-BE49-F238E27FC236}">
                <a16:creationId xmlns:a16="http://schemas.microsoft.com/office/drawing/2014/main" id="{79969851-DCD2-04A1-4547-041E487560D7}"/>
              </a:ext>
            </a:extLst>
          </p:cNvPr>
          <p:cNvSpPr txBox="1"/>
          <p:nvPr/>
        </p:nvSpPr>
        <p:spPr>
          <a:xfrm>
            <a:off x="6096000" y="6209201"/>
            <a:ext cx="6095999" cy="369332"/>
          </a:xfrm>
          <a:prstGeom prst="rect">
            <a:avLst/>
          </a:prstGeom>
          <a:noFill/>
        </p:spPr>
        <p:txBody>
          <a:bodyPr wrap="square" rtlCol="0" anchor="b">
            <a:spAutoFit/>
          </a:bodyPr>
          <a:lstStyle/>
          <a:p>
            <a:pPr algn="ctr"/>
            <a:r>
              <a:rPr lang="en-US" dirty="0"/>
              <a:t>Teachers are using AI to grade essays</a:t>
            </a:r>
          </a:p>
        </p:txBody>
      </p:sp>
      <p:graphicFrame>
        <p:nvGraphicFramePr>
          <p:cNvPr id="9" name="Object 8">
            <a:hlinkClick r:id="" action="ppaction://ole?verb=0"/>
            <a:extLst>
              <a:ext uri="{FF2B5EF4-FFF2-40B4-BE49-F238E27FC236}">
                <a16:creationId xmlns:a16="http://schemas.microsoft.com/office/drawing/2014/main" id="{8CFAF128-D6D9-0246-0B85-2C723ED07EFB}"/>
              </a:ext>
            </a:extLst>
          </p:cNvPr>
          <p:cNvGraphicFramePr>
            <a:graphicFrameLocks noChangeAspect="1"/>
          </p:cNvGraphicFramePr>
          <p:nvPr>
            <p:extLst>
              <p:ext uri="{D42A27DB-BD31-4B8C-83A1-F6EECF244321}">
                <p14:modId xmlns:p14="http://schemas.microsoft.com/office/powerpoint/2010/main" val="4277793298"/>
              </p:ext>
            </p:extLst>
          </p:nvPr>
        </p:nvGraphicFramePr>
        <p:xfrm>
          <a:off x="2311816" y="411498"/>
          <a:ext cx="1688933" cy="2186030"/>
        </p:xfrm>
        <a:graphic>
          <a:graphicData uri="http://schemas.openxmlformats.org/presentationml/2006/ole">
            <mc:AlternateContent xmlns:mc="http://schemas.openxmlformats.org/markup-compatibility/2006">
              <mc:Choice xmlns:v="urn:schemas-microsoft-com:vml" Requires="v">
                <p:oleObj name="Acrobat Document" r:id="rId3" imgW="4476723" imgH="5793638" progId="Acrobat.Document.DC">
                  <p:embed/>
                </p:oleObj>
              </mc:Choice>
              <mc:Fallback>
                <p:oleObj name="Acrobat Document" r:id="rId3" imgW="4476723" imgH="5793638" progId="Acrobat.Document.DC">
                  <p:embed/>
                  <p:pic>
                    <p:nvPicPr>
                      <p:cNvPr id="0" name=""/>
                      <p:cNvPicPr/>
                      <p:nvPr/>
                    </p:nvPicPr>
                    <p:blipFill>
                      <a:blip r:embed="rId4"/>
                      <a:stretch>
                        <a:fillRect/>
                      </a:stretch>
                    </p:blipFill>
                    <p:spPr>
                      <a:xfrm>
                        <a:off x="2311816" y="411498"/>
                        <a:ext cx="1688933" cy="2186030"/>
                      </a:xfrm>
                      <a:prstGeom prst="rect">
                        <a:avLst/>
                      </a:prstGeom>
                    </p:spPr>
                  </p:pic>
                </p:oleObj>
              </mc:Fallback>
            </mc:AlternateContent>
          </a:graphicData>
        </a:graphic>
      </p:graphicFrame>
      <p:graphicFrame>
        <p:nvGraphicFramePr>
          <p:cNvPr id="10" name="Object 9">
            <a:hlinkClick r:id="" action="ppaction://ole?verb=0"/>
            <a:extLst>
              <a:ext uri="{FF2B5EF4-FFF2-40B4-BE49-F238E27FC236}">
                <a16:creationId xmlns:a16="http://schemas.microsoft.com/office/drawing/2014/main" id="{2E6B4BED-070A-5CA3-65D1-1FB7EC1AADD3}"/>
              </a:ext>
            </a:extLst>
          </p:cNvPr>
          <p:cNvGraphicFramePr>
            <a:graphicFrameLocks noChangeAspect="1"/>
          </p:cNvGraphicFramePr>
          <p:nvPr>
            <p:extLst>
              <p:ext uri="{D42A27DB-BD31-4B8C-83A1-F6EECF244321}">
                <p14:modId xmlns:p14="http://schemas.microsoft.com/office/powerpoint/2010/main" val="2947394905"/>
              </p:ext>
            </p:extLst>
          </p:nvPr>
        </p:nvGraphicFramePr>
        <p:xfrm>
          <a:off x="8191249" y="411498"/>
          <a:ext cx="1688933" cy="2186030"/>
        </p:xfrm>
        <a:graphic>
          <a:graphicData uri="http://schemas.openxmlformats.org/presentationml/2006/ole">
            <mc:AlternateContent xmlns:mc="http://schemas.openxmlformats.org/markup-compatibility/2006">
              <mc:Choice xmlns:v="urn:schemas-microsoft-com:vml" Requires="v">
                <p:oleObj name="Acrobat Document" r:id="rId5" imgW="4476723" imgH="5793638" progId="Acrobat.Document.DC">
                  <p:embed/>
                </p:oleObj>
              </mc:Choice>
              <mc:Fallback>
                <p:oleObj name="Acrobat Document" r:id="rId5" imgW="4476723" imgH="5793638" progId="Acrobat.Document.DC">
                  <p:embed/>
                  <p:pic>
                    <p:nvPicPr>
                      <p:cNvPr id="0" name=""/>
                      <p:cNvPicPr/>
                      <p:nvPr/>
                    </p:nvPicPr>
                    <p:blipFill>
                      <a:blip r:embed="rId6"/>
                      <a:stretch>
                        <a:fillRect/>
                      </a:stretch>
                    </p:blipFill>
                    <p:spPr>
                      <a:xfrm>
                        <a:off x="8191249" y="411498"/>
                        <a:ext cx="1688933" cy="2186030"/>
                      </a:xfrm>
                      <a:prstGeom prst="rect">
                        <a:avLst/>
                      </a:prstGeom>
                    </p:spPr>
                  </p:pic>
                </p:oleObj>
              </mc:Fallback>
            </mc:AlternateContent>
          </a:graphicData>
        </a:graphic>
      </p:graphicFrame>
      <p:graphicFrame>
        <p:nvGraphicFramePr>
          <p:cNvPr id="11" name="Object 10">
            <a:hlinkClick r:id="" action="ppaction://ole?verb=0"/>
            <a:extLst>
              <a:ext uri="{FF2B5EF4-FFF2-40B4-BE49-F238E27FC236}">
                <a16:creationId xmlns:a16="http://schemas.microsoft.com/office/drawing/2014/main" id="{6ED3F8D7-A1CB-A831-1D17-B8EC8D395058}"/>
              </a:ext>
            </a:extLst>
          </p:cNvPr>
          <p:cNvGraphicFramePr>
            <a:graphicFrameLocks noChangeAspect="1"/>
          </p:cNvGraphicFramePr>
          <p:nvPr>
            <p:extLst>
              <p:ext uri="{D42A27DB-BD31-4B8C-83A1-F6EECF244321}">
                <p14:modId xmlns:p14="http://schemas.microsoft.com/office/powerpoint/2010/main" val="1828336938"/>
              </p:ext>
            </p:extLst>
          </p:nvPr>
        </p:nvGraphicFramePr>
        <p:xfrm>
          <a:off x="2311816" y="3835603"/>
          <a:ext cx="1688934" cy="2186031"/>
        </p:xfrm>
        <a:graphic>
          <a:graphicData uri="http://schemas.openxmlformats.org/presentationml/2006/ole">
            <mc:AlternateContent xmlns:mc="http://schemas.openxmlformats.org/markup-compatibility/2006">
              <mc:Choice xmlns:v="urn:schemas-microsoft-com:vml" Requires="v">
                <p:oleObj name="Acrobat Document" r:id="rId7" imgW="4476723" imgH="5793638" progId="Acrobat.Document.DC">
                  <p:embed/>
                </p:oleObj>
              </mc:Choice>
              <mc:Fallback>
                <p:oleObj name="Acrobat Document" r:id="rId7" imgW="4476723" imgH="5793638" progId="Acrobat.Document.DC">
                  <p:embed/>
                  <p:pic>
                    <p:nvPicPr>
                      <p:cNvPr id="0" name=""/>
                      <p:cNvPicPr/>
                      <p:nvPr/>
                    </p:nvPicPr>
                    <p:blipFill>
                      <a:blip r:embed="rId8"/>
                      <a:stretch>
                        <a:fillRect/>
                      </a:stretch>
                    </p:blipFill>
                    <p:spPr>
                      <a:xfrm>
                        <a:off x="2311816" y="3835603"/>
                        <a:ext cx="1688934" cy="2186031"/>
                      </a:xfrm>
                      <a:prstGeom prst="rect">
                        <a:avLst/>
                      </a:prstGeom>
                    </p:spPr>
                  </p:pic>
                </p:oleObj>
              </mc:Fallback>
            </mc:AlternateContent>
          </a:graphicData>
        </a:graphic>
      </p:graphicFrame>
      <p:graphicFrame>
        <p:nvGraphicFramePr>
          <p:cNvPr id="12" name="Object 11">
            <a:hlinkClick r:id="" action="ppaction://ole?verb=0"/>
            <a:extLst>
              <a:ext uri="{FF2B5EF4-FFF2-40B4-BE49-F238E27FC236}">
                <a16:creationId xmlns:a16="http://schemas.microsoft.com/office/drawing/2014/main" id="{C6DA7132-96A0-D73A-2A73-C33D122A3358}"/>
              </a:ext>
            </a:extLst>
          </p:cNvPr>
          <p:cNvGraphicFramePr>
            <a:graphicFrameLocks noChangeAspect="1"/>
          </p:cNvGraphicFramePr>
          <p:nvPr>
            <p:extLst>
              <p:ext uri="{D42A27DB-BD31-4B8C-83A1-F6EECF244321}">
                <p14:modId xmlns:p14="http://schemas.microsoft.com/office/powerpoint/2010/main" val="2913731721"/>
              </p:ext>
            </p:extLst>
          </p:nvPr>
        </p:nvGraphicFramePr>
        <p:xfrm>
          <a:off x="8191249" y="3835603"/>
          <a:ext cx="1689100" cy="2185987"/>
        </p:xfrm>
        <a:graphic>
          <a:graphicData uri="http://schemas.openxmlformats.org/presentationml/2006/ole">
            <mc:AlternateContent xmlns:mc="http://schemas.openxmlformats.org/markup-compatibility/2006">
              <mc:Choice xmlns:v="urn:schemas-microsoft-com:vml" Requires="v">
                <p:oleObj name="Acrobat Document" r:id="rId9" imgW="4476960" imgH="5793480" progId="Acrobat.Document.DC">
                  <p:embed/>
                </p:oleObj>
              </mc:Choice>
              <mc:Fallback>
                <p:oleObj name="Acrobat Document" r:id="rId9" imgW="4476960" imgH="5793480" progId="Acrobat.Document.DC">
                  <p:embed/>
                  <p:pic>
                    <p:nvPicPr>
                      <p:cNvPr id="0" name=""/>
                      <p:cNvPicPr/>
                      <p:nvPr/>
                    </p:nvPicPr>
                    <p:blipFill>
                      <a:blip r:embed="rId10"/>
                      <a:stretch>
                        <a:fillRect/>
                      </a:stretch>
                    </p:blipFill>
                    <p:spPr>
                      <a:xfrm>
                        <a:off x="8191249" y="3835603"/>
                        <a:ext cx="1689100" cy="2185987"/>
                      </a:xfrm>
                      <a:prstGeom prst="rect">
                        <a:avLst/>
                      </a:prstGeom>
                    </p:spPr>
                  </p:pic>
                </p:oleObj>
              </mc:Fallback>
            </mc:AlternateContent>
          </a:graphicData>
        </a:graphic>
      </p:graphicFrame>
    </p:spTree>
    <p:extLst>
      <p:ext uri="{BB962C8B-B14F-4D97-AF65-F5344CB8AC3E}">
        <p14:creationId xmlns:p14="http://schemas.microsoft.com/office/powerpoint/2010/main" val="1016150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573D77"/>
            </a:gs>
            <a:gs pos="20000">
              <a:srgbClr val="39284E"/>
            </a:gs>
            <a:gs pos="76000">
              <a:srgbClr val="120D19"/>
            </a:gs>
            <a:gs pos="100000">
              <a:schemeClr val="bg1">
                <a:lumMod val="95000"/>
                <a:lumOff val="5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C867FF-D200-BEB6-6418-145CA1879D0A}"/>
              </a:ext>
            </a:extLst>
          </p:cNvPr>
          <p:cNvSpPr txBox="1"/>
          <p:nvPr/>
        </p:nvSpPr>
        <p:spPr>
          <a:xfrm>
            <a:off x="0" y="2782669"/>
            <a:ext cx="6096000" cy="369332"/>
          </a:xfrm>
          <a:prstGeom prst="rect">
            <a:avLst/>
          </a:prstGeom>
          <a:noFill/>
        </p:spPr>
        <p:txBody>
          <a:bodyPr wrap="square" rtlCol="0">
            <a:spAutoFit/>
          </a:bodyPr>
          <a:lstStyle/>
          <a:p>
            <a:pPr algn="ctr"/>
            <a:r>
              <a:rPr lang="en-US" dirty="0"/>
              <a:t>Students Are Likely Writing Millions of Papers using AI</a:t>
            </a:r>
          </a:p>
        </p:txBody>
      </p:sp>
      <p:sp>
        <p:nvSpPr>
          <p:cNvPr id="3" name="TextBox 2">
            <a:extLst>
              <a:ext uri="{FF2B5EF4-FFF2-40B4-BE49-F238E27FC236}">
                <a16:creationId xmlns:a16="http://schemas.microsoft.com/office/drawing/2014/main" id="{67AA81E3-2AE4-2F7B-5E86-7BBF612B566E}"/>
              </a:ext>
            </a:extLst>
          </p:cNvPr>
          <p:cNvSpPr txBox="1"/>
          <p:nvPr/>
        </p:nvSpPr>
        <p:spPr>
          <a:xfrm>
            <a:off x="6096000" y="2782669"/>
            <a:ext cx="6096000" cy="646331"/>
          </a:xfrm>
          <a:prstGeom prst="rect">
            <a:avLst/>
          </a:prstGeom>
          <a:noFill/>
        </p:spPr>
        <p:txBody>
          <a:bodyPr wrap="square" rtlCol="0">
            <a:spAutoFit/>
          </a:bodyPr>
          <a:lstStyle/>
          <a:p>
            <a:pPr algn="ctr"/>
            <a:r>
              <a:rPr lang="en-US" dirty="0"/>
              <a:t>Copilot Workspace is GitHub’s take on AI-powered software engineering</a:t>
            </a:r>
          </a:p>
        </p:txBody>
      </p:sp>
      <p:sp>
        <p:nvSpPr>
          <p:cNvPr id="4" name="TextBox 3">
            <a:extLst>
              <a:ext uri="{FF2B5EF4-FFF2-40B4-BE49-F238E27FC236}">
                <a16:creationId xmlns:a16="http://schemas.microsoft.com/office/drawing/2014/main" id="{2F8CA959-89BC-E885-C21A-08967AF5CECD}"/>
              </a:ext>
            </a:extLst>
          </p:cNvPr>
          <p:cNvSpPr txBox="1"/>
          <p:nvPr/>
        </p:nvSpPr>
        <p:spPr>
          <a:xfrm>
            <a:off x="0" y="6211669"/>
            <a:ext cx="6096000" cy="646331"/>
          </a:xfrm>
          <a:prstGeom prst="rect">
            <a:avLst/>
          </a:prstGeom>
          <a:noFill/>
        </p:spPr>
        <p:txBody>
          <a:bodyPr wrap="square" rtlCol="0">
            <a:spAutoFit/>
          </a:bodyPr>
          <a:lstStyle/>
          <a:p>
            <a:pPr algn="ctr"/>
            <a:r>
              <a:rPr lang="en-US" dirty="0"/>
              <a:t>AI seen cutting worker numbers, survey by staffing company Adecco shows</a:t>
            </a:r>
          </a:p>
        </p:txBody>
      </p:sp>
      <p:sp>
        <p:nvSpPr>
          <p:cNvPr id="5" name="TextBox 4">
            <a:extLst>
              <a:ext uri="{FF2B5EF4-FFF2-40B4-BE49-F238E27FC236}">
                <a16:creationId xmlns:a16="http://schemas.microsoft.com/office/drawing/2014/main" id="{C8871BB6-21B9-1755-88C3-C55BE7F64FCB}"/>
              </a:ext>
            </a:extLst>
          </p:cNvPr>
          <p:cNvSpPr txBox="1"/>
          <p:nvPr/>
        </p:nvSpPr>
        <p:spPr>
          <a:xfrm>
            <a:off x="6096000" y="6211668"/>
            <a:ext cx="6096000" cy="369332"/>
          </a:xfrm>
          <a:prstGeom prst="rect">
            <a:avLst/>
          </a:prstGeom>
          <a:noFill/>
        </p:spPr>
        <p:txBody>
          <a:bodyPr wrap="square" rtlCol="0">
            <a:spAutoFit/>
          </a:bodyPr>
          <a:lstStyle/>
          <a:p>
            <a:pPr algn="ctr"/>
            <a:r>
              <a:rPr lang="en-US" dirty="0"/>
              <a:t>Scientists bring molecules back from the dead</a:t>
            </a:r>
          </a:p>
        </p:txBody>
      </p:sp>
      <p:graphicFrame>
        <p:nvGraphicFramePr>
          <p:cNvPr id="6" name="Object 5">
            <a:hlinkClick r:id="" action="ppaction://ole?verb=0"/>
            <a:extLst>
              <a:ext uri="{FF2B5EF4-FFF2-40B4-BE49-F238E27FC236}">
                <a16:creationId xmlns:a16="http://schemas.microsoft.com/office/drawing/2014/main" id="{D0D72F6A-90ED-CAA2-0D71-1B4B9218E6E8}"/>
              </a:ext>
            </a:extLst>
          </p:cNvPr>
          <p:cNvGraphicFramePr>
            <a:graphicFrameLocks noChangeAspect="1"/>
          </p:cNvGraphicFramePr>
          <p:nvPr>
            <p:extLst>
              <p:ext uri="{D42A27DB-BD31-4B8C-83A1-F6EECF244321}">
                <p14:modId xmlns:p14="http://schemas.microsoft.com/office/powerpoint/2010/main" val="2868135535"/>
              </p:ext>
            </p:extLst>
          </p:nvPr>
        </p:nvGraphicFramePr>
        <p:xfrm>
          <a:off x="2178491" y="386223"/>
          <a:ext cx="1739018" cy="2250856"/>
        </p:xfrm>
        <a:graphic>
          <a:graphicData uri="http://schemas.openxmlformats.org/presentationml/2006/ole">
            <mc:AlternateContent xmlns:mc="http://schemas.openxmlformats.org/markup-compatibility/2006">
              <mc:Choice xmlns:v="urn:schemas-microsoft-com:vml" Requires="v">
                <p:oleObj name="Acrobat Document" r:id="rId2" imgW="4476723" imgH="5793638" progId="Acrobat.Document.DC">
                  <p:embed/>
                </p:oleObj>
              </mc:Choice>
              <mc:Fallback>
                <p:oleObj name="Acrobat Document" r:id="rId2" imgW="4476723" imgH="5793638" progId="Acrobat.Document.DC">
                  <p:embed/>
                  <p:pic>
                    <p:nvPicPr>
                      <p:cNvPr id="0" name=""/>
                      <p:cNvPicPr/>
                      <p:nvPr/>
                    </p:nvPicPr>
                    <p:blipFill>
                      <a:blip r:embed="rId3"/>
                      <a:stretch>
                        <a:fillRect/>
                      </a:stretch>
                    </p:blipFill>
                    <p:spPr>
                      <a:xfrm>
                        <a:off x="2178491" y="386223"/>
                        <a:ext cx="1739018" cy="2250856"/>
                      </a:xfrm>
                      <a:prstGeom prst="rect">
                        <a:avLst/>
                      </a:prstGeom>
                    </p:spPr>
                  </p:pic>
                </p:oleObj>
              </mc:Fallback>
            </mc:AlternateContent>
          </a:graphicData>
        </a:graphic>
      </p:graphicFrame>
      <p:graphicFrame>
        <p:nvGraphicFramePr>
          <p:cNvPr id="7" name="Object 6">
            <a:hlinkClick r:id="" action="ppaction://ole?verb=0"/>
            <a:extLst>
              <a:ext uri="{FF2B5EF4-FFF2-40B4-BE49-F238E27FC236}">
                <a16:creationId xmlns:a16="http://schemas.microsoft.com/office/drawing/2014/main" id="{829C7852-2AEE-1DA5-23E5-B8AC5F7E2D53}"/>
              </a:ext>
            </a:extLst>
          </p:cNvPr>
          <p:cNvGraphicFramePr>
            <a:graphicFrameLocks noChangeAspect="1"/>
          </p:cNvGraphicFramePr>
          <p:nvPr>
            <p:extLst>
              <p:ext uri="{D42A27DB-BD31-4B8C-83A1-F6EECF244321}">
                <p14:modId xmlns:p14="http://schemas.microsoft.com/office/powerpoint/2010/main" val="3540353316"/>
              </p:ext>
            </p:extLst>
          </p:nvPr>
        </p:nvGraphicFramePr>
        <p:xfrm>
          <a:off x="8274491" y="386223"/>
          <a:ext cx="1739018" cy="2250857"/>
        </p:xfrm>
        <a:graphic>
          <a:graphicData uri="http://schemas.openxmlformats.org/presentationml/2006/ole">
            <mc:AlternateContent xmlns:mc="http://schemas.openxmlformats.org/markup-compatibility/2006">
              <mc:Choice xmlns:v="urn:schemas-microsoft-com:vml" Requires="v">
                <p:oleObj name="Acrobat Document" r:id="rId4" imgW="4476723" imgH="5793638" progId="Acrobat.Document.DC">
                  <p:embed/>
                </p:oleObj>
              </mc:Choice>
              <mc:Fallback>
                <p:oleObj name="Acrobat Document" r:id="rId4" imgW="4476723" imgH="5793638" progId="Acrobat.Document.DC">
                  <p:embed/>
                  <p:pic>
                    <p:nvPicPr>
                      <p:cNvPr id="0" name=""/>
                      <p:cNvPicPr/>
                      <p:nvPr/>
                    </p:nvPicPr>
                    <p:blipFill>
                      <a:blip r:embed="rId5"/>
                      <a:stretch>
                        <a:fillRect/>
                      </a:stretch>
                    </p:blipFill>
                    <p:spPr>
                      <a:xfrm>
                        <a:off x="8274491" y="386223"/>
                        <a:ext cx="1739018" cy="2250857"/>
                      </a:xfrm>
                      <a:prstGeom prst="rect">
                        <a:avLst/>
                      </a:prstGeom>
                    </p:spPr>
                  </p:pic>
                </p:oleObj>
              </mc:Fallback>
            </mc:AlternateContent>
          </a:graphicData>
        </a:graphic>
      </p:graphicFrame>
      <p:graphicFrame>
        <p:nvGraphicFramePr>
          <p:cNvPr id="8" name="Object 7">
            <a:hlinkClick r:id="" action="ppaction://ole?verb=0"/>
            <a:extLst>
              <a:ext uri="{FF2B5EF4-FFF2-40B4-BE49-F238E27FC236}">
                <a16:creationId xmlns:a16="http://schemas.microsoft.com/office/drawing/2014/main" id="{A6A49196-415E-6A6E-D6A1-08B7963721DB}"/>
              </a:ext>
            </a:extLst>
          </p:cNvPr>
          <p:cNvGraphicFramePr>
            <a:graphicFrameLocks noChangeAspect="1"/>
          </p:cNvGraphicFramePr>
          <p:nvPr>
            <p:extLst>
              <p:ext uri="{D42A27DB-BD31-4B8C-83A1-F6EECF244321}">
                <p14:modId xmlns:p14="http://schemas.microsoft.com/office/powerpoint/2010/main" val="2775405307"/>
              </p:ext>
            </p:extLst>
          </p:nvPr>
        </p:nvGraphicFramePr>
        <p:xfrm>
          <a:off x="2178491" y="3816435"/>
          <a:ext cx="1739018" cy="2250856"/>
        </p:xfrm>
        <a:graphic>
          <a:graphicData uri="http://schemas.openxmlformats.org/presentationml/2006/ole">
            <mc:AlternateContent xmlns:mc="http://schemas.openxmlformats.org/markup-compatibility/2006">
              <mc:Choice xmlns:v="urn:schemas-microsoft-com:vml" Requires="v">
                <p:oleObj name="Acrobat Document" r:id="rId6" imgW="4476723" imgH="5793638" progId="Acrobat.Document.DC">
                  <p:embed/>
                </p:oleObj>
              </mc:Choice>
              <mc:Fallback>
                <p:oleObj name="Acrobat Document" r:id="rId6" imgW="4476723" imgH="5793638" progId="Acrobat.Document.DC">
                  <p:embed/>
                  <p:pic>
                    <p:nvPicPr>
                      <p:cNvPr id="0" name=""/>
                      <p:cNvPicPr/>
                      <p:nvPr/>
                    </p:nvPicPr>
                    <p:blipFill>
                      <a:blip r:embed="rId7"/>
                      <a:stretch>
                        <a:fillRect/>
                      </a:stretch>
                    </p:blipFill>
                    <p:spPr>
                      <a:xfrm>
                        <a:off x="2178491" y="3816435"/>
                        <a:ext cx="1739018" cy="2250856"/>
                      </a:xfrm>
                      <a:prstGeom prst="rect">
                        <a:avLst/>
                      </a:prstGeom>
                    </p:spPr>
                  </p:pic>
                </p:oleObj>
              </mc:Fallback>
            </mc:AlternateContent>
          </a:graphicData>
        </a:graphic>
      </p:graphicFrame>
      <p:graphicFrame>
        <p:nvGraphicFramePr>
          <p:cNvPr id="9" name="Object 8">
            <a:hlinkClick r:id="" action="ppaction://ole?verb=0"/>
            <a:extLst>
              <a:ext uri="{FF2B5EF4-FFF2-40B4-BE49-F238E27FC236}">
                <a16:creationId xmlns:a16="http://schemas.microsoft.com/office/drawing/2014/main" id="{ED4E1FFF-311A-5CC6-D06F-76353764BF93}"/>
              </a:ext>
            </a:extLst>
          </p:cNvPr>
          <p:cNvGraphicFramePr>
            <a:graphicFrameLocks noChangeAspect="1"/>
          </p:cNvGraphicFramePr>
          <p:nvPr>
            <p:extLst>
              <p:ext uri="{D42A27DB-BD31-4B8C-83A1-F6EECF244321}">
                <p14:modId xmlns:p14="http://schemas.microsoft.com/office/powerpoint/2010/main" val="475191967"/>
              </p:ext>
            </p:extLst>
          </p:nvPr>
        </p:nvGraphicFramePr>
        <p:xfrm>
          <a:off x="8381499" y="3816434"/>
          <a:ext cx="1739018" cy="2250857"/>
        </p:xfrm>
        <a:graphic>
          <a:graphicData uri="http://schemas.openxmlformats.org/presentationml/2006/ole">
            <mc:AlternateContent xmlns:mc="http://schemas.openxmlformats.org/markup-compatibility/2006">
              <mc:Choice xmlns:v="urn:schemas-microsoft-com:vml" Requires="v">
                <p:oleObj name="Acrobat Document" r:id="rId8" imgW="4476723" imgH="5793638" progId="Acrobat.Document.DC">
                  <p:embed/>
                </p:oleObj>
              </mc:Choice>
              <mc:Fallback>
                <p:oleObj name="Acrobat Document" r:id="rId8" imgW="4476723" imgH="5793638" progId="Acrobat.Document.DC">
                  <p:embed/>
                  <p:pic>
                    <p:nvPicPr>
                      <p:cNvPr id="0" name=""/>
                      <p:cNvPicPr/>
                      <p:nvPr/>
                    </p:nvPicPr>
                    <p:blipFill>
                      <a:blip r:embed="rId9"/>
                      <a:stretch>
                        <a:fillRect/>
                      </a:stretch>
                    </p:blipFill>
                    <p:spPr>
                      <a:xfrm>
                        <a:off x="8381499" y="3816434"/>
                        <a:ext cx="1739018" cy="2250857"/>
                      </a:xfrm>
                      <a:prstGeom prst="rect">
                        <a:avLst/>
                      </a:prstGeom>
                    </p:spPr>
                  </p:pic>
                </p:oleObj>
              </mc:Fallback>
            </mc:AlternateContent>
          </a:graphicData>
        </a:graphic>
      </p:graphicFrame>
    </p:spTree>
    <p:extLst>
      <p:ext uri="{BB962C8B-B14F-4D97-AF65-F5344CB8AC3E}">
        <p14:creationId xmlns:p14="http://schemas.microsoft.com/office/powerpoint/2010/main" val="3485031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573D77"/>
            </a:gs>
            <a:gs pos="20000">
              <a:srgbClr val="39284E"/>
            </a:gs>
            <a:gs pos="76000">
              <a:srgbClr val="120D19"/>
            </a:gs>
            <a:gs pos="100000">
              <a:schemeClr val="bg1">
                <a:lumMod val="95000"/>
                <a:lumOff val="5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C867FF-D200-BEB6-6418-145CA1879D0A}"/>
              </a:ext>
            </a:extLst>
          </p:cNvPr>
          <p:cNvSpPr txBox="1"/>
          <p:nvPr/>
        </p:nvSpPr>
        <p:spPr>
          <a:xfrm>
            <a:off x="0" y="2782669"/>
            <a:ext cx="6096000" cy="646331"/>
          </a:xfrm>
          <a:prstGeom prst="rect">
            <a:avLst/>
          </a:prstGeom>
          <a:noFill/>
        </p:spPr>
        <p:txBody>
          <a:bodyPr wrap="square" rtlCol="0">
            <a:spAutoFit/>
          </a:bodyPr>
          <a:lstStyle/>
          <a:p>
            <a:pPr algn="ctr"/>
            <a:r>
              <a:rPr lang="en-US" dirty="0"/>
              <a:t>Profluent Successfully Edits Human Genome with OpenCRISPR-1AI companions</a:t>
            </a:r>
          </a:p>
        </p:txBody>
      </p:sp>
      <p:sp>
        <p:nvSpPr>
          <p:cNvPr id="3" name="TextBox 2">
            <a:extLst>
              <a:ext uri="{FF2B5EF4-FFF2-40B4-BE49-F238E27FC236}">
                <a16:creationId xmlns:a16="http://schemas.microsoft.com/office/drawing/2014/main" id="{67AA81E3-2AE4-2F7B-5E86-7BBF612B566E}"/>
              </a:ext>
            </a:extLst>
          </p:cNvPr>
          <p:cNvSpPr txBox="1"/>
          <p:nvPr/>
        </p:nvSpPr>
        <p:spPr>
          <a:xfrm>
            <a:off x="6096000" y="2782669"/>
            <a:ext cx="6096000" cy="369332"/>
          </a:xfrm>
          <a:prstGeom prst="rect">
            <a:avLst/>
          </a:prstGeom>
          <a:noFill/>
        </p:spPr>
        <p:txBody>
          <a:bodyPr wrap="square" rtlCol="0">
            <a:spAutoFit/>
          </a:bodyPr>
          <a:lstStyle/>
          <a:p>
            <a:pPr algn="ctr"/>
            <a:r>
              <a:rPr lang="en-US" dirty="0"/>
              <a:t>People are speaking with ChatGPT for hours</a:t>
            </a:r>
          </a:p>
        </p:txBody>
      </p:sp>
      <p:sp>
        <p:nvSpPr>
          <p:cNvPr id="4" name="TextBox 3">
            <a:extLst>
              <a:ext uri="{FF2B5EF4-FFF2-40B4-BE49-F238E27FC236}">
                <a16:creationId xmlns:a16="http://schemas.microsoft.com/office/drawing/2014/main" id="{2F8CA959-89BC-E885-C21A-08967AF5CECD}"/>
              </a:ext>
            </a:extLst>
          </p:cNvPr>
          <p:cNvSpPr txBox="1"/>
          <p:nvPr/>
        </p:nvSpPr>
        <p:spPr>
          <a:xfrm>
            <a:off x="0" y="6211669"/>
            <a:ext cx="6096000" cy="369332"/>
          </a:xfrm>
          <a:prstGeom prst="rect">
            <a:avLst/>
          </a:prstGeom>
          <a:noFill/>
        </p:spPr>
        <p:txBody>
          <a:bodyPr wrap="square" rtlCol="0">
            <a:spAutoFit/>
          </a:bodyPr>
          <a:lstStyle/>
          <a:p>
            <a:pPr algn="ctr"/>
            <a:r>
              <a:rPr lang="en-US" dirty="0"/>
              <a:t>Google reportedly building A.I. that offers life advice</a:t>
            </a:r>
          </a:p>
        </p:txBody>
      </p:sp>
      <p:sp>
        <p:nvSpPr>
          <p:cNvPr id="5" name="TextBox 4">
            <a:extLst>
              <a:ext uri="{FF2B5EF4-FFF2-40B4-BE49-F238E27FC236}">
                <a16:creationId xmlns:a16="http://schemas.microsoft.com/office/drawing/2014/main" id="{C8871BB6-21B9-1755-88C3-C55BE7F64FCB}"/>
              </a:ext>
            </a:extLst>
          </p:cNvPr>
          <p:cNvSpPr txBox="1"/>
          <p:nvPr/>
        </p:nvSpPr>
        <p:spPr>
          <a:xfrm>
            <a:off x="6096000" y="6211668"/>
            <a:ext cx="6096000" cy="646331"/>
          </a:xfrm>
          <a:prstGeom prst="rect">
            <a:avLst/>
          </a:prstGeom>
          <a:noFill/>
        </p:spPr>
        <p:txBody>
          <a:bodyPr wrap="square" rtlCol="0">
            <a:spAutoFit/>
          </a:bodyPr>
          <a:lstStyle/>
          <a:p>
            <a:pPr algn="ctr"/>
            <a:r>
              <a:rPr lang="en-US" dirty="0"/>
              <a:t>SF Giants using facial recognition tech to fast-track ticket line</a:t>
            </a:r>
          </a:p>
        </p:txBody>
      </p:sp>
      <p:graphicFrame>
        <p:nvGraphicFramePr>
          <p:cNvPr id="6" name="Object 5">
            <a:hlinkClick r:id="" action="ppaction://ole?verb=0"/>
            <a:extLst>
              <a:ext uri="{FF2B5EF4-FFF2-40B4-BE49-F238E27FC236}">
                <a16:creationId xmlns:a16="http://schemas.microsoft.com/office/drawing/2014/main" id="{C4312952-357E-D388-5C6A-3ADA3E3B9D6F}"/>
              </a:ext>
            </a:extLst>
          </p:cNvPr>
          <p:cNvGraphicFramePr>
            <a:graphicFrameLocks noChangeAspect="1"/>
          </p:cNvGraphicFramePr>
          <p:nvPr>
            <p:extLst>
              <p:ext uri="{D42A27DB-BD31-4B8C-83A1-F6EECF244321}">
                <p14:modId xmlns:p14="http://schemas.microsoft.com/office/powerpoint/2010/main" val="2995775583"/>
              </p:ext>
            </p:extLst>
          </p:nvPr>
        </p:nvGraphicFramePr>
        <p:xfrm>
          <a:off x="2197267" y="409765"/>
          <a:ext cx="1700566" cy="2201088"/>
        </p:xfrm>
        <a:graphic>
          <a:graphicData uri="http://schemas.openxmlformats.org/presentationml/2006/ole">
            <mc:AlternateContent xmlns:mc="http://schemas.openxmlformats.org/markup-compatibility/2006">
              <mc:Choice xmlns:v="urn:schemas-microsoft-com:vml" Requires="v">
                <p:oleObj name="Acrobat Document" r:id="rId2" imgW="4476723" imgH="5793638" progId="Acrobat.Document.DC">
                  <p:embed/>
                </p:oleObj>
              </mc:Choice>
              <mc:Fallback>
                <p:oleObj name="Acrobat Document" r:id="rId2" imgW="4476723" imgH="5793638" progId="Acrobat.Document.DC">
                  <p:embed/>
                  <p:pic>
                    <p:nvPicPr>
                      <p:cNvPr id="0" name=""/>
                      <p:cNvPicPr/>
                      <p:nvPr/>
                    </p:nvPicPr>
                    <p:blipFill>
                      <a:blip r:embed="rId3"/>
                      <a:stretch>
                        <a:fillRect/>
                      </a:stretch>
                    </p:blipFill>
                    <p:spPr>
                      <a:xfrm>
                        <a:off x="2197267" y="409765"/>
                        <a:ext cx="1700566" cy="2201088"/>
                      </a:xfrm>
                      <a:prstGeom prst="rect">
                        <a:avLst/>
                      </a:prstGeom>
                    </p:spPr>
                  </p:pic>
                </p:oleObj>
              </mc:Fallback>
            </mc:AlternateContent>
          </a:graphicData>
        </a:graphic>
      </p:graphicFrame>
      <p:graphicFrame>
        <p:nvGraphicFramePr>
          <p:cNvPr id="7" name="Object 6">
            <a:hlinkClick r:id="" action="ppaction://ole?verb=0"/>
            <a:extLst>
              <a:ext uri="{FF2B5EF4-FFF2-40B4-BE49-F238E27FC236}">
                <a16:creationId xmlns:a16="http://schemas.microsoft.com/office/drawing/2014/main" id="{C1075109-1C42-A26C-C9D9-2015485270A7}"/>
              </a:ext>
            </a:extLst>
          </p:cNvPr>
          <p:cNvGraphicFramePr>
            <a:graphicFrameLocks noChangeAspect="1"/>
          </p:cNvGraphicFramePr>
          <p:nvPr>
            <p:extLst>
              <p:ext uri="{D42A27DB-BD31-4B8C-83A1-F6EECF244321}">
                <p14:modId xmlns:p14="http://schemas.microsoft.com/office/powerpoint/2010/main" val="3963007734"/>
              </p:ext>
            </p:extLst>
          </p:nvPr>
        </p:nvGraphicFramePr>
        <p:xfrm>
          <a:off x="8294169" y="409764"/>
          <a:ext cx="1700567" cy="2201089"/>
        </p:xfrm>
        <a:graphic>
          <a:graphicData uri="http://schemas.openxmlformats.org/presentationml/2006/ole">
            <mc:AlternateContent xmlns:mc="http://schemas.openxmlformats.org/markup-compatibility/2006">
              <mc:Choice xmlns:v="urn:schemas-microsoft-com:vml" Requires="v">
                <p:oleObj name="Acrobat Document" r:id="rId4" imgW="4476723" imgH="5793638" progId="Acrobat.Document.DC">
                  <p:embed/>
                </p:oleObj>
              </mc:Choice>
              <mc:Fallback>
                <p:oleObj name="Acrobat Document" r:id="rId4" imgW="4476723" imgH="5793638" progId="Acrobat.Document.DC">
                  <p:embed/>
                  <p:pic>
                    <p:nvPicPr>
                      <p:cNvPr id="0" name=""/>
                      <p:cNvPicPr/>
                      <p:nvPr/>
                    </p:nvPicPr>
                    <p:blipFill>
                      <a:blip r:embed="rId5"/>
                      <a:stretch>
                        <a:fillRect/>
                      </a:stretch>
                    </p:blipFill>
                    <p:spPr>
                      <a:xfrm>
                        <a:off x="8294169" y="409764"/>
                        <a:ext cx="1700567" cy="2201089"/>
                      </a:xfrm>
                      <a:prstGeom prst="rect">
                        <a:avLst/>
                      </a:prstGeom>
                    </p:spPr>
                  </p:pic>
                </p:oleObj>
              </mc:Fallback>
            </mc:AlternateContent>
          </a:graphicData>
        </a:graphic>
      </p:graphicFrame>
      <p:graphicFrame>
        <p:nvGraphicFramePr>
          <p:cNvPr id="8" name="Object 7">
            <a:hlinkClick r:id="" action="ppaction://ole?verb=0"/>
            <a:extLst>
              <a:ext uri="{FF2B5EF4-FFF2-40B4-BE49-F238E27FC236}">
                <a16:creationId xmlns:a16="http://schemas.microsoft.com/office/drawing/2014/main" id="{838AEEB6-4E90-F621-B607-E792738AAD68}"/>
              </a:ext>
            </a:extLst>
          </p:cNvPr>
          <p:cNvGraphicFramePr>
            <a:graphicFrameLocks noChangeAspect="1"/>
          </p:cNvGraphicFramePr>
          <p:nvPr>
            <p:extLst>
              <p:ext uri="{D42A27DB-BD31-4B8C-83A1-F6EECF244321}">
                <p14:modId xmlns:p14="http://schemas.microsoft.com/office/powerpoint/2010/main" val="2015513023"/>
              </p:ext>
            </p:extLst>
          </p:nvPr>
        </p:nvGraphicFramePr>
        <p:xfrm>
          <a:off x="2197266" y="3912688"/>
          <a:ext cx="1700567" cy="2201088"/>
        </p:xfrm>
        <a:graphic>
          <a:graphicData uri="http://schemas.openxmlformats.org/presentationml/2006/ole">
            <mc:AlternateContent xmlns:mc="http://schemas.openxmlformats.org/markup-compatibility/2006">
              <mc:Choice xmlns:v="urn:schemas-microsoft-com:vml" Requires="v">
                <p:oleObj name="Acrobat Document" r:id="rId6" imgW="4476723" imgH="5793638" progId="Acrobat.Document.DC">
                  <p:embed/>
                </p:oleObj>
              </mc:Choice>
              <mc:Fallback>
                <p:oleObj name="Acrobat Document" r:id="rId6" imgW="4476723" imgH="5793638" progId="Acrobat.Document.DC">
                  <p:embed/>
                  <p:pic>
                    <p:nvPicPr>
                      <p:cNvPr id="0" name=""/>
                      <p:cNvPicPr/>
                      <p:nvPr/>
                    </p:nvPicPr>
                    <p:blipFill>
                      <a:blip r:embed="rId7"/>
                      <a:stretch>
                        <a:fillRect/>
                      </a:stretch>
                    </p:blipFill>
                    <p:spPr>
                      <a:xfrm>
                        <a:off x="2197266" y="3912688"/>
                        <a:ext cx="1700567" cy="2201088"/>
                      </a:xfrm>
                      <a:prstGeom prst="rect">
                        <a:avLst/>
                      </a:prstGeom>
                    </p:spPr>
                  </p:pic>
                </p:oleObj>
              </mc:Fallback>
            </mc:AlternateContent>
          </a:graphicData>
        </a:graphic>
      </p:graphicFrame>
      <p:graphicFrame>
        <p:nvGraphicFramePr>
          <p:cNvPr id="9" name="Object 8">
            <a:hlinkClick r:id="" action="ppaction://ole?verb=0"/>
            <a:extLst>
              <a:ext uri="{FF2B5EF4-FFF2-40B4-BE49-F238E27FC236}">
                <a16:creationId xmlns:a16="http://schemas.microsoft.com/office/drawing/2014/main" id="{D150A817-1EA0-99B0-C6D9-B636A09E3B42}"/>
              </a:ext>
            </a:extLst>
          </p:cNvPr>
          <p:cNvGraphicFramePr>
            <a:graphicFrameLocks noChangeAspect="1"/>
          </p:cNvGraphicFramePr>
          <p:nvPr>
            <p:extLst>
              <p:ext uri="{D42A27DB-BD31-4B8C-83A1-F6EECF244321}">
                <p14:modId xmlns:p14="http://schemas.microsoft.com/office/powerpoint/2010/main" val="682924009"/>
              </p:ext>
            </p:extLst>
          </p:nvPr>
        </p:nvGraphicFramePr>
        <p:xfrm>
          <a:off x="8294169" y="3912688"/>
          <a:ext cx="1700566" cy="2201087"/>
        </p:xfrm>
        <a:graphic>
          <a:graphicData uri="http://schemas.openxmlformats.org/presentationml/2006/ole">
            <mc:AlternateContent xmlns:mc="http://schemas.openxmlformats.org/markup-compatibility/2006">
              <mc:Choice xmlns:v="urn:schemas-microsoft-com:vml" Requires="v">
                <p:oleObj name="Acrobat Document" r:id="rId8" imgW="4476723" imgH="5793638" progId="Acrobat.Document.DC">
                  <p:embed/>
                </p:oleObj>
              </mc:Choice>
              <mc:Fallback>
                <p:oleObj name="Acrobat Document" r:id="rId8" imgW="4476723" imgH="5793638" progId="Acrobat.Document.DC">
                  <p:embed/>
                  <p:pic>
                    <p:nvPicPr>
                      <p:cNvPr id="0" name=""/>
                      <p:cNvPicPr/>
                      <p:nvPr/>
                    </p:nvPicPr>
                    <p:blipFill>
                      <a:blip r:embed="rId9"/>
                      <a:stretch>
                        <a:fillRect/>
                      </a:stretch>
                    </p:blipFill>
                    <p:spPr>
                      <a:xfrm>
                        <a:off x="8294169" y="3912688"/>
                        <a:ext cx="1700566" cy="2201087"/>
                      </a:xfrm>
                      <a:prstGeom prst="rect">
                        <a:avLst/>
                      </a:prstGeom>
                    </p:spPr>
                  </p:pic>
                </p:oleObj>
              </mc:Fallback>
            </mc:AlternateContent>
          </a:graphicData>
        </a:graphic>
      </p:graphicFrame>
    </p:spTree>
    <p:extLst>
      <p:ext uri="{BB962C8B-B14F-4D97-AF65-F5344CB8AC3E}">
        <p14:creationId xmlns:p14="http://schemas.microsoft.com/office/powerpoint/2010/main" val="23243087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8664B0"/>
      </a:accent1>
      <a:accent2>
        <a:srgbClr val="D75BCD"/>
      </a:accent2>
      <a:accent3>
        <a:srgbClr val="E54D86"/>
      </a:accent3>
      <a:accent4>
        <a:srgbClr val="DE4547"/>
      </a:accent4>
      <a:accent5>
        <a:srgbClr val="F16E40"/>
      </a:accent5>
      <a:accent6>
        <a:srgbClr val="EB9C5A"/>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7AF46513-5B0D-4B03-9323-32F3F0BFC9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TM03457503[[fn=Quotable]]</Template>
  <TotalTime>1293</TotalTime>
  <Words>729</Words>
  <Application>Microsoft Office PowerPoint</Application>
  <PresentationFormat>Widescreen</PresentationFormat>
  <Paragraphs>49</Paragraphs>
  <Slides>8</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5" baseType="lpstr">
      <vt:lpstr>-apple-system</vt:lpstr>
      <vt:lpstr>Aptos</vt:lpstr>
      <vt:lpstr>Century Gothic</vt:lpstr>
      <vt:lpstr>Symbol</vt:lpstr>
      <vt:lpstr>Wingdings 2</vt:lpstr>
      <vt:lpstr>Quotable</vt:lpstr>
      <vt:lpstr>Acrobat Document</vt:lpstr>
      <vt:lpstr>AI Fundamentals  </vt:lpstr>
      <vt:lpstr>Definitions</vt:lpstr>
      <vt:lpstr>Definitions, cont’d</vt:lpstr>
      <vt:lpstr>Ethical application survey for AI use</vt:lpstr>
      <vt:lpstr>Ethical application of AI</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  </dc:title>
  <dc:creator>Johnson, Victor G</dc:creator>
  <cp:lastModifiedBy>Johnson, Victor G</cp:lastModifiedBy>
  <cp:revision>50</cp:revision>
  <dcterms:created xsi:type="dcterms:W3CDTF">2024-05-24T14:22:22Z</dcterms:created>
  <dcterms:modified xsi:type="dcterms:W3CDTF">2024-06-01T16:23:20Z</dcterms:modified>
</cp:coreProperties>
</file>